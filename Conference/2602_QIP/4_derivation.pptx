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3506450" cy="1651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01" userDrawn="1">
          <p15:clr>
            <a:srgbClr val="A4A3A4"/>
          </p15:clr>
        </p15:guide>
        <p15:guide id="2" pos="42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86"/>
    <p:restoredTop sz="96327"/>
  </p:normalViewPr>
  <p:slideViewPr>
    <p:cSldViewPr snapToGrid="0" showGuides="1">
      <p:cViewPr>
        <p:scale>
          <a:sx n="42" d="100"/>
          <a:sy n="42" d="100"/>
        </p:scale>
        <p:origin x="5456" y="1352"/>
      </p:cViewPr>
      <p:guideLst>
        <p:guide orient="horz" pos="5201"/>
        <p:guide pos="42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2984" y="2701985"/>
            <a:ext cx="11480483" cy="5747926"/>
          </a:xfrm>
        </p:spPr>
        <p:txBody>
          <a:bodyPr anchor="b"/>
          <a:lstStyle>
            <a:lvl1pPr algn="ctr"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8306" y="8671573"/>
            <a:ext cx="10129838" cy="3986094"/>
          </a:xfrm>
        </p:spPr>
        <p:txBody>
          <a:bodyPr/>
          <a:lstStyle>
            <a:lvl1pPr marL="0" indent="0" algn="ctr">
              <a:buNone/>
              <a:defRPr sz="3545"/>
            </a:lvl1pPr>
            <a:lvl2pPr marL="675330" indent="0" algn="ctr">
              <a:buNone/>
              <a:defRPr sz="2954"/>
            </a:lvl2pPr>
            <a:lvl3pPr marL="1350660" indent="0" algn="ctr">
              <a:buNone/>
              <a:defRPr sz="2659"/>
            </a:lvl3pPr>
            <a:lvl4pPr marL="2025990" indent="0" algn="ctr">
              <a:buNone/>
              <a:defRPr sz="2363"/>
            </a:lvl4pPr>
            <a:lvl5pPr marL="2701320" indent="0" algn="ctr">
              <a:buNone/>
              <a:defRPr sz="2363"/>
            </a:lvl5pPr>
            <a:lvl6pPr marL="3376651" indent="0" algn="ctr">
              <a:buNone/>
              <a:defRPr sz="2363"/>
            </a:lvl6pPr>
            <a:lvl7pPr marL="4051981" indent="0" algn="ctr">
              <a:buNone/>
              <a:defRPr sz="2363"/>
            </a:lvl7pPr>
            <a:lvl8pPr marL="4727311" indent="0" algn="ctr">
              <a:buNone/>
              <a:defRPr sz="2363"/>
            </a:lvl8pPr>
            <a:lvl9pPr marL="5402641" indent="0" algn="ctr">
              <a:buNone/>
              <a:defRPr sz="236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2093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4183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535" y="4116040"/>
            <a:ext cx="11649313" cy="6867700"/>
          </a:xfrm>
        </p:spPr>
        <p:txBody>
          <a:bodyPr anchor="b"/>
          <a:lstStyle>
            <a:lvl1pPr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535" y="11048711"/>
            <a:ext cx="11649313" cy="3611561"/>
          </a:xfrm>
        </p:spPr>
        <p:txBody>
          <a:bodyPr/>
          <a:lstStyle>
            <a:lvl1pPr marL="0" indent="0">
              <a:buNone/>
              <a:defRPr sz="3545">
                <a:solidFill>
                  <a:schemeClr val="tx1"/>
                </a:solidFill>
              </a:defRPr>
            </a:lvl1pPr>
            <a:lvl2pPr marL="675330" indent="0">
              <a:buNone/>
              <a:defRPr sz="2954">
                <a:solidFill>
                  <a:schemeClr val="tx1">
                    <a:tint val="75000"/>
                  </a:schemeClr>
                </a:solidFill>
              </a:defRPr>
            </a:lvl2pPr>
            <a:lvl3pPr marL="1350660" indent="0">
              <a:buNone/>
              <a:defRPr sz="2659">
                <a:solidFill>
                  <a:schemeClr val="tx1">
                    <a:tint val="75000"/>
                  </a:schemeClr>
                </a:solidFill>
              </a:defRPr>
            </a:lvl3pPr>
            <a:lvl4pPr marL="202599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4pPr>
            <a:lvl5pPr marL="270132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5pPr>
            <a:lvl6pPr marL="337665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6pPr>
            <a:lvl7pPr marL="405198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7pPr>
            <a:lvl8pPr marL="472731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8pPr>
            <a:lvl9pPr marL="540264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993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8569" y="4395023"/>
            <a:ext cx="5740241" cy="1047544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37640" y="4395023"/>
            <a:ext cx="5740241" cy="1047544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1242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8" y="879008"/>
            <a:ext cx="11649313" cy="319117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0329" y="4047244"/>
            <a:ext cx="5713861" cy="1983492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0329" y="6030736"/>
            <a:ext cx="5713861" cy="88703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37641" y="4047244"/>
            <a:ext cx="5742000" cy="1983492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37641" y="6030736"/>
            <a:ext cx="5742000" cy="887030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272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7645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858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1100667"/>
            <a:ext cx="4356182" cy="3852333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2001" y="2377138"/>
            <a:ext cx="6837640" cy="11732801"/>
          </a:xfrm>
        </p:spPr>
        <p:txBody>
          <a:bodyPr/>
          <a:lstStyle>
            <a:lvl1pPr>
              <a:defRPr sz="4727"/>
            </a:lvl1pPr>
            <a:lvl2pPr>
              <a:defRPr sz="4136"/>
            </a:lvl2pPr>
            <a:lvl3pPr>
              <a:defRPr sz="3545"/>
            </a:lvl3pPr>
            <a:lvl4pPr>
              <a:defRPr sz="2954"/>
            </a:lvl4pPr>
            <a:lvl5pPr>
              <a:defRPr sz="2954"/>
            </a:lvl5pPr>
            <a:lvl6pPr>
              <a:defRPr sz="2954"/>
            </a:lvl6pPr>
            <a:lvl7pPr>
              <a:defRPr sz="2954"/>
            </a:lvl7pPr>
            <a:lvl8pPr>
              <a:defRPr sz="2954"/>
            </a:lvl8pPr>
            <a:lvl9pPr>
              <a:defRPr sz="29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4953000"/>
            <a:ext cx="4356182" cy="9176045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0031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1100667"/>
            <a:ext cx="4356182" cy="3852333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42001" y="2377138"/>
            <a:ext cx="6837640" cy="11732801"/>
          </a:xfrm>
        </p:spPr>
        <p:txBody>
          <a:bodyPr anchor="t"/>
          <a:lstStyle>
            <a:lvl1pPr marL="0" indent="0">
              <a:buNone/>
              <a:defRPr sz="4727"/>
            </a:lvl1pPr>
            <a:lvl2pPr marL="675330" indent="0">
              <a:buNone/>
              <a:defRPr sz="4136"/>
            </a:lvl2pPr>
            <a:lvl3pPr marL="1350660" indent="0">
              <a:buNone/>
              <a:defRPr sz="3545"/>
            </a:lvl3pPr>
            <a:lvl4pPr marL="2025990" indent="0">
              <a:buNone/>
              <a:defRPr sz="2954"/>
            </a:lvl4pPr>
            <a:lvl5pPr marL="2701320" indent="0">
              <a:buNone/>
              <a:defRPr sz="2954"/>
            </a:lvl5pPr>
            <a:lvl6pPr marL="3376651" indent="0">
              <a:buNone/>
              <a:defRPr sz="2954"/>
            </a:lvl6pPr>
            <a:lvl7pPr marL="4051981" indent="0">
              <a:buNone/>
              <a:defRPr sz="2954"/>
            </a:lvl7pPr>
            <a:lvl8pPr marL="4727311" indent="0">
              <a:buNone/>
              <a:defRPr sz="2954"/>
            </a:lvl8pPr>
            <a:lvl9pPr marL="5402641" indent="0">
              <a:buNone/>
              <a:defRPr sz="2954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4953000"/>
            <a:ext cx="4356182" cy="9176045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398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5838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65554" y="879005"/>
            <a:ext cx="2912328" cy="13991462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8569" y="879005"/>
            <a:ext cx="8568154" cy="13991462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3650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8569" y="879008"/>
            <a:ext cx="11649313" cy="31911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569" y="4395023"/>
            <a:ext cx="11649313" cy="1047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8569" y="15302328"/>
            <a:ext cx="3038951" cy="8790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74012" y="15302328"/>
            <a:ext cx="4558427" cy="8790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38930" y="15302328"/>
            <a:ext cx="3038951" cy="8790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297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50660" rtl="0" eaLnBrk="1" latinLnBrk="0" hangingPunct="1">
        <a:lnSpc>
          <a:spcPct val="90000"/>
        </a:lnSpc>
        <a:spcBef>
          <a:spcPct val="0"/>
        </a:spcBef>
        <a:buNone/>
        <a:defRPr kumimoji="1" sz="64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665" indent="-337665" algn="l" defTabSz="1350660" rtl="0" eaLnBrk="1" latinLnBrk="0" hangingPunct="1">
        <a:lnSpc>
          <a:spcPct val="90000"/>
        </a:lnSpc>
        <a:spcBef>
          <a:spcPts val="1477"/>
        </a:spcBef>
        <a:buFont typeface="Arial" panose="020B0604020202020204" pitchFamily="34" charset="0"/>
        <a:buChar char="•"/>
        <a:defRPr kumimoji="1" sz="4136" kern="1200">
          <a:solidFill>
            <a:schemeClr val="tx1"/>
          </a:solidFill>
          <a:latin typeface="+mn-lt"/>
          <a:ea typeface="+mn-ea"/>
          <a:cs typeface="+mn-cs"/>
        </a:defRPr>
      </a:lvl1pPr>
      <a:lvl2pPr marL="101299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3545" kern="1200">
          <a:solidFill>
            <a:schemeClr val="tx1"/>
          </a:solidFill>
          <a:latin typeface="+mn-lt"/>
          <a:ea typeface="+mn-ea"/>
          <a:cs typeface="+mn-cs"/>
        </a:defRPr>
      </a:lvl2pPr>
      <a:lvl3pPr marL="168832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954" kern="1200">
          <a:solidFill>
            <a:schemeClr val="tx1"/>
          </a:solidFill>
          <a:latin typeface="+mn-lt"/>
          <a:ea typeface="+mn-ea"/>
          <a:cs typeface="+mn-cs"/>
        </a:defRPr>
      </a:lvl3pPr>
      <a:lvl4pPr marL="236365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303898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71431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38964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506497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74030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1pPr>
      <a:lvl2pPr marL="67533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2pPr>
      <a:lvl3pPr marL="135066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3pPr>
      <a:lvl4pPr marL="202599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270132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37665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05198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472731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40264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emf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8F9E6CE-A31D-F522-1A26-958E5921ED7B}"/>
              </a:ext>
            </a:extLst>
          </p:cNvPr>
          <p:cNvSpPr/>
          <p:nvPr/>
        </p:nvSpPr>
        <p:spPr>
          <a:xfrm>
            <a:off x="-1" y="-1"/>
            <a:ext cx="13506450" cy="1651000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59F06A8-1BCD-7527-103A-31D67ED50ECC}"/>
              </a:ext>
            </a:extLst>
          </p:cNvPr>
          <p:cNvSpPr/>
          <p:nvPr/>
        </p:nvSpPr>
        <p:spPr>
          <a:xfrm>
            <a:off x="0" y="-1"/>
            <a:ext cx="13506449" cy="19267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E869824-09CF-8AFF-2793-2270EAD810E1}"/>
              </a:ext>
            </a:extLst>
          </p:cNvPr>
          <p:cNvSpPr txBox="1"/>
          <p:nvPr/>
        </p:nvSpPr>
        <p:spPr>
          <a:xfrm>
            <a:off x="567454" y="359669"/>
            <a:ext cx="124135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Result: </a:t>
            </a:r>
            <a:r>
              <a:rPr kumimoji="1" lang="ja-JP" altLang="en-US" sz="6000">
                <a:solidFill>
                  <a:schemeClr val="bg1"/>
                </a:solidFill>
                <a:latin typeface="YuKyokasho Medium" panose="02000500000000000000" pitchFamily="2" charset="-128"/>
                <a:ea typeface="YuKyokasho Medium" panose="02000500000000000000" pitchFamily="2" charset="-128"/>
                <a:cs typeface="Times New Roman" panose="02020603050405020304" pitchFamily="18" charset="0"/>
              </a:rPr>
              <a:t>誤差上限と導出</a:t>
            </a:r>
            <a:r>
              <a:rPr kumimoji="1" lang="en-US" altLang="ja-JP" sz="6000" dirty="0">
                <a:solidFill>
                  <a:schemeClr val="bg1"/>
                </a:solidFill>
                <a:latin typeface="YuKyokasho Medium" panose="02000500000000000000" pitchFamily="2" charset="-128"/>
                <a:ea typeface="YuKyokasho Medium" panose="02000500000000000000" pitchFamily="2" charset="-128"/>
                <a:cs typeface="Times New Roman" panose="02020603050405020304" pitchFamily="18" charset="0"/>
              </a:rPr>
              <a:t> </a:t>
            </a:r>
            <a:endParaRPr kumimoji="1" lang="ja-JP" altLang="en-US" sz="6000">
              <a:solidFill>
                <a:schemeClr val="bg1"/>
              </a:solidFill>
              <a:latin typeface="YuKyokasho Medium" panose="02000500000000000000" pitchFamily="2" charset="-128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8760190-CFDA-12E5-5082-7509CD10C44C}"/>
              </a:ext>
            </a:extLst>
          </p:cNvPr>
          <p:cNvSpPr txBox="1"/>
          <p:nvPr/>
        </p:nvSpPr>
        <p:spPr>
          <a:xfrm>
            <a:off x="347084" y="2185494"/>
            <a:ext cx="7263527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■</a:t>
            </a:r>
            <a:r>
              <a:rPr kumimoji="1" lang="en-US" altLang="ja-JP" sz="32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</a:t>
            </a:r>
            <a:r>
              <a:rPr kumimoji="1" lang="ja-JP" altLang="en-US" sz="32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低エネルギー初期状態に対する誤差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12156FF-5946-9097-2370-BDFE89E26F70}"/>
              </a:ext>
            </a:extLst>
          </p:cNvPr>
          <p:cNvSpPr txBox="1"/>
          <p:nvPr/>
        </p:nvSpPr>
        <p:spPr>
          <a:xfrm>
            <a:off x="347084" y="8832481"/>
            <a:ext cx="1518364" cy="584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■</a:t>
            </a:r>
            <a:r>
              <a:rPr kumimoji="1" lang="en-US" altLang="ja-JP" sz="32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</a:t>
            </a:r>
            <a:r>
              <a:rPr kumimoji="1" lang="ja-JP" altLang="en-US" sz="32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導出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13736C2-D588-EBB5-0632-6099B12E8677}"/>
              </a:ext>
            </a:extLst>
          </p:cNvPr>
          <p:cNvSpPr/>
          <p:nvPr/>
        </p:nvSpPr>
        <p:spPr>
          <a:xfrm>
            <a:off x="10304841" y="3482728"/>
            <a:ext cx="816055" cy="3019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0F74FB6-4B3C-C05A-3F04-D9C3F905A854}"/>
              </a:ext>
            </a:extLst>
          </p:cNvPr>
          <p:cNvSpPr/>
          <p:nvPr/>
        </p:nvSpPr>
        <p:spPr>
          <a:xfrm>
            <a:off x="6112316" y="3684511"/>
            <a:ext cx="859184" cy="3019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" name="Picture 4" descr="\begin{align*}&#10;  \| (e^{-iH\tau} -  T_p(\tau)) \Pi_{\leq \Delta} \| = \max_{\ket{\psi_{\leq \Delta}}} \left( \| (e^{-iH\tau} -  T_p(\tau) ) \ket{\psi_{\leq \Delta}} \|\right)&#10;\end{align*}">
            <a:extLst>
              <a:ext uri="{FF2B5EF4-FFF2-40B4-BE49-F238E27FC236}">
                <a16:creationId xmlns:a16="http://schemas.microsoft.com/office/drawing/2014/main" id="{BA13D82F-B3C9-05BE-EBA5-D2476DBC97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-1" r="-1809" b="-30809"/>
          <a:stretch/>
        </p:blipFill>
        <p:spPr bwMode="auto">
          <a:xfrm>
            <a:off x="1686968" y="3134286"/>
            <a:ext cx="10132514" cy="9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03B14723-D205-FACC-8666-03AF3F739236}"/>
              </a:ext>
            </a:extLst>
          </p:cNvPr>
          <p:cNvSpPr/>
          <p:nvPr/>
        </p:nvSpPr>
        <p:spPr>
          <a:xfrm>
            <a:off x="5557017" y="5025078"/>
            <a:ext cx="474320" cy="1917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DFDD784-35CA-19E1-1676-37618C314EC0}"/>
              </a:ext>
            </a:extLst>
          </p:cNvPr>
          <p:cNvSpPr/>
          <p:nvPr/>
        </p:nvSpPr>
        <p:spPr>
          <a:xfrm>
            <a:off x="8845597" y="4859566"/>
            <a:ext cx="356235" cy="1437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5" name="Picture 2" descr="\begin{align*}&#10;  gt \left( \frac{Ngt}{\varepsilon}\right)^{\frac1p}&#10;\end{align*}">
            <a:extLst>
              <a:ext uri="{FF2B5EF4-FFF2-40B4-BE49-F238E27FC236}">
                <a16:creationId xmlns:a16="http://schemas.microsoft.com/office/drawing/2014/main" id="{65F61707-FD57-3C37-495C-22253F056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9162" y="4619214"/>
            <a:ext cx="1330199" cy="7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\begin{align*}&#10;    \Delta t \left(\frac{\Delta t}{\varepsilon}\right)^{\frac1p}+ gt \left( \frac{N^{p+1}gt}{\varepsilon}\right)^{\frac1{(p+1)^2+p}}&#10;\end{align*}">
            <a:extLst>
              <a:ext uri="{FF2B5EF4-FFF2-40B4-BE49-F238E27FC236}">
                <a16:creationId xmlns:a16="http://schemas.microsoft.com/office/drawing/2014/main" id="{FDEF1322-13C9-11C8-2E25-BA325ADE5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4121" y="6494175"/>
            <a:ext cx="3000280" cy="54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8" descr="\begin{align*}&#10;   \Delta t \left(\frac{\Delta t}{\varepsilon}\right)^{\frac1p}+ gt \left(\frac{gt}{\varepsilon}\right)^{\frac1{2p+1}} N^{\frac12+\frac1{4p+2}}&#10;\end{align*}">
            <a:extLst>
              <a:ext uri="{FF2B5EF4-FFF2-40B4-BE49-F238E27FC236}">
                <a16:creationId xmlns:a16="http://schemas.microsoft.com/office/drawing/2014/main" id="{23CD68A6-E7C9-CDB0-C094-D3E853AEB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3773" y="5644075"/>
            <a:ext cx="3100976" cy="547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A11F236-907E-FED7-06DF-249C03115CD4}"/>
              </a:ext>
            </a:extLst>
          </p:cNvPr>
          <p:cNvSpPr txBox="1"/>
          <p:nvPr/>
        </p:nvSpPr>
        <p:spPr>
          <a:xfrm>
            <a:off x="409345" y="4762200"/>
            <a:ext cx="2326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任意初期状態</a:t>
            </a: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E34AE761-D663-2A99-E328-6B27DBA9C2A9}"/>
              </a:ext>
            </a:extLst>
          </p:cNvPr>
          <p:cNvCxnSpPr>
            <a:cxnSpLocks/>
          </p:cNvCxnSpPr>
          <p:nvPr/>
        </p:nvCxnSpPr>
        <p:spPr>
          <a:xfrm>
            <a:off x="3224491" y="4650679"/>
            <a:ext cx="0" cy="37056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59E0830-005C-E749-6CAB-4A933A1E859E}"/>
              </a:ext>
            </a:extLst>
          </p:cNvPr>
          <p:cNvSpPr txBox="1"/>
          <p:nvPr/>
        </p:nvSpPr>
        <p:spPr>
          <a:xfrm>
            <a:off x="382183" y="5137939"/>
            <a:ext cx="26007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105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M. Childs, et al., PRX </a:t>
            </a:r>
            <a:r>
              <a:rPr lang="en" altLang="ja-JP" sz="105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" altLang="ja-JP" sz="105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011020 (2021)</a:t>
            </a:r>
            <a:endParaRPr lang="ja-JP" altLang="en-US" sz="105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6FC7DC0B-BD1D-E2B6-7293-9F1866F0952C}"/>
              </a:ext>
            </a:extLst>
          </p:cNvPr>
          <p:cNvSpPr txBox="1"/>
          <p:nvPr/>
        </p:nvSpPr>
        <p:spPr>
          <a:xfrm>
            <a:off x="344142" y="5612754"/>
            <a:ext cx="2633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低エネルギー状態</a:t>
            </a:r>
            <a:endParaRPr kumimoji="1" lang="en-US" altLang="ja-JP" sz="2400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A9EDEA58-D1A4-90A3-2D33-830C8D128F0E}"/>
              </a:ext>
            </a:extLst>
          </p:cNvPr>
          <p:cNvSpPr txBox="1"/>
          <p:nvPr/>
        </p:nvSpPr>
        <p:spPr>
          <a:xfrm>
            <a:off x="409345" y="6002938"/>
            <a:ext cx="2695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1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" altLang="ja-JP" sz="1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Şahinoğlu</a:t>
            </a:r>
            <a:r>
              <a:rPr lang="en" altLang="ja-JP" sz="1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 al., </a:t>
            </a:r>
            <a:r>
              <a:rPr lang="en" altLang="ja-JP" sz="1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Npj</a:t>
            </a:r>
            <a:r>
              <a:rPr lang="en" altLang="ja-JP" sz="1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Quantum Info. (2021)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4EC613F-AAE4-FC77-2429-0011AD350FEE}"/>
              </a:ext>
            </a:extLst>
          </p:cNvPr>
          <p:cNvSpPr txBox="1"/>
          <p:nvPr/>
        </p:nvSpPr>
        <p:spPr>
          <a:xfrm>
            <a:off x="468837" y="6877132"/>
            <a:ext cx="24274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1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 Hejazi, at al., arXiv:2402.10362 (2024) </a:t>
            </a:r>
            <a:endParaRPr lang="ja-JP" altLang="en-US" sz="10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13359C26-4A3A-CEAF-538D-FCC0C481CBF7}"/>
              </a:ext>
            </a:extLst>
          </p:cNvPr>
          <p:cNvCxnSpPr>
            <a:cxnSpLocks/>
          </p:cNvCxnSpPr>
          <p:nvPr/>
        </p:nvCxnSpPr>
        <p:spPr>
          <a:xfrm>
            <a:off x="468837" y="5507459"/>
            <a:ext cx="10158240" cy="0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441BB13C-FF99-7E23-4EB4-475566747170}"/>
              </a:ext>
            </a:extLst>
          </p:cNvPr>
          <p:cNvSpPr/>
          <p:nvPr/>
        </p:nvSpPr>
        <p:spPr>
          <a:xfrm>
            <a:off x="8233220" y="7550442"/>
            <a:ext cx="205786" cy="1546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7" name="正方形/長方形 1036">
            <a:extLst>
              <a:ext uri="{FF2B5EF4-FFF2-40B4-BE49-F238E27FC236}">
                <a16:creationId xmlns:a16="http://schemas.microsoft.com/office/drawing/2014/main" id="{3B3834DD-DF5E-D6FF-94D9-FC649BFF7F8C}"/>
              </a:ext>
            </a:extLst>
          </p:cNvPr>
          <p:cNvSpPr/>
          <p:nvPr/>
        </p:nvSpPr>
        <p:spPr>
          <a:xfrm>
            <a:off x="4819367" y="7790438"/>
            <a:ext cx="323287" cy="1748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8" name="Picture 4" descr="\begin{align*}&#10;  gt \left( \frac{(\Delta + g \log (N/\varepsilon))t}{\varepsilon}\right)^{\frac1p}&#10;\end{align*}">
            <a:extLst>
              <a:ext uri="{FF2B5EF4-FFF2-40B4-BE49-F238E27FC236}">
                <a16:creationId xmlns:a16="http://schemas.microsoft.com/office/drawing/2014/main" id="{C2E2C0D1-9DE3-0C0A-CD4B-29A798662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994" y="7387107"/>
            <a:ext cx="2592534" cy="648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2" descr="\begin{align*}&#10;  \leq \mathcal{O} \left( (g\tau)^p Ng \tau \right)&#10;\end{align*}">
            <a:extLst>
              <a:ext uri="{FF2B5EF4-FFF2-40B4-BE49-F238E27FC236}">
                <a16:creationId xmlns:a16="http://schemas.microsoft.com/office/drawing/2014/main" id="{9467804A-F58E-8F96-E96F-A02727A74A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19" t="-36699" b="-1"/>
          <a:stretch/>
        </p:blipFill>
        <p:spPr bwMode="auto">
          <a:xfrm>
            <a:off x="4416324" y="4764179"/>
            <a:ext cx="1880812" cy="417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48" name="テキスト ボックス 1047">
                <a:extLst>
                  <a:ext uri="{FF2B5EF4-FFF2-40B4-BE49-F238E27FC236}">
                    <a16:creationId xmlns:a16="http://schemas.microsoft.com/office/drawing/2014/main" id="{19FC57FD-3B82-D095-9319-EF7361DA66E6}"/>
                  </a:ext>
                </a:extLst>
              </p:cNvPr>
              <p:cNvSpPr txBox="1"/>
              <p:nvPr/>
            </p:nvSpPr>
            <p:spPr>
              <a:xfrm>
                <a:off x="10981980" y="6341977"/>
                <a:ext cx="23678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kumimoji="1" lang="en-US" altLang="ja-JP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ja-JP" altLang="en-US">
                    <a:solidFill>
                      <a:schemeClr val="tx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依存性の</a:t>
                </a:r>
                <a:endParaRPr kumimoji="1" lang="en-US" altLang="ja-JP" dirty="0">
                  <a:solidFill>
                    <a:schemeClr val="tx1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  <a:p>
                <a:pPr algn="r"/>
                <a:r>
                  <a:rPr kumimoji="1" lang="ja-JP" altLang="en-US">
                    <a:solidFill>
                      <a:schemeClr val="tx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改善殆どなし</a:t>
                </a:r>
                <a:endParaRPr kumimoji="1" lang="en-US" altLang="ja-JP" dirty="0">
                  <a:solidFill>
                    <a:schemeClr val="tx1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48" name="テキスト ボックス 1047">
                <a:extLst>
                  <a:ext uri="{FF2B5EF4-FFF2-40B4-BE49-F238E27FC236}">
                    <a16:creationId xmlns:a16="http://schemas.microsoft.com/office/drawing/2014/main" id="{19FC57FD-3B82-D095-9319-EF7361DA6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1980" y="6341977"/>
                <a:ext cx="2367821" cy="646331"/>
              </a:xfrm>
              <a:prstGeom prst="rect">
                <a:avLst/>
              </a:prstGeom>
              <a:blipFill>
                <a:blip r:embed="rId8"/>
                <a:stretch>
                  <a:fillRect t="-5769" r="-2128" b="-115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50" name="Picture 10" descr="\begin{align*}&#10;  \Delta \lesssim N^{\frac1{p+1}} g&#10;\end{align*}">
            <a:extLst>
              <a:ext uri="{FF2B5EF4-FFF2-40B4-BE49-F238E27FC236}">
                <a16:creationId xmlns:a16="http://schemas.microsoft.com/office/drawing/2014/main" id="{3E0B3AC6-BAC2-6282-9662-689CA860E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1914" y="5553784"/>
            <a:ext cx="1235245" cy="317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4" name="テキスト ボックス 1053">
            <a:extLst>
              <a:ext uri="{FF2B5EF4-FFF2-40B4-BE49-F238E27FC236}">
                <a16:creationId xmlns:a16="http://schemas.microsoft.com/office/drawing/2014/main" id="{10AE0F05-FBC2-A9A6-5532-2791BEDD4C92}"/>
              </a:ext>
            </a:extLst>
          </p:cNvPr>
          <p:cNvSpPr txBox="1"/>
          <p:nvPr/>
        </p:nvSpPr>
        <p:spPr>
          <a:xfrm>
            <a:off x="2002030" y="8866702"/>
            <a:ext cx="7814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低エネルギー性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&amp; 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交換子スケーリングの両立</a:t>
            </a:r>
          </a:p>
        </p:txBody>
      </p:sp>
      <p:sp>
        <p:nvSpPr>
          <p:cNvPr id="1058" name="テキスト ボックス 1057">
            <a:extLst>
              <a:ext uri="{FF2B5EF4-FFF2-40B4-BE49-F238E27FC236}">
                <a16:creationId xmlns:a16="http://schemas.microsoft.com/office/drawing/2014/main" id="{4CF71B75-5C6B-6899-B439-28887788C56D}"/>
              </a:ext>
            </a:extLst>
          </p:cNvPr>
          <p:cNvSpPr txBox="1"/>
          <p:nvPr/>
        </p:nvSpPr>
        <p:spPr>
          <a:xfrm>
            <a:off x="651717" y="9655700"/>
            <a:ext cx="8057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(1) </a:t>
            </a:r>
            <a:r>
              <a:rPr kumimoji="1" lang="ja-JP" altLang="en-US" sz="2800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低エネルギー空間における多重交換子の上限</a:t>
            </a:r>
          </a:p>
        </p:txBody>
      </p:sp>
      <p:pic>
        <p:nvPicPr>
          <p:cNvPr id="1059" name="Picture 4" descr="\begin{align*}&#10;  \sum_{\gamma_0,\cdots,\gamma_q} \| \Pi_{\leq \Delta}[H_{\gamma_q},[\cdots,[H_{\gamma_1},H_{\gamma_0}]]] \Pi_{\leq\Delta}\| \leq q! (2kg)^q \Delta&#10;\end{align*}">
            <a:extLst>
              <a:ext uri="{FF2B5EF4-FFF2-40B4-BE49-F238E27FC236}">
                <a16:creationId xmlns:a16="http://schemas.microsoft.com/office/drawing/2014/main" id="{010784DF-E4DC-ABA4-58B0-5E97CAC39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182" y="10542487"/>
            <a:ext cx="7821265" cy="768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0" name="大かっこ 1059">
            <a:extLst>
              <a:ext uri="{FF2B5EF4-FFF2-40B4-BE49-F238E27FC236}">
                <a16:creationId xmlns:a16="http://schemas.microsoft.com/office/drawing/2014/main" id="{A5ED3A1A-9327-600B-0AF4-5234151D9985}"/>
              </a:ext>
            </a:extLst>
          </p:cNvPr>
          <p:cNvSpPr/>
          <p:nvPr/>
        </p:nvSpPr>
        <p:spPr>
          <a:xfrm>
            <a:off x="9237095" y="10332079"/>
            <a:ext cx="3982808" cy="868956"/>
          </a:xfrm>
          <a:prstGeom prst="bracketPair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1" name="テキスト ボックス 1060">
            <a:extLst>
              <a:ext uri="{FF2B5EF4-FFF2-40B4-BE49-F238E27FC236}">
                <a16:creationId xmlns:a16="http://schemas.microsoft.com/office/drawing/2014/main" id="{FB4AA486-D0DA-0622-67DA-083A2B1988AC}"/>
              </a:ext>
            </a:extLst>
          </p:cNvPr>
          <p:cNvSpPr txBox="1"/>
          <p:nvPr/>
        </p:nvSpPr>
        <p:spPr>
          <a:xfrm>
            <a:off x="9392594" y="10238727"/>
            <a:ext cx="1417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先行研究</a:t>
            </a:r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: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1062" name="Picture 2" descr="\begin{align*}&#10;  \lesssim \mathcal{O} (\Delta^{p+1})&#10;\end{align*}">
            <a:extLst>
              <a:ext uri="{FF2B5EF4-FFF2-40B4-BE49-F238E27FC236}">
                <a16:creationId xmlns:a16="http://schemas.microsoft.com/office/drawing/2014/main" id="{954CC1D6-9C6F-D5F4-22C8-1B457F4B6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8109" y="10617568"/>
            <a:ext cx="1542745" cy="354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9" name="テキスト ボックス 1068">
            <a:extLst>
              <a:ext uri="{FF2B5EF4-FFF2-40B4-BE49-F238E27FC236}">
                <a16:creationId xmlns:a16="http://schemas.microsoft.com/office/drawing/2014/main" id="{BBD708DC-635D-F7D1-457E-41D784B4C078}"/>
              </a:ext>
            </a:extLst>
          </p:cNvPr>
          <p:cNvSpPr txBox="1"/>
          <p:nvPr/>
        </p:nvSpPr>
        <p:spPr>
          <a:xfrm>
            <a:off x="592225" y="12251060"/>
            <a:ext cx="91835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(2) Trotter </a:t>
            </a:r>
            <a:r>
              <a:rPr kumimoji="1" lang="ja-JP" altLang="en-US" sz="2800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誤差による低エネルギー空間からの</a:t>
            </a:r>
            <a:r>
              <a:rPr kumimoji="1" lang="en-US" altLang="ja-JP" sz="28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leakage</a:t>
            </a:r>
            <a:endParaRPr kumimoji="1" lang="ja-JP" altLang="en-US" sz="2800" b="1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079" name="テキスト ボックス 1078">
            <a:extLst>
              <a:ext uri="{FF2B5EF4-FFF2-40B4-BE49-F238E27FC236}">
                <a16:creationId xmlns:a16="http://schemas.microsoft.com/office/drawing/2014/main" id="{BEB44E5A-3D03-0736-240B-81CAFF726FF9}"/>
              </a:ext>
            </a:extLst>
          </p:cNvPr>
          <p:cNvSpPr txBox="1"/>
          <p:nvPr/>
        </p:nvSpPr>
        <p:spPr>
          <a:xfrm>
            <a:off x="347084" y="4063236"/>
            <a:ext cx="1316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[</a:t>
            </a:r>
            <a:r>
              <a:rPr kumimoji="1" lang="ja-JP" altLang="en-US" sz="2800" b="1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結果</a:t>
            </a:r>
            <a:r>
              <a:rPr kumimoji="1" lang="en-US" altLang="ja-JP" sz="28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]</a:t>
            </a:r>
            <a:endParaRPr kumimoji="1" lang="ja-JP" altLang="en-US" sz="2800" b="1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080" name="テキスト ボックス 1079">
            <a:extLst>
              <a:ext uri="{FF2B5EF4-FFF2-40B4-BE49-F238E27FC236}">
                <a16:creationId xmlns:a16="http://schemas.microsoft.com/office/drawing/2014/main" id="{9044779D-8B71-3A4D-35FA-0122636E14AD}"/>
              </a:ext>
            </a:extLst>
          </p:cNvPr>
          <p:cNvSpPr txBox="1"/>
          <p:nvPr/>
        </p:nvSpPr>
        <p:spPr>
          <a:xfrm>
            <a:off x="344142" y="6475957"/>
            <a:ext cx="2633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低エネルギー状態</a:t>
            </a:r>
            <a:endParaRPr kumimoji="1" lang="en-US" altLang="ja-JP" sz="2400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081" name="テキスト ボックス 1080">
            <a:extLst>
              <a:ext uri="{FF2B5EF4-FFF2-40B4-BE49-F238E27FC236}">
                <a16:creationId xmlns:a16="http://schemas.microsoft.com/office/drawing/2014/main" id="{0E303D64-EBDA-A76D-B770-0A574DDE2C35}"/>
              </a:ext>
            </a:extLst>
          </p:cNvPr>
          <p:cNvSpPr txBox="1"/>
          <p:nvPr/>
        </p:nvSpPr>
        <p:spPr>
          <a:xfrm>
            <a:off x="344141" y="7396737"/>
            <a:ext cx="26334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低エネルギー状態</a:t>
            </a:r>
            <a:endParaRPr kumimoji="1" lang="en-US" altLang="ja-JP" sz="2400" dirty="0">
              <a:solidFill>
                <a:schemeClr val="accent2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  <a:p>
            <a:pPr algn="ctr"/>
            <a:r>
              <a:rPr kumimoji="1" lang="en-US" altLang="ja-JP" sz="2000" dirty="0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(Our result)</a:t>
            </a:r>
          </a:p>
        </p:txBody>
      </p:sp>
      <p:sp>
        <p:nvSpPr>
          <p:cNvPr id="1084" name="正方形/長方形 1083">
            <a:extLst>
              <a:ext uri="{FF2B5EF4-FFF2-40B4-BE49-F238E27FC236}">
                <a16:creationId xmlns:a16="http://schemas.microsoft.com/office/drawing/2014/main" id="{5E3DE131-C1CC-BC4D-AC3D-7A9B3C87FC80}"/>
              </a:ext>
            </a:extLst>
          </p:cNvPr>
          <p:cNvSpPr/>
          <p:nvPr/>
        </p:nvSpPr>
        <p:spPr>
          <a:xfrm>
            <a:off x="4147058" y="6815873"/>
            <a:ext cx="239038" cy="15947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6" name="正方形/長方形 1085">
            <a:extLst>
              <a:ext uri="{FF2B5EF4-FFF2-40B4-BE49-F238E27FC236}">
                <a16:creationId xmlns:a16="http://schemas.microsoft.com/office/drawing/2014/main" id="{B62E10D5-9A7D-0A96-E059-2837FDFD5B2B}"/>
              </a:ext>
            </a:extLst>
          </p:cNvPr>
          <p:cNvSpPr/>
          <p:nvPr/>
        </p:nvSpPr>
        <p:spPr>
          <a:xfrm>
            <a:off x="4421293" y="5941968"/>
            <a:ext cx="303539" cy="1575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7" name="正方形/長方形 1086">
            <a:extLst>
              <a:ext uri="{FF2B5EF4-FFF2-40B4-BE49-F238E27FC236}">
                <a16:creationId xmlns:a16="http://schemas.microsoft.com/office/drawing/2014/main" id="{DFA53CAE-2107-DA2D-B42A-F4E252715AE4}"/>
              </a:ext>
            </a:extLst>
          </p:cNvPr>
          <p:cNvSpPr/>
          <p:nvPr/>
        </p:nvSpPr>
        <p:spPr>
          <a:xfrm>
            <a:off x="5099924" y="5936621"/>
            <a:ext cx="973479" cy="1575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3" name="Picture 4" descr="\begin{align*}&#10;  \leq \mathcal{O} \left(\{ (\Delta + (g\tau) Ng) \tau \}^{p+1}\right)&#10;\end{align*}">
            <a:extLst>
              <a:ext uri="{FF2B5EF4-FFF2-40B4-BE49-F238E27FC236}">
                <a16:creationId xmlns:a16="http://schemas.microsoft.com/office/drawing/2014/main" id="{482B057F-E92D-FD7B-7206-1385CCCA84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 t="-5895"/>
          <a:stretch/>
        </p:blipFill>
        <p:spPr bwMode="auto">
          <a:xfrm>
            <a:off x="3731632" y="5731966"/>
            <a:ext cx="3250196" cy="36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8" name="正方形/長方形 1087">
            <a:extLst>
              <a:ext uri="{FF2B5EF4-FFF2-40B4-BE49-F238E27FC236}">
                <a16:creationId xmlns:a16="http://schemas.microsoft.com/office/drawing/2014/main" id="{A053BA73-B23F-B6D4-C7EB-842DB82818EF}"/>
              </a:ext>
            </a:extLst>
          </p:cNvPr>
          <p:cNvSpPr/>
          <p:nvPr/>
        </p:nvSpPr>
        <p:spPr>
          <a:xfrm>
            <a:off x="4795936" y="6817834"/>
            <a:ext cx="1501200" cy="16506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44" name="Picture 6" descr="\begin{align*}&#10;  \leq \mathcal{O} \left(\{ (\Delta + (g\tau)^{p+1} Ng) \tau \}^{p+1}\right)&#10;\end{align*}">
            <a:extLst>
              <a:ext uri="{FF2B5EF4-FFF2-40B4-BE49-F238E27FC236}">
                <a16:creationId xmlns:a16="http://schemas.microsoft.com/office/drawing/2014/main" id="{112DABC0-4B38-9F86-73FC-1FE320352B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4"/>
          <a:stretch/>
        </p:blipFill>
        <p:spPr bwMode="auto">
          <a:xfrm>
            <a:off x="3435672" y="6613589"/>
            <a:ext cx="3842117" cy="36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9" name="正方形/長方形 1088">
            <a:extLst>
              <a:ext uri="{FF2B5EF4-FFF2-40B4-BE49-F238E27FC236}">
                <a16:creationId xmlns:a16="http://schemas.microsoft.com/office/drawing/2014/main" id="{43038FF9-A75A-D9BA-79E8-A9B48B3F21B8}"/>
              </a:ext>
            </a:extLst>
          </p:cNvPr>
          <p:cNvSpPr/>
          <p:nvPr/>
        </p:nvSpPr>
        <p:spPr>
          <a:xfrm>
            <a:off x="5459184" y="7789131"/>
            <a:ext cx="1305530" cy="17484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9" name="Picture 6" descr="\begin{align*}&#10;  \| (e^{-iH\tau} - T_p(\tau)) \Pi_{\leq \Delta} \| \leq \mathcal{O} \left( (g\tau)^p \{\Delta+g \log (N/\epsilon)\} \tau \right) + \epsilon&#10;\end{align*}">
            <a:extLst>
              <a:ext uri="{FF2B5EF4-FFF2-40B4-BE49-F238E27FC236}">
                <a16:creationId xmlns:a16="http://schemas.microsoft.com/office/drawing/2014/main" id="{C1866EAE-2249-C206-8EAF-569155E214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92" t="3887" r="6347" b="-38834"/>
          <a:stretch/>
        </p:blipFill>
        <p:spPr bwMode="auto">
          <a:xfrm>
            <a:off x="3561291" y="7584309"/>
            <a:ext cx="3590877" cy="458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91" name="直線コネクタ 1090">
            <a:extLst>
              <a:ext uri="{FF2B5EF4-FFF2-40B4-BE49-F238E27FC236}">
                <a16:creationId xmlns:a16="http://schemas.microsoft.com/office/drawing/2014/main" id="{0880C87C-3DF6-CD14-7060-33D6290BD1E9}"/>
              </a:ext>
            </a:extLst>
          </p:cNvPr>
          <p:cNvCxnSpPr>
            <a:cxnSpLocks/>
          </p:cNvCxnSpPr>
          <p:nvPr/>
        </p:nvCxnSpPr>
        <p:spPr>
          <a:xfrm>
            <a:off x="5586663" y="7972914"/>
            <a:ext cx="0" cy="49721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6" name="直線コネクタ 1095">
            <a:extLst>
              <a:ext uri="{FF2B5EF4-FFF2-40B4-BE49-F238E27FC236}">
                <a16:creationId xmlns:a16="http://schemas.microsoft.com/office/drawing/2014/main" id="{EC7E442E-3239-8845-8AB5-0FC1C10AFDC2}"/>
              </a:ext>
            </a:extLst>
          </p:cNvPr>
          <p:cNvCxnSpPr>
            <a:cxnSpLocks/>
          </p:cNvCxnSpPr>
          <p:nvPr/>
        </p:nvCxnSpPr>
        <p:spPr>
          <a:xfrm>
            <a:off x="5575088" y="8462857"/>
            <a:ext cx="35434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1" name="テキスト ボックス 1100">
            <a:extLst>
              <a:ext uri="{FF2B5EF4-FFF2-40B4-BE49-F238E27FC236}">
                <a16:creationId xmlns:a16="http://schemas.microsoft.com/office/drawing/2014/main" id="{EBD53B06-88F3-74D1-0D09-53A062A02368}"/>
              </a:ext>
            </a:extLst>
          </p:cNvPr>
          <p:cNvSpPr txBox="1"/>
          <p:nvPr/>
        </p:nvSpPr>
        <p:spPr>
          <a:xfrm>
            <a:off x="6077413" y="8271610"/>
            <a:ext cx="6604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Trotter </a:t>
            </a:r>
            <a:r>
              <a:rPr kumimoji="1" lang="ja-JP" altLang="en-US" sz="2000" b="1">
                <a:solidFill>
                  <a:schemeClr val="accent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誤差による低エネルギー部分空間からの</a:t>
            </a:r>
            <a:r>
              <a:rPr kumimoji="1" lang="en-US" altLang="ja-JP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leakage</a:t>
            </a:r>
          </a:p>
        </p:txBody>
      </p:sp>
      <p:sp>
        <p:nvSpPr>
          <p:cNvPr id="1103" name="テキスト ボックス 1102">
            <a:extLst>
              <a:ext uri="{FF2B5EF4-FFF2-40B4-BE49-F238E27FC236}">
                <a16:creationId xmlns:a16="http://schemas.microsoft.com/office/drawing/2014/main" id="{369D64DF-B166-BE65-E625-3193BF28D2D0}"/>
              </a:ext>
            </a:extLst>
          </p:cNvPr>
          <p:cNvSpPr txBox="1"/>
          <p:nvPr/>
        </p:nvSpPr>
        <p:spPr>
          <a:xfrm>
            <a:off x="4125021" y="11415949"/>
            <a:ext cx="4936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→</a:t>
            </a:r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</a:t>
            </a:r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相互作用の局所性を正確に反映</a:t>
            </a:r>
          </a:p>
        </p:txBody>
      </p:sp>
      <p:sp>
        <p:nvSpPr>
          <p:cNvPr id="1151" name="正方形/長方形 1150">
            <a:extLst>
              <a:ext uri="{FF2B5EF4-FFF2-40B4-BE49-F238E27FC236}">
                <a16:creationId xmlns:a16="http://schemas.microsoft.com/office/drawing/2014/main" id="{AC494481-AA6D-AB27-F280-5BE3DE4F6C7F}"/>
              </a:ext>
            </a:extLst>
          </p:cNvPr>
          <p:cNvSpPr/>
          <p:nvPr/>
        </p:nvSpPr>
        <p:spPr>
          <a:xfrm>
            <a:off x="5143428" y="13704690"/>
            <a:ext cx="498636" cy="1910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52" name="正方形/長方形 1151">
            <a:extLst>
              <a:ext uri="{FF2B5EF4-FFF2-40B4-BE49-F238E27FC236}">
                <a16:creationId xmlns:a16="http://schemas.microsoft.com/office/drawing/2014/main" id="{D063F6F1-EAE2-E7D7-C23B-39D05C7A4524}"/>
              </a:ext>
            </a:extLst>
          </p:cNvPr>
          <p:cNvSpPr/>
          <p:nvPr/>
        </p:nvSpPr>
        <p:spPr>
          <a:xfrm>
            <a:off x="11229766" y="15580062"/>
            <a:ext cx="610335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53" name="正方形/長方形 1152">
            <a:extLst>
              <a:ext uri="{FF2B5EF4-FFF2-40B4-BE49-F238E27FC236}">
                <a16:creationId xmlns:a16="http://schemas.microsoft.com/office/drawing/2014/main" id="{1801B8C0-608B-7CF9-E3E2-F53C06C67531}"/>
              </a:ext>
            </a:extLst>
          </p:cNvPr>
          <p:cNvSpPr/>
          <p:nvPr/>
        </p:nvSpPr>
        <p:spPr>
          <a:xfrm>
            <a:off x="5304266" y="15688106"/>
            <a:ext cx="2621640" cy="2906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55" name="Picture 4" descr="\begin{align*}&#10;  \| \Pi_{&gt;\Delta'} (e^{-iH\tau}-T_p(\tau)) \Pi_{\leq \Delta} \| \lesssim \sum_{\gamma_0,\cdots,\gamma_q} \| \Pi_{&gt;\Delta'} [H_{\gamma_q},[\cdots,[H_{\gamma_1},H_{\gamma_0}]]] \Pi_{\leq \Delta} \| \tau^{p+1} \leq \mathcal{O} \left( (g\tau)^{p+1} N e^{\frac{\Delta'-\Delta}{g}}\right)&#10;\end{align*}">
            <a:extLst>
              <a:ext uri="{FF2B5EF4-FFF2-40B4-BE49-F238E27FC236}">
                <a16:creationId xmlns:a16="http://schemas.microsoft.com/office/drawing/2014/main" id="{548EF00F-2238-A500-6AE6-ADC756A68C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689" b="-12795"/>
          <a:stretch>
            <a:fillRect/>
          </a:stretch>
        </p:blipFill>
        <p:spPr bwMode="auto">
          <a:xfrm>
            <a:off x="2982561" y="14635302"/>
            <a:ext cx="3791679" cy="883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56" name="Picture 6" descr="\begin{align*}&#10;  \| \Pi_{&gt;\Delta'} (e^{-iH\tau}-T_p(\tau)) \Pi_{\leq \Delta} \| = \| \Pi_{&gt;\Delta'} T_p(\tau) \Pi_{\leq \Delta} \|  \leq \mathcal{O} \left( e^{-\frac{\Delta'-\Delta}{g} + (g\tau)^{p+1}N}\right)&#10;\end{align*}">
            <a:extLst>
              <a:ext uri="{FF2B5EF4-FFF2-40B4-BE49-F238E27FC236}">
                <a16:creationId xmlns:a16="http://schemas.microsoft.com/office/drawing/2014/main" id="{459A0110-2EA2-5A84-0684-4F816B3848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3" t="7432" r="33345" b="-64169"/>
          <a:stretch>
            <a:fillRect/>
          </a:stretch>
        </p:blipFill>
        <p:spPr bwMode="auto">
          <a:xfrm>
            <a:off x="10224699" y="15311774"/>
            <a:ext cx="2489579" cy="909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7" name="テキスト ボックス 1156">
            <a:extLst>
              <a:ext uri="{FF2B5EF4-FFF2-40B4-BE49-F238E27FC236}">
                <a16:creationId xmlns:a16="http://schemas.microsoft.com/office/drawing/2014/main" id="{E6AB5441-41A9-CEF9-9198-1ACE5404FC4C}"/>
              </a:ext>
            </a:extLst>
          </p:cNvPr>
          <p:cNvSpPr txBox="1"/>
          <p:nvPr/>
        </p:nvSpPr>
        <p:spPr>
          <a:xfrm>
            <a:off x="1083182" y="13147726"/>
            <a:ext cx="2837451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Hastings’ theorem </a:t>
            </a:r>
          </a:p>
          <a:p>
            <a:pPr algn="ctr"/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on leakage</a:t>
            </a:r>
            <a:endParaRPr kumimoji="1"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158" name="大かっこ 1157">
            <a:extLst>
              <a:ext uri="{FF2B5EF4-FFF2-40B4-BE49-F238E27FC236}">
                <a16:creationId xmlns:a16="http://schemas.microsoft.com/office/drawing/2014/main" id="{65EBC10B-D888-9B0D-A91A-FAF757309E52}"/>
              </a:ext>
            </a:extLst>
          </p:cNvPr>
          <p:cNvSpPr/>
          <p:nvPr/>
        </p:nvSpPr>
        <p:spPr>
          <a:xfrm>
            <a:off x="9572594" y="14768838"/>
            <a:ext cx="3647309" cy="1381493"/>
          </a:xfrm>
          <a:prstGeom prst="bracketPair">
            <a:avLst>
              <a:gd name="adj" fmla="val 1174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0" name="テキスト ボックス 1159">
            <a:extLst>
              <a:ext uri="{FF2B5EF4-FFF2-40B4-BE49-F238E27FC236}">
                <a16:creationId xmlns:a16="http://schemas.microsoft.com/office/drawing/2014/main" id="{39EEFEC4-5EA5-626A-F133-B9F01A0DAEDE}"/>
              </a:ext>
            </a:extLst>
          </p:cNvPr>
          <p:cNvSpPr txBox="1"/>
          <p:nvPr/>
        </p:nvSpPr>
        <p:spPr>
          <a:xfrm>
            <a:off x="6153270" y="15863812"/>
            <a:ext cx="1314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chemeClr val="accent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Local op.</a:t>
            </a:r>
            <a:endParaRPr kumimoji="1" lang="ja-JP" altLang="en-US" sz="2000">
              <a:solidFill>
                <a:schemeClr val="accent1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161" name="テキスト ボックス 1160">
            <a:extLst>
              <a:ext uri="{FF2B5EF4-FFF2-40B4-BE49-F238E27FC236}">
                <a16:creationId xmlns:a16="http://schemas.microsoft.com/office/drawing/2014/main" id="{D93DE0DA-ACDD-5448-F204-52A3BE35C115}"/>
              </a:ext>
            </a:extLst>
          </p:cNvPr>
          <p:cNvSpPr txBox="1"/>
          <p:nvPr/>
        </p:nvSpPr>
        <p:spPr>
          <a:xfrm>
            <a:off x="10797425" y="15863812"/>
            <a:ext cx="16042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chemeClr val="accent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Non-local op.</a:t>
            </a:r>
            <a:endParaRPr kumimoji="1" lang="ja-JP" altLang="en-US" sz="2000">
              <a:solidFill>
                <a:schemeClr val="accent1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162" name="テキスト ボックス 1161">
            <a:extLst>
              <a:ext uri="{FF2B5EF4-FFF2-40B4-BE49-F238E27FC236}">
                <a16:creationId xmlns:a16="http://schemas.microsoft.com/office/drawing/2014/main" id="{DCD71DC4-E2D6-AFE5-AF0E-5C9AF3F5D2D4}"/>
              </a:ext>
            </a:extLst>
          </p:cNvPr>
          <p:cNvSpPr txBox="1"/>
          <p:nvPr/>
        </p:nvSpPr>
        <p:spPr>
          <a:xfrm>
            <a:off x="1079921" y="14076903"/>
            <a:ext cx="3898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Arad, et al., J. Stat. Mech. 2016, 033301 (2016).</a:t>
            </a:r>
            <a:endParaRPr lang="ja-JP" altLang="en-US" sz="12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63" name="Picture 2" descr="\begin{align*}&#10;  \| \Pi_{&gt; \Delta'} O_X \Pi_{\leq \Delta} \| \leq \|O_X\| e^{- \mathcal{O}\left(\frac{\Delta'-\Delta-g|X|}{g}\right)}&#10;\end{align*}">
            <a:extLst>
              <a:ext uri="{FF2B5EF4-FFF2-40B4-BE49-F238E27FC236}">
                <a16:creationId xmlns:a16="http://schemas.microsoft.com/office/drawing/2014/main" id="{57D5D7B3-A8F7-8C5B-FC96-2DAA87A78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8562" y="13268364"/>
            <a:ext cx="5634203" cy="546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4" name="テキスト ボックス 1163">
            <a:extLst>
              <a:ext uri="{FF2B5EF4-FFF2-40B4-BE49-F238E27FC236}">
                <a16:creationId xmlns:a16="http://schemas.microsoft.com/office/drawing/2014/main" id="{2B5151B6-9F42-0F4D-4E74-85DCD0BC08C5}"/>
              </a:ext>
            </a:extLst>
          </p:cNvPr>
          <p:cNvSpPr txBox="1"/>
          <p:nvPr/>
        </p:nvSpPr>
        <p:spPr>
          <a:xfrm>
            <a:off x="4715486" y="13993916"/>
            <a:ext cx="1177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chemeClr val="accent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Local op.</a:t>
            </a:r>
            <a:endParaRPr kumimoji="1" lang="ja-JP" altLang="en-US" sz="2000">
              <a:solidFill>
                <a:schemeClr val="accent1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1165" name="Picture 4" descr="\begin{align*}&#10;  \| \Pi_{&gt;\Delta'} (e^{-iH\tau}-T_p(\tau)) \Pi_{\leq \Delta} \| \lesssim \sum_{\gamma_0,\cdots,\gamma_q} \| \Pi_{&gt;\Delta'} [H_{\gamma_q},[\cdots,[H_{\gamma_1},H_{\gamma_0}]]] \Pi_{\leq \Delta} \| \tau^{p+1} \leq \mathcal{O} \left( (g\tau)^{p+1} N e^{\frac{\Delta'-\Delta}{g}}\right)&#10;\end{align*}">
            <a:extLst>
              <a:ext uri="{FF2B5EF4-FFF2-40B4-BE49-F238E27FC236}">
                <a16:creationId xmlns:a16="http://schemas.microsoft.com/office/drawing/2014/main" id="{B08BC546-CC3B-7305-7A00-26256F421C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82" t="-15066" r="23091" b="-12795"/>
          <a:stretch>
            <a:fillRect/>
          </a:stretch>
        </p:blipFill>
        <p:spPr bwMode="auto">
          <a:xfrm>
            <a:off x="3281751" y="15292971"/>
            <a:ext cx="6026156" cy="923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66" name="テキスト ボックス 1165">
            <a:extLst>
              <a:ext uri="{FF2B5EF4-FFF2-40B4-BE49-F238E27FC236}">
                <a16:creationId xmlns:a16="http://schemas.microsoft.com/office/drawing/2014/main" id="{5D3CB667-6330-2E16-F5A9-E7760977A080}"/>
              </a:ext>
            </a:extLst>
          </p:cNvPr>
          <p:cNvSpPr txBox="1"/>
          <p:nvPr/>
        </p:nvSpPr>
        <p:spPr>
          <a:xfrm>
            <a:off x="834736" y="15013582"/>
            <a:ext cx="19982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Trotter </a:t>
            </a:r>
            <a:r>
              <a:rPr kumimoji="1" lang="ja-JP" altLang="en-US" sz="2000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誤差</a:t>
            </a:r>
            <a:endParaRPr kumimoji="1" lang="en-US" altLang="ja-JP" sz="2000" b="1" u="sng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  <a:p>
            <a:pPr algn="ctr"/>
            <a:r>
              <a:rPr kumimoji="1" lang="ja-JP" altLang="en-US" sz="2000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による</a:t>
            </a:r>
            <a:r>
              <a:rPr kumimoji="1" lang="en-US" altLang="ja-JP" sz="20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leakage</a:t>
            </a:r>
            <a:endParaRPr kumimoji="1" lang="ja-JP" altLang="en-US" sz="2000" b="1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1180" name="図 1179">
            <a:extLst>
              <a:ext uri="{FF2B5EF4-FFF2-40B4-BE49-F238E27FC236}">
                <a16:creationId xmlns:a16="http://schemas.microsoft.com/office/drawing/2014/main" id="{C9863DEB-EAD1-57BC-5C6F-B79FBB77020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58064" y="11678876"/>
            <a:ext cx="2991737" cy="2739801"/>
          </a:xfrm>
          <a:prstGeom prst="rect">
            <a:avLst/>
          </a:prstGeom>
        </p:spPr>
      </p:pic>
      <p:sp>
        <p:nvSpPr>
          <p:cNvPr id="1181" name="テキスト ボックス 1180">
            <a:extLst>
              <a:ext uri="{FF2B5EF4-FFF2-40B4-BE49-F238E27FC236}">
                <a16:creationId xmlns:a16="http://schemas.microsoft.com/office/drawing/2014/main" id="{A78BDD97-DA0B-86D5-FC3C-1093ADB6E0ED}"/>
              </a:ext>
            </a:extLst>
          </p:cNvPr>
          <p:cNvSpPr txBox="1"/>
          <p:nvPr/>
        </p:nvSpPr>
        <p:spPr>
          <a:xfrm>
            <a:off x="9775815" y="14768838"/>
            <a:ext cx="1417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先行研究</a:t>
            </a:r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: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182" name="右中かっこ 1181">
            <a:extLst>
              <a:ext uri="{FF2B5EF4-FFF2-40B4-BE49-F238E27FC236}">
                <a16:creationId xmlns:a16="http://schemas.microsoft.com/office/drawing/2014/main" id="{9B1AB4A8-0365-4898-60FB-D14CDDC5A749}"/>
              </a:ext>
            </a:extLst>
          </p:cNvPr>
          <p:cNvSpPr/>
          <p:nvPr/>
        </p:nvSpPr>
        <p:spPr>
          <a:xfrm>
            <a:off x="10632804" y="5624770"/>
            <a:ext cx="261121" cy="1336193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83" name="右中かっこ 1182">
            <a:extLst>
              <a:ext uri="{FF2B5EF4-FFF2-40B4-BE49-F238E27FC236}">
                <a16:creationId xmlns:a16="http://schemas.microsoft.com/office/drawing/2014/main" id="{1C514E49-144B-A520-0110-026B6DB3AF92}"/>
              </a:ext>
            </a:extLst>
          </p:cNvPr>
          <p:cNvSpPr/>
          <p:nvPr/>
        </p:nvSpPr>
        <p:spPr>
          <a:xfrm>
            <a:off x="10632805" y="7374243"/>
            <a:ext cx="261120" cy="791935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84" name="テキスト ボックス 1183">
            <a:extLst>
              <a:ext uri="{FF2B5EF4-FFF2-40B4-BE49-F238E27FC236}">
                <a16:creationId xmlns:a16="http://schemas.microsoft.com/office/drawing/2014/main" id="{6D488759-EE25-76F3-3179-BAB6BAE194E1}"/>
              </a:ext>
            </a:extLst>
          </p:cNvPr>
          <p:cNvSpPr txBox="1"/>
          <p:nvPr/>
        </p:nvSpPr>
        <p:spPr>
          <a:xfrm>
            <a:off x="11800638" y="5916629"/>
            <a:ext cx="1580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でのみ高速化</a:t>
            </a:r>
            <a:endParaRPr kumimoji="1" lang="en-US" altLang="ja-JP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185" name="テキスト ボックス 1184">
            <a:extLst>
              <a:ext uri="{FF2B5EF4-FFF2-40B4-BE49-F238E27FC236}">
                <a16:creationId xmlns:a16="http://schemas.microsoft.com/office/drawing/2014/main" id="{EB257E37-F5D3-1795-1206-AFA4D3E8F1D4}"/>
              </a:ext>
            </a:extLst>
          </p:cNvPr>
          <p:cNvSpPr txBox="1"/>
          <p:nvPr/>
        </p:nvSpPr>
        <p:spPr>
          <a:xfrm>
            <a:off x="4147058" y="4198599"/>
            <a:ext cx="23251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 b="1" u="sng">
                <a:solidFill>
                  <a:schemeClr val="tx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誤差上限</a:t>
            </a:r>
            <a:endParaRPr kumimoji="1" lang="en-US" altLang="ja-JP" sz="2000" b="1" u="sng" dirty="0">
              <a:solidFill>
                <a:schemeClr val="tx1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6" name="テキスト ボックス 1185">
                <a:extLst>
                  <a:ext uri="{FF2B5EF4-FFF2-40B4-BE49-F238E27FC236}">
                    <a16:creationId xmlns:a16="http://schemas.microsoft.com/office/drawing/2014/main" id="{71C38A0C-D3E2-ADB7-3A45-EC61B8F8F454}"/>
                  </a:ext>
                </a:extLst>
              </p:cNvPr>
              <p:cNvSpPr txBox="1"/>
              <p:nvPr/>
            </p:nvSpPr>
            <p:spPr>
              <a:xfrm>
                <a:off x="7899584" y="4185182"/>
                <a:ext cx="23251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000" b="1" u="sng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Trotter </a:t>
                </a:r>
                <a:r>
                  <a:rPr kumimoji="1" lang="ja-JP" altLang="en-US" sz="2000" b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数</a:t>
                </a:r>
                <a:r>
                  <a:rPr kumimoji="1" lang="en-US" altLang="ja-JP" sz="2000" b="1" u="sng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000" b="1" i="1" u="sng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𝒓</m:t>
                    </m:r>
                  </m:oMath>
                </a14:m>
                <a:endParaRPr kumimoji="1" lang="en-US" altLang="ja-JP" sz="2000" b="1" u="sng" dirty="0">
                  <a:solidFill>
                    <a:schemeClr val="tx1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86" name="テキスト ボックス 1185">
                <a:extLst>
                  <a:ext uri="{FF2B5EF4-FFF2-40B4-BE49-F238E27FC236}">
                    <a16:creationId xmlns:a16="http://schemas.microsoft.com/office/drawing/2014/main" id="{71C38A0C-D3E2-ADB7-3A45-EC61B8F8F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584" y="4185182"/>
                <a:ext cx="2325115" cy="400110"/>
              </a:xfrm>
              <a:prstGeom prst="rect">
                <a:avLst/>
              </a:prstGeom>
              <a:blipFill>
                <a:blip r:embed="rId19"/>
                <a:stretch>
                  <a:fillRect t="-12500" b="-312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7" name="テキスト ボックス 1186">
                <a:extLst>
                  <a:ext uri="{FF2B5EF4-FFF2-40B4-BE49-F238E27FC236}">
                    <a16:creationId xmlns:a16="http://schemas.microsoft.com/office/drawing/2014/main" id="{43B15519-0E05-BA6B-72E4-AF8BC88DEE7D}"/>
                  </a:ext>
                </a:extLst>
              </p:cNvPr>
              <p:cNvSpPr txBox="1"/>
              <p:nvPr/>
            </p:nvSpPr>
            <p:spPr>
              <a:xfrm>
                <a:off x="10928622" y="7818469"/>
                <a:ext cx="24745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kumimoji="1" lang="en-US" altLang="ja-JP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ja-JP" altLang="en-US">
                    <a:solidFill>
                      <a:schemeClr val="tx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依存性の指数的改善</a:t>
                </a:r>
                <a:endParaRPr kumimoji="1" lang="en-US" altLang="ja-JP" dirty="0">
                  <a:solidFill>
                    <a:schemeClr val="tx1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87" name="テキスト ボックス 1186">
                <a:extLst>
                  <a:ext uri="{FF2B5EF4-FFF2-40B4-BE49-F238E27FC236}">
                    <a16:creationId xmlns:a16="http://schemas.microsoft.com/office/drawing/2014/main" id="{43B15519-0E05-BA6B-72E4-AF8BC88DE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8622" y="7818469"/>
                <a:ext cx="2474536" cy="369332"/>
              </a:xfrm>
              <a:prstGeom prst="rect">
                <a:avLst/>
              </a:prstGeom>
              <a:blipFill>
                <a:blip r:embed="rId20"/>
                <a:stretch>
                  <a:fillRect t="-10000" r="-1531" b="-2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88" name="Picture 2" descr="\begin{align*}&#10;  \Delta \in o(Ng)&#10;\end{align*}">
            <a:extLst>
              <a:ext uri="{FF2B5EF4-FFF2-40B4-BE49-F238E27FC236}">
                <a16:creationId xmlns:a16="http://schemas.microsoft.com/office/drawing/2014/main" id="{58A060BD-DC74-1B66-9E70-81B22D52E7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1980" y="7432313"/>
            <a:ext cx="1216329" cy="259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9" name="テキスト ボックス 1188">
            <a:extLst>
              <a:ext uri="{FF2B5EF4-FFF2-40B4-BE49-F238E27FC236}">
                <a16:creationId xmlns:a16="http://schemas.microsoft.com/office/drawing/2014/main" id="{434D33FF-1CE2-617D-C475-1D2BC750CC8C}"/>
              </a:ext>
            </a:extLst>
          </p:cNvPr>
          <p:cNvSpPr txBox="1"/>
          <p:nvPr/>
        </p:nvSpPr>
        <p:spPr>
          <a:xfrm>
            <a:off x="12250852" y="7346578"/>
            <a:ext cx="1580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で高速化</a:t>
            </a:r>
            <a:endParaRPr kumimoji="1" lang="en-US" altLang="ja-JP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969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295</TotalTime>
  <Words>189</Words>
  <Application>Microsoft Macintosh PowerPoint</Application>
  <PresentationFormat>ユーザー設定</PresentationFormat>
  <Paragraphs>34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YUKYOKASHO MEDIUM</vt:lpstr>
      <vt:lpstr>YUKYOKASHO MEDIUM</vt:lpstr>
      <vt:lpstr>Arial</vt:lpstr>
      <vt:lpstr>Calibri</vt:lpstr>
      <vt:lpstr>Calibri Light</vt:lpstr>
      <vt:lpstr>Cambria Math</vt:lpstr>
      <vt:lpstr>Times New Roman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水田　郁</dc:creator>
  <cp:lastModifiedBy>水田　郁</cp:lastModifiedBy>
  <cp:revision>13</cp:revision>
  <dcterms:created xsi:type="dcterms:W3CDTF">2023-12-08T07:40:41Z</dcterms:created>
  <dcterms:modified xsi:type="dcterms:W3CDTF">2025-08-15T07:09:41Z</dcterms:modified>
</cp:coreProperties>
</file>