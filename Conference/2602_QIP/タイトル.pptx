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7641550" cy="4032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0" userDrawn="1">
          <p15:clr>
            <a:srgbClr val="A4A3A4"/>
          </p15:clr>
        </p15:guide>
        <p15:guide id="2" pos="8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/>
    <p:restoredTop sz="96327"/>
  </p:normalViewPr>
  <p:slideViewPr>
    <p:cSldViewPr snapToGrid="0" showGuides="1">
      <p:cViewPr varScale="1">
        <p:scale>
          <a:sx n="58" d="100"/>
          <a:sy n="58" d="100"/>
        </p:scale>
        <p:origin x="288" y="2104"/>
      </p:cViewPr>
      <p:guideLst>
        <p:guide orient="horz" pos="1270"/>
        <p:guide pos="87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5194" y="659908"/>
            <a:ext cx="20731163" cy="1403820"/>
          </a:xfrm>
        </p:spPr>
        <p:txBody>
          <a:bodyPr anchor="b"/>
          <a:lstStyle>
            <a:lvl1pPr algn="ctr">
              <a:defRPr sz="35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5194" y="2117865"/>
            <a:ext cx="20731163" cy="973527"/>
          </a:xfrm>
        </p:spPr>
        <p:txBody>
          <a:bodyPr/>
          <a:lstStyle>
            <a:lvl1pPr marL="0" indent="0" algn="ctr">
              <a:buNone/>
              <a:defRPr sz="1411"/>
            </a:lvl1pPr>
            <a:lvl2pPr marL="268834" indent="0" algn="ctr">
              <a:buNone/>
              <a:defRPr sz="1176"/>
            </a:lvl2pPr>
            <a:lvl3pPr marL="537667" indent="0" algn="ctr">
              <a:buNone/>
              <a:defRPr sz="1058"/>
            </a:lvl3pPr>
            <a:lvl4pPr marL="806501" indent="0" algn="ctr">
              <a:buNone/>
              <a:defRPr sz="941"/>
            </a:lvl4pPr>
            <a:lvl5pPr marL="1075334" indent="0" algn="ctr">
              <a:buNone/>
              <a:defRPr sz="941"/>
            </a:lvl5pPr>
            <a:lvl6pPr marL="1344168" indent="0" algn="ctr">
              <a:buNone/>
              <a:defRPr sz="941"/>
            </a:lvl6pPr>
            <a:lvl7pPr marL="1613002" indent="0" algn="ctr">
              <a:buNone/>
              <a:defRPr sz="941"/>
            </a:lvl7pPr>
            <a:lvl8pPr marL="1881835" indent="0" algn="ctr">
              <a:buNone/>
              <a:defRPr sz="941"/>
            </a:lvl8pPr>
            <a:lvl9pPr marL="2150669" indent="0" algn="ctr">
              <a:buNone/>
              <a:defRPr sz="941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85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0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960" y="1005263"/>
            <a:ext cx="23840837" cy="1677304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60" y="2698435"/>
            <a:ext cx="23840837" cy="882054"/>
          </a:xfrm>
        </p:spPr>
        <p:txBody>
          <a:bodyPr/>
          <a:lstStyle>
            <a:lvl1pPr marL="0" indent="0">
              <a:buNone/>
              <a:defRPr sz="1411">
                <a:solidFill>
                  <a:schemeClr val="tx1">
                    <a:tint val="75000"/>
                  </a:schemeClr>
                </a:solidFill>
              </a:defRPr>
            </a:lvl1pPr>
            <a:lvl2pPr marL="2688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2pPr>
            <a:lvl3pPr marL="53766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3pPr>
            <a:lvl4pPr marL="806501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4pPr>
            <a:lvl5pPr marL="1075334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5pPr>
            <a:lvl6pPr marL="1344168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6pPr>
            <a:lvl7pPr marL="1613002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7pPr>
            <a:lvl8pPr marL="1881835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8pPr>
            <a:lvl9pPr marL="2150669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73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0356" y="1073400"/>
            <a:ext cx="11747659" cy="255842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93535" y="1073400"/>
            <a:ext cx="11747659" cy="255842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28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7" y="214680"/>
            <a:ext cx="23840837" cy="77938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3958" y="988461"/>
            <a:ext cx="11693670" cy="484430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03958" y="1472891"/>
            <a:ext cx="11693670" cy="21664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993535" y="988461"/>
            <a:ext cx="11751259" cy="484430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993535" y="1472891"/>
            <a:ext cx="11751259" cy="21664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48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78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966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268817"/>
            <a:ext cx="8915119" cy="940858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1259" y="580570"/>
            <a:ext cx="13993535" cy="2865511"/>
          </a:xfrm>
        </p:spPr>
        <p:txBody>
          <a:bodyPr/>
          <a:lstStyle>
            <a:lvl1pPr>
              <a:defRPr sz="1882"/>
            </a:lvl1pPr>
            <a:lvl2pPr>
              <a:defRPr sz="1646"/>
            </a:lvl2pPr>
            <a:lvl3pPr>
              <a:defRPr sz="1411"/>
            </a:lvl3pPr>
            <a:lvl4pPr>
              <a:defRPr sz="1176"/>
            </a:lvl4pPr>
            <a:lvl5pPr>
              <a:defRPr sz="1176"/>
            </a:lvl5pPr>
            <a:lvl6pPr>
              <a:defRPr sz="1176"/>
            </a:lvl6pPr>
            <a:lvl7pPr>
              <a:defRPr sz="1176"/>
            </a:lvl7pPr>
            <a:lvl8pPr>
              <a:defRPr sz="1176"/>
            </a:lvl8pPr>
            <a:lvl9pPr>
              <a:defRPr sz="117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1209675"/>
            <a:ext cx="8915119" cy="2241073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38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268817"/>
            <a:ext cx="8915119" cy="940858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751259" y="580570"/>
            <a:ext cx="13993535" cy="2865511"/>
          </a:xfrm>
        </p:spPr>
        <p:txBody>
          <a:bodyPr anchor="t"/>
          <a:lstStyle>
            <a:lvl1pPr marL="0" indent="0">
              <a:buNone/>
              <a:defRPr sz="1882"/>
            </a:lvl1pPr>
            <a:lvl2pPr marL="268834" indent="0">
              <a:buNone/>
              <a:defRPr sz="1646"/>
            </a:lvl2pPr>
            <a:lvl3pPr marL="537667" indent="0">
              <a:buNone/>
              <a:defRPr sz="1411"/>
            </a:lvl3pPr>
            <a:lvl4pPr marL="806501" indent="0">
              <a:buNone/>
              <a:defRPr sz="1176"/>
            </a:lvl4pPr>
            <a:lvl5pPr marL="1075334" indent="0">
              <a:buNone/>
              <a:defRPr sz="1176"/>
            </a:lvl5pPr>
            <a:lvl6pPr marL="1344168" indent="0">
              <a:buNone/>
              <a:defRPr sz="1176"/>
            </a:lvl6pPr>
            <a:lvl7pPr marL="1613002" indent="0">
              <a:buNone/>
              <a:defRPr sz="1176"/>
            </a:lvl7pPr>
            <a:lvl8pPr marL="1881835" indent="0">
              <a:buNone/>
              <a:defRPr sz="1176"/>
            </a:lvl8pPr>
            <a:lvl9pPr marL="2150669" indent="0">
              <a:buNone/>
              <a:defRPr sz="117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1209675"/>
            <a:ext cx="8915119" cy="2241073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11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95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780984" y="214680"/>
            <a:ext cx="5960209" cy="341714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0357" y="214680"/>
            <a:ext cx="17535108" cy="341714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178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0357" y="214680"/>
            <a:ext cx="23840837" cy="779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0357" y="1073400"/>
            <a:ext cx="23840837" cy="2558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00356" y="3737299"/>
            <a:ext cx="6219349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C56E5-2BD0-9B4B-9D5D-E53D5E1FBD89}" type="datetimeFigureOut">
              <a:rPr kumimoji="1" lang="ja-JP" altLang="en-US" smtClean="0"/>
              <a:t>2025/12/26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56264" y="3737299"/>
            <a:ext cx="9329023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521845" y="3737299"/>
            <a:ext cx="6219349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64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kumimoji="1"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kumimoji="1"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A3E1BD5-9DF6-DBDF-5409-39D7ED113581}"/>
              </a:ext>
            </a:extLst>
          </p:cNvPr>
          <p:cNvSpPr/>
          <p:nvPr/>
        </p:nvSpPr>
        <p:spPr>
          <a:xfrm>
            <a:off x="0" y="0"/>
            <a:ext cx="27641550" cy="4032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C351E3-0AC4-3069-D9B9-B3186FCC90D6}"/>
              </a:ext>
            </a:extLst>
          </p:cNvPr>
          <p:cNvSpPr txBox="1"/>
          <p:nvPr/>
        </p:nvSpPr>
        <p:spPr>
          <a:xfrm>
            <a:off x="14630400" y="2995180"/>
            <a:ext cx="12701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Kaoru Mizuta (</a:t>
            </a:r>
            <a:r>
              <a:rPr kumimoji="1" lang="en-US" altLang="ja-JP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UTokyo</a:t>
            </a:r>
            <a:r>
              <a:rPr kumimoji="1" lang="en-US" altLang="ja-JP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RIKEN RQC, JST PRESTO) </a:t>
            </a:r>
            <a:endParaRPr kumimoji="1" lang="ja-JP" altLang="en-US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60626A-7FEC-40E2-5D1E-09587C60087A}"/>
              </a:ext>
            </a:extLst>
          </p:cNvPr>
          <p:cNvSpPr txBox="1"/>
          <p:nvPr/>
        </p:nvSpPr>
        <p:spPr>
          <a:xfrm>
            <a:off x="-6623825" y="3379900"/>
            <a:ext cx="15734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KM, arXiv:2507.06557 (2025), to appear in Quantum</a:t>
            </a:r>
            <a:endParaRPr kumimoji="1" lang="ja-JP" altLang="en-US" sz="3200">
              <a:solidFill>
                <a:schemeClr val="accent4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8C807C-90C2-A7A7-EDE5-9E5438A71A92}"/>
              </a:ext>
            </a:extLst>
          </p:cNvPr>
          <p:cNvSpPr txBox="1"/>
          <p:nvPr/>
        </p:nvSpPr>
        <p:spPr>
          <a:xfrm>
            <a:off x="2617820" y="239248"/>
            <a:ext cx="224059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commutator scaling in Hamiltonian simulation </a:t>
            </a:r>
          </a:p>
          <a:p>
            <a:pPr algn="ctr"/>
            <a:r>
              <a:rPr kumimoji="1" lang="en-US" altLang="ja-JP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multi-product formulas</a:t>
            </a:r>
            <a:endParaRPr kumimoji="1" lang="ja-JP" altLang="en-US" sz="8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80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1050</TotalTime>
  <Words>34</Words>
  <Application>Microsoft Macintosh PowerPoint</Application>
  <PresentationFormat>ユーザー設定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11</cp:revision>
  <dcterms:created xsi:type="dcterms:W3CDTF">2023-12-08T07:33:44Z</dcterms:created>
  <dcterms:modified xsi:type="dcterms:W3CDTF">2025-12-26T07:40:34Z</dcterms:modified>
</cp:coreProperties>
</file>