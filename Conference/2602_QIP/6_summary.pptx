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3506450" cy="4691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8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/>
    <p:restoredTop sz="96327"/>
  </p:normalViewPr>
  <p:slideViewPr>
    <p:cSldViewPr snapToGrid="0" showGuides="1">
      <p:cViewPr varScale="1">
        <p:scale>
          <a:sx n="132" d="100"/>
          <a:sy n="132" d="100"/>
        </p:scale>
        <p:origin x="176" y="880"/>
      </p:cViewPr>
      <p:guideLst>
        <p:guide orient="horz" pos="1478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8306" y="767727"/>
            <a:ext cx="10129838" cy="1633185"/>
          </a:xfrm>
        </p:spPr>
        <p:txBody>
          <a:bodyPr anchor="b"/>
          <a:lstStyle>
            <a:lvl1pPr algn="ctr">
              <a:defRPr sz="41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2463894"/>
            <a:ext cx="10129838" cy="1132587"/>
          </a:xfrm>
        </p:spPr>
        <p:txBody>
          <a:bodyPr/>
          <a:lstStyle>
            <a:lvl1pPr marL="0" indent="0" algn="ctr">
              <a:buNone/>
              <a:defRPr sz="1642"/>
            </a:lvl1pPr>
            <a:lvl2pPr marL="312725" indent="0" algn="ctr">
              <a:buNone/>
              <a:defRPr sz="1368"/>
            </a:lvl2pPr>
            <a:lvl3pPr marL="625450" indent="0" algn="ctr">
              <a:buNone/>
              <a:defRPr sz="1231"/>
            </a:lvl3pPr>
            <a:lvl4pPr marL="938174" indent="0" algn="ctr">
              <a:buNone/>
              <a:defRPr sz="1094"/>
            </a:lvl4pPr>
            <a:lvl5pPr marL="1250899" indent="0" algn="ctr">
              <a:buNone/>
              <a:defRPr sz="1094"/>
            </a:lvl5pPr>
            <a:lvl6pPr marL="1563624" indent="0" algn="ctr">
              <a:buNone/>
              <a:defRPr sz="1094"/>
            </a:lvl6pPr>
            <a:lvl7pPr marL="1876349" indent="0" algn="ctr">
              <a:buNone/>
              <a:defRPr sz="1094"/>
            </a:lvl7pPr>
            <a:lvl8pPr marL="2189074" indent="0" algn="ctr">
              <a:buNone/>
              <a:defRPr sz="1094"/>
            </a:lvl8pPr>
            <a:lvl9pPr marL="2501798" indent="0" algn="ctr">
              <a:buNone/>
              <a:defRPr sz="109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96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7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4" y="1169509"/>
            <a:ext cx="11649313" cy="1951352"/>
          </a:xfrm>
        </p:spPr>
        <p:txBody>
          <a:bodyPr anchor="b"/>
          <a:lstStyle>
            <a:lvl1pPr>
              <a:defRPr sz="41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4" y="3139321"/>
            <a:ext cx="11649313" cy="1026170"/>
          </a:xfrm>
        </p:spPr>
        <p:txBody>
          <a:bodyPr/>
          <a:lstStyle>
            <a:lvl1pPr marL="0" indent="0">
              <a:buNone/>
              <a:defRPr sz="1642">
                <a:solidFill>
                  <a:schemeClr val="tx1">
                    <a:tint val="75000"/>
                  </a:schemeClr>
                </a:solidFill>
              </a:defRPr>
            </a:lvl1pPr>
            <a:lvl2pPr marL="312725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2pPr>
            <a:lvl3pPr marL="625450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93817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4pPr>
            <a:lvl5pPr marL="1250899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5pPr>
            <a:lvl6pPr marL="156362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6pPr>
            <a:lvl7pPr marL="1876349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7pPr>
            <a:lvl8pPr marL="218907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8pPr>
            <a:lvl9pPr marL="2501798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87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1248779"/>
            <a:ext cx="5740241" cy="29764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1248779"/>
            <a:ext cx="5740241" cy="29764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61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249756"/>
            <a:ext cx="11649313" cy="9067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8" y="1149962"/>
            <a:ext cx="5713861" cy="563579"/>
          </a:xfrm>
        </p:spPr>
        <p:txBody>
          <a:bodyPr anchor="b"/>
          <a:lstStyle>
            <a:lvl1pPr marL="0" indent="0">
              <a:buNone/>
              <a:defRPr sz="1642" b="1"/>
            </a:lvl1pPr>
            <a:lvl2pPr marL="312725" indent="0">
              <a:buNone/>
              <a:defRPr sz="1368" b="1"/>
            </a:lvl2pPr>
            <a:lvl3pPr marL="625450" indent="0">
              <a:buNone/>
              <a:defRPr sz="1231" b="1"/>
            </a:lvl3pPr>
            <a:lvl4pPr marL="938174" indent="0">
              <a:buNone/>
              <a:defRPr sz="1094" b="1"/>
            </a:lvl4pPr>
            <a:lvl5pPr marL="1250899" indent="0">
              <a:buNone/>
              <a:defRPr sz="1094" b="1"/>
            </a:lvl5pPr>
            <a:lvl6pPr marL="1563624" indent="0">
              <a:buNone/>
              <a:defRPr sz="1094" b="1"/>
            </a:lvl6pPr>
            <a:lvl7pPr marL="1876349" indent="0">
              <a:buNone/>
              <a:defRPr sz="1094" b="1"/>
            </a:lvl7pPr>
            <a:lvl8pPr marL="2189074" indent="0">
              <a:buNone/>
              <a:defRPr sz="1094" b="1"/>
            </a:lvl8pPr>
            <a:lvl9pPr marL="2501798" indent="0">
              <a:buNone/>
              <a:defRPr sz="1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8" y="1713541"/>
            <a:ext cx="5713861" cy="252036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1149962"/>
            <a:ext cx="5742000" cy="563579"/>
          </a:xfrm>
        </p:spPr>
        <p:txBody>
          <a:bodyPr anchor="b"/>
          <a:lstStyle>
            <a:lvl1pPr marL="0" indent="0">
              <a:buNone/>
              <a:defRPr sz="1642" b="1"/>
            </a:lvl1pPr>
            <a:lvl2pPr marL="312725" indent="0">
              <a:buNone/>
              <a:defRPr sz="1368" b="1"/>
            </a:lvl2pPr>
            <a:lvl3pPr marL="625450" indent="0">
              <a:buNone/>
              <a:defRPr sz="1231" b="1"/>
            </a:lvl3pPr>
            <a:lvl4pPr marL="938174" indent="0">
              <a:buNone/>
              <a:defRPr sz="1094" b="1"/>
            </a:lvl4pPr>
            <a:lvl5pPr marL="1250899" indent="0">
              <a:buNone/>
              <a:defRPr sz="1094" b="1"/>
            </a:lvl5pPr>
            <a:lvl6pPr marL="1563624" indent="0">
              <a:buNone/>
              <a:defRPr sz="1094" b="1"/>
            </a:lvl6pPr>
            <a:lvl7pPr marL="1876349" indent="0">
              <a:buNone/>
              <a:defRPr sz="1094" b="1"/>
            </a:lvl7pPr>
            <a:lvl8pPr marL="2189074" indent="0">
              <a:buNone/>
              <a:defRPr sz="1094" b="1"/>
            </a:lvl8pPr>
            <a:lvl9pPr marL="2501798" indent="0">
              <a:buNone/>
              <a:defRPr sz="1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1713541"/>
            <a:ext cx="5742000" cy="252036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78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90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02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312738"/>
            <a:ext cx="4356181" cy="1094581"/>
          </a:xfrm>
        </p:spPr>
        <p:txBody>
          <a:bodyPr anchor="b"/>
          <a:lstStyle>
            <a:lvl1pPr>
              <a:defRPr sz="21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675427"/>
            <a:ext cx="6837640" cy="3333695"/>
          </a:xfrm>
        </p:spPr>
        <p:txBody>
          <a:bodyPr/>
          <a:lstStyle>
            <a:lvl1pPr>
              <a:defRPr sz="2189"/>
            </a:lvl1pPr>
            <a:lvl2pPr>
              <a:defRPr sz="1915"/>
            </a:lvl2pPr>
            <a:lvl3pPr>
              <a:defRPr sz="1642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8" y="1407319"/>
            <a:ext cx="4356181" cy="2607232"/>
          </a:xfrm>
        </p:spPr>
        <p:txBody>
          <a:bodyPr/>
          <a:lstStyle>
            <a:lvl1pPr marL="0" indent="0">
              <a:buNone/>
              <a:defRPr sz="1094"/>
            </a:lvl1pPr>
            <a:lvl2pPr marL="312725" indent="0">
              <a:buNone/>
              <a:defRPr sz="958"/>
            </a:lvl2pPr>
            <a:lvl3pPr marL="625450" indent="0">
              <a:buNone/>
              <a:defRPr sz="821"/>
            </a:lvl3pPr>
            <a:lvl4pPr marL="938174" indent="0">
              <a:buNone/>
              <a:defRPr sz="684"/>
            </a:lvl4pPr>
            <a:lvl5pPr marL="1250899" indent="0">
              <a:buNone/>
              <a:defRPr sz="684"/>
            </a:lvl5pPr>
            <a:lvl6pPr marL="1563624" indent="0">
              <a:buNone/>
              <a:defRPr sz="684"/>
            </a:lvl6pPr>
            <a:lvl7pPr marL="1876349" indent="0">
              <a:buNone/>
              <a:defRPr sz="684"/>
            </a:lvl7pPr>
            <a:lvl8pPr marL="2189074" indent="0">
              <a:buNone/>
              <a:defRPr sz="684"/>
            </a:lvl8pPr>
            <a:lvl9pPr marL="2501798" indent="0">
              <a:buNone/>
              <a:defRPr sz="68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90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312738"/>
            <a:ext cx="4356181" cy="1094581"/>
          </a:xfrm>
        </p:spPr>
        <p:txBody>
          <a:bodyPr anchor="b"/>
          <a:lstStyle>
            <a:lvl1pPr>
              <a:defRPr sz="21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675427"/>
            <a:ext cx="6837640" cy="3333695"/>
          </a:xfrm>
        </p:spPr>
        <p:txBody>
          <a:bodyPr anchor="t"/>
          <a:lstStyle>
            <a:lvl1pPr marL="0" indent="0">
              <a:buNone/>
              <a:defRPr sz="2189"/>
            </a:lvl1pPr>
            <a:lvl2pPr marL="312725" indent="0">
              <a:buNone/>
              <a:defRPr sz="1915"/>
            </a:lvl2pPr>
            <a:lvl3pPr marL="625450" indent="0">
              <a:buNone/>
              <a:defRPr sz="1642"/>
            </a:lvl3pPr>
            <a:lvl4pPr marL="938174" indent="0">
              <a:buNone/>
              <a:defRPr sz="1368"/>
            </a:lvl4pPr>
            <a:lvl5pPr marL="1250899" indent="0">
              <a:buNone/>
              <a:defRPr sz="1368"/>
            </a:lvl5pPr>
            <a:lvl6pPr marL="1563624" indent="0">
              <a:buNone/>
              <a:defRPr sz="1368"/>
            </a:lvl6pPr>
            <a:lvl7pPr marL="1876349" indent="0">
              <a:buNone/>
              <a:defRPr sz="1368"/>
            </a:lvl7pPr>
            <a:lvl8pPr marL="2189074" indent="0">
              <a:buNone/>
              <a:defRPr sz="1368"/>
            </a:lvl8pPr>
            <a:lvl9pPr marL="2501798" indent="0">
              <a:buNone/>
              <a:defRPr sz="136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8" y="1407319"/>
            <a:ext cx="4356181" cy="2607232"/>
          </a:xfrm>
        </p:spPr>
        <p:txBody>
          <a:bodyPr/>
          <a:lstStyle>
            <a:lvl1pPr marL="0" indent="0">
              <a:buNone/>
              <a:defRPr sz="1094"/>
            </a:lvl1pPr>
            <a:lvl2pPr marL="312725" indent="0">
              <a:buNone/>
              <a:defRPr sz="958"/>
            </a:lvl2pPr>
            <a:lvl3pPr marL="625450" indent="0">
              <a:buNone/>
              <a:defRPr sz="821"/>
            </a:lvl3pPr>
            <a:lvl4pPr marL="938174" indent="0">
              <a:buNone/>
              <a:defRPr sz="684"/>
            </a:lvl4pPr>
            <a:lvl5pPr marL="1250899" indent="0">
              <a:buNone/>
              <a:defRPr sz="684"/>
            </a:lvl5pPr>
            <a:lvl6pPr marL="1563624" indent="0">
              <a:buNone/>
              <a:defRPr sz="684"/>
            </a:lvl6pPr>
            <a:lvl7pPr marL="1876349" indent="0">
              <a:buNone/>
              <a:defRPr sz="684"/>
            </a:lvl7pPr>
            <a:lvl8pPr marL="2189074" indent="0">
              <a:buNone/>
              <a:defRPr sz="684"/>
            </a:lvl8pPr>
            <a:lvl9pPr marL="2501798" indent="0">
              <a:buNone/>
              <a:defRPr sz="68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6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87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3" y="249756"/>
            <a:ext cx="2912328" cy="397545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249756"/>
            <a:ext cx="8568154" cy="397545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572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249756"/>
            <a:ext cx="11649313" cy="906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1248779"/>
            <a:ext cx="11649313" cy="2976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4347921"/>
            <a:ext cx="3038951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4347921"/>
            <a:ext cx="4558427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4347921"/>
            <a:ext cx="3038951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0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5450" rtl="0" eaLnBrk="1" latinLnBrk="0" hangingPunct="1">
        <a:lnSpc>
          <a:spcPct val="90000"/>
        </a:lnSpc>
        <a:spcBef>
          <a:spcPct val="0"/>
        </a:spcBef>
        <a:buNone/>
        <a:defRPr kumimoji="1" sz="3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362" indent="-156362" algn="l" defTabSz="625450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kumimoji="1" sz="1915" kern="1200">
          <a:solidFill>
            <a:schemeClr val="tx1"/>
          </a:solidFill>
          <a:latin typeface="+mn-lt"/>
          <a:ea typeface="+mn-ea"/>
          <a:cs typeface="+mn-cs"/>
        </a:defRPr>
      </a:lvl1pPr>
      <a:lvl2pPr marL="469087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642" kern="1200">
          <a:solidFill>
            <a:schemeClr val="tx1"/>
          </a:solidFill>
          <a:latin typeface="+mn-lt"/>
          <a:ea typeface="+mn-ea"/>
          <a:cs typeface="+mn-cs"/>
        </a:defRPr>
      </a:lvl2pPr>
      <a:lvl3pPr marL="781812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94537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407262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719986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2032711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345436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658161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1pPr>
      <a:lvl2pPr marL="312725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2pPr>
      <a:lvl3pPr marL="625450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3pPr>
      <a:lvl4pPr marL="93817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250899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56362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1876349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18907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501798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4A78B5D-1807-156F-B3EC-2EB49243D39E}"/>
              </a:ext>
            </a:extLst>
          </p:cNvPr>
          <p:cNvSpPr/>
          <p:nvPr/>
        </p:nvSpPr>
        <p:spPr>
          <a:xfrm>
            <a:off x="-2" y="9625"/>
            <a:ext cx="13506450" cy="46910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8A82FF7-4E16-1472-C8E0-9FD808DFC913}"/>
              </a:ext>
            </a:extLst>
          </p:cNvPr>
          <p:cNvSpPr/>
          <p:nvPr/>
        </p:nvSpPr>
        <p:spPr>
          <a:xfrm>
            <a:off x="1" y="1"/>
            <a:ext cx="13506449" cy="11079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2E6F23-D4A7-3F59-B3FA-B89AFF7E64CD}"/>
              </a:ext>
            </a:extLst>
          </p:cNvPr>
          <p:cNvSpPr txBox="1"/>
          <p:nvPr/>
        </p:nvSpPr>
        <p:spPr>
          <a:xfrm>
            <a:off x="447299" y="52919"/>
            <a:ext cx="1261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en-US" altLang="ja-JP" sz="5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1" lang="en-US" altLang="ja-JP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Future direction</a:t>
            </a:r>
            <a:endParaRPr kumimoji="1" lang="ja-JP" altLang="en-US" sz="5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B3870097-64B7-81C1-43D6-17EE2740D415}"/>
                  </a:ext>
                </a:extLst>
              </p:cNvPr>
              <p:cNvSpPr txBox="1"/>
              <p:nvPr/>
            </p:nvSpPr>
            <p:spPr>
              <a:xfrm>
                <a:off x="275319" y="2364787"/>
                <a:ext cx="61797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 b="1" u="sng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最適性</a:t>
                </a:r>
                <a:r>
                  <a:rPr kumimoji="1" lang="en-US" altLang="ja-JP" sz="2400" b="1" u="sng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:</a:t>
                </a:r>
                <a:r>
                  <a:rPr kumimoji="1" lang="en-US" altLang="ja-JP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誤差の</a:t>
                </a:r>
                <a:r>
                  <a:rPr kumimoji="1" lang="en-US" altLang="ja-JP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ja-JP" sz="24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kumimoji="1" lang="en-US" altLang="ja-JP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l-GR" altLang="ja-JP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kumimoji="1" lang="en-US" altLang="ja-JP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ja-JP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 </a:t>
                </a:r>
                <a:r>
                  <a:rPr kumimoji="1" lang="ja-JP" altLang="en-US" sz="24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は理論上ベスト</a:t>
                </a: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B3870097-64B7-81C1-43D6-17EE2740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19" y="2364787"/>
                <a:ext cx="6179705" cy="461665"/>
              </a:xfrm>
              <a:prstGeom prst="rect">
                <a:avLst/>
              </a:prstGeom>
              <a:blipFill>
                <a:blip r:embed="rId2"/>
                <a:stretch>
                  <a:fillRect l="-1639" t="-13514" b="-32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AA69D6-4543-DEA6-FBDB-0C4E1A88444B}"/>
              </a:ext>
            </a:extLst>
          </p:cNvPr>
          <p:cNvSpPr txBox="1"/>
          <p:nvPr/>
        </p:nvSpPr>
        <p:spPr>
          <a:xfrm>
            <a:off x="204435" y="1226448"/>
            <a:ext cx="13088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エネルギー</a:t>
            </a:r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                       </a:t>
            </a:r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の初期状態に対する</a:t>
            </a:r>
            <a:endParaRPr kumimoji="1" lang="en-US" altLang="ja-JP" sz="2800" b="1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r"/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普遍的な誤差・コストのスケーリング改善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28B1106-98DD-23D6-1F29-68E04D1689EC}"/>
              </a:ext>
            </a:extLst>
          </p:cNvPr>
          <p:cNvSpPr txBox="1"/>
          <p:nvPr/>
        </p:nvSpPr>
        <p:spPr>
          <a:xfrm>
            <a:off x="204435" y="3006361"/>
            <a:ext cx="1351652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展望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55294C2-09F6-977F-108B-B0CB75ED70DD}"/>
                  </a:ext>
                </a:extLst>
              </p:cNvPr>
              <p:cNvSpPr txBox="1"/>
              <p:nvPr/>
            </p:nvSpPr>
            <p:spPr>
              <a:xfrm>
                <a:off x="275319" y="3709492"/>
                <a:ext cx="31512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低エネルギー</a:t>
                </a:r>
                <a:r>
                  <a:rPr kumimoji="1" lang="en-US" altLang="ja-JP" sz="2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endParaRPr kumimoji="1" lang="en-US" altLang="ja-JP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r"/>
                <a:r>
                  <a:rPr kumimoji="1" lang="en-US" altLang="ja-JP" sz="2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Trotter-based algorithms</a:t>
                </a: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55294C2-09F6-977F-108B-B0CB75ED7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19" y="3709492"/>
                <a:ext cx="3151275" cy="707886"/>
              </a:xfrm>
              <a:prstGeom prst="rect">
                <a:avLst/>
              </a:prstGeom>
              <a:blipFill>
                <a:blip r:embed="rId3"/>
                <a:stretch>
                  <a:fillRect l="-2008" t="-7143" r="-2008" b="-160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0433C194-8388-2CC2-A9BF-B3EE79D85C1A}"/>
                  </a:ext>
                </a:extLst>
              </p:cNvPr>
              <p:cNvSpPr txBox="1"/>
              <p:nvPr/>
            </p:nvSpPr>
            <p:spPr>
              <a:xfrm>
                <a:off x="6380346" y="2231643"/>
                <a:ext cx="68492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←</a:t>
                </a:r>
                <a:r>
                  <a:rPr kumimoji="1" lang="en-US" altLang="ja-JP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0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任意初期状態での最適な</a:t>
                </a:r>
                <a:r>
                  <a:rPr kumimoji="1" lang="en-US" altLang="ja-JP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scaling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ja-JP" sz="20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kumimoji="1" lang="en-US" altLang="ja-JP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ja-JP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1" lang="en-US" altLang="ja-JP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ja-JP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0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を</a:t>
                </a:r>
                <a:endParaRPr kumimoji="1" lang="en-US" altLang="ja-JP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r"/>
                <a:r>
                  <a:rPr kumimoji="1" lang="en-US" altLang="ja-JP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kumimoji="1" lang="en-US" altLang="ja-JP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𝑁𝑔</m:t>
                    </m:r>
                  </m:oMath>
                </a14:m>
                <a:r>
                  <a:rPr kumimoji="1" lang="en-US" altLang="ja-JP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0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で再現するため</a:t>
                </a: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0433C194-8388-2CC2-A9BF-B3EE79D85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346" y="2231643"/>
                <a:ext cx="6849259" cy="707886"/>
              </a:xfrm>
              <a:prstGeom prst="rect">
                <a:avLst/>
              </a:prstGeom>
              <a:blipFill>
                <a:blip r:embed="rId4"/>
                <a:stretch>
                  <a:fillRect l="-926" t="-5263" r="-926" b="-122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大かっこ 9">
            <a:extLst>
              <a:ext uri="{FF2B5EF4-FFF2-40B4-BE49-F238E27FC236}">
                <a16:creationId xmlns:a16="http://schemas.microsoft.com/office/drawing/2014/main" id="{34D63A92-0AB1-EC6F-C8D1-DCFC350FD6D0}"/>
              </a:ext>
            </a:extLst>
          </p:cNvPr>
          <p:cNvSpPr/>
          <p:nvPr/>
        </p:nvSpPr>
        <p:spPr>
          <a:xfrm>
            <a:off x="3580597" y="3709491"/>
            <a:ext cx="3012707" cy="707886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0A43F3-07E7-8D54-7B03-2DA5C578FEF9}"/>
              </a:ext>
            </a:extLst>
          </p:cNvPr>
          <p:cNvSpPr txBox="1"/>
          <p:nvPr/>
        </p:nvSpPr>
        <p:spPr>
          <a:xfrm>
            <a:off x="3739608" y="3661078"/>
            <a:ext cx="31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qDRIFT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複数積公式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etc.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932FA9C-1FEE-EE84-4679-EEE7459F3C0D}"/>
              </a:ext>
            </a:extLst>
          </p:cNvPr>
          <p:cNvSpPr txBox="1"/>
          <p:nvPr/>
        </p:nvSpPr>
        <p:spPr>
          <a:xfrm>
            <a:off x="3739608" y="4096458"/>
            <a:ext cx="256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より良いスケーリング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21EDA25-0EF8-B148-03D5-354246BFEEE0}"/>
                  </a:ext>
                </a:extLst>
              </p:cNvPr>
              <p:cNvSpPr txBox="1"/>
              <p:nvPr/>
            </p:nvSpPr>
            <p:spPr>
              <a:xfrm>
                <a:off x="6913148" y="3708586"/>
                <a:ext cx="31512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低エネルギー</a:t>
                </a:r>
                <a:r>
                  <a:rPr kumimoji="1" lang="en-US" altLang="ja-JP" sz="2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endParaRPr kumimoji="1" lang="en-US" altLang="ja-JP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r"/>
                <a:r>
                  <a:rPr kumimoji="1" lang="ja-JP" altLang="en-US" sz="20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時間依存量子系</a:t>
                </a:r>
                <a:endParaRPr kumimoji="1" lang="en-US" altLang="ja-JP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21EDA25-0EF8-B148-03D5-354246BFE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148" y="3708586"/>
                <a:ext cx="3151275" cy="707886"/>
              </a:xfrm>
              <a:prstGeom prst="rect">
                <a:avLst/>
              </a:prstGeom>
              <a:blipFill>
                <a:blip r:embed="rId5"/>
                <a:stretch>
                  <a:fillRect l="-2008" t="-5263" r="-2008" b="-122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大かっこ 17">
            <a:extLst>
              <a:ext uri="{FF2B5EF4-FFF2-40B4-BE49-F238E27FC236}">
                <a16:creationId xmlns:a16="http://schemas.microsoft.com/office/drawing/2014/main" id="{37F97689-4C6B-FDC3-020F-EC940D46ABFE}"/>
              </a:ext>
            </a:extLst>
          </p:cNvPr>
          <p:cNvSpPr/>
          <p:nvPr/>
        </p:nvSpPr>
        <p:spPr>
          <a:xfrm>
            <a:off x="10216898" y="3704732"/>
            <a:ext cx="3012707" cy="707886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AB5BE27-5BE7-6098-1013-1A0524357484}"/>
              </a:ext>
            </a:extLst>
          </p:cNvPr>
          <p:cNvSpPr txBox="1"/>
          <p:nvPr/>
        </p:nvSpPr>
        <p:spPr>
          <a:xfrm>
            <a:off x="10325278" y="3736416"/>
            <a:ext cx="2795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断熱量子状態準備による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r"/>
            <a:r>
              <a:rPr kumimoji="1" lang="ja-JP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低エネルギー固有状態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\Delta \in o(Ng)&#10;\end{align*}">
            <a:extLst>
              <a:ext uri="{FF2B5EF4-FFF2-40B4-BE49-F238E27FC236}">
                <a16:creationId xmlns:a16="http://schemas.microsoft.com/office/drawing/2014/main" id="{DC713198-4B39-EB41-7D12-BF0993E64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646" y="1291965"/>
            <a:ext cx="1777465" cy="3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65B92D2-B3E8-4F37-2743-58ED6E504A06}"/>
              </a:ext>
            </a:extLst>
          </p:cNvPr>
          <p:cNvSpPr txBox="1"/>
          <p:nvPr/>
        </p:nvSpPr>
        <p:spPr>
          <a:xfrm>
            <a:off x="10141213" y="2884805"/>
            <a:ext cx="3151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Zhao, et al., Nature Physics 21, 1338 (2025)</a:t>
            </a:r>
            <a:endParaRPr lang="ja-JP" altLang="en-US" sz="1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</TotalTime>
  <Words>100</Words>
  <Application>Microsoft Macintosh PowerPoint</Application>
  <PresentationFormat>ユーザー設定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2013 - 2022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10</cp:revision>
  <dcterms:created xsi:type="dcterms:W3CDTF">2023-12-08T07:40:41Z</dcterms:created>
  <dcterms:modified xsi:type="dcterms:W3CDTF">2025-08-15T08:04:46Z</dcterms:modified>
</cp:coreProperties>
</file>