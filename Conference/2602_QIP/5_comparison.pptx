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506450" cy="11577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9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 showGuides="1">
      <p:cViewPr varScale="1">
        <p:scale>
          <a:sx n="69" d="100"/>
          <a:sy n="69" d="100"/>
        </p:scale>
        <p:origin x="2696" y="224"/>
      </p:cViewPr>
      <p:guideLst>
        <p:guide orient="horz" pos="3669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94767"/>
            <a:ext cx="11480483" cy="4030733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6080941"/>
            <a:ext cx="10129838" cy="2795248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31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19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886373"/>
            <a:ext cx="11649313" cy="4815975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747909"/>
            <a:ext cx="11649313" cy="2532607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37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45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616405"/>
            <a:ext cx="11649313" cy="2237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838130"/>
            <a:ext cx="5713861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229054"/>
            <a:ext cx="5713861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838130"/>
            <a:ext cx="5742000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229054"/>
            <a:ext cx="5742000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32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41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666968"/>
            <a:ext cx="6837640" cy="8227627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3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666968"/>
            <a:ext cx="6837640" cy="8227627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1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7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616402"/>
            <a:ext cx="2912328" cy="981151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616402"/>
            <a:ext cx="8568154" cy="981151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31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616405"/>
            <a:ext cx="11649313" cy="2237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3082010"/>
            <a:ext cx="11649313" cy="734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730758"/>
            <a:ext cx="4558427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42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3F07BF-AD41-57A2-DFE3-F8F00D510E2D}"/>
              </a:ext>
            </a:extLst>
          </p:cNvPr>
          <p:cNvSpPr/>
          <p:nvPr/>
        </p:nvSpPr>
        <p:spPr>
          <a:xfrm>
            <a:off x="11787" y="-1"/>
            <a:ext cx="13506450" cy="115776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D4A1A2-6C00-B907-D3E5-E8B1BC8310BE}"/>
              </a:ext>
            </a:extLst>
          </p:cNvPr>
          <p:cNvSpPr/>
          <p:nvPr/>
        </p:nvSpPr>
        <p:spPr>
          <a:xfrm>
            <a:off x="0" y="-1"/>
            <a:ext cx="13506449" cy="2011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F9A3EF-35C6-B546-3678-0830B63F7D77}"/>
              </a:ext>
            </a:extLst>
          </p:cNvPr>
          <p:cNvSpPr txBox="1"/>
          <p:nvPr/>
        </p:nvSpPr>
        <p:spPr>
          <a:xfrm>
            <a:off x="270120" y="428392"/>
            <a:ext cx="12989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Comparison with previous results</a:t>
            </a:r>
            <a:endParaRPr kumimoji="1" lang="ja-JP" altLang="en-US" sz="6000">
              <a:solidFill>
                <a:schemeClr val="bg1"/>
              </a:solidFill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CEF9D9-2C15-111D-E9A8-B43C65AFEBE0}"/>
              </a:ext>
            </a:extLst>
          </p:cNvPr>
          <p:cNvSpPr txBox="1"/>
          <p:nvPr/>
        </p:nvSpPr>
        <p:spPr>
          <a:xfrm>
            <a:off x="304207" y="2233002"/>
            <a:ext cx="4846263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[Low-</a:t>
            </a:r>
            <a:r>
              <a:rPr lang="en" altLang="ja-JP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Kliuchnikov</a:t>
            </a:r>
            <a:r>
              <a:rPr lang="en" altLang="ja-JP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Wiebe 2019]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2328AD-5D85-E781-05D6-35E06634E2DE}"/>
              </a:ext>
            </a:extLst>
          </p:cNvPr>
          <p:cNvSpPr txBox="1"/>
          <p:nvPr/>
        </p:nvSpPr>
        <p:spPr>
          <a:xfrm>
            <a:off x="298447" y="4806595"/>
            <a:ext cx="3733714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[Aftab-An-</a:t>
            </a:r>
            <a:r>
              <a:rPr kumimoji="1" lang="en-US" altLang="ja-JP" sz="2800" dirty="0" err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Trivisa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2024]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0960465-BE31-8360-740B-F479B373B738}"/>
                  </a:ext>
                </a:extLst>
              </p:cNvPr>
              <p:cNvSpPr txBox="1"/>
              <p:nvPr/>
            </p:nvSpPr>
            <p:spPr>
              <a:xfrm>
                <a:off x="304207" y="2978070"/>
                <a:ext cx="87694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ja-JP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Prove the good scaling in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-US" altLang="ja-JP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&amp; </a:t>
                </a:r>
                <a14:m>
                  <m:oMath xmlns:m="http://schemas.openxmlformats.org/officeDocument/2006/math">
                    <m:r>
                      <a:rPr kumimoji="1" lang="en-US" altLang="ja-JP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by the well-conditioned solution </a:t>
                </a:r>
                <a:endParaRPr kumimoji="1"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0960465-BE31-8360-740B-F479B373B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07" y="2978070"/>
                <a:ext cx="8769456" cy="461665"/>
              </a:xfrm>
              <a:prstGeom prst="rect">
                <a:avLst/>
              </a:prstGeom>
              <a:blipFill>
                <a:blip r:embed="rId2"/>
                <a:stretch>
                  <a:fillRect l="-1158" t="-13514" b="-324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ADA1E5-1142-FC28-4E34-01E11DC1C67A}"/>
              </a:ext>
            </a:extLst>
          </p:cNvPr>
          <p:cNvSpPr txBox="1"/>
          <p:nvPr/>
        </p:nvSpPr>
        <p:spPr>
          <a:xfrm>
            <a:off x="328730" y="3731716"/>
            <a:ext cx="1192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Prove that the error is given by commutators but </a:t>
            </a:r>
            <a:r>
              <a:rPr kumimoji="1" lang="en-US" altLang="ja-JP" sz="2400" dirty="0">
                <a:solidFill>
                  <a:srgbClr val="C0000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NOT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provide its explicit form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95D7570-A590-B284-6D67-5AAB49ED1FA3}"/>
                  </a:ext>
                </a:extLst>
              </p:cNvPr>
              <p:cNvSpPr txBox="1"/>
              <p:nvPr/>
            </p:nvSpPr>
            <p:spPr>
              <a:xfrm>
                <a:off x="7584300" y="4250527"/>
                <a:ext cx="57472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→</a:t>
                </a:r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The good scaling in size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is not proven</a:t>
                </a:r>
                <a:endParaRPr kumimoji="1" lang="ja-JP" altLang="en-US" sz="2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95D7570-A590-B284-6D67-5AAB49ED1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300" y="4250527"/>
                <a:ext cx="5747227" cy="461665"/>
              </a:xfrm>
              <a:prstGeom prst="rect">
                <a:avLst/>
              </a:prstGeom>
              <a:blipFill>
                <a:blip r:embed="rId3"/>
                <a:stretch>
                  <a:fillRect l="-1766" t="-10526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B484568-B832-F951-4DE9-68908DED80E0}"/>
              </a:ext>
            </a:extLst>
          </p:cNvPr>
          <p:cNvSpPr txBox="1"/>
          <p:nvPr/>
        </p:nvSpPr>
        <p:spPr>
          <a:xfrm>
            <a:off x="270120" y="5521994"/>
            <a:ext cx="9823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Prove an explicit error bound of the MPF composed of nested commutators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B21D7C-4D82-3F3D-4EFC-179FC8B4CCC6}"/>
              </a:ext>
            </a:extLst>
          </p:cNvPr>
          <p:cNvSpPr txBox="1"/>
          <p:nvPr/>
        </p:nvSpPr>
        <p:spPr>
          <a:xfrm>
            <a:off x="422280" y="5929979"/>
            <a:ext cx="286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(Simplified version)</a:t>
            </a:r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1CD8E15-8D1A-F89D-5DB8-F674E9940A62}"/>
                  </a:ext>
                </a:extLst>
              </p:cNvPr>
              <p:cNvSpPr txBox="1"/>
              <p:nvPr/>
            </p:nvSpPr>
            <p:spPr>
              <a:xfrm>
                <a:off x="298447" y="7126748"/>
                <a:ext cx="10305076" cy="490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40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However, it involves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kumimoji="1" lang="en-US" altLang="ja-JP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-fold nested commutators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com</m:t>
                        </m:r>
                        <m:r>
                          <a:rPr kumimoji="1" lang="en-US" altLang="ja-JP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ja-JP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kumimoji="1" lang="en-US" altLang="ja-JP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with arbitrarily large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kumimoji="1" lang="ja-JP" altLang="en-US" sz="2400">
                  <a:solidFill>
                    <a:srgbClr val="C00000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91CD8E15-8D1A-F89D-5DB8-F674E9940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47" y="7126748"/>
                <a:ext cx="10305076" cy="490199"/>
              </a:xfrm>
              <a:prstGeom prst="rect">
                <a:avLst/>
              </a:prstGeom>
              <a:blipFill>
                <a:blip r:embed="rId4"/>
                <a:stretch>
                  <a:fillRect l="-985" t="-15385" b="-230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5D61446-BC32-9A93-F4E9-C33DD16C50BF}"/>
              </a:ext>
            </a:extLst>
          </p:cNvPr>
          <p:cNvSpPr txBox="1"/>
          <p:nvPr/>
        </p:nvSpPr>
        <p:spPr>
          <a:xfrm>
            <a:off x="894526" y="7789020"/>
            <a:ext cx="6176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Locality gives no meaningful upper bound on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4F916B1-47AF-82E7-104E-4C808725A8C5}"/>
              </a:ext>
            </a:extLst>
          </p:cNvPr>
          <p:cNvSpPr txBox="1"/>
          <p:nvPr/>
        </p:nvSpPr>
        <p:spPr>
          <a:xfrm>
            <a:off x="8655284" y="7789020"/>
            <a:ext cx="113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due to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C602009-D110-A448-2E97-B53D3D43D2EC}"/>
              </a:ext>
            </a:extLst>
          </p:cNvPr>
          <p:cNvSpPr txBox="1"/>
          <p:nvPr/>
        </p:nvSpPr>
        <p:spPr>
          <a:xfrm>
            <a:off x="894527" y="9181760"/>
            <a:ext cx="2815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The cost results in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88A9343-C1EC-8F4A-0CE3-EF728A4A3B7B}"/>
              </a:ext>
            </a:extLst>
          </p:cNvPr>
          <p:cNvSpPr txBox="1"/>
          <p:nvPr/>
        </p:nvSpPr>
        <p:spPr>
          <a:xfrm>
            <a:off x="5801897" y="9181760"/>
            <a:ext cx="40026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generic local Hamiltonians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29ADCBB-BB88-9345-7CE6-CA47A8C28589}"/>
              </a:ext>
            </a:extLst>
          </p:cNvPr>
          <p:cNvSpPr txBox="1"/>
          <p:nvPr/>
        </p:nvSpPr>
        <p:spPr>
          <a:xfrm>
            <a:off x="9618784" y="9236959"/>
            <a:ext cx="1809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(1-norm scaling)</a:t>
            </a:r>
            <a:endParaRPr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FE22063-1CCF-83CD-3E94-979B34E8C08D}"/>
              </a:ext>
            </a:extLst>
          </p:cNvPr>
          <p:cNvSpPr/>
          <p:nvPr/>
        </p:nvSpPr>
        <p:spPr>
          <a:xfrm>
            <a:off x="298447" y="10456326"/>
            <a:ext cx="12901248" cy="9381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EA66D62-33B3-B6E3-159D-072F3B172BA3}"/>
              </a:ext>
            </a:extLst>
          </p:cNvPr>
          <p:cNvSpPr txBox="1"/>
          <p:nvPr/>
        </p:nvSpPr>
        <p:spPr>
          <a:xfrm>
            <a:off x="298447" y="9975210"/>
            <a:ext cx="26230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Our contribution</a:t>
            </a:r>
            <a:endParaRPr kumimoji="1" lang="ja-JP" altLang="en-US" sz="24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\|e^{-iH\tau}-M(\tau)\| \leq \text{Const.} \times \|c\|_1 (\mu_{p,m}[\infty]\tau)^{m+1} &#10;\end{align*}">
            <a:extLst>
              <a:ext uri="{FF2B5EF4-FFF2-40B4-BE49-F238E27FC236}">
                <a16:creationId xmlns:a16="http://schemas.microsoft.com/office/drawing/2014/main" id="{65C5F00D-0805-76EE-502D-F2479B54C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857" y="6457344"/>
            <a:ext cx="6685400" cy="37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\begin{align*}&#10; |\tau| \leq \frac{\text{Const.}}{\mu_{p,m}[\infty]}&#10;\end{align*}">
            <a:extLst>
              <a:ext uri="{FF2B5EF4-FFF2-40B4-BE49-F238E27FC236}">
                <a16:creationId xmlns:a16="http://schemas.microsoft.com/office/drawing/2014/main" id="{C2A71AB7-9755-3556-92E1-DD55C79F5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5750" y="6354094"/>
            <a:ext cx="1834152" cy="717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84D3C66-6F3A-8A14-AEA9-D85D03A48BA0}"/>
              </a:ext>
            </a:extLst>
          </p:cNvPr>
          <p:cNvSpPr txBox="1"/>
          <p:nvPr/>
        </p:nvSpPr>
        <p:spPr>
          <a:xfrm>
            <a:off x="9073663" y="6463483"/>
            <a:ext cx="650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if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9" name="Picture 4" descr="\begin{align*}&#10; |\tau| \leq \frac{\text{Const.}}{\mu_{p,m}[\infty]}&#10;\end{align*}">
            <a:extLst>
              <a:ext uri="{FF2B5EF4-FFF2-40B4-BE49-F238E27FC236}">
                <a16:creationId xmlns:a16="http://schemas.microsoft.com/office/drawing/2014/main" id="{FA5CF2FA-0A05-97F8-940F-FA79FE389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28" t="53458" r="1"/>
          <a:stretch>
            <a:fillRect/>
          </a:stretch>
        </p:blipFill>
        <p:spPr bwMode="auto">
          <a:xfrm>
            <a:off x="7124742" y="7802657"/>
            <a:ext cx="1375828" cy="41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\begin{align*}&#10; \left[ q! (2kg)^q Ng \right]^{\frac1{q+1}} \to \infty&#10;\end{align*}">
            <a:extLst>
              <a:ext uri="{FF2B5EF4-FFF2-40B4-BE49-F238E27FC236}">
                <a16:creationId xmlns:a16="http://schemas.microsoft.com/office/drawing/2014/main" id="{BB56C71E-3747-2782-8433-E19FE5324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293" y="7744601"/>
            <a:ext cx="3008610" cy="43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\begin{align*}&#10; \| c \|_1 , \, \|k\|_1 \in \text{poly}(J)&#10;\end{align*}">
            <a:extLst>
              <a:ext uri="{FF2B5EF4-FFF2-40B4-BE49-F238E27FC236}">
                <a16:creationId xmlns:a16="http://schemas.microsoft.com/office/drawing/2014/main" id="{D91BB989-6181-7DDA-4B6A-BD91069C3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437" y="2992681"/>
            <a:ext cx="3060780" cy="349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\begin{align*}&#10; r \in \tilde{\Theta} (Ngt)&#10;\end{align*}">
            <a:extLst>
              <a:ext uri="{FF2B5EF4-FFF2-40B4-BE49-F238E27FC236}">
                <a16:creationId xmlns:a16="http://schemas.microsoft.com/office/drawing/2014/main" id="{D727A5EE-794D-3C09-F5A6-09EC483FB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987" y="9187893"/>
            <a:ext cx="1679304" cy="40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2717CD8-348D-B5AE-E6EB-C65F54C5AEBA}"/>
              </a:ext>
            </a:extLst>
          </p:cNvPr>
          <p:cNvSpPr txBox="1"/>
          <p:nvPr/>
        </p:nvSpPr>
        <p:spPr>
          <a:xfrm>
            <a:off x="5979866" y="9827454"/>
            <a:ext cx="4623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Our result with commutator scaling:</a:t>
            </a:r>
            <a:endParaRPr kumimoji="1" lang="ja-JP" altLang="en-US" sz="2400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36" name="Picture 12" descr="\begin{align*}&#10; r \in \tilde{\Theta} (N^{\frac1{p+1}}gt)&#10;\end{align*}">
            <a:extLst>
              <a:ext uri="{FF2B5EF4-FFF2-40B4-BE49-F238E27FC236}">
                <a16:creationId xmlns:a16="http://schemas.microsoft.com/office/drawing/2014/main" id="{84B8B28C-D8DF-6D19-EF03-5449CA27F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8912" y="9814538"/>
            <a:ext cx="2143263" cy="43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\begin{align*}&#10; \mu_{p,m}[\infty] \leq \text{Const.} \times Ng&#10;\end{align*}">
            <a:extLst>
              <a:ext uri="{FF2B5EF4-FFF2-40B4-BE49-F238E27FC236}">
                <a16:creationId xmlns:a16="http://schemas.microsoft.com/office/drawing/2014/main" id="{0F7E0A83-3D60-ECA1-B771-DFFC37EC6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3855" y="8625018"/>
            <a:ext cx="2978733" cy="30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0074BF7-3435-075A-4AC4-F0F173276427}"/>
              </a:ext>
            </a:extLst>
          </p:cNvPr>
          <p:cNvSpPr txBox="1"/>
          <p:nvPr/>
        </p:nvSpPr>
        <p:spPr>
          <a:xfrm>
            <a:off x="6011021" y="8572370"/>
            <a:ext cx="2978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We can only confirm</a:t>
            </a:r>
            <a:endParaRPr kumimoji="1" lang="ja-JP" altLang="en-US" sz="200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B829776-F2CA-2E21-57F0-DF47E59F4E6C}"/>
              </a:ext>
            </a:extLst>
          </p:cNvPr>
          <p:cNvSpPr txBox="1"/>
          <p:nvPr/>
        </p:nvSpPr>
        <p:spPr>
          <a:xfrm>
            <a:off x="11593948" y="8537200"/>
            <a:ext cx="1327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in general</a:t>
            </a:r>
            <a:endParaRPr kumimoji="1" lang="ja-JP" altLang="en-US" sz="200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E603AC9-7DE3-1041-0CFE-EE303B4EE91F}"/>
              </a:ext>
            </a:extLst>
          </p:cNvPr>
          <p:cNvSpPr txBox="1"/>
          <p:nvPr/>
        </p:nvSpPr>
        <p:spPr>
          <a:xfrm>
            <a:off x="5202557" y="2380916"/>
            <a:ext cx="6783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G. H. Low, V. Kliuchnikov, and N. Wiebe, arXiv:1907.11679 (2019)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219AB85-6D48-C62D-A63F-1065C48BB27A}"/>
              </a:ext>
            </a:extLst>
          </p:cNvPr>
          <p:cNvSpPr txBox="1"/>
          <p:nvPr/>
        </p:nvSpPr>
        <p:spPr>
          <a:xfrm>
            <a:off x="4192623" y="4956032"/>
            <a:ext cx="6783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Aftab, D. An, and K. Trivisa, arXiv:2403.08922 (2024)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FF68E60F-9A41-DA13-0207-9C727F712285}"/>
                  </a:ext>
                </a:extLst>
              </p:cNvPr>
              <p:cNvSpPr txBox="1"/>
              <p:nvPr/>
            </p:nvSpPr>
            <p:spPr>
              <a:xfrm>
                <a:off x="347635" y="10455062"/>
                <a:ext cx="1277741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Prove the MPF error composed of a finite number of nested commutators </a:t>
                </a:r>
              </a:p>
              <a:p>
                <a:pPr algn="r"/>
                <a:r>
                  <a:rPr kumimoji="1" lang="en-US" altLang="ja-JP" sz="28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&amp; </a:t>
                </a:r>
                <a:r>
                  <a:rPr kumimoji="1" lang="en-US" altLang="ja-JP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Complete the proof of the efficiency in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  <m:r>
                      <a:rPr kumimoji="1" lang="en-US" altLang="ja-JP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ja-JP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ja-JP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r>
                  <a:rPr kumimoji="1" lang="en-US" altLang="ja-JP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for </a:t>
                </a:r>
                <a:r>
                  <a:rPr kumimoji="1" lang="en-US" altLang="ja-JP" sz="2800">
                    <a:solidFill>
                      <a:srgbClr val="C00000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generic local Hamiltonians !</a:t>
                </a:r>
                <a:endParaRPr kumimoji="1" lang="ja-JP" altLang="en-US" sz="28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FF68E60F-9A41-DA13-0207-9C727F712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35" y="10455062"/>
                <a:ext cx="12777415" cy="954107"/>
              </a:xfrm>
              <a:prstGeom prst="rect">
                <a:avLst/>
              </a:prstGeom>
              <a:blipFill>
                <a:blip r:embed="rId12"/>
                <a:stretch>
                  <a:fillRect l="-993" t="-7895" r="-993" b="-18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458</TotalTime>
  <Words>194</Words>
  <Application>Microsoft Macintosh PowerPoint</Application>
  <PresentationFormat>ユーザー設定</PresentationFormat>
  <Paragraphs>23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YuKyokasho Medium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19</cp:revision>
  <dcterms:created xsi:type="dcterms:W3CDTF">2023-12-08T07:40:41Z</dcterms:created>
  <dcterms:modified xsi:type="dcterms:W3CDTF">2026-01-09T05:33:03Z</dcterms:modified>
</cp:coreProperties>
</file>