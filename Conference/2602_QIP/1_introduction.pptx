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3506450" cy="11091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1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9"/>
    <p:restoredTop sz="96327"/>
  </p:normalViewPr>
  <p:slideViewPr>
    <p:cSldViewPr snapToGrid="0" showGuides="1">
      <p:cViewPr varScale="1">
        <p:scale>
          <a:sx n="76" d="100"/>
          <a:sy n="76" d="100"/>
        </p:scale>
        <p:origin x="2568" y="208"/>
      </p:cViewPr>
      <p:guideLst>
        <p:guide orient="horz" pos="3471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15266"/>
            <a:ext cx="11480483" cy="3861612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5825797"/>
            <a:ext cx="10129838" cy="2677965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44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765266"/>
            <a:ext cx="11649313" cy="4613906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422822"/>
            <a:ext cx="11649313" cy="2426344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9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590541"/>
            <a:ext cx="11649313" cy="214391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719048"/>
            <a:ext cx="5713861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051611"/>
            <a:ext cx="5713861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719048"/>
            <a:ext cx="5742000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051611"/>
            <a:ext cx="5742000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5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9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5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597025"/>
            <a:ext cx="6837640" cy="7882412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07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597025"/>
            <a:ext cx="6837640" cy="7882412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4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590539"/>
            <a:ext cx="2912328" cy="939984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590539"/>
            <a:ext cx="8568154" cy="939984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590541"/>
            <a:ext cx="11649313" cy="2143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2952695"/>
            <a:ext cx="11649313" cy="703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280516"/>
            <a:ext cx="4558427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04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14D529-7536-46C5-E9DE-BE33B7A7F1B5}"/>
              </a:ext>
            </a:extLst>
          </p:cNvPr>
          <p:cNvSpPr/>
          <p:nvPr/>
        </p:nvSpPr>
        <p:spPr>
          <a:xfrm>
            <a:off x="0" y="840"/>
            <a:ext cx="13506450" cy="11091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22BFE0-5368-A0E5-CD70-2BF6856F521D}"/>
              </a:ext>
            </a:extLst>
          </p:cNvPr>
          <p:cNvSpPr/>
          <p:nvPr/>
        </p:nvSpPr>
        <p:spPr>
          <a:xfrm>
            <a:off x="0" y="-1"/>
            <a:ext cx="13506449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CE10B-F58E-E3AC-9505-E5714E0588D4}"/>
              </a:ext>
            </a:extLst>
          </p:cNvPr>
          <p:cNvSpPr txBox="1"/>
          <p:nvPr/>
        </p:nvSpPr>
        <p:spPr>
          <a:xfrm>
            <a:off x="473529" y="409386"/>
            <a:ext cx="111850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1. Intro: Hamiltonian simulation</a:t>
            </a:r>
            <a:endParaRPr kumimoji="1" lang="ja-JP" altLang="en-US" sz="6600">
              <a:solidFill>
                <a:schemeClr val="bg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7632F1-BC98-F470-4FDD-C38518D811C3}"/>
              </a:ext>
            </a:extLst>
          </p:cNvPr>
          <p:cNvSpPr txBox="1"/>
          <p:nvPr/>
        </p:nvSpPr>
        <p:spPr>
          <a:xfrm>
            <a:off x="310718" y="2163958"/>
            <a:ext cx="458490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Hamiltonian simulation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777F4B-F770-8B6C-2A0A-A9A20707EDCD}"/>
              </a:ext>
            </a:extLst>
          </p:cNvPr>
          <p:cNvSpPr txBox="1"/>
          <p:nvPr/>
        </p:nvSpPr>
        <p:spPr>
          <a:xfrm>
            <a:off x="5206345" y="2215646"/>
            <a:ext cx="5762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Schrodinger eq.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を量子計算機で解く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945936-EB80-7E9A-7B4C-F4BFF1B714C9}"/>
              </a:ext>
            </a:extLst>
          </p:cNvPr>
          <p:cNvSpPr txBox="1"/>
          <p:nvPr/>
        </p:nvSpPr>
        <p:spPr>
          <a:xfrm>
            <a:off x="1154899" y="5166147"/>
            <a:ext cx="3076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指数加速が期待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0CC3B5-0955-7348-501D-C58D931CD500}"/>
              </a:ext>
            </a:extLst>
          </p:cNvPr>
          <p:cNvSpPr txBox="1"/>
          <p:nvPr/>
        </p:nvSpPr>
        <p:spPr>
          <a:xfrm>
            <a:off x="6995648" y="5164235"/>
            <a:ext cx="593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物性物理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&amp;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量子化学へ広い応用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76F16856-4E3E-7C35-6A0A-BEDBD57B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72" y="3181402"/>
            <a:ext cx="10479779" cy="1531376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104D4A-A02E-6343-036B-8B6105CF02F5}"/>
              </a:ext>
            </a:extLst>
          </p:cNvPr>
          <p:cNvSpPr txBox="1"/>
          <p:nvPr/>
        </p:nvSpPr>
        <p:spPr>
          <a:xfrm>
            <a:off x="380423" y="6901577"/>
            <a:ext cx="274466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Trotter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分解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AF0C3F4-2322-56F8-6CEE-AF0D373B790C}"/>
              </a:ext>
            </a:extLst>
          </p:cNvPr>
          <p:cNvSpPr txBox="1"/>
          <p:nvPr/>
        </p:nvSpPr>
        <p:spPr>
          <a:xfrm>
            <a:off x="3428365" y="6901577"/>
            <a:ext cx="7914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NISQ &amp; FTQC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で最も標準的な量子アルゴリズム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CFEF1D1A-7BDC-2AFD-04FF-880F30FDC09B}"/>
                  </a:ext>
                </a:extLst>
              </p:cNvPr>
              <p:cNvSpPr txBox="1"/>
              <p:nvPr/>
            </p:nvSpPr>
            <p:spPr>
              <a:xfrm>
                <a:off x="669870" y="6033862"/>
                <a:ext cx="12166707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Goal: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系</a:t>
                </a:r>
                <a:r>
                  <a:rPr kumimoji="1" lang="ja-JP" altLang="en-US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サイズ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&amp;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時刻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&amp;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許容誤差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について高速な量子アルゴリズム</a:t>
                </a:r>
                <a:endParaRPr kumimoji="1" lang="ja-JP" altLang="en-US" sz="28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CFEF1D1A-7BDC-2AFD-04FF-880F30FDC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70" y="6033862"/>
                <a:ext cx="12166707" cy="523220"/>
              </a:xfrm>
              <a:prstGeom prst="rect">
                <a:avLst/>
              </a:prstGeom>
              <a:blipFill>
                <a:blip r:embed="rId3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01C07601-6A8C-CECE-12F4-8C5B8C2B2151}"/>
                  </a:ext>
                </a:extLst>
              </p:cNvPr>
              <p:cNvSpPr txBox="1"/>
              <p:nvPr/>
            </p:nvSpPr>
            <p:spPr>
              <a:xfrm>
                <a:off x="473529" y="7755281"/>
                <a:ext cx="2644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kumimoji="1" lang="en-US" altLang="ja-JP" sz="2800" b="1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800" b="1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次の積公式</a:t>
                </a:r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]</a:t>
                </a:r>
                <a:endParaRPr kumimoji="1" lang="ja-JP" altLang="en-US" sz="2800" b="1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01C07601-6A8C-CECE-12F4-8C5B8C2B2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9" y="7755281"/>
                <a:ext cx="2644118" cy="523220"/>
              </a:xfrm>
              <a:prstGeom prst="rect">
                <a:avLst/>
              </a:prstGeom>
              <a:blipFill>
                <a:blip r:embed="rId4"/>
                <a:stretch>
                  <a:fillRect l="-4785" t="-16667" r="-957" b="-357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F7D193F7-43D0-00A9-9A18-57238A23E44A}"/>
              </a:ext>
            </a:extLst>
          </p:cNvPr>
          <p:cNvGrpSpPr/>
          <p:nvPr/>
        </p:nvGrpSpPr>
        <p:grpSpPr>
          <a:xfrm>
            <a:off x="1154899" y="8246382"/>
            <a:ext cx="4314329" cy="1012368"/>
            <a:chOff x="1841818" y="8235723"/>
            <a:chExt cx="4314329" cy="1012368"/>
          </a:xfrm>
        </p:grpSpPr>
        <p:pic>
          <p:nvPicPr>
            <p:cNvPr id="88" name="Picture 10" descr="\begin{align*}&#10;  T_p(\tau) \equiv \prod_{v=1}^{c_p\Gamma} e^{-iH_{\gamma_v} \alpha_v \tau} \\&#10;  = e^{-iH\tau} + \mathcal{O}(\tau^{p+1})&#10;\end{align*}">
              <a:extLst>
                <a:ext uri="{FF2B5EF4-FFF2-40B4-BE49-F238E27FC236}">
                  <a16:creationId xmlns:a16="http://schemas.microsoft.com/office/drawing/2014/main" id="{52FD1043-9DE2-7DF0-7BD9-B121F0562A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523" b="40129"/>
            <a:stretch>
              <a:fillRect/>
            </a:stretch>
          </p:blipFill>
          <p:spPr bwMode="auto">
            <a:xfrm>
              <a:off x="1841818" y="8235723"/>
              <a:ext cx="851363" cy="1012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10" descr="\begin{align*}&#10;  T_p(\tau) \equiv \prod_{v=1}^{c_p\Gamma} e^{-iH_{\gamma_v} \alpha_v \tau} \\&#10;  = e^{-iH\tau} + \mathcal{O}(\tau^{p+1})&#10;\end{align*}">
              <a:extLst>
                <a:ext uri="{FF2B5EF4-FFF2-40B4-BE49-F238E27FC236}">
                  <a16:creationId xmlns:a16="http://schemas.microsoft.com/office/drawing/2014/main" id="{68B9E1CD-2074-8742-918B-37FF5FFC0A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106" b="-8017"/>
            <a:stretch/>
          </p:blipFill>
          <p:spPr bwMode="auto">
            <a:xfrm>
              <a:off x="2365288" y="8493988"/>
              <a:ext cx="3790859" cy="661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F9C9329B-2B9F-5E10-73B0-0C3F15EB9500}"/>
              </a:ext>
            </a:extLst>
          </p:cNvPr>
          <p:cNvSpPr/>
          <p:nvPr/>
        </p:nvSpPr>
        <p:spPr>
          <a:xfrm>
            <a:off x="10851705" y="10504103"/>
            <a:ext cx="1278285" cy="178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F7E1D12B-B99C-0220-9FE9-92414AD6310A}"/>
                  </a:ext>
                </a:extLst>
              </p:cNvPr>
              <p:cNvSpPr txBox="1"/>
              <p:nvPr/>
            </p:nvSpPr>
            <p:spPr>
              <a:xfrm>
                <a:off x="11120858" y="10525306"/>
                <a:ext cx="2209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&lt;</m:t>
                    </m:r>
                    <m:r>
                      <a:rPr kumimoji="1" lang="en-US" altLang="ja-JP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</a:t>
                </a:r>
                <a:r>
                  <a:rPr kumimoji="1" lang="ja-JP" altLang="en-US" sz="200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許容誤差</a:t>
                </a:r>
                <a:r>
                  <a:rPr kumimoji="1" lang="en-US" altLang="ja-JP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  <a:endParaRPr kumimoji="1" lang="ja-JP" altLang="en-US" sz="20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F7E1D12B-B99C-0220-9FE9-92414AD63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0858" y="10525306"/>
                <a:ext cx="2209062" cy="400110"/>
              </a:xfrm>
              <a:prstGeom prst="rect">
                <a:avLst/>
              </a:prstGeom>
              <a:blipFill>
                <a:blip r:embed="rId6"/>
                <a:stretch>
                  <a:fillRect t="-9091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図 94">
            <a:extLst>
              <a:ext uri="{FF2B5EF4-FFF2-40B4-BE49-F238E27FC236}">
                <a16:creationId xmlns:a16="http://schemas.microsoft.com/office/drawing/2014/main" id="{4A1C7EBD-AAA2-3211-16AE-53421AF1B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602" y="7731760"/>
            <a:ext cx="2985757" cy="15886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7F40146-7A1D-83B1-C303-9BE65E24B41A}"/>
                  </a:ext>
                </a:extLst>
              </p:cNvPr>
              <p:cNvSpPr txBox="1"/>
              <p:nvPr/>
            </p:nvSpPr>
            <p:spPr>
              <a:xfrm>
                <a:off x="7142389" y="8551967"/>
                <a:ext cx="34058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微小時間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の</a:t>
                </a:r>
                <a:endParaRPr kumimoji="1" lang="en-US" altLang="ja-JP" sz="2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時間発展を繰り返す</a:t>
                </a:r>
              </a:p>
            </p:txBody>
          </p:sp>
        </mc:Choice>
        <mc:Fallback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7F40146-7A1D-83B1-C303-9BE65E24B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389" y="8551967"/>
                <a:ext cx="3405875" cy="830997"/>
              </a:xfrm>
              <a:prstGeom prst="rect">
                <a:avLst/>
              </a:prstGeom>
              <a:blipFill>
                <a:blip r:embed="rId8"/>
                <a:stretch>
                  <a:fillRect l="-2974" t="-7576" b="-12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左中かっこ 100">
            <a:extLst>
              <a:ext uri="{FF2B5EF4-FFF2-40B4-BE49-F238E27FC236}">
                <a16:creationId xmlns:a16="http://schemas.microsoft.com/office/drawing/2014/main" id="{26901994-B2B7-20FB-E8C8-A2E8B99C40EA}"/>
              </a:ext>
            </a:extLst>
          </p:cNvPr>
          <p:cNvSpPr/>
          <p:nvPr/>
        </p:nvSpPr>
        <p:spPr>
          <a:xfrm>
            <a:off x="1953593" y="9565016"/>
            <a:ext cx="215152" cy="1049223"/>
          </a:xfrm>
          <a:prstGeom prst="leftBrace">
            <a:avLst>
              <a:gd name="adj1" fmla="val 8333"/>
              <a:gd name="adj2" fmla="val 4760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" name="Picture 4" descr="\begin{align*}&#10;  T_1(\tau) = e^{-iH_2\tau}e^{-iH_1\tau}&#10;\end{align*}">
            <a:extLst>
              <a:ext uri="{FF2B5EF4-FFF2-40B4-BE49-F238E27FC236}">
                <a16:creationId xmlns:a16="http://schemas.microsoft.com/office/drawing/2014/main" id="{3B90EA31-BE51-0498-25AE-42A6B9E5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719" y="9626040"/>
            <a:ext cx="2976692" cy="35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6" descr="\begin{align*}&#10;  T_2(\tau) = e^{-iH_1\tau/2}e^{-iH_2\tau}e^{-iH_1\tau/2}&#10;\end{align*}">
            <a:extLst>
              <a:ext uri="{FF2B5EF4-FFF2-40B4-BE49-F238E27FC236}">
                <a16:creationId xmlns:a16="http://schemas.microsoft.com/office/drawing/2014/main" id="{3A44A9F7-EF94-322E-70B3-CEAC28F6F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678" y="10202334"/>
            <a:ext cx="4242622" cy="35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DED85F3C-C630-E8CE-BCC5-B6C95595FCAA}"/>
              </a:ext>
            </a:extLst>
          </p:cNvPr>
          <p:cNvSpPr txBox="1"/>
          <p:nvPr/>
        </p:nvSpPr>
        <p:spPr>
          <a:xfrm>
            <a:off x="6989989" y="7755281"/>
            <a:ext cx="2644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</a:t>
            </a:r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アルゴリズム</a:t>
            </a:r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]</a:t>
            </a:r>
            <a:endParaRPr kumimoji="1" lang="ja-JP" altLang="en-US" sz="28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6" name="図 105">
            <a:extLst>
              <a:ext uri="{FF2B5EF4-FFF2-40B4-BE49-F238E27FC236}">
                <a16:creationId xmlns:a16="http://schemas.microsoft.com/office/drawing/2014/main" id="{AC4E2ADC-DB9B-2417-EC26-4901DB98CC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1443" y="9855745"/>
            <a:ext cx="4178548" cy="7016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85381F88-391A-71C2-6E75-A96FD5D223BB}"/>
                  </a:ext>
                </a:extLst>
              </p:cNvPr>
              <p:cNvSpPr txBox="1"/>
              <p:nvPr/>
            </p:nvSpPr>
            <p:spPr>
              <a:xfrm>
                <a:off x="688293" y="9565016"/>
                <a:ext cx="137287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の場合</a:t>
                </a:r>
              </a:p>
            </p:txBody>
          </p:sp>
        </mc:Choice>
        <mc:Fallback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85381F88-391A-71C2-6E75-A96FD5D22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93" y="9565016"/>
                <a:ext cx="1372876" cy="553998"/>
              </a:xfrm>
              <a:prstGeom prst="rect">
                <a:avLst/>
              </a:prstGeom>
              <a:blipFill>
                <a:blip r:embed="rId12"/>
                <a:stretch>
                  <a:fillRect l="-1835" b="-227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</TotalTime>
  <Words>95</Words>
  <Application>Microsoft Macintosh PowerPoint</Application>
  <PresentationFormat>ユーザー設定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7</cp:revision>
  <dcterms:created xsi:type="dcterms:W3CDTF">2023-12-08T07:40:41Z</dcterms:created>
  <dcterms:modified xsi:type="dcterms:W3CDTF">2025-08-15T01:57:42Z</dcterms:modified>
</cp:coreProperties>
</file>