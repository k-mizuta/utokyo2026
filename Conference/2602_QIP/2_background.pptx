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3506450" cy="11091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94" userDrawn="1">
          <p15:clr>
            <a:srgbClr val="A4A3A4"/>
          </p15:clr>
        </p15:guide>
        <p15:guide id="2" pos="425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583"/>
    <p:restoredTop sz="96327"/>
  </p:normalViewPr>
  <p:slideViewPr>
    <p:cSldViewPr snapToGrid="0" showGuides="1">
      <p:cViewPr>
        <p:scale>
          <a:sx n="80" d="100"/>
          <a:sy n="80" d="100"/>
        </p:scale>
        <p:origin x="2496" y="32"/>
      </p:cViewPr>
      <p:guideLst>
        <p:guide orient="horz" pos="3494"/>
        <p:guide pos="42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2984" y="1815266"/>
            <a:ext cx="11480483" cy="3861612"/>
          </a:xfrm>
        </p:spPr>
        <p:txBody>
          <a:bodyPr anchor="b"/>
          <a:lstStyle>
            <a:lvl1pPr algn="ctr">
              <a:defRPr sz="886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88306" y="5825797"/>
            <a:ext cx="10129838" cy="2677965"/>
          </a:xfrm>
        </p:spPr>
        <p:txBody>
          <a:bodyPr/>
          <a:lstStyle>
            <a:lvl1pPr marL="0" indent="0" algn="ctr">
              <a:buNone/>
              <a:defRPr sz="3545"/>
            </a:lvl1pPr>
            <a:lvl2pPr marL="675330" indent="0" algn="ctr">
              <a:buNone/>
              <a:defRPr sz="2954"/>
            </a:lvl2pPr>
            <a:lvl3pPr marL="1350660" indent="0" algn="ctr">
              <a:buNone/>
              <a:defRPr sz="2659"/>
            </a:lvl3pPr>
            <a:lvl4pPr marL="2025990" indent="0" algn="ctr">
              <a:buNone/>
              <a:defRPr sz="2363"/>
            </a:lvl4pPr>
            <a:lvl5pPr marL="2701320" indent="0" algn="ctr">
              <a:buNone/>
              <a:defRPr sz="2363"/>
            </a:lvl5pPr>
            <a:lvl6pPr marL="3376651" indent="0" algn="ctr">
              <a:buNone/>
              <a:defRPr sz="2363"/>
            </a:lvl6pPr>
            <a:lvl7pPr marL="4051981" indent="0" algn="ctr">
              <a:buNone/>
              <a:defRPr sz="2363"/>
            </a:lvl7pPr>
            <a:lvl8pPr marL="4727311" indent="0" algn="ctr">
              <a:buNone/>
              <a:defRPr sz="2363"/>
            </a:lvl8pPr>
            <a:lvl9pPr marL="5402641" indent="0" algn="ctr">
              <a:buNone/>
              <a:defRPr sz="2363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2448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14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1535" y="2765266"/>
            <a:ext cx="11649313" cy="4613906"/>
          </a:xfrm>
        </p:spPr>
        <p:txBody>
          <a:bodyPr anchor="b"/>
          <a:lstStyle>
            <a:lvl1pPr>
              <a:defRPr sz="8863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1535" y="7422822"/>
            <a:ext cx="11649313" cy="2426344"/>
          </a:xfrm>
        </p:spPr>
        <p:txBody>
          <a:bodyPr/>
          <a:lstStyle>
            <a:lvl1pPr marL="0" indent="0">
              <a:buNone/>
              <a:defRPr sz="3545">
                <a:solidFill>
                  <a:schemeClr val="tx1"/>
                </a:solidFill>
              </a:defRPr>
            </a:lvl1pPr>
            <a:lvl2pPr marL="675330" indent="0">
              <a:buNone/>
              <a:defRPr sz="2954">
                <a:solidFill>
                  <a:schemeClr val="tx1">
                    <a:tint val="75000"/>
                  </a:schemeClr>
                </a:solidFill>
              </a:defRPr>
            </a:lvl2pPr>
            <a:lvl3pPr marL="1350660" indent="0">
              <a:buNone/>
              <a:defRPr sz="2659">
                <a:solidFill>
                  <a:schemeClr val="tx1">
                    <a:tint val="75000"/>
                  </a:schemeClr>
                </a:solidFill>
              </a:defRPr>
            </a:lvl3pPr>
            <a:lvl4pPr marL="2025990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4pPr>
            <a:lvl5pPr marL="2701320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5pPr>
            <a:lvl6pPr marL="337665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6pPr>
            <a:lvl7pPr marL="405198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7pPr>
            <a:lvl8pPr marL="472731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8pPr>
            <a:lvl9pPr marL="5402641" indent="0">
              <a:buNone/>
              <a:defRPr sz="236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5931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8569" y="2952695"/>
            <a:ext cx="5740241" cy="703768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37640" y="2952695"/>
            <a:ext cx="5740241" cy="703768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1548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8" y="590541"/>
            <a:ext cx="11649313" cy="214391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0329" y="2719048"/>
            <a:ext cx="5713861" cy="1332563"/>
          </a:xfrm>
        </p:spPr>
        <p:txBody>
          <a:bodyPr anchor="b"/>
          <a:lstStyle>
            <a:lvl1pPr marL="0" indent="0">
              <a:buNone/>
              <a:defRPr sz="3545" b="1"/>
            </a:lvl1pPr>
            <a:lvl2pPr marL="675330" indent="0">
              <a:buNone/>
              <a:defRPr sz="2954" b="1"/>
            </a:lvl2pPr>
            <a:lvl3pPr marL="1350660" indent="0">
              <a:buNone/>
              <a:defRPr sz="2659" b="1"/>
            </a:lvl3pPr>
            <a:lvl4pPr marL="2025990" indent="0">
              <a:buNone/>
              <a:defRPr sz="2363" b="1"/>
            </a:lvl4pPr>
            <a:lvl5pPr marL="2701320" indent="0">
              <a:buNone/>
              <a:defRPr sz="2363" b="1"/>
            </a:lvl5pPr>
            <a:lvl6pPr marL="3376651" indent="0">
              <a:buNone/>
              <a:defRPr sz="2363" b="1"/>
            </a:lvl6pPr>
            <a:lvl7pPr marL="4051981" indent="0">
              <a:buNone/>
              <a:defRPr sz="2363" b="1"/>
            </a:lvl7pPr>
            <a:lvl8pPr marL="4727311" indent="0">
              <a:buNone/>
              <a:defRPr sz="2363" b="1"/>
            </a:lvl8pPr>
            <a:lvl9pPr marL="5402641" indent="0">
              <a:buNone/>
              <a:defRPr sz="236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30329" y="4051611"/>
            <a:ext cx="5713861" cy="595931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37641" y="2719048"/>
            <a:ext cx="5742000" cy="1332563"/>
          </a:xfrm>
        </p:spPr>
        <p:txBody>
          <a:bodyPr anchor="b"/>
          <a:lstStyle>
            <a:lvl1pPr marL="0" indent="0">
              <a:buNone/>
              <a:defRPr sz="3545" b="1"/>
            </a:lvl1pPr>
            <a:lvl2pPr marL="675330" indent="0">
              <a:buNone/>
              <a:defRPr sz="2954" b="1"/>
            </a:lvl2pPr>
            <a:lvl3pPr marL="1350660" indent="0">
              <a:buNone/>
              <a:defRPr sz="2659" b="1"/>
            </a:lvl3pPr>
            <a:lvl4pPr marL="2025990" indent="0">
              <a:buNone/>
              <a:defRPr sz="2363" b="1"/>
            </a:lvl4pPr>
            <a:lvl5pPr marL="2701320" indent="0">
              <a:buNone/>
              <a:defRPr sz="2363" b="1"/>
            </a:lvl5pPr>
            <a:lvl6pPr marL="3376651" indent="0">
              <a:buNone/>
              <a:defRPr sz="2363" b="1"/>
            </a:lvl6pPr>
            <a:lvl7pPr marL="4051981" indent="0">
              <a:buNone/>
              <a:defRPr sz="2363" b="1"/>
            </a:lvl7pPr>
            <a:lvl8pPr marL="4727311" indent="0">
              <a:buNone/>
              <a:defRPr sz="2363" b="1"/>
            </a:lvl8pPr>
            <a:lvl9pPr marL="5402641" indent="0">
              <a:buNone/>
              <a:defRPr sz="2363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837641" y="4051611"/>
            <a:ext cx="5742000" cy="595931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1587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0090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6509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7" y="739458"/>
            <a:ext cx="4356182" cy="2588101"/>
          </a:xfrm>
        </p:spPr>
        <p:txBody>
          <a:bodyPr anchor="b"/>
          <a:lstStyle>
            <a:lvl1pPr>
              <a:defRPr sz="472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42001" y="1597025"/>
            <a:ext cx="6837640" cy="7882412"/>
          </a:xfrm>
        </p:spPr>
        <p:txBody>
          <a:bodyPr/>
          <a:lstStyle>
            <a:lvl1pPr>
              <a:defRPr sz="4727"/>
            </a:lvl1pPr>
            <a:lvl2pPr>
              <a:defRPr sz="4136"/>
            </a:lvl2pPr>
            <a:lvl3pPr>
              <a:defRPr sz="3545"/>
            </a:lvl3pPr>
            <a:lvl4pPr>
              <a:defRPr sz="2954"/>
            </a:lvl4pPr>
            <a:lvl5pPr>
              <a:defRPr sz="2954"/>
            </a:lvl5pPr>
            <a:lvl6pPr>
              <a:defRPr sz="2954"/>
            </a:lvl6pPr>
            <a:lvl7pPr>
              <a:defRPr sz="2954"/>
            </a:lvl7pPr>
            <a:lvl8pPr>
              <a:defRPr sz="2954"/>
            </a:lvl8pPr>
            <a:lvl9pPr>
              <a:defRPr sz="2954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0327" y="3327559"/>
            <a:ext cx="4356182" cy="6164714"/>
          </a:xfrm>
        </p:spPr>
        <p:txBody>
          <a:bodyPr/>
          <a:lstStyle>
            <a:lvl1pPr marL="0" indent="0">
              <a:buNone/>
              <a:defRPr sz="2363"/>
            </a:lvl1pPr>
            <a:lvl2pPr marL="675330" indent="0">
              <a:buNone/>
              <a:defRPr sz="2068"/>
            </a:lvl2pPr>
            <a:lvl3pPr marL="1350660" indent="0">
              <a:buNone/>
              <a:defRPr sz="1773"/>
            </a:lvl3pPr>
            <a:lvl4pPr marL="2025990" indent="0">
              <a:buNone/>
              <a:defRPr sz="1477"/>
            </a:lvl4pPr>
            <a:lvl5pPr marL="2701320" indent="0">
              <a:buNone/>
              <a:defRPr sz="1477"/>
            </a:lvl5pPr>
            <a:lvl6pPr marL="3376651" indent="0">
              <a:buNone/>
              <a:defRPr sz="1477"/>
            </a:lvl6pPr>
            <a:lvl7pPr marL="4051981" indent="0">
              <a:buNone/>
              <a:defRPr sz="1477"/>
            </a:lvl7pPr>
            <a:lvl8pPr marL="4727311" indent="0">
              <a:buNone/>
              <a:defRPr sz="1477"/>
            </a:lvl8pPr>
            <a:lvl9pPr marL="5402641" indent="0">
              <a:buNone/>
              <a:defRPr sz="14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075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0327" y="739458"/>
            <a:ext cx="4356182" cy="2588101"/>
          </a:xfrm>
        </p:spPr>
        <p:txBody>
          <a:bodyPr anchor="b"/>
          <a:lstStyle>
            <a:lvl1pPr>
              <a:defRPr sz="4727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742001" y="1597025"/>
            <a:ext cx="6837640" cy="7882412"/>
          </a:xfrm>
        </p:spPr>
        <p:txBody>
          <a:bodyPr anchor="t"/>
          <a:lstStyle>
            <a:lvl1pPr marL="0" indent="0">
              <a:buNone/>
              <a:defRPr sz="4727"/>
            </a:lvl1pPr>
            <a:lvl2pPr marL="675330" indent="0">
              <a:buNone/>
              <a:defRPr sz="4136"/>
            </a:lvl2pPr>
            <a:lvl3pPr marL="1350660" indent="0">
              <a:buNone/>
              <a:defRPr sz="3545"/>
            </a:lvl3pPr>
            <a:lvl4pPr marL="2025990" indent="0">
              <a:buNone/>
              <a:defRPr sz="2954"/>
            </a:lvl4pPr>
            <a:lvl5pPr marL="2701320" indent="0">
              <a:buNone/>
              <a:defRPr sz="2954"/>
            </a:lvl5pPr>
            <a:lvl6pPr marL="3376651" indent="0">
              <a:buNone/>
              <a:defRPr sz="2954"/>
            </a:lvl6pPr>
            <a:lvl7pPr marL="4051981" indent="0">
              <a:buNone/>
              <a:defRPr sz="2954"/>
            </a:lvl7pPr>
            <a:lvl8pPr marL="4727311" indent="0">
              <a:buNone/>
              <a:defRPr sz="2954"/>
            </a:lvl8pPr>
            <a:lvl9pPr marL="5402641" indent="0">
              <a:buNone/>
              <a:defRPr sz="2954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30327" y="3327559"/>
            <a:ext cx="4356182" cy="6164714"/>
          </a:xfrm>
        </p:spPr>
        <p:txBody>
          <a:bodyPr/>
          <a:lstStyle>
            <a:lvl1pPr marL="0" indent="0">
              <a:buNone/>
              <a:defRPr sz="2363"/>
            </a:lvl1pPr>
            <a:lvl2pPr marL="675330" indent="0">
              <a:buNone/>
              <a:defRPr sz="2068"/>
            </a:lvl2pPr>
            <a:lvl3pPr marL="1350660" indent="0">
              <a:buNone/>
              <a:defRPr sz="1773"/>
            </a:lvl3pPr>
            <a:lvl4pPr marL="2025990" indent="0">
              <a:buNone/>
              <a:defRPr sz="1477"/>
            </a:lvl4pPr>
            <a:lvl5pPr marL="2701320" indent="0">
              <a:buNone/>
              <a:defRPr sz="1477"/>
            </a:lvl5pPr>
            <a:lvl6pPr marL="3376651" indent="0">
              <a:buNone/>
              <a:defRPr sz="1477"/>
            </a:lvl6pPr>
            <a:lvl7pPr marL="4051981" indent="0">
              <a:buNone/>
              <a:defRPr sz="1477"/>
            </a:lvl7pPr>
            <a:lvl8pPr marL="4727311" indent="0">
              <a:buNone/>
              <a:defRPr sz="1477"/>
            </a:lvl8pPr>
            <a:lvl9pPr marL="5402641" indent="0">
              <a:buNone/>
              <a:defRPr sz="1477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343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7654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665554" y="590539"/>
            <a:ext cx="2912328" cy="939984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8569" y="590539"/>
            <a:ext cx="8568154" cy="939984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5608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28569" y="590541"/>
            <a:ext cx="11649313" cy="21439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28569" y="2952695"/>
            <a:ext cx="11649313" cy="70376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28569" y="10280516"/>
            <a:ext cx="3038951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02A9BB-8336-1F4C-AA8D-E45E345636B3}" type="datetimeFigureOut">
              <a:rPr kumimoji="1" lang="ja-JP" altLang="en-US" smtClean="0"/>
              <a:t>2025/8/15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74012" y="10280516"/>
            <a:ext cx="4558427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538930" y="10280516"/>
            <a:ext cx="3038951" cy="5905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333D-5579-9843-85E6-ABAFA1CA0B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1049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350660" rtl="0" eaLnBrk="1" latinLnBrk="0" hangingPunct="1">
        <a:lnSpc>
          <a:spcPct val="90000"/>
        </a:lnSpc>
        <a:spcBef>
          <a:spcPct val="0"/>
        </a:spcBef>
        <a:buNone/>
        <a:defRPr kumimoji="1" sz="64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665" indent="-337665" algn="l" defTabSz="1350660" rtl="0" eaLnBrk="1" latinLnBrk="0" hangingPunct="1">
        <a:lnSpc>
          <a:spcPct val="90000"/>
        </a:lnSpc>
        <a:spcBef>
          <a:spcPts val="1477"/>
        </a:spcBef>
        <a:buFont typeface="Arial" panose="020B0604020202020204" pitchFamily="34" charset="0"/>
        <a:buChar char="•"/>
        <a:defRPr kumimoji="1" sz="4136" kern="1200">
          <a:solidFill>
            <a:schemeClr val="tx1"/>
          </a:solidFill>
          <a:latin typeface="+mn-lt"/>
          <a:ea typeface="+mn-ea"/>
          <a:cs typeface="+mn-cs"/>
        </a:defRPr>
      </a:lvl1pPr>
      <a:lvl2pPr marL="101299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3545" kern="1200">
          <a:solidFill>
            <a:schemeClr val="tx1"/>
          </a:solidFill>
          <a:latin typeface="+mn-lt"/>
          <a:ea typeface="+mn-ea"/>
          <a:cs typeface="+mn-cs"/>
        </a:defRPr>
      </a:lvl2pPr>
      <a:lvl3pPr marL="168832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954" kern="1200">
          <a:solidFill>
            <a:schemeClr val="tx1"/>
          </a:solidFill>
          <a:latin typeface="+mn-lt"/>
          <a:ea typeface="+mn-ea"/>
          <a:cs typeface="+mn-cs"/>
        </a:defRPr>
      </a:lvl3pPr>
      <a:lvl4pPr marL="2363655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4pPr>
      <a:lvl5pPr marL="303898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5pPr>
      <a:lvl6pPr marL="371431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6pPr>
      <a:lvl7pPr marL="438964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7pPr>
      <a:lvl8pPr marL="506497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8pPr>
      <a:lvl9pPr marL="5740306" indent="-337665" algn="l" defTabSz="1350660" rtl="0" eaLnBrk="1" latinLnBrk="0" hangingPunct="1">
        <a:lnSpc>
          <a:spcPct val="90000"/>
        </a:lnSpc>
        <a:spcBef>
          <a:spcPts val="739"/>
        </a:spcBef>
        <a:buFont typeface="Arial" panose="020B0604020202020204" pitchFamily="34" charset="0"/>
        <a:buChar char="•"/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1pPr>
      <a:lvl2pPr marL="67533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2pPr>
      <a:lvl3pPr marL="135066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3pPr>
      <a:lvl4pPr marL="202599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4pPr>
      <a:lvl5pPr marL="2701320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5pPr>
      <a:lvl6pPr marL="337665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6pPr>
      <a:lvl7pPr marL="405198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7pPr>
      <a:lvl8pPr marL="472731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8pPr>
      <a:lvl9pPr marL="5402641" algn="l" defTabSz="1350660" rtl="0" eaLnBrk="1" latinLnBrk="0" hangingPunct="1">
        <a:defRPr kumimoji="1" sz="26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114D529-7536-46C5-E9DE-BE33B7A7F1B5}"/>
              </a:ext>
            </a:extLst>
          </p:cNvPr>
          <p:cNvSpPr/>
          <p:nvPr/>
        </p:nvSpPr>
        <p:spPr>
          <a:xfrm>
            <a:off x="-1" y="793"/>
            <a:ext cx="13506450" cy="11091863"/>
          </a:xfrm>
          <a:prstGeom prst="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822BFE0-5368-A0E5-CD70-2BF6856F521D}"/>
              </a:ext>
            </a:extLst>
          </p:cNvPr>
          <p:cNvSpPr/>
          <p:nvPr/>
        </p:nvSpPr>
        <p:spPr>
          <a:xfrm>
            <a:off x="0" y="-1"/>
            <a:ext cx="13506449" cy="19267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36CE10B-F58E-E3AC-9505-E5714E0588D4}"/>
              </a:ext>
            </a:extLst>
          </p:cNvPr>
          <p:cNvSpPr txBox="1"/>
          <p:nvPr/>
        </p:nvSpPr>
        <p:spPr>
          <a:xfrm>
            <a:off x="473529" y="409386"/>
            <a:ext cx="126118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6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Intro: Trotter </a:t>
            </a:r>
            <a:r>
              <a:rPr kumimoji="1" lang="ja-JP" altLang="en-US" sz="6600">
                <a:solidFill>
                  <a:schemeClr val="bg1"/>
                </a:solidFill>
                <a:latin typeface="YuKyokasho Medium" panose="02000500000000000000" pitchFamily="2" charset="-128"/>
                <a:ea typeface="YuKyokasho Medium" panose="02000500000000000000" pitchFamily="2" charset="-128"/>
                <a:cs typeface="Times New Roman" panose="02020603050405020304" pitchFamily="18" charset="0"/>
              </a:rPr>
              <a:t>誤差と計算コスト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35CEAD6-AC26-2735-5ECD-C70DFB97A3E8}"/>
              </a:ext>
            </a:extLst>
          </p:cNvPr>
          <p:cNvSpPr txBox="1"/>
          <p:nvPr/>
        </p:nvSpPr>
        <p:spPr>
          <a:xfrm>
            <a:off x="227030" y="2116701"/>
            <a:ext cx="3066865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■</a:t>
            </a:r>
            <a:r>
              <a:rPr kumimoji="1" lang="en-US" altLang="ja-JP" sz="3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Trotter </a:t>
            </a:r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誤差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3EEA024-44E5-12ED-AAB1-0BEA63E17DF8}"/>
              </a:ext>
            </a:extLst>
          </p:cNvPr>
          <p:cNvSpPr txBox="1"/>
          <p:nvPr/>
        </p:nvSpPr>
        <p:spPr>
          <a:xfrm>
            <a:off x="3587344" y="2238935"/>
            <a:ext cx="84632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“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全ての可能な初期状態に対する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worst-case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の誤差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”</a:t>
            </a:r>
            <a:endParaRPr kumimoji="1" lang="ja-JP" altLang="en-US" sz="28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30" name="Picture 4" descr="\begin{align*}&#10;  \| e^{-iH\tau} -  T_p(\tau) \| = \max_{\ket{\psi} \in \mathcal{H}} \left( \| (e^{-iH\tau} -  T_p(\tau) ) \ket{\psi} \|\right)&#10;\end{align*}">
            <a:extLst>
              <a:ext uri="{FF2B5EF4-FFF2-40B4-BE49-F238E27FC236}">
                <a16:creationId xmlns:a16="http://schemas.microsoft.com/office/drawing/2014/main" id="{23F4D549-9F5C-C306-3BC0-AB7CD7C6BF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4132" y="3128092"/>
            <a:ext cx="7842368" cy="6480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3AD27EC3-73BF-973C-AA43-DBA141323D86}"/>
              </a:ext>
            </a:extLst>
          </p:cNvPr>
          <p:cNvSpPr txBox="1"/>
          <p:nvPr/>
        </p:nvSpPr>
        <p:spPr>
          <a:xfrm>
            <a:off x="3363325" y="4326077"/>
            <a:ext cx="3160119" cy="83099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1-norm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スケーリング</a:t>
            </a:r>
            <a:endParaRPr kumimoji="1" lang="en-US" altLang="ja-JP" sz="24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ctr"/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(Taylor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展開</a:t>
            </a:r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)</a:t>
            </a:r>
            <a:endParaRPr kumimoji="1" lang="ja-JP" altLang="en-US" sz="24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0C07CDF3-9E13-2E77-3036-2849B7A48B98}"/>
              </a:ext>
            </a:extLst>
          </p:cNvPr>
          <p:cNvSpPr txBox="1"/>
          <p:nvPr/>
        </p:nvSpPr>
        <p:spPr>
          <a:xfrm>
            <a:off x="473529" y="4219381"/>
            <a:ext cx="23072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誤差の上界</a:t>
            </a:r>
            <a:r>
              <a:rPr kumimoji="1" lang="en-US" altLang="ja-JP" sz="2800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:</a:t>
            </a:r>
            <a:endParaRPr kumimoji="1" lang="ja-JP" altLang="en-US" sz="2800" b="1" u="sng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47" name="Picture 4" descr="\begin{align*}&#10;  \leq \mathcal{O} \left( \left( \sum_\gamma \|H_\gamma\| \tau\right)^{p+1}\right)&#10;\end{align*}">
            <a:extLst>
              <a:ext uri="{FF2B5EF4-FFF2-40B4-BE49-F238E27FC236}">
                <a16:creationId xmlns:a16="http://schemas.microsoft.com/office/drawing/2014/main" id="{7BB814B6-4CA2-0910-CF82-9881B8DD3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8313" y="4250733"/>
            <a:ext cx="3082754" cy="1011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6" descr="\begin{align*}&#10;  \subset \mathcal{O} \left( \left( Ng \tau\right)^{p+1}\right)&#10;\end{align*}">
            <a:extLst>
              <a:ext uri="{FF2B5EF4-FFF2-40B4-BE49-F238E27FC236}">
                <a16:creationId xmlns:a16="http://schemas.microsoft.com/office/drawing/2014/main" id="{9F15A462-DDBE-062B-DE05-887B610B76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5936" y="4505343"/>
            <a:ext cx="2099855" cy="523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E41ED692-FC10-4CFC-D34C-557EAE1ACF4C}"/>
              </a:ext>
            </a:extLst>
          </p:cNvPr>
          <p:cNvSpPr txBox="1"/>
          <p:nvPr/>
        </p:nvSpPr>
        <p:spPr>
          <a:xfrm>
            <a:off x="3363325" y="6403392"/>
            <a:ext cx="39893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140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A. M. Childs, et al., PRX </a:t>
            </a:r>
            <a:r>
              <a:rPr lang="en" altLang="ja-JP" sz="1400" b="1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  <a:r>
              <a:rPr lang="en" altLang="ja-JP" sz="1400" b="0" i="0" dirty="0">
                <a:solidFill>
                  <a:srgbClr val="00206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011020 (2021)</a:t>
            </a:r>
            <a:endParaRPr lang="ja-JP" altLang="en-US" sz="140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1" name="Picture 2" descr="\begin{align*}&#10;  \leq \mathcal{O} \left( \sum_{\gamma_0,\cdots,\gamma_p} \| [H_{\gamma_p},[\cdots,[H_{\gamma_1},H_{\gamma_0}]]] \| t^{p+1} \right)&#10;\end{align*}">
            <a:extLst>
              <a:ext uri="{FF2B5EF4-FFF2-40B4-BE49-F238E27FC236}">
                <a16:creationId xmlns:a16="http://schemas.microsoft.com/office/drawing/2014/main" id="{D9C1D07C-5CDC-8D02-2B32-FFA54D6A4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627" y="5472122"/>
            <a:ext cx="5359507" cy="1017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D33C285B-FC89-434F-5B81-A16AB5C6114D}"/>
              </a:ext>
            </a:extLst>
          </p:cNvPr>
          <p:cNvSpPr txBox="1"/>
          <p:nvPr/>
        </p:nvSpPr>
        <p:spPr>
          <a:xfrm>
            <a:off x="8940148" y="6199843"/>
            <a:ext cx="2618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b="1" dirty="0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Many vanishing terms </a:t>
            </a:r>
            <a:endParaRPr kumimoji="1" lang="ja-JP" altLang="en-US" b="1">
              <a:solidFill>
                <a:schemeClr val="accent2"/>
              </a:solidFill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2A7943F1-4AA4-AFAB-99E0-01D541D5CAEF}"/>
              </a:ext>
            </a:extLst>
          </p:cNvPr>
          <p:cNvSpPr txBox="1"/>
          <p:nvPr/>
        </p:nvSpPr>
        <p:spPr>
          <a:xfrm>
            <a:off x="3363325" y="5544961"/>
            <a:ext cx="3160119" cy="83099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交換子スケーリング</a:t>
            </a:r>
            <a:endParaRPr kumimoji="1" lang="en-US" altLang="ja-JP" sz="24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ctr"/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(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局所性を反映</a:t>
            </a:r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)</a:t>
            </a:r>
            <a:endParaRPr kumimoji="1" lang="ja-JP" altLang="en-US" sz="240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pic>
        <p:nvPicPr>
          <p:cNvPr id="56" name="Picture 8" descr="\begin{align*}&#10;  \subset \mathcal{O} \left( (g\tau)^{p+1} N\right)&#10;\end{align*}">
            <a:extLst>
              <a:ext uri="{FF2B5EF4-FFF2-40B4-BE49-F238E27FC236}">
                <a16:creationId xmlns:a16="http://schemas.microsoft.com/office/drawing/2014/main" id="{8793615F-5EAC-A290-F45F-477EE246C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8626" y="6839304"/>
            <a:ext cx="2185837" cy="36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10" descr="\begin{align*}&#10;  \tau^{p+1}&#10;\end{align*}">
            <a:extLst>
              <a:ext uri="{FF2B5EF4-FFF2-40B4-BE49-F238E27FC236}">
                <a16:creationId xmlns:a16="http://schemas.microsoft.com/office/drawing/2014/main" id="{C126E24C-C76F-8F92-EEF4-5B829D26D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11142" y="5787641"/>
            <a:ext cx="587984" cy="271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Picture 2" descr="\begin{align*}&#10;  H = \sum_{\gamma=1}^\Gamma H_\gamma&#10;\end{align*}">
            <a:extLst>
              <a:ext uri="{FF2B5EF4-FFF2-40B4-BE49-F238E27FC236}">
                <a16:creationId xmlns:a16="http://schemas.microsoft.com/office/drawing/2014/main" id="{36E71E18-F695-2AFD-57F4-D1F209005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775" y="5142258"/>
            <a:ext cx="1592173" cy="949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809D0018-8FC2-ECF3-4F24-C6FEB2274247}"/>
              </a:ext>
            </a:extLst>
          </p:cNvPr>
          <p:cNvSpPr/>
          <p:nvPr/>
        </p:nvSpPr>
        <p:spPr>
          <a:xfrm>
            <a:off x="1395928" y="9216860"/>
            <a:ext cx="1498204" cy="25850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3" name="Picture 4" descr="\begin{align*}&#10;  r \times \left( g \frac{t}{r}\right)^{p+1} N \leq \mathcal{O}(\varepsilon)&#10;\end{align*}">
            <a:extLst>
              <a:ext uri="{FF2B5EF4-FFF2-40B4-BE49-F238E27FC236}">
                <a16:creationId xmlns:a16="http://schemas.microsoft.com/office/drawing/2014/main" id="{E6475181-0783-2F2C-451C-E2EC738DE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337" y="8540860"/>
            <a:ext cx="3289221" cy="8358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" name="Picture 6" descr="\begin{align*}&#10;  r \in \Theta \left( gt \left( \frac{Ngt}{\varepsilon}\right)^{\frac1p}\right)&#10;\end{align*}">
            <a:extLst>
              <a:ext uri="{FF2B5EF4-FFF2-40B4-BE49-F238E27FC236}">
                <a16:creationId xmlns:a16="http://schemas.microsoft.com/office/drawing/2014/main" id="{4C10FD48-3D87-ED0A-7D71-F335DC69CA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9692" y="9831757"/>
            <a:ext cx="3167504" cy="1055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テキスト ボックス 1026">
            <a:extLst>
              <a:ext uri="{FF2B5EF4-FFF2-40B4-BE49-F238E27FC236}">
                <a16:creationId xmlns:a16="http://schemas.microsoft.com/office/drawing/2014/main" id="{0DAA0434-FEBF-E539-7FB9-2D25C1CB210B}"/>
              </a:ext>
            </a:extLst>
          </p:cNvPr>
          <p:cNvSpPr txBox="1"/>
          <p:nvPr/>
        </p:nvSpPr>
        <p:spPr>
          <a:xfrm>
            <a:off x="1331760" y="9345748"/>
            <a:ext cx="16835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chemeClr val="accent1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1 step </a:t>
            </a:r>
            <a:r>
              <a:rPr kumimoji="1" lang="ja-JP" altLang="en-US" sz="2000">
                <a:solidFill>
                  <a:schemeClr val="accent1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の誤差</a:t>
            </a:r>
          </a:p>
        </p:txBody>
      </p:sp>
      <p:sp>
        <p:nvSpPr>
          <p:cNvPr id="1028" name="正方形/長方形 1027">
            <a:extLst>
              <a:ext uri="{FF2B5EF4-FFF2-40B4-BE49-F238E27FC236}">
                <a16:creationId xmlns:a16="http://schemas.microsoft.com/office/drawing/2014/main" id="{C5C301A5-83D6-EAA4-CC53-4187B36553D7}"/>
              </a:ext>
            </a:extLst>
          </p:cNvPr>
          <p:cNvSpPr/>
          <p:nvPr/>
        </p:nvSpPr>
        <p:spPr>
          <a:xfrm>
            <a:off x="3323918" y="9216860"/>
            <a:ext cx="709640" cy="2585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0" name="テキスト ボックス 1029">
            <a:extLst>
              <a:ext uri="{FF2B5EF4-FFF2-40B4-BE49-F238E27FC236}">
                <a16:creationId xmlns:a16="http://schemas.microsoft.com/office/drawing/2014/main" id="{7FACFB40-1180-67C0-AB30-3773FC28D9D5}"/>
              </a:ext>
            </a:extLst>
          </p:cNvPr>
          <p:cNvSpPr txBox="1"/>
          <p:nvPr/>
        </p:nvSpPr>
        <p:spPr>
          <a:xfrm>
            <a:off x="4510861" y="9198503"/>
            <a:ext cx="3199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Trotter </a:t>
            </a:r>
            <a:r>
              <a:rPr kumimoji="1" lang="ja-JP" altLang="en-US" sz="2400" b="1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数</a:t>
            </a:r>
            <a:r>
              <a:rPr kumimoji="1" lang="en-US" altLang="ja-JP" sz="2400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(</a:t>
            </a:r>
            <a:r>
              <a:rPr kumimoji="1" lang="ja-JP" altLang="en-US" sz="2400" b="1" u="sng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複雑性</a:t>
            </a:r>
            <a:r>
              <a:rPr kumimoji="1" lang="en-US" altLang="ja-JP" sz="2400" b="1" u="sng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)</a:t>
            </a:r>
            <a:endParaRPr kumimoji="1" lang="ja-JP" altLang="en-US" sz="2400" b="1" u="sng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</p:txBody>
      </p:sp>
      <p:sp>
        <p:nvSpPr>
          <p:cNvPr id="1031" name="右矢印 1030">
            <a:extLst>
              <a:ext uri="{FF2B5EF4-FFF2-40B4-BE49-F238E27FC236}">
                <a16:creationId xmlns:a16="http://schemas.microsoft.com/office/drawing/2014/main" id="{A53C6459-CEA1-00BE-A71F-8DED5EDA9A64}"/>
              </a:ext>
            </a:extLst>
          </p:cNvPr>
          <p:cNvSpPr/>
          <p:nvPr/>
        </p:nvSpPr>
        <p:spPr>
          <a:xfrm>
            <a:off x="3597665" y="10123233"/>
            <a:ext cx="978742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3" name="テキスト ボックス 1032">
            <a:extLst>
              <a:ext uri="{FF2B5EF4-FFF2-40B4-BE49-F238E27FC236}">
                <a16:creationId xmlns:a16="http://schemas.microsoft.com/office/drawing/2014/main" id="{6A3768D8-22F0-D6E0-9C36-4323F84436DE}"/>
              </a:ext>
            </a:extLst>
          </p:cNvPr>
          <p:cNvSpPr txBox="1"/>
          <p:nvPr/>
        </p:nvSpPr>
        <p:spPr>
          <a:xfrm>
            <a:off x="8913365" y="8415417"/>
            <a:ext cx="44235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✅</a:t>
            </a:r>
            <a:r>
              <a:rPr kumimoji="1" lang="en-US" altLang="ja-JP" sz="24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 </a:t>
            </a:r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任意の初期状態</a:t>
            </a:r>
            <a:endParaRPr kumimoji="1" lang="en-US" altLang="ja-JP" sz="2400" dirty="0">
              <a:latin typeface="Times New Roman" panose="02020603050405020304" pitchFamily="18" charset="0"/>
              <a:ea typeface="YuKyokasho Medium" panose="02000500000000000000" pitchFamily="2" charset="-128"/>
              <a:cs typeface="Times New Roman" panose="02020603050405020304" pitchFamily="18" charset="0"/>
            </a:endParaRPr>
          </a:p>
          <a:p>
            <a:pPr algn="r"/>
            <a:r>
              <a:rPr kumimoji="1" lang="ja-JP" altLang="en-US" sz="24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に対する精度保証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34" name="テキスト ボックス 1033">
                <a:extLst>
                  <a:ext uri="{FF2B5EF4-FFF2-40B4-BE49-F238E27FC236}">
                    <a16:creationId xmlns:a16="http://schemas.microsoft.com/office/drawing/2014/main" id="{B3F9F8C6-D759-6BED-2C14-CF20FB425A44}"/>
                  </a:ext>
                </a:extLst>
              </p:cNvPr>
              <p:cNvSpPr txBox="1"/>
              <p:nvPr/>
            </p:nvSpPr>
            <p:spPr>
              <a:xfrm>
                <a:off x="8913365" y="9251354"/>
                <a:ext cx="449235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2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✅</a:t>
                </a:r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:r>
                  <a:rPr kumimoji="1" lang="ja-JP" altLang="en-US" sz="2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交換子スケーリングによる</a:t>
                </a:r>
                <a:endParaRPr kumimoji="1" lang="en-US" altLang="ja-JP" sz="2400" dirty="0">
                  <a:latin typeface="Times New Roman" panose="02020603050405020304" pitchFamily="18" charset="0"/>
                  <a:ea typeface="YuKyokasho Medium" panose="02000500000000000000" pitchFamily="2" charset="-128"/>
                  <a:cs typeface="Times New Roman" panose="02020603050405020304" pitchFamily="18" charset="0"/>
                </a:endParaRPr>
              </a:p>
              <a:p>
                <a:pPr algn="r"/>
                <a:r>
                  <a:rPr kumimoji="1" lang="ja-JP" altLang="en-US" sz="2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良い系サイズ</a:t>
                </a:r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panose="02040503050406030204" pitchFamily="18" charset="0"/>
                        <a:ea typeface="YuKyokasho Medium" panose="02000500000000000000" pitchFamily="2" charset="-128"/>
                        <a:cs typeface="Times New Roman" panose="02020603050405020304" pitchFamily="18" charset="0"/>
                      </a:rPr>
                      <m:t>𝑁</m:t>
                    </m:r>
                  </m:oMath>
                </a14:m>
                <a:r>
                  <a:rPr kumimoji="1" lang="en-US" altLang="ja-JP" sz="2400" dirty="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 </a:t>
                </a:r>
                <a:r>
                  <a:rPr kumimoji="1" lang="ja-JP" altLang="en-US" sz="2400">
                    <a:latin typeface="Times New Roman" panose="02020603050405020304" pitchFamily="18" charset="0"/>
                    <a:ea typeface="YuKyokasho Medium" panose="02000500000000000000" pitchFamily="2" charset="-128"/>
                    <a:cs typeface="Times New Roman" panose="02020603050405020304" pitchFamily="18" charset="0"/>
                  </a:rPr>
                  <a:t>依存性</a:t>
                </a:r>
              </a:p>
            </p:txBody>
          </p:sp>
        </mc:Choice>
        <mc:Fallback>
          <p:sp>
            <p:nvSpPr>
              <p:cNvPr id="1034" name="テキスト ボックス 1033">
                <a:extLst>
                  <a:ext uri="{FF2B5EF4-FFF2-40B4-BE49-F238E27FC236}">
                    <a16:creationId xmlns:a16="http://schemas.microsoft.com/office/drawing/2014/main" id="{B3F9F8C6-D759-6BED-2C14-CF20FB425A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365" y="9251354"/>
                <a:ext cx="4492354" cy="830997"/>
              </a:xfrm>
              <a:prstGeom prst="rect">
                <a:avLst/>
              </a:prstGeom>
              <a:blipFill>
                <a:blip r:embed="rId11"/>
                <a:stretch>
                  <a:fillRect l="-1972" t="-9091" r="-2254" b="-1212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36" name="テキスト ボックス 1035">
            <a:extLst>
              <a:ext uri="{FF2B5EF4-FFF2-40B4-BE49-F238E27FC236}">
                <a16:creationId xmlns:a16="http://schemas.microsoft.com/office/drawing/2014/main" id="{467C6411-B680-73D0-07C5-96E3061F81B5}"/>
              </a:ext>
            </a:extLst>
          </p:cNvPr>
          <p:cNvSpPr txBox="1"/>
          <p:nvPr/>
        </p:nvSpPr>
        <p:spPr>
          <a:xfrm>
            <a:off x="9567668" y="10679628"/>
            <a:ext cx="20970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2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A. </a:t>
            </a:r>
            <a:r>
              <a:rPr lang="en-US" altLang="ja-JP" sz="1200" dirty="0" err="1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Gilyen</a:t>
            </a:r>
            <a:r>
              <a:rPr lang="en-US" altLang="ja-JP" sz="12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et al., STOC (2019)</a:t>
            </a:r>
            <a:endParaRPr lang="ja-JP" altLang="en-US" sz="120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7" name="テキスト ボックス 1036">
            <a:extLst>
              <a:ext uri="{FF2B5EF4-FFF2-40B4-BE49-F238E27FC236}">
                <a16:creationId xmlns:a16="http://schemas.microsoft.com/office/drawing/2014/main" id="{9DE96346-346E-8E78-7C5E-D6D20FD7F028}"/>
              </a:ext>
            </a:extLst>
          </p:cNvPr>
          <p:cNvSpPr txBox="1"/>
          <p:nvPr/>
        </p:nvSpPr>
        <p:spPr>
          <a:xfrm>
            <a:off x="9552285" y="10434508"/>
            <a:ext cx="31926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12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D. W. Berry, et al., PRL 114, 090502 (2015).</a:t>
            </a:r>
            <a:endParaRPr lang="ja-JP" altLang="en-US" sz="120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40" name="テキスト ボックス 1039">
            <a:extLst>
              <a:ext uri="{FF2B5EF4-FFF2-40B4-BE49-F238E27FC236}">
                <a16:creationId xmlns:a16="http://schemas.microsoft.com/office/drawing/2014/main" id="{29A08AE6-8F2F-CAD2-A648-1DFC928ABFE5}"/>
              </a:ext>
            </a:extLst>
          </p:cNvPr>
          <p:cNvSpPr txBox="1"/>
          <p:nvPr/>
        </p:nvSpPr>
        <p:spPr>
          <a:xfrm>
            <a:off x="227029" y="7558191"/>
            <a:ext cx="3070071" cy="646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■</a:t>
            </a:r>
            <a:r>
              <a:rPr kumimoji="1" lang="en-US" altLang="ja-JP" sz="36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</a:t>
            </a:r>
            <a:r>
              <a:rPr kumimoji="1" lang="ja-JP" altLang="en-US" sz="36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計算複雑性</a:t>
            </a:r>
          </a:p>
        </p:txBody>
      </p:sp>
      <p:sp>
        <p:nvSpPr>
          <p:cNvPr id="1041" name="テキスト ボックス 1040">
            <a:extLst>
              <a:ext uri="{FF2B5EF4-FFF2-40B4-BE49-F238E27FC236}">
                <a16:creationId xmlns:a16="http://schemas.microsoft.com/office/drawing/2014/main" id="{44C4523C-7BEA-7145-F7FB-4912D0E854F5}"/>
              </a:ext>
            </a:extLst>
          </p:cNvPr>
          <p:cNvSpPr txBox="1"/>
          <p:nvPr/>
        </p:nvSpPr>
        <p:spPr>
          <a:xfrm>
            <a:off x="3524130" y="7619746"/>
            <a:ext cx="61261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←</a:t>
            </a:r>
            <a:r>
              <a:rPr kumimoji="1" lang="en-US" altLang="ja-JP" sz="2800" dirty="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 Worst-case error, </a:t>
            </a:r>
            <a:r>
              <a:rPr kumimoji="1" lang="ja-JP" altLang="en-US" sz="2800"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許容誤差で決まる</a:t>
            </a:r>
          </a:p>
        </p:txBody>
      </p: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5ABE6C4C-5809-DC8B-D83D-D45C828AB3C7}"/>
              </a:ext>
            </a:extLst>
          </p:cNvPr>
          <p:cNvSpPr txBox="1"/>
          <p:nvPr/>
        </p:nvSpPr>
        <p:spPr>
          <a:xfrm>
            <a:off x="3109474" y="9345748"/>
            <a:ext cx="1374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>
                <a:solidFill>
                  <a:schemeClr val="accent2"/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許容誤差</a:t>
            </a:r>
          </a:p>
        </p:txBody>
      </p:sp>
      <p:sp>
        <p:nvSpPr>
          <p:cNvPr id="1042" name="左中かっこ 1041">
            <a:extLst>
              <a:ext uri="{FF2B5EF4-FFF2-40B4-BE49-F238E27FC236}">
                <a16:creationId xmlns:a16="http://schemas.microsoft.com/office/drawing/2014/main" id="{A675892B-797D-FCD7-E57B-91E536541FB1}"/>
              </a:ext>
            </a:extLst>
          </p:cNvPr>
          <p:cNvSpPr/>
          <p:nvPr/>
        </p:nvSpPr>
        <p:spPr>
          <a:xfrm>
            <a:off x="8438146" y="8540860"/>
            <a:ext cx="352927" cy="2346732"/>
          </a:xfrm>
          <a:prstGeom prst="leftBrace">
            <a:avLst>
              <a:gd name="adj1" fmla="val 8333"/>
              <a:gd name="adj2" fmla="val 75081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60581A70-87BA-2176-AA4A-8920E9B15518}"/>
              </a:ext>
            </a:extLst>
          </p:cNvPr>
          <p:cNvSpPr txBox="1"/>
          <p:nvPr/>
        </p:nvSpPr>
        <p:spPr>
          <a:xfrm>
            <a:off x="9553418" y="10041002"/>
            <a:ext cx="36672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LCU, QSVT </a:t>
            </a:r>
            <a:r>
              <a:rPr kumimoji="1" lang="ja-JP" altLang="en-US" sz="200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ea typeface="YuKyokasho Medium" panose="02000500000000000000" pitchFamily="2" charset="-128"/>
                <a:cs typeface="Times New Roman" panose="02020603050405020304" pitchFamily="18" charset="0"/>
              </a:rPr>
              <a:t>などよりも良い</a:t>
            </a:r>
          </a:p>
        </p:txBody>
      </p:sp>
    </p:spTree>
    <p:extLst>
      <p:ext uri="{BB962C8B-B14F-4D97-AF65-F5344CB8AC3E}">
        <p14:creationId xmlns:p14="http://schemas.microsoft.com/office/powerpoint/2010/main" val="33549698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71</TotalTime>
  <Words>136</Words>
  <Application>Microsoft Macintosh PowerPoint</Application>
  <PresentationFormat>ユーザー設定</PresentationFormat>
  <Paragraphs>22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YUKYOKASHO MEDIUM</vt:lpstr>
      <vt:lpstr>Arial</vt:lpstr>
      <vt:lpstr>Calibri</vt:lpstr>
      <vt:lpstr>Calibri Light</vt:lpstr>
      <vt:lpstr>Cambria Math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5</cp:revision>
  <dcterms:created xsi:type="dcterms:W3CDTF">2023-12-08T07:40:41Z</dcterms:created>
  <dcterms:modified xsi:type="dcterms:W3CDTF">2025-08-15T02:34:02Z</dcterms:modified>
</cp:coreProperties>
</file>