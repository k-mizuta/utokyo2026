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3506450" cy="11091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94" userDrawn="1">
          <p15:clr>
            <a:srgbClr val="A4A3A4"/>
          </p15:clr>
        </p15:guide>
        <p15:guide id="2" pos="42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3"/>
    <p:restoredTop sz="96327"/>
  </p:normalViewPr>
  <p:slideViewPr>
    <p:cSldViewPr snapToGrid="0" showGuides="1">
      <p:cViewPr varScale="1">
        <p:scale>
          <a:sx n="76" d="100"/>
          <a:sy n="76" d="100"/>
        </p:scale>
        <p:origin x="2672" y="208"/>
      </p:cViewPr>
      <p:guideLst>
        <p:guide orient="horz" pos="3494"/>
        <p:guide pos="42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2984" y="1815266"/>
            <a:ext cx="11480483" cy="3861612"/>
          </a:xfrm>
        </p:spPr>
        <p:txBody>
          <a:bodyPr anchor="b"/>
          <a:lstStyle>
            <a:lvl1pPr algn="ctr">
              <a:defRPr sz="88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8306" y="5825797"/>
            <a:ext cx="10129838" cy="2677965"/>
          </a:xfrm>
        </p:spPr>
        <p:txBody>
          <a:bodyPr/>
          <a:lstStyle>
            <a:lvl1pPr marL="0" indent="0" algn="ctr">
              <a:buNone/>
              <a:defRPr sz="3545"/>
            </a:lvl1pPr>
            <a:lvl2pPr marL="675330" indent="0" algn="ctr">
              <a:buNone/>
              <a:defRPr sz="2954"/>
            </a:lvl2pPr>
            <a:lvl3pPr marL="1350660" indent="0" algn="ctr">
              <a:buNone/>
              <a:defRPr sz="2659"/>
            </a:lvl3pPr>
            <a:lvl4pPr marL="2025990" indent="0" algn="ctr">
              <a:buNone/>
              <a:defRPr sz="2363"/>
            </a:lvl4pPr>
            <a:lvl5pPr marL="2701320" indent="0" algn="ctr">
              <a:buNone/>
              <a:defRPr sz="2363"/>
            </a:lvl5pPr>
            <a:lvl6pPr marL="3376651" indent="0" algn="ctr">
              <a:buNone/>
              <a:defRPr sz="2363"/>
            </a:lvl6pPr>
            <a:lvl7pPr marL="4051981" indent="0" algn="ctr">
              <a:buNone/>
              <a:defRPr sz="2363"/>
            </a:lvl7pPr>
            <a:lvl8pPr marL="4727311" indent="0" algn="ctr">
              <a:buNone/>
              <a:defRPr sz="2363"/>
            </a:lvl8pPr>
            <a:lvl9pPr marL="5402641" indent="0" algn="ctr">
              <a:buNone/>
              <a:defRPr sz="236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2448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144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535" y="2765266"/>
            <a:ext cx="11649313" cy="4613906"/>
          </a:xfrm>
        </p:spPr>
        <p:txBody>
          <a:bodyPr anchor="b"/>
          <a:lstStyle>
            <a:lvl1pPr>
              <a:defRPr sz="88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535" y="7422822"/>
            <a:ext cx="11649313" cy="2426344"/>
          </a:xfrm>
        </p:spPr>
        <p:txBody>
          <a:bodyPr/>
          <a:lstStyle>
            <a:lvl1pPr marL="0" indent="0">
              <a:buNone/>
              <a:defRPr sz="3545">
                <a:solidFill>
                  <a:schemeClr val="tx1"/>
                </a:solidFill>
              </a:defRPr>
            </a:lvl1pPr>
            <a:lvl2pPr marL="675330" indent="0">
              <a:buNone/>
              <a:defRPr sz="2954">
                <a:solidFill>
                  <a:schemeClr val="tx1">
                    <a:tint val="75000"/>
                  </a:schemeClr>
                </a:solidFill>
              </a:defRPr>
            </a:lvl2pPr>
            <a:lvl3pPr marL="1350660" indent="0">
              <a:buNone/>
              <a:defRPr sz="2659">
                <a:solidFill>
                  <a:schemeClr val="tx1">
                    <a:tint val="75000"/>
                  </a:schemeClr>
                </a:solidFill>
              </a:defRPr>
            </a:lvl3pPr>
            <a:lvl4pPr marL="2025990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4pPr>
            <a:lvl5pPr marL="2701320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5pPr>
            <a:lvl6pPr marL="337665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6pPr>
            <a:lvl7pPr marL="405198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7pPr>
            <a:lvl8pPr marL="472731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8pPr>
            <a:lvl9pPr marL="540264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5931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8569" y="2952695"/>
            <a:ext cx="5740241" cy="703768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37640" y="2952695"/>
            <a:ext cx="5740241" cy="703768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1548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8" y="590541"/>
            <a:ext cx="11649313" cy="214391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0329" y="2719048"/>
            <a:ext cx="5713861" cy="1332563"/>
          </a:xfrm>
        </p:spPr>
        <p:txBody>
          <a:bodyPr anchor="b"/>
          <a:lstStyle>
            <a:lvl1pPr marL="0" indent="0">
              <a:buNone/>
              <a:defRPr sz="3545" b="1"/>
            </a:lvl1pPr>
            <a:lvl2pPr marL="675330" indent="0">
              <a:buNone/>
              <a:defRPr sz="2954" b="1"/>
            </a:lvl2pPr>
            <a:lvl3pPr marL="1350660" indent="0">
              <a:buNone/>
              <a:defRPr sz="2659" b="1"/>
            </a:lvl3pPr>
            <a:lvl4pPr marL="2025990" indent="0">
              <a:buNone/>
              <a:defRPr sz="2363" b="1"/>
            </a:lvl4pPr>
            <a:lvl5pPr marL="2701320" indent="0">
              <a:buNone/>
              <a:defRPr sz="2363" b="1"/>
            </a:lvl5pPr>
            <a:lvl6pPr marL="3376651" indent="0">
              <a:buNone/>
              <a:defRPr sz="2363" b="1"/>
            </a:lvl6pPr>
            <a:lvl7pPr marL="4051981" indent="0">
              <a:buNone/>
              <a:defRPr sz="2363" b="1"/>
            </a:lvl7pPr>
            <a:lvl8pPr marL="4727311" indent="0">
              <a:buNone/>
              <a:defRPr sz="2363" b="1"/>
            </a:lvl8pPr>
            <a:lvl9pPr marL="5402641" indent="0">
              <a:buNone/>
              <a:defRPr sz="236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0329" y="4051611"/>
            <a:ext cx="5713861" cy="595931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37641" y="2719048"/>
            <a:ext cx="5742000" cy="1332563"/>
          </a:xfrm>
        </p:spPr>
        <p:txBody>
          <a:bodyPr anchor="b"/>
          <a:lstStyle>
            <a:lvl1pPr marL="0" indent="0">
              <a:buNone/>
              <a:defRPr sz="3545" b="1"/>
            </a:lvl1pPr>
            <a:lvl2pPr marL="675330" indent="0">
              <a:buNone/>
              <a:defRPr sz="2954" b="1"/>
            </a:lvl2pPr>
            <a:lvl3pPr marL="1350660" indent="0">
              <a:buNone/>
              <a:defRPr sz="2659" b="1"/>
            </a:lvl3pPr>
            <a:lvl4pPr marL="2025990" indent="0">
              <a:buNone/>
              <a:defRPr sz="2363" b="1"/>
            </a:lvl4pPr>
            <a:lvl5pPr marL="2701320" indent="0">
              <a:buNone/>
              <a:defRPr sz="2363" b="1"/>
            </a:lvl5pPr>
            <a:lvl6pPr marL="3376651" indent="0">
              <a:buNone/>
              <a:defRPr sz="2363" b="1"/>
            </a:lvl6pPr>
            <a:lvl7pPr marL="4051981" indent="0">
              <a:buNone/>
              <a:defRPr sz="2363" b="1"/>
            </a:lvl7pPr>
            <a:lvl8pPr marL="4727311" indent="0">
              <a:buNone/>
              <a:defRPr sz="2363" b="1"/>
            </a:lvl8pPr>
            <a:lvl9pPr marL="5402641" indent="0">
              <a:buNone/>
              <a:defRPr sz="236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37641" y="4051611"/>
            <a:ext cx="5742000" cy="595931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1587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0090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6509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7" y="739458"/>
            <a:ext cx="4356182" cy="2588101"/>
          </a:xfrm>
        </p:spPr>
        <p:txBody>
          <a:bodyPr anchor="b"/>
          <a:lstStyle>
            <a:lvl1pPr>
              <a:defRPr sz="472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2001" y="1597025"/>
            <a:ext cx="6837640" cy="7882412"/>
          </a:xfrm>
        </p:spPr>
        <p:txBody>
          <a:bodyPr/>
          <a:lstStyle>
            <a:lvl1pPr>
              <a:defRPr sz="4727"/>
            </a:lvl1pPr>
            <a:lvl2pPr>
              <a:defRPr sz="4136"/>
            </a:lvl2pPr>
            <a:lvl3pPr>
              <a:defRPr sz="3545"/>
            </a:lvl3pPr>
            <a:lvl4pPr>
              <a:defRPr sz="2954"/>
            </a:lvl4pPr>
            <a:lvl5pPr>
              <a:defRPr sz="2954"/>
            </a:lvl5pPr>
            <a:lvl6pPr>
              <a:defRPr sz="2954"/>
            </a:lvl6pPr>
            <a:lvl7pPr>
              <a:defRPr sz="2954"/>
            </a:lvl7pPr>
            <a:lvl8pPr>
              <a:defRPr sz="2954"/>
            </a:lvl8pPr>
            <a:lvl9pPr>
              <a:defRPr sz="29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0327" y="3327559"/>
            <a:ext cx="4356182" cy="6164714"/>
          </a:xfrm>
        </p:spPr>
        <p:txBody>
          <a:bodyPr/>
          <a:lstStyle>
            <a:lvl1pPr marL="0" indent="0">
              <a:buNone/>
              <a:defRPr sz="2363"/>
            </a:lvl1pPr>
            <a:lvl2pPr marL="675330" indent="0">
              <a:buNone/>
              <a:defRPr sz="2068"/>
            </a:lvl2pPr>
            <a:lvl3pPr marL="1350660" indent="0">
              <a:buNone/>
              <a:defRPr sz="1773"/>
            </a:lvl3pPr>
            <a:lvl4pPr marL="2025990" indent="0">
              <a:buNone/>
              <a:defRPr sz="1477"/>
            </a:lvl4pPr>
            <a:lvl5pPr marL="2701320" indent="0">
              <a:buNone/>
              <a:defRPr sz="1477"/>
            </a:lvl5pPr>
            <a:lvl6pPr marL="3376651" indent="0">
              <a:buNone/>
              <a:defRPr sz="1477"/>
            </a:lvl6pPr>
            <a:lvl7pPr marL="4051981" indent="0">
              <a:buNone/>
              <a:defRPr sz="1477"/>
            </a:lvl7pPr>
            <a:lvl8pPr marL="4727311" indent="0">
              <a:buNone/>
              <a:defRPr sz="1477"/>
            </a:lvl8pPr>
            <a:lvl9pPr marL="5402641" indent="0">
              <a:buNone/>
              <a:defRPr sz="14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7075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7" y="739458"/>
            <a:ext cx="4356182" cy="2588101"/>
          </a:xfrm>
        </p:spPr>
        <p:txBody>
          <a:bodyPr anchor="b"/>
          <a:lstStyle>
            <a:lvl1pPr>
              <a:defRPr sz="472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42001" y="1597025"/>
            <a:ext cx="6837640" cy="7882412"/>
          </a:xfrm>
        </p:spPr>
        <p:txBody>
          <a:bodyPr anchor="t"/>
          <a:lstStyle>
            <a:lvl1pPr marL="0" indent="0">
              <a:buNone/>
              <a:defRPr sz="4727"/>
            </a:lvl1pPr>
            <a:lvl2pPr marL="675330" indent="0">
              <a:buNone/>
              <a:defRPr sz="4136"/>
            </a:lvl2pPr>
            <a:lvl3pPr marL="1350660" indent="0">
              <a:buNone/>
              <a:defRPr sz="3545"/>
            </a:lvl3pPr>
            <a:lvl4pPr marL="2025990" indent="0">
              <a:buNone/>
              <a:defRPr sz="2954"/>
            </a:lvl4pPr>
            <a:lvl5pPr marL="2701320" indent="0">
              <a:buNone/>
              <a:defRPr sz="2954"/>
            </a:lvl5pPr>
            <a:lvl6pPr marL="3376651" indent="0">
              <a:buNone/>
              <a:defRPr sz="2954"/>
            </a:lvl6pPr>
            <a:lvl7pPr marL="4051981" indent="0">
              <a:buNone/>
              <a:defRPr sz="2954"/>
            </a:lvl7pPr>
            <a:lvl8pPr marL="4727311" indent="0">
              <a:buNone/>
              <a:defRPr sz="2954"/>
            </a:lvl8pPr>
            <a:lvl9pPr marL="5402641" indent="0">
              <a:buNone/>
              <a:defRPr sz="2954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0327" y="3327559"/>
            <a:ext cx="4356182" cy="6164714"/>
          </a:xfrm>
        </p:spPr>
        <p:txBody>
          <a:bodyPr/>
          <a:lstStyle>
            <a:lvl1pPr marL="0" indent="0">
              <a:buNone/>
              <a:defRPr sz="2363"/>
            </a:lvl1pPr>
            <a:lvl2pPr marL="675330" indent="0">
              <a:buNone/>
              <a:defRPr sz="2068"/>
            </a:lvl2pPr>
            <a:lvl3pPr marL="1350660" indent="0">
              <a:buNone/>
              <a:defRPr sz="1773"/>
            </a:lvl3pPr>
            <a:lvl4pPr marL="2025990" indent="0">
              <a:buNone/>
              <a:defRPr sz="1477"/>
            </a:lvl4pPr>
            <a:lvl5pPr marL="2701320" indent="0">
              <a:buNone/>
              <a:defRPr sz="1477"/>
            </a:lvl5pPr>
            <a:lvl6pPr marL="3376651" indent="0">
              <a:buNone/>
              <a:defRPr sz="1477"/>
            </a:lvl6pPr>
            <a:lvl7pPr marL="4051981" indent="0">
              <a:buNone/>
              <a:defRPr sz="1477"/>
            </a:lvl7pPr>
            <a:lvl8pPr marL="4727311" indent="0">
              <a:buNone/>
              <a:defRPr sz="1477"/>
            </a:lvl8pPr>
            <a:lvl9pPr marL="5402641" indent="0">
              <a:buNone/>
              <a:defRPr sz="14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343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7654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65554" y="590539"/>
            <a:ext cx="2912328" cy="939984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8569" y="590539"/>
            <a:ext cx="8568154" cy="939984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5608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8569" y="590541"/>
            <a:ext cx="11649313" cy="21439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8569" y="2952695"/>
            <a:ext cx="11649313" cy="7037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8569" y="10280516"/>
            <a:ext cx="3038951" cy="5905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2A9BB-8336-1F4C-AA8D-E45E345636B3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74012" y="10280516"/>
            <a:ext cx="4558427" cy="5905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38930" y="10280516"/>
            <a:ext cx="3038951" cy="5905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1049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50660" rtl="0" eaLnBrk="1" latinLnBrk="0" hangingPunct="1">
        <a:lnSpc>
          <a:spcPct val="90000"/>
        </a:lnSpc>
        <a:spcBef>
          <a:spcPct val="0"/>
        </a:spcBef>
        <a:buNone/>
        <a:defRPr kumimoji="1" sz="64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665" indent="-337665" algn="l" defTabSz="1350660" rtl="0" eaLnBrk="1" latinLnBrk="0" hangingPunct="1">
        <a:lnSpc>
          <a:spcPct val="90000"/>
        </a:lnSpc>
        <a:spcBef>
          <a:spcPts val="1477"/>
        </a:spcBef>
        <a:buFont typeface="Arial" panose="020B0604020202020204" pitchFamily="34" charset="0"/>
        <a:buChar char="•"/>
        <a:defRPr kumimoji="1" sz="4136" kern="1200">
          <a:solidFill>
            <a:schemeClr val="tx1"/>
          </a:solidFill>
          <a:latin typeface="+mn-lt"/>
          <a:ea typeface="+mn-ea"/>
          <a:cs typeface="+mn-cs"/>
        </a:defRPr>
      </a:lvl1pPr>
      <a:lvl2pPr marL="101299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3545" kern="1200">
          <a:solidFill>
            <a:schemeClr val="tx1"/>
          </a:solidFill>
          <a:latin typeface="+mn-lt"/>
          <a:ea typeface="+mn-ea"/>
          <a:cs typeface="+mn-cs"/>
        </a:defRPr>
      </a:lvl2pPr>
      <a:lvl3pPr marL="168832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954" kern="1200">
          <a:solidFill>
            <a:schemeClr val="tx1"/>
          </a:solidFill>
          <a:latin typeface="+mn-lt"/>
          <a:ea typeface="+mn-ea"/>
          <a:cs typeface="+mn-cs"/>
        </a:defRPr>
      </a:lvl3pPr>
      <a:lvl4pPr marL="236365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4pPr>
      <a:lvl5pPr marL="303898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5pPr>
      <a:lvl6pPr marL="371431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6pPr>
      <a:lvl7pPr marL="438964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7pPr>
      <a:lvl8pPr marL="506497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8pPr>
      <a:lvl9pPr marL="574030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1pPr>
      <a:lvl2pPr marL="67533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2pPr>
      <a:lvl3pPr marL="135066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3pPr>
      <a:lvl4pPr marL="202599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4pPr>
      <a:lvl5pPr marL="270132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5pPr>
      <a:lvl6pPr marL="337665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6pPr>
      <a:lvl7pPr marL="405198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7pPr>
      <a:lvl8pPr marL="472731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8pPr>
      <a:lvl9pPr marL="540264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114D529-7536-46C5-E9DE-BE33B7A7F1B5}"/>
              </a:ext>
            </a:extLst>
          </p:cNvPr>
          <p:cNvSpPr/>
          <p:nvPr/>
        </p:nvSpPr>
        <p:spPr>
          <a:xfrm>
            <a:off x="-1" y="793"/>
            <a:ext cx="13506450" cy="1109186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822BFE0-5368-A0E5-CD70-2BF6856F521D}"/>
              </a:ext>
            </a:extLst>
          </p:cNvPr>
          <p:cNvSpPr/>
          <p:nvPr/>
        </p:nvSpPr>
        <p:spPr>
          <a:xfrm>
            <a:off x="0" y="-1"/>
            <a:ext cx="13506449" cy="19267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36CE10B-F58E-E3AC-9505-E5714E0588D4}"/>
              </a:ext>
            </a:extLst>
          </p:cNvPr>
          <p:cNvSpPr txBox="1"/>
          <p:nvPr/>
        </p:nvSpPr>
        <p:spPr>
          <a:xfrm>
            <a:off x="473529" y="409386"/>
            <a:ext cx="135064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Intro: Multi-product formula </a:t>
            </a:r>
            <a:r>
              <a:rPr kumimoji="1" lang="en-US" altLang="ja-JP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(MPF)</a:t>
            </a:r>
            <a:endParaRPr kumimoji="1" lang="ja-JP" altLang="en-US" sz="6600">
              <a:solidFill>
                <a:schemeClr val="bg1"/>
              </a:solidFill>
              <a:latin typeface="YuKyokasho Medium" panose="02000500000000000000" pitchFamily="2" charset="-128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35CEAD6-AC26-2735-5ECD-C70DFB97A3E8}"/>
              </a:ext>
            </a:extLst>
          </p:cNvPr>
          <p:cNvSpPr txBox="1"/>
          <p:nvPr/>
        </p:nvSpPr>
        <p:spPr>
          <a:xfrm>
            <a:off x="227030" y="2116701"/>
            <a:ext cx="5775940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36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■</a:t>
            </a:r>
            <a:r>
              <a:rPr kumimoji="1" lang="en-US" altLang="ja-JP" sz="3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Cost of existing algorithms</a:t>
            </a:r>
            <a:endParaRPr kumimoji="1" lang="ja-JP" altLang="en-US" sz="3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3AD27EC3-73BF-973C-AA43-DBA141323D86}"/>
                  </a:ext>
                </a:extLst>
              </p:cNvPr>
              <p:cNvSpPr txBox="1"/>
              <p:nvPr/>
            </p:nvSpPr>
            <p:spPr>
              <a:xfrm>
                <a:off x="3323918" y="3075818"/>
                <a:ext cx="3160119" cy="46166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kumimoji="1" lang="en-US" altLang="ja-JP" sz="2400" dirty="0" err="1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th</a:t>
                </a:r>
                <a:r>
                  <a:rPr kumimoji="1"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-order PF</a:t>
                </a:r>
                <a:endParaRPr kumimoji="1" lang="ja-JP" altLang="en-US" sz="24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3AD27EC3-73BF-973C-AA43-DBA141323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918" y="3075818"/>
                <a:ext cx="3160119" cy="461665"/>
              </a:xfrm>
              <a:prstGeom prst="rect">
                <a:avLst/>
              </a:prstGeom>
              <a:blipFill>
                <a:blip r:embed="rId2"/>
                <a:stretch>
                  <a:fillRect t="-10811" b="-297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E41ED692-FC10-4CFC-D34C-557EAE1ACF4C}"/>
              </a:ext>
            </a:extLst>
          </p:cNvPr>
          <p:cNvSpPr txBox="1"/>
          <p:nvPr/>
        </p:nvSpPr>
        <p:spPr>
          <a:xfrm>
            <a:off x="2954795" y="5481935"/>
            <a:ext cx="39893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sz="14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M. Childs, et al., PRX </a:t>
            </a:r>
            <a:r>
              <a:rPr lang="en" altLang="ja-JP" sz="1400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" altLang="ja-JP" sz="14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011020 (2021)</a:t>
            </a:r>
            <a:endParaRPr lang="ja-JP" altLang="en-US" sz="14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2A7943F1-4AA4-AFAB-99E0-01D541D5CAEF}"/>
              </a:ext>
            </a:extLst>
          </p:cNvPr>
          <p:cNvSpPr txBox="1"/>
          <p:nvPr/>
        </p:nvSpPr>
        <p:spPr>
          <a:xfrm>
            <a:off x="7068735" y="3075817"/>
            <a:ext cx="2639645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LCU</a:t>
            </a:r>
            <a:endParaRPr kumimoji="1"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040" name="テキスト ボックス 1039">
            <a:extLst>
              <a:ext uri="{FF2B5EF4-FFF2-40B4-BE49-F238E27FC236}">
                <a16:creationId xmlns:a16="http://schemas.microsoft.com/office/drawing/2014/main" id="{29A08AE6-8F2F-CAD2-A648-1DFC928ABFE5}"/>
              </a:ext>
            </a:extLst>
          </p:cNvPr>
          <p:cNvSpPr txBox="1"/>
          <p:nvPr/>
        </p:nvSpPr>
        <p:spPr>
          <a:xfrm>
            <a:off x="227028" y="6244066"/>
            <a:ext cx="4495270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36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■</a:t>
            </a:r>
            <a:r>
              <a:rPr kumimoji="1" lang="en-US" altLang="ja-JP" sz="3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</a:t>
            </a:r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(Well-conditioned) </a:t>
            </a:r>
            <a:r>
              <a:rPr kumimoji="1" lang="en-US" altLang="ja-JP" sz="3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MPF</a:t>
            </a:r>
            <a:endParaRPr kumimoji="1" lang="ja-JP" altLang="en-US" sz="3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CA7BC9C-E3D8-46A2-1A6A-3295CD531028}"/>
              </a:ext>
            </a:extLst>
          </p:cNvPr>
          <p:cNvSpPr txBox="1"/>
          <p:nvPr/>
        </p:nvSpPr>
        <p:spPr>
          <a:xfrm>
            <a:off x="10279539" y="3075816"/>
            <a:ext cx="2639645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QSVT</a:t>
            </a:r>
            <a:endParaRPr kumimoji="1"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C98BCB2-4FBE-120D-60C1-064FCF5E58AB}"/>
              </a:ext>
            </a:extLst>
          </p:cNvPr>
          <p:cNvSpPr txBox="1"/>
          <p:nvPr/>
        </p:nvSpPr>
        <p:spPr>
          <a:xfrm>
            <a:off x="457888" y="3820498"/>
            <a:ext cx="24206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Pros &amp; Cons</a:t>
            </a:r>
            <a:endParaRPr kumimoji="1" lang="ja-JP" altLang="en-US" sz="20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709323C-423A-C950-1187-6103D1BA9ED2}"/>
              </a:ext>
            </a:extLst>
          </p:cNvPr>
          <p:cNvSpPr txBox="1"/>
          <p:nvPr/>
        </p:nvSpPr>
        <p:spPr>
          <a:xfrm>
            <a:off x="457888" y="4834883"/>
            <a:ext cx="24206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Origin</a:t>
            </a:r>
            <a:endParaRPr kumimoji="1" lang="ja-JP" altLang="en-US" sz="20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776C70A3-7D68-5CB1-429F-57C3C63647E0}"/>
                  </a:ext>
                </a:extLst>
              </p:cNvPr>
              <p:cNvSpPr txBox="1"/>
              <p:nvPr/>
            </p:nvSpPr>
            <p:spPr>
              <a:xfrm>
                <a:off x="4846850" y="6367177"/>
                <a:ext cx="853504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8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→</a:t>
                </a:r>
                <a:r>
                  <a:rPr kumimoji="1" lang="en-US" altLang="ja-JP" sz="28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Promising candidate simultaneously efficient in 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𝑁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,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𝑡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,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kumimoji="1" lang="en-US" altLang="ja-JP" sz="28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endParaRPr kumimoji="1" lang="ja-JP" altLang="en-US" sz="28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776C70A3-7D68-5CB1-429F-57C3C6364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850" y="6367177"/>
                <a:ext cx="8535046" cy="523220"/>
              </a:xfrm>
              <a:prstGeom prst="rect">
                <a:avLst/>
              </a:prstGeom>
              <a:blipFill>
                <a:blip r:embed="rId3"/>
                <a:stretch>
                  <a:fillRect l="-1486" t="-11905" b="-3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EBB3896-1465-C92B-CA1E-F64E4FFACD6F}"/>
              </a:ext>
            </a:extLst>
          </p:cNvPr>
          <p:cNvSpPr/>
          <p:nvPr/>
        </p:nvSpPr>
        <p:spPr>
          <a:xfrm>
            <a:off x="522577" y="9952399"/>
            <a:ext cx="12461296" cy="7349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94C5BE9-AD86-FF81-A3CE-AB7C9E785988}"/>
              </a:ext>
            </a:extLst>
          </p:cNvPr>
          <p:cNvSpPr txBox="1"/>
          <p:nvPr/>
        </p:nvSpPr>
        <p:spPr>
          <a:xfrm>
            <a:off x="680089" y="9751947"/>
            <a:ext cx="1794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Open problem</a:t>
            </a:r>
            <a:endParaRPr kumimoji="1" lang="ja-JP" altLang="en-US" sz="2000" b="1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1C9855B0-D53E-8151-9289-FAAC4FF03263}"/>
                  </a:ext>
                </a:extLst>
              </p:cNvPr>
              <p:cNvSpPr txBox="1"/>
              <p:nvPr/>
            </p:nvSpPr>
            <p:spPr>
              <a:xfrm>
                <a:off x="2335047" y="10058248"/>
                <a:ext cx="853504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8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Does the cost of MPF has good scaling in any of 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𝑁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,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𝑡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, 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kumimoji="1" lang="en-US" altLang="ja-JP" sz="28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?</a:t>
                </a:r>
                <a:endParaRPr kumimoji="1" lang="ja-JP" altLang="en-US" sz="28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1C9855B0-D53E-8151-9289-FAAC4FF03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047" y="10058248"/>
                <a:ext cx="8535046" cy="523220"/>
              </a:xfrm>
              <a:prstGeom prst="rect">
                <a:avLst/>
              </a:prstGeom>
              <a:blipFill>
                <a:blip r:embed="rId4"/>
                <a:stretch>
                  <a:fillRect l="-1486" t="-14286" b="-309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36505F9-C0AC-F29B-3506-B19DB79BE4DB}"/>
              </a:ext>
            </a:extLst>
          </p:cNvPr>
          <p:cNvSpPr txBox="1"/>
          <p:nvPr/>
        </p:nvSpPr>
        <p:spPr>
          <a:xfrm>
            <a:off x="3468441" y="4804105"/>
            <a:ext cx="2756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Commutator scaling</a:t>
            </a:r>
            <a:endParaRPr kumimoji="1"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15B1FF3-8953-FCF4-C05D-4B60504F3761}"/>
              </a:ext>
            </a:extLst>
          </p:cNvPr>
          <p:cNvSpPr txBox="1"/>
          <p:nvPr/>
        </p:nvSpPr>
        <p:spPr>
          <a:xfrm>
            <a:off x="8388557" y="4804104"/>
            <a:ext cx="3569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Polynomial interpolation</a:t>
            </a:r>
            <a:endParaRPr kumimoji="1"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969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107</TotalTime>
  <Words>78</Words>
  <Application>Microsoft Macintosh PowerPoint</Application>
  <PresentationFormat>ユーザー設定</PresentationFormat>
  <Paragraphs>14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YuKyokasho Medium</vt:lpstr>
      <vt:lpstr>Arial</vt:lpstr>
      <vt:lpstr>Calibri</vt:lpstr>
      <vt:lpstr>Calibri Light</vt:lpstr>
      <vt:lpstr>Cambria Math</vt:lpstr>
      <vt:lpstr>Times New Roman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水田　郁</dc:creator>
  <cp:lastModifiedBy>水田　郁</cp:lastModifiedBy>
  <cp:revision>7</cp:revision>
  <dcterms:created xsi:type="dcterms:W3CDTF">2023-12-08T07:40:41Z</dcterms:created>
  <dcterms:modified xsi:type="dcterms:W3CDTF">2025-12-26T08:31:38Z</dcterms:modified>
</cp:coreProperties>
</file>