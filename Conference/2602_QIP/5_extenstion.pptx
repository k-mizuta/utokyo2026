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</p:sldIdLst>
  <p:sldSz cx="13506450" cy="115776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69" userDrawn="1">
          <p15:clr>
            <a:srgbClr val="A4A3A4"/>
          </p15:clr>
        </p15:guide>
        <p15:guide id="2" pos="42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/>
    <p:restoredTop sz="96327"/>
  </p:normalViewPr>
  <p:slideViewPr>
    <p:cSldViewPr snapToGrid="0" showGuides="1">
      <p:cViewPr varScale="1">
        <p:scale>
          <a:sx n="73" d="100"/>
          <a:sy n="73" d="100"/>
        </p:scale>
        <p:origin x="2872" y="192"/>
      </p:cViewPr>
      <p:guideLst>
        <p:guide orient="horz" pos="3669"/>
        <p:guide pos="42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12984" y="1894767"/>
            <a:ext cx="11480483" cy="4030733"/>
          </a:xfrm>
        </p:spPr>
        <p:txBody>
          <a:bodyPr anchor="b"/>
          <a:lstStyle>
            <a:lvl1pPr algn="ctr"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88306" y="6080941"/>
            <a:ext cx="10129838" cy="2795248"/>
          </a:xfrm>
        </p:spPr>
        <p:txBody>
          <a:bodyPr/>
          <a:lstStyle>
            <a:lvl1pPr marL="0" indent="0" algn="ctr">
              <a:buNone/>
              <a:defRPr sz="3545"/>
            </a:lvl1pPr>
            <a:lvl2pPr marL="675330" indent="0" algn="ctr">
              <a:buNone/>
              <a:defRPr sz="2954"/>
            </a:lvl2pPr>
            <a:lvl3pPr marL="1350660" indent="0" algn="ctr">
              <a:buNone/>
              <a:defRPr sz="2659"/>
            </a:lvl3pPr>
            <a:lvl4pPr marL="2025990" indent="0" algn="ctr">
              <a:buNone/>
              <a:defRPr sz="2363"/>
            </a:lvl4pPr>
            <a:lvl5pPr marL="2701320" indent="0" algn="ctr">
              <a:buNone/>
              <a:defRPr sz="2363"/>
            </a:lvl5pPr>
            <a:lvl6pPr marL="3376651" indent="0" algn="ctr">
              <a:buNone/>
              <a:defRPr sz="2363"/>
            </a:lvl6pPr>
            <a:lvl7pPr marL="4051981" indent="0" algn="ctr">
              <a:buNone/>
              <a:defRPr sz="2363"/>
            </a:lvl7pPr>
            <a:lvl8pPr marL="4727311" indent="0" algn="ctr">
              <a:buNone/>
              <a:defRPr sz="2363"/>
            </a:lvl8pPr>
            <a:lvl9pPr marL="5402641" indent="0" algn="ctr">
              <a:buNone/>
              <a:defRPr sz="2363"/>
            </a:lvl9pPr>
          </a:lstStyle>
          <a:p>
            <a:r>
              <a:rPr lang="ja-JP" altLang="en-US"/>
              <a:t>マスター サブタイトルの書式設定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143185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62192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1535" y="2886373"/>
            <a:ext cx="11649313" cy="4815975"/>
          </a:xfrm>
        </p:spPr>
        <p:txBody>
          <a:bodyPr anchor="b"/>
          <a:lstStyle>
            <a:lvl1pPr>
              <a:defRPr sz="8863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1535" y="7747909"/>
            <a:ext cx="11649313" cy="2532607"/>
          </a:xfrm>
        </p:spPr>
        <p:txBody>
          <a:bodyPr/>
          <a:lstStyle>
            <a:lvl1pPr marL="0" indent="0">
              <a:buNone/>
              <a:defRPr sz="3545">
                <a:solidFill>
                  <a:schemeClr val="tx1"/>
                </a:solidFill>
              </a:defRPr>
            </a:lvl1pPr>
            <a:lvl2pPr marL="675330" indent="0">
              <a:buNone/>
              <a:defRPr sz="2954">
                <a:solidFill>
                  <a:schemeClr val="tx1">
                    <a:tint val="75000"/>
                  </a:schemeClr>
                </a:solidFill>
              </a:defRPr>
            </a:lvl2pPr>
            <a:lvl3pPr marL="1350660" indent="0">
              <a:buNone/>
              <a:defRPr sz="2659">
                <a:solidFill>
                  <a:schemeClr val="tx1">
                    <a:tint val="75000"/>
                  </a:schemeClr>
                </a:solidFill>
              </a:defRPr>
            </a:lvl3pPr>
            <a:lvl4pPr marL="202599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4pPr>
            <a:lvl5pPr marL="2701320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5pPr>
            <a:lvl6pPr marL="337665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6pPr>
            <a:lvl7pPr marL="405198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7pPr>
            <a:lvl8pPr marL="472731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8pPr>
            <a:lvl9pPr marL="5402641" indent="0">
              <a:buNone/>
              <a:defRPr sz="23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25375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28569" y="3082010"/>
            <a:ext cx="5740241" cy="73459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37640" y="3082010"/>
            <a:ext cx="5740241" cy="7345905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02454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8" y="616405"/>
            <a:ext cx="11649313" cy="2237808"/>
          </a:xfrm>
        </p:spPr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0329" y="2838130"/>
            <a:ext cx="5713861" cy="1390924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30329" y="4229054"/>
            <a:ext cx="5713861" cy="62203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37641" y="2838130"/>
            <a:ext cx="5742000" cy="1390924"/>
          </a:xfrm>
        </p:spPr>
        <p:txBody>
          <a:bodyPr anchor="b"/>
          <a:lstStyle>
            <a:lvl1pPr marL="0" indent="0">
              <a:buNone/>
              <a:defRPr sz="3545" b="1"/>
            </a:lvl1pPr>
            <a:lvl2pPr marL="675330" indent="0">
              <a:buNone/>
              <a:defRPr sz="2954" b="1"/>
            </a:lvl2pPr>
            <a:lvl3pPr marL="1350660" indent="0">
              <a:buNone/>
              <a:defRPr sz="2659" b="1"/>
            </a:lvl3pPr>
            <a:lvl4pPr marL="2025990" indent="0">
              <a:buNone/>
              <a:defRPr sz="2363" b="1"/>
            </a:lvl4pPr>
            <a:lvl5pPr marL="2701320" indent="0">
              <a:buNone/>
              <a:defRPr sz="2363" b="1"/>
            </a:lvl5pPr>
            <a:lvl6pPr marL="3376651" indent="0">
              <a:buNone/>
              <a:defRPr sz="2363" b="1"/>
            </a:lvl6pPr>
            <a:lvl7pPr marL="4051981" indent="0">
              <a:buNone/>
              <a:defRPr sz="2363" b="1"/>
            </a:lvl7pPr>
            <a:lvl8pPr marL="4727311" indent="0">
              <a:buNone/>
              <a:defRPr sz="2363" b="1"/>
            </a:lvl8pPr>
            <a:lvl9pPr marL="5402641" indent="0">
              <a:buNone/>
              <a:defRPr sz="2363" b="1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837641" y="4229054"/>
            <a:ext cx="5742000" cy="6220301"/>
          </a:xfrm>
        </p:spPr>
        <p:txBody>
          <a:bodyPr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783227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32862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694195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71842"/>
            <a:ext cx="4356182" cy="2701449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2001" y="1666968"/>
            <a:ext cx="6837640" cy="8227627"/>
          </a:xfrm>
        </p:spPr>
        <p:txBody>
          <a:bodyPr/>
          <a:lstStyle>
            <a:lvl1pPr>
              <a:defRPr sz="4727"/>
            </a:lvl1pPr>
            <a:lvl2pPr>
              <a:defRPr sz="4136"/>
            </a:lvl2pPr>
            <a:lvl3pPr>
              <a:defRPr sz="3545"/>
            </a:lvl3pPr>
            <a:lvl4pPr>
              <a:defRPr sz="2954"/>
            </a:lvl4pPr>
            <a:lvl5pPr>
              <a:defRPr sz="2954"/>
            </a:lvl5pPr>
            <a:lvl6pPr>
              <a:defRPr sz="2954"/>
            </a:lvl6pPr>
            <a:lvl7pPr>
              <a:defRPr sz="2954"/>
            </a:lvl7pPr>
            <a:lvl8pPr>
              <a:defRPr sz="2954"/>
            </a:lvl8pPr>
            <a:lvl9pPr>
              <a:defRPr sz="2954"/>
            </a:lvl9pPr>
          </a:lstStyle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473291"/>
            <a:ext cx="4356182" cy="6434702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908310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0327" y="771842"/>
            <a:ext cx="4356182" cy="2701449"/>
          </a:xfrm>
        </p:spPr>
        <p:txBody>
          <a:bodyPr anchor="b"/>
          <a:lstStyle>
            <a:lvl1pPr>
              <a:defRPr sz="4727"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742001" y="1666968"/>
            <a:ext cx="6837640" cy="8227627"/>
          </a:xfrm>
        </p:spPr>
        <p:txBody>
          <a:bodyPr anchor="t"/>
          <a:lstStyle>
            <a:lvl1pPr marL="0" indent="0">
              <a:buNone/>
              <a:defRPr sz="4727"/>
            </a:lvl1pPr>
            <a:lvl2pPr marL="675330" indent="0">
              <a:buNone/>
              <a:defRPr sz="4136"/>
            </a:lvl2pPr>
            <a:lvl3pPr marL="1350660" indent="0">
              <a:buNone/>
              <a:defRPr sz="3545"/>
            </a:lvl3pPr>
            <a:lvl4pPr marL="2025990" indent="0">
              <a:buNone/>
              <a:defRPr sz="2954"/>
            </a:lvl4pPr>
            <a:lvl5pPr marL="2701320" indent="0">
              <a:buNone/>
              <a:defRPr sz="2954"/>
            </a:lvl5pPr>
            <a:lvl6pPr marL="3376651" indent="0">
              <a:buNone/>
              <a:defRPr sz="2954"/>
            </a:lvl6pPr>
            <a:lvl7pPr marL="4051981" indent="0">
              <a:buNone/>
              <a:defRPr sz="2954"/>
            </a:lvl7pPr>
            <a:lvl8pPr marL="4727311" indent="0">
              <a:buNone/>
              <a:defRPr sz="2954"/>
            </a:lvl8pPr>
            <a:lvl9pPr marL="5402641" indent="0">
              <a:buNone/>
              <a:defRPr sz="2954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30327" y="3473291"/>
            <a:ext cx="4356182" cy="6434702"/>
          </a:xfrm>
        </p:spPr>
        <p:txBody>
          <a:bodyPr/>
          <a:lstStyle>
            <a:lvl1pPr marL="0" indent="0">
              <a:buNone/>
              <a:defRPr sz="2363"/>
            </a:lvl1pPr>
            <a:lvl2pPr marL="675330" indent="0">
              <a:buNone/>
              <a:defRPr sz="2068"/>
            </a:lvl2pPr>
            <a:lvl3pPr marL="1350660" indent="0">
              <a:buNone/>
              <a:defRPr sz="1773"/>
            </a:lvl3pPr>
            <a:lvl4pPr marL="2025990" indent="0">
              <a:buNone/>
              <a:defRPr sz="1477"/>
            </a:lvl4pPr>
            <a:lvl5pPr marL="2701320" indent="0">
              <a:buNone/>
              <a:defRPr sz="1477"/>
            </a:lvl5pPr>
            <a:lvl6pPr marL="3376651" indent="0">
              <a:buNone/>
              <a:defRPr sz="1477"/>
            </a:lvl6pPr>
            <a:lvl7pPr marL="4051981" indent="0">
              <a:buNone/>
              <a:defRPr sz="1477"/>
            </a:lvl7pPr>
            <a:lvl8pPr marL="4727311" indent="0">
              <a:buNone/>
              <a:defRPr sz="1477"/>
            </a:lvl8pPr>
            <a:lvl9pPr marL="5402641" indent="0">
              <a:buNone/>
              <a:defRPr sz="1477"/>
            </a:lvl9pPr>
          </a:lstStyle>
          <a:p>
            <a:pPr lvl="0"/>
            <a:r>
              <a:rPr lang="ja-JP" altLang="en-US"/>
              <a:t>マスター テキストの書式設定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97813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6769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665554" y="616402"/>
            <a:ext cx="2912328" cy="9811513"/>
          </a:xfrm>
        </p:spPr>
        <p:txBody>
          <a:bodyPr vert="eaVert"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28569" y="616402"/>
            <a:ext cx="8568154" cy="9811513"/>
          </a:xfrm>
        </p:spPr>
        <p:txBody>
          <a:bodyPr vert="eaVert"/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4031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28569" y="616405"/>
            <a:ext cx="11649313" cy="2237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28569" y="3082010"/>
            <a:ext cx="11649313" cy="73459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ja-JP" altLang="en-US"/>
              <a:t>マスター テキストの書式設定</a:t>
            </a:r>
          </a:p>
          <a:p>
            <a:pPr lvl="1"/>
            <a:r>
              <a:rPr lang="ja-JP" altLang="en-US"/>
              <a:t>第 </a:t>
            </a:r>
            <a:r>
              <a:rPr lang="en-US" altLang="ja-JP"/>
              <a:t>2 </a:t>
            </a:r>
            <a:r>
              <a:rPr lang="ja-JP" altLang="en-US"/>
              <a:t>レベル</a:t>
            </a:r>
          </a:p>
          <a:p>
            <a:pPr lvl="2"/>
            <a:r>
              <a:rPr lang="ja-JP" altLang="en-US"/>
              <a:t>第 </a:t>
            </a:r>
            <a:r>
              <a:rPr lang="en-US" altLang="ja-JP"/>
              <a:t>3 </a:t>
            </a:r>
            <a:r>
              <a:rPr lang="ja-JP" altLang="en-US"/>
              <a:t>レベル</a:t>
            </a:r>
          </a:p>
          <a:p>
            <a:pPr lvl="3"/>
            <a:r>
              <a:rPr lang="ja-JP" altLang="en-US"/>
              <a:t>第 </a:t>
            </a:r>
            <a:r>
              <a:rPr lang="en-US" altLang="ja-JP"/>
              <a:t>4 </a:t>
            </a:r>
            <a:r>
              <a:rPr lang="ja-JP" altLang="en-US"/>
              <a:t>レベル</a:t>
            </a:r>
          </a:p>
          <a:p>
            <a:pPr lvl="4"/>
            <a:r>
              <a:rPr lang="ja-JP" altLang="en-US"/>
              <a:t>第 </a:t>
            </a:r>
            <a:r>
              <a:rPr lang="en-US" altLang="ja-JP"/>
              <a:t>5 </a:t>
            </a:r>
            <a:r>
              <a:rPr lang="ja-JP" altLang="en-US"/>
              <a:t>レベル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28569" y="10730758"/>
            <a:ext cx="3038951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2A9BB-8336-1F4C-AA8D-E45E345636B3}" type="datetimeFigureOut">
              <a:rPr kumimoji="1" lang="ja-JP" altLang="en-US" smtClean="0"/>
              <a:t>2025/8/15</a:t>
            </a:fld>
            <a:endParaRPr kumimoji="1"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474012" y="10730758"/>
            <a:ext cx="4558427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538930" y="10730758"/>
            <a:ext cx="3038951" cy="61640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84333D-5579-9843-85E6-ABAFA1CA0B6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694249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1350660" rtl="0" eaLnBrk="1" latinLnBrk="0" hangingPunct="1">
        <a:lnSpc>
          <a:spcPct val="90000"/>
        </a:lnSpc>
        <a:spcBef>
          <a:spcPct val="0"/>
        </a:spcBef>
        <a:buNone/>
        <a:defRPr kumimoji="1" sz="64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37665" indent="-337665" algn="l" defTabSz="1350660" rtl="0" eaLnBrk="1" latinLnBrk="0" hangingPunct="1">
        <a:lnSpc>
          <a:spcPct val="90000"/>
        </a:lnSpc>
        <a:spcBef>
          <a:spcPts val="1477"/>
        </a:spcBef>
        <a:buFont typeface="Arial" panose="020B0604020202020204" pitchFamily="34" charset="0"/>
        <a:buChar char="•"/>
        <a:defRPr kumimoji="1" sz="4136" kern="1200">
          <a:solidFill>
            <a:schemeClr val="tx1"/>
          </a:solidFill>
          <a:latin typeface="+mn-lt"/>
          <a:ea typeface="+mn-ea"/>
          <a:cs typeface="+mn-cs"/>
        </a:defRPr>
      </a:lvl1pPr>
      <a:lvl2pPr marL="101299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3545" kern="1200">
          <a:solidFill>
            <a:schemeClr val="tx1"/>
          </a:solidFill>
          <a:latin typeface="+mn-lt"/>
          <a:ea typeface="+mn-ea"/>
          <a:cs typeface="+mn-cs"/>
        </a:defRPr>
      </a:lvl2pPr>
      <a:lvl3pPr marL="168832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954" kern="1200">
          <a:solidFill>
            <a:schemeClr val="tx1"/>
          </a:solidFill>
          <a:latin typeface="+mn-lt"/>
          <a:ea typeface="+mn-ea"/>
          <a:cs typeface="+mn-cs"/>
        </a:defRPr>
      </a:lvl3pPr>
      <a:lvl4pPr marL="2363655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303898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71431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38964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506497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740306" indent="-337665" algn="l" defTabSz="1350660" rtl="0" eaLnBrk="1" latinLnBrk="0" hangingPunct="1">
        <a:lnSpc>
          <a:spcPct val="90000"/>
        </a:lnSpc>
        <a:spcBef>
          <a:spcPts val="739"/>
        </a:spcBef>
        <a:buFont typeface="Arial" panose="020B0604020202020204" pitchFamily="34" charset="0"/>
        <a:buChar char="•"/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1pPr>
      <a:lvl2pPr marL="67533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2pPr>
      <a:lvl3pPr marL="135066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3pPr>
      <a:lvl4pPr marL="202599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4pPr>
      <a:lvl5pPr marL="2701320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5pPr>
      <a:lvl6pPr marL="337665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6pPr>
      <a:lvl7pPr marL="405198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7pPr>
      <a:lvl8pPr marL="472731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8pPr>
      <a:lvl9pPr marL="5402641" algn="l" defTabSz="1350660" rtl="0" eaLnBrk="1" latinLnBrk="0" hangingPunct="1">
        <a:defRPr kumimoji="1" sz="265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93F07BF-AD41-57A2-DFE3-F8F00D510E2D}"/>
              </a:ext>
            </a:extLst>
          </p:cNvPr>
          <p:cNvSpPr/>
          <p:nvPr/>
        </p:nvSpPr>
        <p:spPr>
          <a:xfrm>
            <a:off x="11787" y="-1"/>
            <a:ext cx="13506450" cy="11577639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正方形/長方形 2">
            <a:extLst>
              <a:ext uri="{FF2B5EF4-FFF2-40B4-BE49-F238E27FC236}">
                <a16:creationId xmlns:a16="http://schemas.microsoft.com/office/drawing/2014/main" id="{C4D4A1A2-6C00-B907-D3E5-E8B1BC8310BE}"/>
              </a:ext>
            </a:extLst>
          </p:cNvPr>
          <p:cNvSpPr/>
          <p:nvPr/>
        </p:nvSpPr>
        <p:spPr>
          <a:xfrm>
            <a:off x="0" y="-1"/>
            <a:ext cx="13506449" cy="2011155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4F9A3EF-35C6-B546-3678-0830B63F7D77}"/>
              </a:ext>
            </a:extLst>
          </p:cNvPr>
          <p:cNvSpPr txBox="1"/>
          <p:nvPr/>
        </p:nvSpPr>
        <p:spPr>
          <a:xfrm>
            <a:off x="270120" y="428392"/>
            <a:ext cx="129897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Extension: </a:t>
            </a:r>
            <a:r>
              <a:rPr kumimoji="1" lang="ja-JP" altLang="en-US" sz="6000">
                <a:solidFill>
                  <a:schemeClr val="bg1"/>
                </a:solidFill>
                <a:latin typeface="YuKyokasho Medium" panose="02000500000000000000" pitchFamily="2" charset="-128"/>
                <a:ea typeface="YuKyokasho Medium" panose="02000500000000000000" pitchFamily="2" charset="-128"/>
                <a:cs typeface="Times New Roman" panose="02020603050405020304" pitchFamily="18" charset="0"/>
              </a:rPr>
              <a:t>他の低エネルギー状態</a:t>
            </a:r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1ACEF9D9-2C15-111D-E9A8-B43C65AFEBE0}"/>
              </a:ext>
            </a:extLst>
          </p:cNvPr>
          <p:cNvSpPr txBox="1"/>
          <p:nvPr/>
        </p:nvSpPr>
        <p:spPr>
          <a:xfrm>
            <a:off x="401104" y="2600736"/>
            <a:ext cx="3515706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ここまでの初期状態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FE8DAA37-821B-0C73-F6B5-C8FA3F552503}"/>
              </a:ext>
            </a:extLst>
          </p:cNvPr>
          <p:cNvSpPr txBox="1"/>
          <p:nvPr/>
        </p:nvSpPr>
        <p:spPr>
          <a:xfrm>
            <a:off x="9126583" y="2481337"/>
            <a:ext cx="351570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低エネルギー部分空間</a:t>
            </a:r>
            <a:endParaRPr kumimoji="1" lang="en-US" altLang="ja-JP" sz="24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  <a:p>
            <a:pPr algn="ctr"/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で閉じている</a:t>
            </a:r>
          </a:p>
        </p:txBody>
      </p:sp>
      <p:pic>
        <p:nvPicPr>
          <p:cNvPr id="25" name="Picture 8" descr="\begin{align*}&#10;  \ket{\psi_{\leq \Delta}} = \sum_{n; E_n \leq \Delta} c_n \ket{E_n}, \quad 0 \leq \Delta \ll Ng&#10;\end{align*}">
            <a:extLst>
              <a:ext uri="{FF2B5EF4-FFF2-40B4-BE49-F238E27FC236}">
                <a16:creationId xmlns:a16="http://schemas.microsoft.com/office/drawing/2014/main" id="{86CFEAEA-F4DF-1EF7-E531-D65BB1DD808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40528" b="-10412"/>
          <a:stretch>
            <a:fillRect/>
          </a:stretch>
        </p:blipFill>
        <p:spPr bwMode="auto">
          <a:xfrm>
            <a:off x="4755793" y="2496278"/>
            <a:ext cx="3916323" cy="9643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テキスト ボックス 25">
            <a:extLst>
              <a:ext uri="{FF2B5EF4-FFF2-40B4-BE49-F238E27FC236}">
                <a16:creationId xmlns:a16="http://schemas.microsoft.com/office/drawing/2014/main" id="{BED1D2DA-E5D8-1692-39ED-352149B26E91}"/>
              </a:ext>
            </a:extLst>
          </p:cNvPr>
          <p:cNvSpPr txBox="1"/>
          <p:nvPr/>
        </p:nvSpPr>
        <p:spPr>
          <a:xfrm>
            <a:off x="5277694" y="3543498"/>
            <a:ext cx="75074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→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一般にそのような状態の準備や検証は困難</a:t>
            </a:r>
          </a:p>
        </p:txBody>
      </p:sp>
      <p:sp>
        <p:nvSpPr>
          <p:cNvPr id="27" name="テキスト ボックス 26">
            <a:extLst>
              <a:ext uri="{FF2B5EF4-FFF2-40B4-BE49-F238E27FC236}">
                <a16:creationId xmlns:a16="http://schemas.microsoft.com/office/drawing/2014/main" id="{9B61A2FB-5796-C4E6-361D-F2EA0137E169}"/>
              </a:ext>
            </a:extLst>
          </p:cNvPr>
          <p:cNvSpPr txBox="1"/>
          <p:nvPr/>
        </p:nvSpPr>
        <p:spPr>
          <a:xfrm>
            <a:off x="388144" y="4727731"/>
            <a:ext cx="1002197" cy="5232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拡張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28" name="テキスト ボックス 27">
            <a:extLst>
              <a:ext uri="{FF2B5EF4-FFF2-40B4-BE49-F238E27FC236}">
                <a16:creationId xmlns:a16="http://schemas.microsoft.com/office/drawing/2014/main" id="{C4D4E62D-75B2-6536-81A0-6C68223B9F1F}"/>
              </a:ext>
            </a:extLst>
          </p:cNvPr>
          <p:cNvSpPr txBox="1"/>
          <p:nvPr/>
        </p:nvSpPr>
        <p:spPr>
          <a:xfrm>
            <a:off x="1770346" y="4696953"/>
            <a:ext cx="88379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>
                <a:solidFill>
                  <a:schemeClr val="accent2"/>
                </a:solidFill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低エネルギー期待値を持つ弱相関な初期状態</a:t>
            </a:r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1084844F-B1E1-97F9-6736-F70831A615F2}"/>
              </a:ext>
            </a:extLst>
          </p:cNvPr>
          <p:cNvSpPr txBox="1"/>
          <p:nvPr/>
        </p:nvSpPr>
        <p:spPr>
          <a:xfrm>
            <a:off x="705329" y="6652032"/>
            <a:ext cx="39328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</a:t>
            </a:r>
            <a:r>
              <a:rPr kumimoji="1" lang="ja-JP" altLang="en-US" sz="28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低エネルギー期待値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</a:t>
            </a:r>
            <a:endParaRPr kumimoji="1" lang="ja-JP" altLang="en-US" sz="280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30" name="Picture 2" descr="\begin{align*}&#10;  \braket{\psi|H|\psi} \leq \Delta&#10;\end{align*}">
            <a:extLst>
              <a:ext uri="{FF2B5EF4-FFF2-40B4-BE49-F238E27FC236}">
                <a16:creationId xmlns:a16="http://schemas.microsoft.com/office/drawing/2014/main" id="{99E2F22B-960A-E119-B94B-EEDE4DEC32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0347" y="6691275"/>
            <a:ext cx="2477942" cy="432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テキスト ボックス 31">
            <a:extLst>
              <a:ext uri="{FF2B5EF4-FFF2-40B4-BE49-F238E27FC236}">
                <a16:creationId xmlns:a16="http://schemas.microsoft.com/office/drawing/2014/main" id="{0BDCB858-1F34-E55E-2BE7-7B143388E97E}"/>
              </a:ext>
            </a:extLst>
          </p:cNvPr>
          <p:cNvSpPr txBox="1"/>
          <p:nvPr/>
        </p:nvSpPr>
        <p:spPr>
          <a:xfrm>
            <a:off x="8822785" y="7067017"/>
            <a:ext cx="44750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部分空間で閉じる必要なし</a:t>
            </a:r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3BF57340-AB8F-2176-BF84-936FD41B2B1B}"/>
              </a:ext>
            </a:extLst>
          </p:cNvPr>
          <p:cNvSpPr txBox="1"/>
          <p:nvPr/>
        </p:nvSpPr>
        <p:spPr>
          <a:xfrm>
            <a:off x="732841" y="5580392"/>
            <a:ext cx="109129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・</a:t>
            </a:r>
            <a:r>
              <a:rPr kumimoji="1" lang="ja-JP" altLang="en-US" sz="28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弱相関性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: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積状態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有限回路深さのゲートをかけた積状態</a:t>
            </a:r>
            <a:r>
              <a:rPr kumimoji="1" lang="en-US" altLang="ja-JP" sz="28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, </a:t>
            </a:r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など</a:t>
            </a:r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5FDEABC7-8AF5-F992-8458-0BA040E44899}"/>
              </a:ext>
            </a:extLst>
          </p:cNvPr>
          <p:cNvSpPr txBox="1"/>
          <p:nvPr/>
        </p:nvSpPr>
        <p:spPr>
          <a:xfrm>
            <a:off x="8804037" y="6357424"/>
            <a:ext cx="39811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古典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/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量子計算で検証が容易</a:t>
            </a: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D9CB71EB-B9A2-6CE5-C6A1-47B069811689}"/>
              </a:ext>
            </a:extLst>
          </p:cNvPr>
          <p:cNvSpPr txBox="1"/>
          <p:nvPr/>
        </p:nvSpPr>
        <p:spPr>
          <a:xfrm>
            <a:off x="597211" y="7967527"/>
            <a:ext cx="1998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[</a:t>
            </a:r>
            <a:r>
              <a:rPr kumimoji="1" lang="ja-JP" altLang="en-US" sz="2800" b="1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誤差上限</a:t>
            </a:r>
            <a:r>
              <a:rPr kumimoji="1" lang="en-US" altLang="ja-JP" sz="2800" b="1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]</a:t>
            </a:r>
            <a:endParaRPr kumimoji="1" lang="ja-JP" altLang="en-US" sz="2800" b="1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pic>
        <p:nvPicPr>
          <p:cNvPr id="37" name="Picture 4" descr="\begin{align*}&#10;  \leq \mathcal{O} \left( (g\tau)^p \{ \Delta + \sqrt{N \log (N/\epsilon)} g\} \tau\right) + \epsilon&#10;\end{align*}">
            <a:extLst>
              <a:ext uri="{FF2B5EF4-FFF2-40B4-BE49-F238E27FC236}">
                <a16:creationId xmlns:a16="http://schemas.microsoft.com/office/drawing/2014/main" id="{D931A8EA-B773-1492-0FE9-2863C2BEA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402" y="8665389"/>
            <a:ext cx="5097483" cy="53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FB981AA-BFAE-DFC1-569E-4935A5667AB5}"/>
                  </a:ext>
                </a:extLst>
              </p:cNvPr>
              <p:cNvSpPr txBox="1"/>
              <p:nvPr/>
            </p:nvSpPr>
            <p:spPr>
              <a:xfrm>
                <a:off x="7015639" y="7962041"/>
                <a:ext cx="2477941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ja-JP" sz="2800" b="1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[Trotter </a:t>
                </a:r>
                <a:r>
                  <a:rPr kumimoji="1" lang="ja-JP" altLang="en-US" sz="2800" b="1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数</a:t>
                </a:r>
                <a:r>
                  <a:rPr kumimoji="1" lang="en-US" altLang="ja-JP" sz="2800" b="1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800" b="1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𝒓</m:t>
                    </m:r>
                  </m:oMath>
                </a14:m>
                <a:r>
                  <a:rPr kumimoji="1" lang="en-US" altLang="ja-JP" sz="2800" b="1" dirty="0">
                    <a:latin typeface="Times New Roman" panose="020206030504050203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]</a:t>
                </a:r>
                <a:endParaRPr kumimoji="1" lang="ja-JP" altLang="en-US" sz="2800" b="1">
                  <a:latin typeface="Times New Roman" panose="020206030504050203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8" name="テキスト ボックス 37">
                <a:extLst>
                  <a:ext uri="{FF2B5EF4-FFF2-40B4-BE49-F238E27FC236}">
                    <a16:creationId xmlns:a16="http://schemas.microsoft.com/office/drawing/2014/main" id="{4FB981AA-BFAE-DFC1-569E-4935A5667A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5639" y="7962041"/>
                <a:ext cx="2477941" cy="523220"/>
              </a:xfrm>
              <a:prstGeom prst="rect">
                <a:avLst/>
              </a:prstGeom>
              <a:blipFill>
                <a:blip r:embed="rId5"/>
                <a:stretch>
                  <a:fillRect l="-5102" t="-16279" b="-325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9" name="Picture 6" descr="\begin{align*}&#10;  gt \left( \frac{\Delta t + \sqrt{N\log(N/\varepsilon)} gt}{\varepsilon}\right)^{\frac1p}&#10;\end{align*}">
            <a:extLst>
              <a:ext uri="{FF2B5EF4-FFF2-40B4-BE49-F238E27FC236}">
                <a16:creationId xmlns:a16="http://schemas.microsoft.com/office/drawing/2014/main" id="{5F5EA7E0-C1DD-8F06-5502-B72E9BACA0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0028" y="8282027"/>
            <a:ext cx="3599211" cy="956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0" name="図 39">
            <a:extLst>
              <a:ext uri="{FF2B5EF4-FFF2-40B4-BE49-F238E27FC236}">
                <a16:creationId xmlns:a16="http://schemas.microsoft.com/office/drawing/2014/main" id="{6A61ADF0-94B9-F21F-EDA6-07D86A8F6D2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15349" y="9755802"/>
            <a:ext cx="2946685" cy="1332218"/>
          </a:xfrm>
          <a:prstGeom prst="rect">
            <a:avLst/>
          </a:prstGeom>
        </p:spPr>
      </p:pic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DE3AACA0-BB3F-0491-8985-2AE648D007A0}"/>
              </a:ext>
            </a:extLst>
          </p:cNvPr>
          <p:cNvSpPr txBox="1"/>
          <p:nvPr/>
        </p:nvSpPr>
        <p:spPr>
          <a:xfrm>
            <a:off x="10338391" y="11088020"/>
            <a:ext cx="302364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ja-JP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A. Anshu, New J. Phys. </a:t>
            </a:r>
            <a:r>
              <a:rPr lang="en" altLang="ja-JP" sz="1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r>
              <a:rPr lang="en" altLang="ja-JP" sz="1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083011 (2016). </a:t>
            </a:r>
            <a:endParaRPr lang="ja-JP" altLang="en-US" sz="120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正方形/長方形 42">
            <a:extLst>
              <a:ext uri="{FF2B5EF4-FFF2-40B4-BE49-F238E27FC236}">
                <a16:creationId xmlns:a16="http://schemas.microsoft.com/office/drawing/2014/main" id="{2F6CDB88-120F-923B-21A0-0ADE24ED32BB}"/>
              </a:ext>
            </a:extLst>
          </p:cNvPr>
          <p:cNvSpPr/>
          <p:nvPr/>
        </p:nvSpPr>
        <p:spPr>
          <a:xfrm>
            <a:off x="401104" y="9600318"/>
            <a:ext cx="6857625" cy="175866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44" name="Picture 2" descr="\begin{align*}&#10;  \braket{\psi|H|\psi} \in o(Ng)&#10;\end{align*}">
            <a:extLst>
              <a:ext uri="{FF2B5EF4-FFF2-40B4-BE49-F238E27FC236}">
                <a16:creationId xmlns:a16="http://schemas.microsoft.com/office/drawing/2014/main" id="{8D521CA4-FBBF-2DF7-26BA-0D4489BD23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7344" y="9923115"/>
            <a:ext cx="2659940" cy="3575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E8E70DFC-A716-9B64-8021-8A0738B2627F}"/>
              </a:ext>
            </a:extLst>
          </p:cNvPr>
          <p:cNvSpPr txBox="1"/>
          <p:nvPr/>
        </p:nvSpPr>
        <p:spPr>
          <a:xfrm>
            <a:off x="521514" y="9840288"/>
            <a:ext cx="339615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低エネルギー領域</a:t>
            </a:r>
            <a:endParaRPr kumimoji="1" lang="en-US" altLang="ja-JP" sz="28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  <p:sp>
        <p:nvSpPr>
          <p:cNvPr id="47" name="左中かっこ 46">
            <a:extLst>
              <a:ext uri="{FF2B5EF4-FFF2-40B4-BE49-F238E27FC236}">
                <a16:creationId xmlns:a16="http://schemas.microsoft.com/office/drawing/2014/main" id="{DF68CD52-22E1-0BE9-5554-53F1ECFCECFD}"/>
              </a:ext>
            </a:extLst>
          </p:cNvPr>
          <p:cNvSpPr/>
          <p:nvPr/>
        </p:nvSpPr>
        <p:spPr>
          <a:xfrm>
            <a:off x="8068607" y="6397524"/>
            <a:ext cx="372007" cy="1152403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65A8CF3C-2692-2A1C-1DB6-3795C925C6E8}"/>
                  </a:ext>
                </a:extLst>
              </p:cNvPr>
              <p:cNvSpPr txBox="1"/>
              <p:nvPr/>
            </p:nvSpPr>
            <p:spPr>
              <a:xfrm>
                <a:off x="1921315" y="10597405"/>
                <a:ext cx="512012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ja-JP" altLang="en-US" sz="2800" b="0"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で</a:t>
                </a:r>
                <a:r>
                  <a:rPr kumimoji="1" lang="en-US" altLang="ja-JP" sz="2800" b="0" dirty="0"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kumimoji="1" lang="en-US" altLang="ja-JP" sz="2800" b="0" i="1" smtClean="0">
                        <a:latin typeface="Cambria Math" panose="02040503050406030204" pitchFamily="18" charset="0"/>
                        <a:ea typeface="YuKyokasho Medium" panose="02000500000000000000" pitchFamily="2" charset="-128"/>
                        <a:cs typeface="Times New Roman" panose="02020603050405020304" pitchFamily="18" charset="0"/>
                      </a:rPr>
                      <m:t>𝑁</m:t>
                    </m:r>
                  </m:oMath>
                </a14:m>
                <a:r>
                  <a:rPr kumimoji="1" lang="en-US" altLang="ja-JP" sz="2800" b="0" i="1" dirty="0"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 </a:t>
                </a:r>
                <a:r>
                  <a:rPr kumimoji="1" lang="ja-JP" altLang="en-US" sz="2800" b="0"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について</a:t>
                </a:r>
                <a:r>
                  <a:rPr kumimoji="1" lang="en-US" altLang="ja-JP" sz="2800" b="0" dirty="0"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2</a:t>
                </a:r>
                <a:r>
                  <a:rPr kumimoji="1" lang="ja-JP" altLang="en-US" sz="2800" b="0">
                    <a:latin typeface="Cambria Math" panose="02040503050406030204" pitchFamily="18" charset="0"/>
                    <a:ea typeface="YuKyokasho Medium" panose="02000500000000000000" pitchFamily="2" charset="-128"/>
                    <a:cs typeface="Times New Roman" panose="02020603050405020304" pitchFamily="18" charset="0"/>
                  </a:rPr>
                  <a:t>乗加速まで可能</a:t>
                </a:r>
                <a:endParaRPr kumimoji="1" lang="en-US" altLang="ja-JP" sz="2800" b="0" dirty="0">
                  <a:latin typeface="Cambria Math" panose="02040503050406030204" pitchFamily="18" charset="0"/>
                  <a:ea typeface="YuKyokasho Medium" panose="02000500000000000000" pitchFamily="2" charset="-128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0" name="テキスト ボックス 49">
                <a:extLst>
                  <a:ext uri="{FF2B5EF4-FFF2-40B4-BE49-F238E27FC236}">
                    <a16:creationId xmlns:a16="http://schemas.microsoft.com/office/drawing/2014/main" id="{65A8CF3C-2692-2A1C-1DB6-3795C925C6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21315" y="10597405"/>
                <a:ext cx="5120126" cy="523220"/>
              </a:xfrm>
              <a:prstGeom prst="rect">
                <a:avLst/>
              </a:prstGeom>
              <a:blipFill>
                <a:blip r:embed="rId9"/>
                <a:stretch>
                  <a:fillRect l="-2475" t="-19048" r="-1733" b="-33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テキスト ボックス 56">
            <a:extLst>
              <a:ext uri="{FF2B5EF4-FFF2-40B4-BE49-F238E27FC236}">
                <a16:creationId xmlns:a16="http://schemas.microsoft.com/office/drawing/2014/main" id="{F82FCB59-B8FE-1093-43EB-45A86D65DE4E}"/>
              </a:ext>
            </a:extLst>
          </p:cNvPr>
          <p:cNvSpPr txBox="1"/>
          <p:nvPr/>
        </p:nvSpPr>
        <p:spPr>
          <a:xfrm>
            <a:off x="7488588" y="9578678"/>
            <a:ext cx="94099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1" u="sng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導出</a:t>
            </a: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9F777159-860E-DA26-54D8-63ED9D9C1C29}"/>
              </a:ext>
            </a:extLst>
          </p:cNvPr>
          <p:cNvSpPr txBox="1"/>
          <p:nvPr/>
        </p:nvSpPr>
        <p:spPr>
          <a:xfrm>
            <a:off x="7466095" y="10257023"/>
            <a:ext cx="274188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我々の結果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&amp;</a:t>
            </a:r>
          </a:p>
          <a:p>
            <a:pPr algn="r"/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量子</a:t>
            </a:r>
            <a:r>
              <a:rPr kumimoji="1" lang="en-US" altLang="ja-JP" sz="2400" dirty="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 Chernoff </a:t>
            </a:r>
            <a:r>
              <a:rPr kumimoji="1" lang="ja-JP" altLang="en-US" sz="2400">
                <a:latin typeface="Times New Roman" panose="02020603050405020304" pitchFamily="18" charset="0"/>
                <a:ea typeface="YuKyokasho Medium" panose="02000500000000000000" pitchFamily="2" charset="-128"/>
                <a:cs typeface="Times New Roman" panose="02020603050405020304" pitchFamily="18" charset="0"/>
              </a:rPr>
              <a:t>限界</a:t>
            </a:r>
            <a:endParaRPr kumimoji="1" lang="en-US" altLang="ja-JP" sz="2400" dirty="0">
              <a:latin typeface="Times New Roman" panose="02020603050405020304" pitchFamily="18" charset="0"/>
              <a:ea typeface="YuKyokasho Medium" panose="02000500000000000000" pitchFamily="2" charset="-128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4969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 テーマ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テーマ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テーマ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157</TotalTime>
  <Words>122</Words>
  <Application>Microsoft Macintosh PowerPoint</Application>
  <PresentationFormat>ユーザー設定</PresentationFormat>
  <Paragraphs>19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YuKyokasho Medium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水田　郁</dc:creator>
  <cp:lastModifiedBy>水田　郁</cp:lastModifiedBy>
  <cp:revision>14</cp:revision>
  <dcterms:created xsi:type="dcterms:W3CDTF">2023-12-08T07:40:41Z</dcterms:created>
  <dcterms:modified xsi:type="dcterms:W3CDTF">2025-08-15T07:40:20Z</dcterms:modified>
</cp:coreProperties>
</file>