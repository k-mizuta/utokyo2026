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sldIdLst>
    <p:sldId id="256" r:id="rId2"/>
    <p:sldId id="317" r:id="rId3"/>
    <p:sldId id="334" r:id="rId4"/>
    <p:sldId id="364" r:id="rId5"/>
    <p:sldId id="319" r:id="rId6"/>
    <p:sldId id="366" r:id="rId7"/>
    <p:sldId id="336" r:id="rId8"/>
    <p:sldId id="373" r:id="rId9"/>
    <p:sldId id="368" r:id="rId10"/>
    <p:sldId id="326" r:id="rId11"/>
    <p:sldId id="343" r:id="rId12"/>
    <p:sldId id="327" r:id="rId13"/>
    <p:sldId id="372" r:id="rId14"/>
    <p:sldId id="371" r:id="rId15"/>
    <p:sldId id="351" r:id="rId16"/>
    <p:sldId id="352" r:id="rId17"/>
    <p:sldId id="353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33" userDrawn="1">
          <p15:clr>
            <a:srgbClr val="A4A3A4"/>
          </p15:clr>
        </p15:guide>
        <p15:guide id="2" pos="51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68"/>
    <p:restoredTop sz="94538"/>
  </p:normalViewPr>
  <p:slideViewPr>
    <p:cSldViewPr snapToGrid="0" showGuides="1">
      <p:cViewPr>
        <p:scale>
          <a:sx n="99" d="100"/>
          <a:sy n="99" d="100"/>
        </p:scale>
        <p:origin x="896" y="328"/>
      </p:cViewPr>
      <p:guideLst>
        <p:guide orient="horz" pos="4133"/>
        <p:guide pos="51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02B219-3CDB-964D-A793-A2FE66A4EE60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29F2E-2D5A-F140-898F-8E4AF6C370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0281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7879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FF4E9-77BB-8DEE-5F5A-0271A748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4DC951A-7270-BB84-A428-C86E6CCBF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063870A-39AB-9A8F-9436-1368D494C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6736D36-85E9-004F-4217-7835D0AD18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139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D906C-E6E3-E107-61F0-17CD2115C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2277474-4D31-F965-76A5-43170507C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550757-1CC0-049E-5922-25176DF48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984D8D1-2882-8E50-E69B-0CDF8B6215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2590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AB90C-4231-1D72-BC90-B08A46C88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E1859E-E650-D478-E962-369CB0E6A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BB9BA8-39BA-2BF3-8919-E00F1EE34A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96BA93A-0F7C-49DB-81E5-B6FCF2666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129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1B095-CB8F-1C1C-E5DE-C1F56908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F3DC304-792E-296F-DE82-77CF699D6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2285FA-5BD5-0781-26A7-ED98290DA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40AD98-9E7C-C1F6-A578-7D471BAF1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5613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B7D84-58F1-FCCA-DF32-5D95B9CF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830926F-FAC8-0AD9-46C3-83B459EA7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C75A28-D0A1-761F-FFDF-A3DAFDE48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266F36-9497-B6A0-E509-C8A304D14C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5715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0B6A9-224D-129B-D81B-F27A8215B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E47ABC-2960-A117-A51F-794AD6C730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3484B74-2C90-1AA7-39E0-B1A9D07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DD3B98D-CEA5-06C7-5E35-0C8C3EB80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76699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D8521-5BB3-A933-BF7C-13E43F8B6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E99AE04-D9A2-3607-EE3C-B3BDA923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E8E3A5-1261-D001-BD46-FBC34D47C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1A6531-3298-16FF-4689-9413FC5CB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03791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154C-AE28-C87E-C2DE-883247266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017C448-D16E-410B-C329-550F39D4F7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A9A3DC8-2742-6AA3-D1ED-CEC4F5890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225A0E-B848-0BC7-0871-42B6DBEBCF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36153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04DFA-9AFE-676B-1C18-9E7A84AD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F758E72-A5B6-0A64-DA8E-713B068336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DD3A728-D04D-333E-10CF-BEA454D38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73A6C4-7073-1C07-A699-75162BAFDD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55204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3256-1408-5C88-75B7-F2DDBCD6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2F5AD48-93F7-1548-FEE4-013649AAE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5E2EFB-F2C9-B1F1-AD60-D897C4A96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6BE66B-B37E-F147-8C8F-E1B232F439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87780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3F66C-5760-03E6-4780-063C4DEDC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B6CF59-A149-9B5A-B567-A68169806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E847CB5-E4C5-8385-3972-5C34A1BF1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1F949F-18EC-E5C8-F1D5-ED55DC0A4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7644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A66D2-019C-4FB8-C342-C6097E0DE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DCEE2DC-A210-E326-819A-7F97BE4A9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0BFEDBD-D1FC-5F82-DDA6-53BD3D6CE2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2FCD40E-E6F0-A1A2-321F-852F9616E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29F2E-2D5A-F140-898F-8E4AF6C37083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9665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0327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405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0636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044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1896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5302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1561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6392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3060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7300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2254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5548CF-C04A-8444-998A-3BFCC00B062A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EB1FC-79AA-EE44-8923-1F32EA0536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9954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41.png"/><Relationship Id="rId7" Type="http://schemas.openxmlformats.org/officeDocument/2006/relationships/image" Target="../media/image4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2.emf"/><Relationship Id="rId10" Type="http://schemas.openxmlformats.org/officeDocument/2006/relationships/image" Target="../media/image6.png"/><Relationship Id="rId4" Type="http://schemas.openxmlformats.org/officeDocument/2006/relationships/image" Target="../media/image1.emf"/><Relationship Id="rId9" Type="http://schemas.openxmlformats.org/officeDocument/2006/relationships/image" Target="../media/image6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7.png"/><Relationship Id="rId3" Type="http://schemas.openxmlformats.org/officeDocument/2006/relationships/image" Target="../media/image9.png"/><Relationship Id="rId7" Type="http://schemas.openxmlformats.org/officeDocument/2006/relationships/image" Target="../media/image15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3.emf"/><Relationship Id="rId5" Type="http://schemas.openxmlformats.org/officeDocument/2006/relationships/image" Target="../media/image10.png"/><Relationship Id="rId10" Type="http://schemas.openxmlformats.org/officeDocument/2006/relationships/image" Target="../media/image13.png"/><Relationship Id="rId4" Type="http://schemas.openxmlformats.org/officeDocument/2006/relationships/image" Target="../media/image8.png"/><Relationship Id="rId9" Type="http://schemas.openxmlformats.org/officeDocument/2006/relationships/image" Target="../media/image12.png"/><Relationship Id="rId1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emf"/><Relationship Id="rId5" Type="http://schemas.openxmlformats.org/officeDocument/2006/relationships/image" Target="../media/image31.png"/><Relationship Id="rId10" Type="http://schemas.openxmlformats.org/officeDocument/2006/relationships/image" Target="../media/image1.emf"/><Relationship Id="rId4" Type="http://schemas.openxmlformats.org/officeDocument/2006/relationships/image" Target="../media/image30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5" Type="http://schemas.openxmlformats.org/officeDocument/2006/relationships/image" Target="../media/image46.png"/><Relationship Id="rId10" Type="http://schemas.openxmlformats.org/officeDocument/2006/relationships/image" Target="../media/image32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0.png"/><Relationship Id="rId9" Type="http://schemas.openxmlformats.org/officeDocument/2006/relationships/image" Target="../media/image52.png"/></Relationships>
</file>

<file path=ppt/slides/_rels/slide11.xml.rels><?xml version="1.0" encoding="UTF-8" standalone="yes"?>
<Relationships xmlns="http://schemas.openxmlformats.org/package/2006/relationships"><Relationship Id="rId18" Type="http://schemas.openxmlformats.org/officeDocument/2006/relationships/image" Target="../media/image54.png"/><Relationship Id="rId26" Type="http://schemas.openxmlformats.org/officeDocument/2006/relationships/image" Target="../media/image23.png"/><Relationship Id="rId3" Type="http://schemas.openxmlformats.org/officeDocument/2006/relationships/image" Target="../media/image440.png"/><Relationship Id="rId21" Type="http://schemas.openxmlformats.org/officeDocument/2006/relationships/image" Target="../media/image670.png"/><Relationship Id="rId7" Type="http://schemas.openxmlformats.org/officeDocument/2006/relationships/image" Target="../media/image53.png"/><Relationship Id="rId17" Type="http://schemas.openxmlformats.org/officeDocument/2006/relationships/image" Target="../media/image560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7.xml"/><Relationship Id="rId20" Type="http://schemas.openxmlformats.org/officeDocument/2006/relationships/image" Target="../media/image56.png"/><Relationship Id="rId29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1.png"/><Relationship Id="rId5" Type="http://schemas.openxmlformats.org/officeDocument/2006/relationships/image" Target="../media/image462.png"/><Relationship Id="rId23" Type="http://schemas.openxmlformats.org/officeDocument/2006/relationships/image" Target="../media/image690.png"/><Relationship Id="rId28" Type="http://schemas.openxmlformats.org/officeDocument/2006/relationships/image" Target="../media/image66.png"/><Relationship Id="rId19" Type="http://schemas.openxmlformats.org/officeDocument/2006/relationships/image" Target="../media/image55.png"/><Relationship Id="rId4" Type="http://schemas.openxmlformats.org/officeDocument/2006/relationships/image" Target="../media/image450.png"/><Relationship Id="rId22" Type="http://schemas.openxmlformats.org/officeDocument/2006/relationships/image" Target="../media/image57.png"/><Relationship Id="rId27" Type="http://schemas.openxmlformats.org/officeDocument/2006/relationships/image" Target="../media/image58.png"/><Relationship Id="rId30" Type="http://schemas.openxmlformats.org/officeDocument/2006/relationships/image" Target="../media/image6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8.png"/><Relationship Id="rId18" Type="http://schemas.openxmlformats.org/officeDocument/2006/relationships/image" Target="../media/image73.png"/><Relationship Id="rId3" Type="http://schemas.openxmlformats.org/officeDocument/2006/relationships/image" Target="../media/image23.png"/><Relationship Id="rId7" Type="http://schemas.openxmlformats.org/officeDocument/2006/relationships/image" Target="../media/image63.png"/><Relationship Id="rId12" Type="http://schemas.openxmlformats.org/officeDocument/2006/relationships/image" Target="../media/image67.png"/><Relationship Id="rId17" Type="http://schemas.openxmlformats.org/officeDocument/2006/relationships/image" Target="../media/image7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1.emf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5.png"/><Relationship Id="rId15" Type="http://schemas.openxmlformats.org/officeDocument/2006/relationships/image" Target="../media/image70.png"/><Relationship Id="rId10" Type="http://schemas.openxmlformats.org/officeDocument/2006/relationships/image" Target="../media/image64.png"/><Relationship Id="rId4" Type="http://schemas.openxmlformats.org/officeDocument/2006/relationships/image" Target="../media/image56.png"/><Relationship Id="rId9" Type="http://schemas.openxmlformats.org/officeDocument/2006/relationships/image" Target="../media/image62.png"/><Relationship Id="rId14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11" Type="http://schemas.openxmlformats.org/officeDocument/2006/relationships/image" Target="../media/image82.png"/><Relationship Id="rId5" Type="http://schemas.openxmlformats.org/officeDocument/2006/relationships/image" Target="../media/image76.png"/><Relationship Id="rId10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openxmlformats.org/officeDocument/2006/relationships/image" Target="../media/image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90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10" Type="http://schemas.openxmlformats.org/officeDocument/2006/relationships/image" Target="../media/image85.png"/><Relationship Id="rId4" Type="http://schemas.openxmlformats.org/officeDocument/2006/relationships/image" Target="../media/image91.png"/><Relationship Id="rId9" Type="http://schemas.openxmlformats.org/officeDocument/2006/relationships/image" Target="../media/image8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1010.png"/><Relationship Id="rId4" Type="http://schemas.openxmlformats.org/officeDocument/2006/relationships/image" Target="../media/image100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10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0.png"/><Relationship Id="rId5" Type="http://schemas.openxmlformats.org/officeDocument/2006/relationships/image" Target="../media/image87.png"/><Relationship Id="rId4" Type="http://schemas.openxmlformats.org/officeDocument/2006/relationships/image" Target="../media/image8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0.png"/><Relationship Id="rId3" Type="http://schemas.openxmlformats.org/officeDocument/2006/relationships/image" Target="../media/image94.png"/><Relationship Id="rId7" Type="http://schemas.openxmlformats.org/officeDocument/2006/relationships/image" Target="../media/image108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0.png"/><Relationship Id="rId5" Type="http://schemas.openxmlformats.org/officeDocument/2006/relationships/image" Target="../media/image87.png"/><Relationship Id="rId4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DF7BAED-C382-24EA-B5BB-37E822E7352A}"/>
              </a:ext>
            </a:extLst>
          </p:cNvPr>
          <p:cNvSpPr txBox="1"/>
          <p:nvPr/>
        </p:nvSpPr>
        <p:spPr>
          <a:xfrm>
            <a:off x="1984073" y="1581638"/>
            <a:ext cx="51860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日本物理学会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春季大会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on 2026.03.26</a:t>
            </a:r>
            <a:endParaRPr kumimoji="1" lang="ja-JP" altLang="en-US" sz="24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3DDE47-9988-C0F1-4D77-1A9A5F7AA042}"/>
              </a:ext>
            </a:extLst>
          </p:cNvPr>
          <p:cNvSpPr txBox="1"/>
          <p:nvPr/>
        </p:nvSpPr>
        <p:spPr>
          <a:xfrm>
            <a:off x="4734385" y="5252660"/>
            <a:ext cx="36760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水田</a:t>
            </a:r>
            <a:r>
              <a:rPr kumimoji="1" lang="en-US" altLang="ja-JP" sz="28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2800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郁</a:t>
            </a:r>
            <a:r>
              <a:rPr kumimoji="1" lang="en-US" altLang="ja-JP" sz="2800" b="1" u="sng" baseline="30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1,2,3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桑原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知剛</a:t>
            </a:r>
            <a:r>
              <a:rPr kumimoji="1" lang="en-US" altLang="ja-JP" sz="2800" baseline="30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2</a:t>
            </a:r>
            <a:endParaRPr kumimoji="1" lang="ja-JP" altLang="en-US" sz="28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3876284-020F-9D2E-A632-83F1D9324467}"/>
              </a:ext>
            </a:extLst>
          </p:cNvPr>
          <p:cNvSpPr txBox="1"/>
          <p:nvPr/>
        </p:nvSpPr>
        <p:spPr>
          <a:xfrm>
            <a:off x="726159" y="2394556"/>
            <a:ext cx="7684232" cy="107721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3200" b="1">
                <a:effectLst/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低エネルギー状態に対する</a:t>
            </a:r>
            <a:endParaRPr lang="en-US" altLang="ja-JP" sz="3200" b="1" dirty="0">
              <a:effectLst/>
              <a:latin typeface="Times New Roman" panose="02020603050405020304" pitchFamily="18" charset="0"/>
              <a:ea typeface="YuKyokasho" panose="02000500000000000000" pitchFamily="2" charset="-128"/>
              <a:cs typeface="Times New Roman" panose="02020603050405020304" pitchFamily="18" charset="0"/>
            </a:endParaRPr>
          </a:p>
          <a:p>
            <a:pPr algn="ctr"/>
            <a:r>
              <a:rPr lang="en-US" altLang="ja-JP" sz="32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Trotter</a:t>
            </a:r>
            <a:r>
              <a:rPr lang="ja-JP" altLang="en-US" sz="32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分解の効率性</a:t>
            </a:r>
            <a:endParaRPr lang="ja-JP" altLang="en-US" sz="3200" b="1">
              <a:effectLst/>
              <a:latin typeface="Times New Roman" panose="02020603050405020304" pitchFamily="18" charset="0"/>
              <a:ea typeface="YuKyokasho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165DB56-6FD2-4F15-28A5-5AD535066EAF}"/>
              </a:ext>
            </a:extLst>
          </p:cNvPr>
          <p:cNvSpPr txBox="1"/>
          <p:nvPr/>
        </p:nvSpPr>
        <p:spPr>
          <a:xfrm>
            <a:off x="4511567" y="5925504"/>
            <a:ext cx="3898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東大物工</a:t>
            </a:r>
            <a:r>
              <a:rPr kumimoji="1" lang="en-US" altLang="ja-JP" baseline="30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1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理研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RQC</a:t>
            </a:r>
            <a:r>
              <a:rPr kumimoji="1" lang="en-US" altLang="ja-JP" baseline="30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2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JST 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さきがけ</a:t>
            </a:r>
            <a:r>
              <a:rPr kumimoji="1" lang="en-US" altLang="ja-JP" baseline="30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3</a:t>
            </a:r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2EF887FF-01C0-B7E2-7191-979EA15C8E3C}"/>
                  </a:ext>
                </a:extLst>
              </p:cNvPr>
              <p:cNvSpPr txBox="1"/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ja-JP" alt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2EF887FF-01C0-B7E2-7191-979EA15C8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blipFill>
                <a:blip r:embed="rId2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97758E9-F8D5-1D2E-474C-C702D12BDDAE}"/>
              </a:ext>
            </a:extLst>
          </p:cNvPr>
          <p:cNvSpPr txBox="1"/>
          <p:nvPr/>
        </p:nvSpPr>
        <p:spPr>
          <a:xfrm>
            <a:off x="1731318" y="3633504"/>
            <a:ext cx="5681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KM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and T. Kuwahara, Phys. Rev. Lett. 135, 130602 (2025)</a:t>
            </a:r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70957EE-9ACE-3BAE-1CE0-0155F4777FA2}"/>
              </a:ext>
            </a:extLst>
          </p:cNvPr>
          <p:cNvSpPr txBox="1"/>
          <p:nvPr/>
        </p:nvSpPr>
        <p:spPr>
          <a:xfrm>
            <a:off x="7404988" y="2025224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26aA2-3</a:t>
            </a:r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5698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83FF8-AB59-9AA4-8604-3BBEA8CC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739B80C-6881-0D43-B123-694922CB0461}"/>
              </a:ext>
            </a:extLst>
          </p:cNvPr>
          <p:cNvSpPr txBox="1"/>
          <p:nvPr/>
        </p:nvSpPr>
        <p:spPr>
          <a:xfrm>
            <a:off x="3569962" y="403085"/>
            <a:ext cx="200407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4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Outline</a:t>
            </a:r>
            <a:endParaRPr kumimoji="1" lang="ja-JP" altLang="en-US" sz="4400" b="1" u="sng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07D5944-4D33-E519-8836-874BC4E17A34}"/>
              </a:ext>
            </a:extLst>
          </p:cNvPr>
          <p:cNvSpPr txBox="1"/>
          <p:nvPr/>
        </p:nvSpPr>
        <p:spPr>
          <a:xfrm>
            <a:off x="605738" y="1510421"/>
            <a:ext cx="1202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導入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C4C2E5A-DA8E-BCD0-528B-66074FE4315F}"/>
                  </a:ext>
                </a:extLst>
              </p:cNvPr>
              <p:cNvSpPr txBox="1"/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ja-JP" alt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EC4C2E5A-DA8E-BCD0-528B-66074FE43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blipFill>
                <a:blip r:embed="rId2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46948B-733A-4CFD-FC0C-89D27CFF8B07}"/>
              </a:ext>
            </a:extLst>
          </p:cNvPr>
          <p:cNvSpPr txBox="1"/>
          <p:nvPr/>
        </p:nvSpPr>
        <p:spPr>
          <a:xfrm>
            <a:off x="605738" y="3486490"/>
            <a:ext cx="16818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本結果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6C50C50-6A60-2017-3772-A616C3D5BC77}"/>
              </a:ext>
            </a:extLst>
          </p:cNvPr>
          <p:cNvSpPr txBox="1"/>
          <p:nvPr/>
        </p:nvSpPr>
        <p:spPr>
          <a:xfrm>
            <a:off x="605738" y="5950950"/>
            <a:ext cx="28793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III.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まとめと展望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F32F259-600B-3ED1-F068-58569CA0BF15}"/>
              </a:ext>
            </a:extLst>
          </p:cNvPr>
          <p:cNvSpPr txBox="1"/>
          <p:nvPr/>
        </p:nvSpPr>
        <p:spPr>
          <a:xfrm>
            <a:off x="997782" y="2198538"/>
            <a:ext cx="47724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I-1. Hamiltonian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シミュレーション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B3BBF5-2555-1BB1-F845-B8FCB7E599D0}"/>
              </a:ext>
            </a:extLst>
          </p:cNvPr>
          <p:cNvSpPr txBox="1"/>
          <p:nvPr/>
        </p:nvSpPr>
        <p:spPr>
          <a:xfrm>
            <a:off x="997782" y="2828820"/>
            <a:ext cx="2226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I-2. Trotter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分解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32D6282-B2AA-3EBC-72EE-3BCFE60DB544}"/>
              </a:ext>
            </a:extLst>
          </p:cNvPr>
          <p:cNvSpPr txBox="1"/>
          <p:nvPr/>
        </p:nvSpPr>
        <p:spPr>
          <a:xfrm>
            <a:off x="1193018" y="4463273"/>
            <a:ext cx="6834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“Trotter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分解の低エネルギー状態に対する効率性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”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9F8F5F5-5472-7620-1AA1-2435A27AFA3E}"/>
              </a:ext>
            </a:extLst>
          </p:cNvPr>
          <p:cNvSpPr txBox="1"/>
          <p:nvPr/>
        </p:nvSpPr>
        <p:spPr>
          <a:xfrm>
            <a:off x="3224289" y="5009169"/>
            <a:ext cx="5681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KM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and T. Kuwahara, Phys. Rev. Lett. 135, 130602 (2025)</a:t>
            </a:r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0CBA6-913A-FF2E-5694-E72756030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CD3F1B9-3F99-D0A5-E46B-DB9B1645F7FE}"/>
              </a:ext>
            </a:extLst>
          </p:cNvPr>
          <p:cNvSpPr/>
          <p:nvPr/>
        </p:nvSpPr>
        <p:spPr>
          <a:xfrm>
            <a:off x="0" y="1468618"/>
            <a:ext cx="9144000" cy="19603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7A8AF32-0641-2E72-C5CA-2175F09F3392}"/>
              </a:ext>
            </a:extLst>
          </p:cNvPr>
          <p:cNvSpPr txBox="1"/>
          <p:nvPr/>
        </p:nvSpPr>
        <p:spPr>
          <a:xfrm>
            <a:off x="3569962" y="403085"/>
            <a:ext cx="200407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4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Outline</a:t>
            </a:r>
            <a:endParaRPr kumimoji="1" lang="ja-JP" altLang="en-US" sz="4400" b="1" u="sng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4B5A0C-B8CD-8AC6-EA42-81C83C7AC800}"/>
              </a:ext>
            </a:extLst>
          </p:cNvPr>
          <p:cNvSpPr txBox="1"/>
          <p:nvPr/>
        </p:nvSpPr>
        <p:spPr>
          <a:xfrm>
            <a:off x="605738" y="1510421"/>
            <a:ext cx="1202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導入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95FC47A5-2805-3622-A7FF-E87A0618B48A}"/>
                  </a:ext>
                </a:extLst>
              </p:cNvPr>
              <p:cNvSpPr txBox="1"/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ja-JP" alt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95FC47A5-2805-3622-A7FF-E87A0618B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blipFill>
                <a:blip r:embed="rId2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DEE32-401C-14E2-9D62-FFA8D7839D02}"/>
              </a:ext>
            </a:extLst>
          </p:cNvPr>
          <p:cNvSpPr txBox="1"/>
          <p:nvPr/>
        </p:nvSpPr>
        <p:spPr>
          <a:xfrm>
            <a:off x="605738" y="3486490"/>
            <a:ext cx="16818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本結果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6ED5A28-75EC-70B2-14D2-54DFB60ABB32}"/>
              </a:ext>
            </a:extLst>
          </p:cNvPr>
          <p:cNvSpPr txBox="1"/>
          <p:nvPr/>
        </p:nvSpPr>
        <p:spPr>
          <a:xfrm>
            <a:off x="605738" y="5950950"/>
            <a:ext cx="28793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III.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まとめと展望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9F90AC1-18B3-EA7A-A736-FA2181AB7F4F}"/>
              </a:ext>
            </a:extLst>
          </p:cNvPr>
          <p:cNvSpPr txBox="1"/>
          <p:nvPr/>
        </p:nvSpPr>
        <p:spPr>
          <a:xfrm>
            <a:off x="997782" y="2198538"/>
            <a:ext cx="47724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I-1. Hamiltonian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シミュレーション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50FC6F0-0333-375F-D9DD-C99835309467}"/>
              </a:ext>
            </a:extLst>
          </p:cNvPr>
          <p:cNvSpPr txBox="1"/>
          <p:nvPr/>
        </p:nvSpPr>
        <p:spPr>
          <a:xfrm>
            <a:off x="997782" y="2828820"/>
            <a:ext cx="2226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I-2. Trotter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分解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8CEE1B-4492-4AF9-8F67-A1DE13C7DC29}"/>
              </a:ext>
            </a:extLst>
          </p:cNvPr>
          <p:cNvSpPr txBox="1"/>
          <p:nvPr/>
        </p:nvSpPr>
        <p:spPr>
          <a:xfrm>
            <a:off x="1193018" y="4463273"/>
            <a:ext cx="6834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“Trotter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分解の低エネルギー状態に対する効率性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”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A0E798A-437C-966C-549F-0A42B8CE6951}"/>
              </a:ext>
            </a:extLst>
          </p:cNvPr>
          <p:cNvSpPr txBox="1"/>
          <p:nvPr/>
        </p:nvSpPr>
        <p:spPr>
          <a:xfrm>
            <a:off x="3224289" y="5009169"/>
            <a:ext cx="5681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KM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and T. Kuwahara, Phys. Rev. Lett. 135, 130602 (2025)</a:t>
            </a:r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072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ECAC52-45AC-CAAF-BF0C-EAC3FE74E608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1. Hamiltonian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シミュレーション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503993D8-017F-CBBE-A0FD-F5DEA35DF46F}"/>
                  </a:ext>
                </a:extLst>
              </p:cNvPr>
              <p:cNvSpPr txBox="1"/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503993D8-017F-CBBE-A0FD-F5DEA35DF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blipFill>
                <a:blip r:embed="rId3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図 32">
            <a:extLst>
              <a:ext uri="{FF2B5EF4-FFF2-40B4-BE49-F238E27FC236}">
                <a16:creationId xmlns:a16="http://schemas.microsoft.com/office/drawing/2014/main" id="{95C825C9-A5DC-16E7-8CDA-88683E749A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322" y="2330250"/>
            <a:ext cx="1966352" cy="707886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52747DBE-1AF4-EEBA-409E-3A83C130CB1C}"/>
              </a:ext>
            </a:extLst>
          </p:cNvPr>
          <p:cNvSpPr txBox="1"/>
          <p:nvPr/>
        </p:nvSpPr>
        <p:spPr>
          <a:xfrm>
            <a:off x="161956" y="1293639"/>
            <a:ext cx="1184940" cy="4616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▶︎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問題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741FF86-5C75-B985-4CD5-D104BF142F6C}"/>
              </a:ext>
            </a:extLst>
          </p:cNvPr>
          <p:cNvSpPr txBox="1"/>
          <p:nvPr/>
        </p:nvSpPr>
        <p:spPr>
          <a:xfrm>
            <a:off x="1466296" y="1326446"/>
            <a:ext cx="7024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Schrodinger eq. 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を量子計算機で高速かつ正確に解く</a:t>
            </a:r>
            <a:endParaRPr kumimoji="1" lang="ja-JP" altLang="en-US" sz="20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65389E5C-AE64-5B6D-9F2E-C7554956818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9720"/>
          <a:stretch/>
        </p:blipFill>
        <p:spPr>
          <a:xfrm>
            <a:off x="1806010" y="2033238"/>
            <a:ext cx="2071637" cy="1077882"/>
          </a:xfrm>
          <a:prstGeom prst="rect">
            <a:avLst/>
          </a:prstGeom>
        </p:spPr>
      </p:pic>
      <p:pic>
        <p:nvPicPr>
          <p:cNvPr id="51" name="Picture 2" descr="\begin{align*}&#10;  \ket{\psi} \to f_q (H) \ket{\psi}, \quad f_q (H) = \sum_{n=0}^q c_n H^n&#10;\end{align*}">
            <a:extLst>
              <a:ext uri="{FF2B5EF4-FFF2-40B4-BE49-F238E27FC236}">
                <a16:creationId xmlns:a16="http://schemas.microsoft.com/office/drawing/2014/main" id="{18B02678-837D-73E8-5690-D4C72100E9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09" r="92785" b="20485"/>
          <a:stretch/>
        </p:blipFill>
        <p:spPr bwMode="auto">
          <a:xfrm>
            <a:off x="1004950" y="2269845"/>
            <a:ext cx="406483" cy="60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2" name="テキスト ボックス 51">
                <a:extLst>
                  <a:ext uri="{FF2B5EF4-FFF2-40B4-BE49-F238E27FC236}">
                    <a16:creationId xmlns:a16="http://schemas.microsoft.com/office/drawing/2014/main" id="{880E6086-8ABD-4CD6-473E-FAC22D5C915E}"/>
                  </a:ext>
                </a:extLst>
              </p:cNvPr>
              <p:cNvSpPr txBox="1"/>
              <p:nvPr/>
            </p:nvSpPr>
            <p:spPr>
              <a:xfrm>
                <a:off x="2711859" y="2204728"/>
                <a:ext cx="308144" cy="3735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52" name="テキスト ボックス 51">
                <a:extLst>
                  <a:ext uri="{FF2B5EF4-FFF2-40B4-BE49-F238E27FC236}">
                    <a16:creationId xmlns:a16="http://schemas.microsoft.com/office/drawing/2014/main" id="{880E6086-8ABD-4CD6-473E-FAC22D5C9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1859" y="2204728"/>
                <a:ext cx="308144" cy="373523"/>
              </a:xfrm>
              <a:prstGeom prst="rect">
                <a:avLst/>
              </a:prstGeom>
              <a:blipFill>
                <a:blip r:embed="rId7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3" name="Picture 2" descr="\begin{align*}&#10;  e^{-iHt} \ket{\psi} + \mathcal{O}(\varepsilon)&#10;\end{align*}">
            <a:extLst>
              <a:ext uri="{FF2B5EF4-FFF2-40B4-BE49-F238E27FC236}">
                <a16:creationId xmlns:a16="http://schemas.microsoft.com/office/drawing/2014/main" id="{7A420055-B2AB-D944-64FB-A26276CD75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8495" y="2391490"/>
            <a:ext cx="2071637" cy="330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3FCF2257-48BE-CCAD-F54F-CBC4666A0CE3}"/>
              </a:ext>
            </a:extLst>
          </p:cNvPr>
          <p:cNvSpPr txBox="1"/>
          <p:nvPr/>
        </p:nvSpPr>
        <p:spPr>
          <a:xfrm>
            <a:off x="518318" y="2853470"/>
            <a:ext cx="1274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Initial state</a:t>
            </a:r>
            <a:endParaRPr kumimoji="1" lang="ja-JP" altLang="en-US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7E745E3-8948-392E-E2DB-C375FDC3B577}"/>
                  </a:ext>
                </a:extLst>
              </p:cNvPr>
              <p:cNvSpPr txBox="1"/>
              <p:nvPr/>
            </p:nvSpPr>
            <p:spPr>
              <a:xfrm>
                <a:off x="4328318" y="2858350"/>
                <a:ext cx="193333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Solution at time 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endParaRPr kumimoji="1" lang="ja-JP" altLang="en-US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7E745E3-8948-392E-E2DB-C375FDC3B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318" y="2858350"/>
                <a:ext cx="1933333" cy="369332"/>
              </a:xfrm>
              <a:prstGeom prst="rect">
                <a:avLst/>
              </a:prstGeom>
              <a:blipFill>
                <a:blip r:embed="rId9"/>
                <a:stretch>
                  <a:fillRect l="-2614" t="-10345" b="-2758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テキスト ボックス 55">
                <a:extLst>
                  <a:ext uri="{FF2B5EF4-FFF2-40B4-BE49-F238E27FC236}">
                    <a16:creationId xmlns:a16="http://schemas.microsoft.com/office/drawing/2014/main" id="{2C5B39EF-8BC7-DEDF-C198-27A8B680CFAE}"/>
                  </a:ext>
                </a:extLst>
              </p:cNvPr>
              <p:cNvSpPr txBox="1"/>
              <p:nvPr/>
            </p:nvSpPr>
            <p:spPr>
              <a:xfrm>
                <a:off x="1393896" y="3517844"/>
                <a:ext cx="612179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𝐻</m:t>
                    </m:r>
                  </m:oMath>
                </a14:m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; 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-qubit Hamiltonian,  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; </a:t>
                </a:r>
                <a:r>
                  <a:rPr kumimoji="1" lang="ja-JP" altLang="en-US" sz="2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時刻</a:t>
                </a:r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,  </a:t>
                </a:r>
                <a14:m>
                  <m:oMath xmlns:m="http://schemas.openxmlformats.org/officeDocument/2006/math">
                    <m:r>
                      <a:rPr kumimoji="1" lang="en-US" altLang="ja-JP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; </a:t>
                </a:r>
                <a:r>
                  <a:rPr kumimoji="1" lang="ja-JP" altLang="en-US" sz="2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許容誤差</a:t>
                </a:r>
                <a:endParaRPr kumimoji="1" lang="ja-JP" altLang="en-US" sz="24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6" name="テキスト ボックス 55">
                <a:extLst>
                  <a:ext uri="{FF2B5EF4-FFF2-40B4-BE49-F238E27FC236}">
                    <a16:creationId xmlns:a16="http://schemas.microsoft.com/office/drawing/2014/main" id="{2C5B39EF-8BC7-DEDF-C198-27A8B680C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3896" y="3517844"/>
                <a:ext cx="6121794" cy="461665"/>
              </a:xfrm>
              <a:prstGeom prst="rect">
                <a:avLst/>
              </a:prstGeom>
              <a:blipFill>
                <a:blip r:embed="rId10"/>
                <a:stretch>
                  <a:fillRect l="-207" t="-10526" b="-3157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295D937-9B42-B875-7032-758AF6D6AC24}"/>
              </a:ext>
            </a:extLst>
          </p:cNvPr>
          <p:cNvGrpSpPr/>
          <p:nvPr/>
        </p:nvGrpSpPr>
        <p:grpSpPr>
          <a:xfrm>
            <a:off x="244686" y="4309191"/>
            <a:ext cx="8652570" cy="2115924"/>
            <a:chOff x="244686" y="4415976"/>
            <a:chExt cx="8652570" cy="21159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C0C69495-8B0F-9A3B-B783-452F41E55FDC}"/>
                    </a:ext>
                  </a:extLst>
                </p:cNvPr>
                <p:cNvSpPr txBox="1"/>
                <p:nvPr/>
              </p:nvSpPr>
              <p:spPr>
                <a:xfrm>
                  <a:off x="244686" y="4415976"/>
                  <a:ext cx="8652570" cy="830997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2400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Challenge: </a:t>
                  </a:r>
                  <a:r>
                    <a:rPr kumimoji="1" lang="ja-JP" altLang="en-US" sz="2400" b="1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パラメータ</a:t>
                  </a:r>
                  <a:r>
                    <a:rPr kumimoji="1" lang="en-US" altLang="ja-JP" sz="2400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sz="2400" b="1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𝑵</m:t>
                      </m:r>
                      <m:r>
                        <a:rPr kumimoji="1" lang="en-US" altLang="ja-JP" sz="2400" b="1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, </m:t>
                      </m:r>
                      <m:r>
                        <a:rPr kumimoji="1" lang="en-US" altLang="ja-JP" sz="2400" b="1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𝒕</m:t>
                      </m:r>
                      <m:r>
                        <a:rPr kumimoji="1" lang="en-US" altLang="ja-JP" sz="2400" b="1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, </m:t>
                      </m:r>
                      <m:r>
                        <a:rPr kumimoji="1" lang="en-US" altLang="ja-JP" sz="2400" b="1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kumimoji="1" lang="en-US" altLang="ja-JP" sz="2400" b="1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/</m:t>
                      </m:r>
                      <m:r>
                        <a:rPr kumimoji="1" lang="en-US" altLang="ja-JP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𝜺</m:t>
                      </m:r>
                    </m:oMath>
                  </a14:m>
                  <a:r>
                    <a:rPr kumimoji="1" lang="en-US" altLang="ja-JP" sz="2400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 sz="2400" b="1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について可能な限り</a:t>
                  </a:r>
                  <a:endParaRPr kumimoji="1" lang="en-US" altLang="ja-JP" sz="2400" b="1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endParaRPr>
                </a:p>
                <a:p>
                  <a:pPr algn="r"/>
                  <a:r>
                    <a:rPr kumimoji="1" lang="ja-JP" altLang="en-US" sz="2400" b="1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少ないゲート数の量子アルゴリズムの確立</a:t>
                  </a:r>
                  <a:endParaRPr kumimoji="1" lang="ja-JP" altLang="en-US" sz="2400" b="1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C0C69495-8B0F-9A3B-B783-452F41E55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686" y="4415976"/>
                  <a:ext cx="8652570" cy="830997"/>
                </a:xfrm>
                <a:prstGeom prst="rect">
                  <a:avLst/>
                </a:prstGeom>
                <a:blipFill>
                  <a:blip r:embed="rId11"/>
                  <a:stretch>
                    <a:fillRect l="-1173" t="-7576" r="-1026" b="-1212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テキスト ボックス 60">
              <a:extLst>
                <a:ext uri="{FF2B5EF4-FFF2-40B4-BE49-F238E27FC236}">
                  <a16:creationId xmlns:a16="http://schemas.microsoft.com/office/drawing/2014/main" id="{007EDF6B-16BF-B19B-DC27-D3B3FAC82F78}"/>
                </a:ext>
              </a:extLst>
            </p:cNvPr>
            <p:cNvSpPr txBox="1"/>
            <p:nvPr/>
          </p:nvSpPr>
          <p:spPr>
            <a:xfrm>
              <a:off x="518318" y="5533143"/>
              <a:ext cx="787294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- </a:t>
              </a:r>
              <a:r>
                <a:rPr kumimoji="1" lang="ja-JP" altLang="en-US" sz="20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古典計算機と比べて指数加速が最も期待されるタスク</a:t>
              </a:r>
              <a:endParaRPr kumimoji="1" lang="ja-JP" altLang="en-US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33478594-66D0-942B-3BF5-509087216925}"/>
                </a:ext>
              </a:extLst>
            </p:cNvPr>
            <p:cNvSpPr txBox="1"/>
            <p:nvPr/>
          </p:nvSpPr>
          <p:spPr>
            <a:xfrm>
              <a:off x="518318" y="6131790"/>
              <a:ext cx="768870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- </a:t>
              </a:r>
              <a:r>
                <a:rPr kumimoji="1" lang="ja-JP" altLang="en-US" sz="20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量子ダイナミクス</a:t>
              </a:r>
              <a:r>
                <a:rPr kumimoji="1" lang="en-US" altLang="ja-JP" sz="20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, </a:t>
              </a:r>
              <a:r>
                <a:rPr kumimoji="1" lang="ja-JP" altLang="en-US" sz="20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位相推定など物性物理・量子化学に応用</a:t>
              </a:r>
              <a:endParaRPr kumimoji="1" lang="ja-JP" altLang="en-US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3665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0A744-7E7A-2615-5FBC-DA5D31378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AFD8179-B94D-178D-6F50-877236B22A95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1. Trotter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分解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762DA0C9-F3E6-7253-4F11-20D409023B49}"/>
                  </a:ext>
                </a:extLst>
              </p:cNvPr>
              <p:cNvSpPr txBox="1"/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5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762DA0C9-F3E6-7253-4F11-20D409023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blipFill>
                <a:blip r:embed="rId3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ECA64D5-3F77-1D99-C760-7EA76D520FFF}"/>
              </a:ext>
            </a:extLst>
          </p:cNvPr>
          <p:cNvSpPr txBox="1"/>
          <p:nvPr/>
        </p:nvSpPr>
        <p:spPr>
          <a:xfrm>
            <a:off x="268890" y="1251337"/>
            <a:ext cx="3308919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▶︎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Trotter 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分解アルゴリズム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6FEA895-17F6-02FC-1EDA-D4F42F26DC74}"/>
              </a:ext>
            </a:extLst>
          </p:cNvPr>
          <p:cNvGrpSpPr/>
          <p:nvPr/>
        </p:nvGrpSpPr>
        <p:grpSpPr>
          <a:xfrm>
            <a:off x="1091914" y="3654547"/>
            <a:ext cx="9077637" cy="1996141"/>
            <a:chOff x="1091914" y="3101093"/>
            <a:chExt cx="9077637" cy="1996141"/>
          </a:xfrm>
        </p:grpSpPr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0FB09DE9-0DD5-D4C5-E4C1-9B07C12053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58180" y="3359813"/>
              <a:ext cx="25211" cy="1575744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5DC6CE88-F3B4-7422-1023-406FB06B126D}"/>
                </a:ext>
              </a:extLst>
            </p:cNvPr>
            <p:cNvSpPr/>
            <p:nvPr/>
          </p:nvSpPr>
          <p:spPr>
            <a:xfrm>
              <a:off x="3773840" y="3623849"/>
              <a:ext cx="4196035" cy="9659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BF7D0770-3695-A986-AF52-CB6DC6E388AD}"/>
                </a:ext>
              </a:extLst>
            </p:cNvPr>
            <p:cNvSpPr/>
            <p:nvPr/>
          </p:nvSpPr>
          <p:spPr>
            <a:xfrm>
              <a:off x="3895715" y="3196972"/>
              <a:ext cx="983040" cy="17679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B418DAF3-A3F7-FAAA-0E99-F4C8DBC3305B}"/>
                </a:ext>
              </a:extLst>
            </p:cNvPr>
            <p:cNvSpPr/>
            <p:nvPr/>
          </p:nvSpPr>
          <p:spPr>
            <a:xfrm>
              <a:off x="2476130" y="3101093"/>
              <a:ext cx="799203" cy="17679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DCA6F5D-C8A5-2EA2-F06C-BC1D1A524602}"/>
                </a:ext>
              </a:extLst>
            </p:cNvPr>
            <p:cNvSpPr txBox="1"/>
            <p:nvPr/>
          </p:nvSpPr>
          <p:spPr>
            <a:xfrm>
              <a:off x="1091914" y="3577869"/>
              <a:ext cx="19014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u="sng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Trotter formula</a:t>
              </a:r>
              <a:endParaRPr kumimoji="1" lang="ja-JP" altLang="en-US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sp>
          <p:nvSpPr>
            <p:cNvPr id="21" name="左中かっこ 20">
              <a:extLst>
                <a:ext uri="{FF2B5EF4-FFF2-40B4-BE49-F238E27FC236}">
                  <a16:creationId xmlns:a16="http://schemas.microsoft.com/office/drawing/2014/main" id="{B3E89F29-5282-51E8-AF4E-A0A0D2865C50}"/>
                </a:ext>
              </a:extLst>
            </p:cNvPr>
            <p:cNvSpPr/>
            <p:nvPr/>
          </p:nvSpPr>
          <p:spPr>
            <a:xfrm>
              <a:off x="2725914" y="3607152"/>
              <a:ext cx="157755" cy="937967"/>
            </a:xfrm>
            <a:prstGeom prst="leftBrace">
              <a:avLst>
                <a:gd name="adj1" fmla="val 8333"/>
                <a:gd name="adj2" fmla="val 22704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2" name="Picture 4" descr="\begin{align*}&#10;  T_1(t) = e^{-iH_2 t} e^{-iH_1t} = e^{-iHt} + \mathcal{O}(t^2)&#10;\end{align*}">
              <a:extLst>
                <a:ext uri="{FF2B5EF4-FFF2-40B4-BE49-F238E27FC236}">
                  <a16:creationId xmlns:a16="http://schemas.microsoft.com/office/drawing/2014/main" id="{D02EEDD1-D4E7-F216-937E-4EE3EA6C7E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52854" y="3686826"/>
              <a:ext cx="3761592" cy="2603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6" descr="\begin{align*}&#10;  T_2(t) = e^{-iH_1 t/2} e^{-iH_2 t} e^{-iH_1t/2} = e^{-iHt} + \mathcal{O}(t^3)&#10;\end{align*}">
              <a:extLst>
                <a:ext uri="{FF2B5EF4-FFF2-40B4-BE49-F238E27FC236}">
                  <a16:creationId xmlns:a16="http://schemas.microsoft.com/office/drawing/2014/main" id="{620B19E2-9E90-1800-1DD5-82C74D503A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52854" y="4197681"/>
              <a:ext cx="4817765" cy="2743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9F06E71D-C4DF-9BA0-49CB-0927833BB88E}"/>
                    </a:ext>
                  </a:extLst>
                </p:cNvPr>
                <p:cNvSpPr txBox="1"/>
                <p:nvPr/>
              </p:nvSpPr>
              <p:spPr>
                <a:xfrm>
                  <a:off x="1222184" y="3952783"/>
                  <a:ext cx="132395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572C95CC-35FC-AB3F-A001-16E73A717A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2184" y="3952783"/>
                  <a:ext cx="1323952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810" r="-952" b="-869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AC1EE2E5-D236-33E5-D966-2958AEDDBD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58180" y="4935557"/>
              <a:ext cx="236043" cy="0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62F8382-525B-7E29-AA86-6D11DA25C1AF}"/>
                    </a:ext>
                  </a:extLst>
                </p:cNvPr>
                <p:cNvSpPr txBox="1"/>
                <p:nvPr/>
              </p:nvSpPr>
              <p:spPr>
                <a:xfrm>
                  <a:off x="4594223" y="4758680"/>
                  <a:ext cx="55753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kumimoji="1" lang="en-US" altLang="ja-JP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&lt;</m:t>
                      </m:r>
                      <m:r>
                        <a:rPr kumimoji="1" lang="en-US" altLang="ja-JP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𝜀</m:t>
                      </m:r>
                    </m:oMath>
                  </a14:m>
                  <a:r>
                    <a:rPr kumimoji="1" lang="en-US" altLang="ja-JP" sz="1600" dirty="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(</a:t>
                  </a:r>
                  <a:r>
                    <a:rPr kumimoji="1" lang="ja-JP" altLang="en-US" sz="1600" dirty="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要求精度</a:t>
                  </a:r>
                  <a:r>
                    <a:rPr kumimoji="1" lang="en-US" altLang="ja-JP" sz="1600" dirty="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)</a:t>
                  </a:r>
                  <a:r>
                    <a:rPr kumimoji="1" lang="ja-JP" altLang="en-US" sz="160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となるように</a:t>
                  </a:r>
                  <a:r>
                    <a:rPr kumimoji="1" lang="en-US" altLang="ja-JP" sz="1600" dirty="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Trotter</a:t>
                  </a:r>
                  <a:r>
                    <a:rPr kumimoji="1" lang="ja-JP" altLang="en-US" sz="160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数</a:t>
                  </a:r>
                  <a:r>
                    <a:rPr kumimoji="1" lang="en-US" altLang="ja-JP" sz="1600" dirty="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𝑟</m:t>
                      </m:r>
                    </m:oMath>
                  </a14:m>
                  <a:r>
                    <a:rPr kumimoji="1" lang="en-US" altLang="ja-JP" sz="1600" dirty="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 sz="1600">
                      <a:solidFill>
                        <a:schemeClr val="accent6">
                          <a:lumMod val="75000"/>
                        </a:schemeClr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を決定</a:t>
                  </a: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C6D6F98-E8C0-72CF-DA04-D67761AF1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4223" y="4758680"/>
                  <a:ext cx="5575328" cy="338554"/>
                </a:xfrm>
                <a:prstGeom prst="rect">
                  <a:avLst/>
                </a:prstGeom>
                <a:blipFill>
                  <a:blip r:embed="rId7"/>
                  <a:stretch>
                    <a:fillRect t="-7143" b="-2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" name="Picture 2" descr="\begin{align*}&#10;  e^{-iHt} = \left\{ T_p \left( \frac{t}r\right)\right\}^r + \mathcal{O} \left( \frac{t^{p+1}}{r}\right)&#10;\end{align*}">
            <a:extLst>
              <a:ext uri="{FF2B5EF4-FFF2-40B4-BE49-F238E27FC236}">
                <a16:creationId xmlns:a16="http://schemas.microsoft.com/office/drawing/2014/main" id="{7942EBEB-344F-7876-B48E-5DA8B2E34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541" y="3198085"/>
            <a:ext cx="3408220" cy="57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\begin{align*}&#10;  r^p&#10;\end{align*}">
            <a:extLst>
              <a:ext uri="{FF2B5EF4-FFF2-40B4-BE49-F238E27FC236}">
                <a16:creationId xmlns:a16="http://schemas.microsoft.com/office/drawing/2014/main" id="{5CA962B9-0177-2124-347A-819F86252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8180" y="3558674"/>
            <a:ext cx="212152" cy="176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49C72B6C-D74E-35F5-6930-0811EC7CEB75}"/>
                  </a:ext>
                </a:extLst>
              </p:cNvPr>
              <p:cNvSpPr txBox="1"/>
              <p:nvPr/>
            </p:nvSpPr>
            <p:spPr>
              <a:xfrm>
                <a:off x="692062" y="2487170"/>
                <a:ext cx="4994647" cy="410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0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積公式に従って</a:t>
                </a:r>
                <a:r>
                  <a:rPr kumimoji="1" lang="en-US" altLang="ja-JP" sz="20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2000" i="1" smtClean="0"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𝑖𝐻𝑡</m:t>
                        </m:r>
                      </m:sup>
                    </m:sSup>
                  </m:oMath>
                </a14:m>
                <a:r>
                  <a:rPr kumimoji="1" lang="en-US" altLang="ja-JP" sz="20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:r>
                  <a:rPr kumimoji="1" lang="ja-JP" altLang="en-US" sz="20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を</a:t>
                </a:r>
                <a:r>
                  <a:rPr kumimoji="1" lang="en-US" altLang="ja-JP" sz="20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local gates </a:t>
                </a:r>
                <a:r>
                  <a:rPr kumimoji="1" lang="ja-JP" altLang="en-US" sz="20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に分解</a:t>
                </a:r>
              </a:p>
            </p:txBody>
          </p:sp>
        </mc:Choice>
        <mc:Fallback xmlns="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49C72B6C-D74E-35F5-6930-0811EC7CEB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62" y="2487170"/>
                <a:ext cx="4994647" cy="410112"/>
              </a:xfrm>
              <a:prstGeom prst="rect">
                <a:avLst/>
              </a:prstGeom>
              <a:blipFill>
                <a:blip r:embed="rId10"/>
                <a:stretch>
                  <a:fillRect l="-1269" t="-8824" b="-235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" name="図 29">
            <a:extLst>
              <a:ext uri="{FF2B5EF4-FFF2-40B4-BE49-F238E27FC236}">
                <a16:creationId xmlns:a16="http://schemas.microsoft.com/office/drawing/2014/main" id="{B9BE976F-F8EF-8A08-DB6C-3E2E78CDEE6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22219" y="2264990"/>
            <a:ext cx="2675037" cy="1423322"/>
          </a:xfrm>
          <a:prstGeom prst="rect">
            <a:avLst/>
          </a:prstGeom>
        </p:spPr>
      </p:pic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F095831-0AEF-A5C3-CD4C-BEBE97FC5293}"/>
              </a:ext>
            </a:extLst>
          </p:cNvPr>
          <p:cNvSpPr txBox="1"/>
          <p:nvPr/>
        </p:nvSpPr>
        <p:spPr>
          <a:xfrm>
            <a:off x="3676447" y="1330781"/>
            <a:ext cx="24046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S. Lloyd, Science 273, 1073 (1996)</a:t>
            </a:r>
            <a:endParaRPr lang="ja-JP" altLang="en-US" sz="120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AEE7A85-F439-27D6-CBEB-E9378D8ECBDB}"/>
              </a:ext>
            </a:extLst>
          </p:cNvPr>
          <p:cNvSpPr txBox="1"/>
          <p:nvPr/>
        </p:nvSpPr>
        <p:spPr>
          <a:xfrm>
            <a:off x="1479746" y="1810890"/>
            <a:ext cx="62289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最もスタンダードかつ歴史の長い量子アルゴリズム</a:t>
            </a: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C5435365-D2C6-EC33-DC91-40C458B6955F}"/>
              </a:ext>
            </a:extLst>
          </p:cNvPr>
          <p:cNvGrpSpPr/>
          <p:nvPr/>
        </p:nvGrpSpPr>
        <p:grpSpPr>
          <a:xfrm>
            <a:off x="177514" y="5676497"/>
            <a:ext cx="8719742" cy="1073219"/>
            <a:chOff x="177514" y="5676497"/>
            <a:chExt cx="8719742" cy="1073219"/>
          </a:xfrm>
        </p:grpSpPr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0D341E75-6C33-EAD9-94E4-02EFD360CD3B}"/>
                </a:ext>
              </a:extLst>
            </p:cNvPr>
            <p:cNvSpPr/>
            <p:nvPr/>
          </p:nvSpPr>
          <p:spPr>
            <a:xfrm>
              <a:off x="177514" y="5835316"/>
              <a:ext cx="8719742" cy="9144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6C924F5-F75C-C87C-8FD5-59B27242AFFB}"/>
                    </a:ext>
                  </a:extLst>
                </p:cNvPr>
                <p:cNvSpPr txBox="1"/>
                <p:nvPr/>
              </p:nvSpPr>
              <p:spPr>
                <a:xfrm>
                  <a:off x="268890" y="5676497"/>
                  <a:ext cx="427623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1600" b="1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アルゴリズムの複雑性</a:t>
                  </a:r>
                  <a:r>
                    <a:rPr kumimoji="1" lang="en-US" altLang="ja-JP" sz="1600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sz="1600" b="1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𝒓</m:t>
                      </m:r>
                    </m:oMath>
                  </a14:m>
                  <a:r>
                    <a:rPr kumimoji="1" lang="en-US" altLang="ja-JP" sz="1600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 sz="1600" b="1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を改善するには</a:t>
                  </a:r>
                  <a:r>
                    <a:rPr kumimoji="1" lang="en-US" altLang="ja-JP" sz="1600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…</a:t>
                  </a:r>
                  <a:endParaRPr kumimoji="1" lang="ja-JP" altLang="en-US" sz="1600" b="1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6C924F5-F75C-C87C-8FD5-59B27242AF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890" y="5676497"/>
                  <a:ext cx="4276231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888" t="-7143" b="-2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DD5DBAB0-3812-E449-452A-28F42771CAE5}"/>
                </a:ext>
              </a:extLst>
            </p:cNvPr>
            <p:cNvSpPr txBox="1"/>
            <p:nvPr/>
          </p:nvSpPr>
          <p:spPr>
            <a:xfrm>
              <a:off x="546696" y="6029284"/>
              <a:ext cx="1495959" cy="4101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Trotter </a:t>
              </a:r>
              <a:r>
                <a:rPr kumimoji="1" lang="ja-JP" altLang="en-US" sz="20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誤差</a:t>
              </a: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FB3902F9-E9D8-F998-8376-4ABA04137C31}"/>
                </a:ext>
              </a:extLst>
            </p:cNvPr>
            <p:cNvSpPr txBox="1"/>
            <p:nvPr/>
          </p:nvSpPr>
          <p:spPr>
            <a:xfrm>
              <a:off x="5595205" y="6039286"/>
              <a:ext cx="33020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に対する良い上限が必要！</a:t>
              </a:r>
            </a:p>
          </p:txBody>
        </p:sp>
        <p:pic>
          <p:nvPicPr>
            <p:cNvPr id="1026" name="Picture 2" descr="\begin{align*}&#10;  \| e^{-iH\tau} - T_p(\tau) \| \in \mathcal{O}(\tau^{p+1})&#10;\end{align*}">
              <a:extLst>
                <a:ext uri="{FF2B5EF4-FFF2-40B4-BE49-F238E27FC236}">
                  <a16:creationId xmlns:a16="http://schemas.microsoft.com/office/drawing/2014/main" id="{9A952A58-492E-A7BC-192B-B5DB00FAB1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22814" y="6067331"/>
              <a:ext cx="3302051" cy="3302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\begin{align*}&#10;  \tau = t/r&#10;\end{align*}">
              <a:extLst>
                <a:ext uri="{FF2B5EF4-FFF2-40B4-BE49-F238E27FC236}">
                  <a16:creationId xmlns:a16="http://schemas.microsoft.com/office/drawing/2014/main" id="{AD143510-AAA5-BA7B-D75F-99EE11A005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70619" y="6439396"/>
              <a:ext cx="887480" cy="2756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63478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67426-3E3B-A633-1C1C-8153455CC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C46552C-F06A-C7C9-D733-7310042C2BFF}"/>
              </a:ext>
            </a:extLst>
          </p:cNvPr>
          <p:cNvSpPr/>
          <p:nvPr/>
        </p:nvSpPr>
        <p:spPr>
          <a:xfrm>
            <a:off x="4342509" y="2404849"/>
            <a:ext cx="3068943" cy="2117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EBE576D-DC48-9C8C-5DFD-2FFBC46F6F29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2. Trotter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分解の誤差と計算コスト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16916173-44EC-FABB-0D9F-25DF5A46B147}"/>
                  </a:ext>
                </a:extLst>
              </p:cNvPr>
              <p:cNvSpPr txBox="1"/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6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16916173-44EC-FABB-0D9F-25DF5A46B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blipFill>
                <a:blip r:embed="rId3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B83EBEC-4635-4AF6-4713-E79BC9D0E2F8}"/>
              </a:ext>
            </a:extLst>
          </p:cNvPr>
          <p:cNvSpPr txBox="1"/>
          <p:nvPr/>
        </p:nvSpPr>
        <p:spPr>
          <a:xfrm>
            <a:off x="257698" y="1248262"/>
            <a:ext cx="5769528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▶︎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近年の重要な進展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: 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誤差の交換子スケーリング</a:t>
            </a:r>
          </a:p>
        </p:txBody>
      </p:sp>
      <p:pic>
        <p:nvPicPr>
          <p:cNvPr id="12" name="Picture 2" descr="\begin{align*}&#10;  \| e^{-iH\tau} -  T_p(\tau) \| = \max_{\ket{\psi} \in \mathcal{H}} \left( \| (e^{-iH\tau} -  T_p(\tau) ) \ket{\psi}\right)&#10;\end{align*}">
            <a:extLst>
              <a:ext uri="{FF2B5EF4-FFF2-40B4-BE49-F238E27FC236}">
                <a16:creationId xmlns:a16="http://schemas.microsoft.com/office/drawing/2014/main" id="{21A97034-BCDF-2EDD-3F10-4D3D16461F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100" b="7640"/>
          <a:stretch/>
        </p:blipFill>
        <p:spPr bwMode="auto">
          <a:xfrm>
            <a:off x="1211838" y="2005846"/>
            <a:ext cx="1730081" cy="390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CB2C678-8A02-F937-5CD7-27CE4F2C0B68}"/>
              </a:ext>
            </a:extLst>
          </p:cNvPr>
          <p:cNvSpPr txBox="1"/>
          <p:nvPr/>
        </p:nvSpPr>
        <p:spPr>
          <a:xfrm>
            <a:off x="6143688" y="1330240"/>
            <a:ext cx="31601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105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A. M. Childs, et al., Phys. Rev. X </a:t>
            </a:r>
            <a:r>
              <a:rPr lang="en" altLang="ja-JP" sz="1050" b="1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" altLang="ja-JP" sz="105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011020 (2021)</a:t>
            </a:r>
            <a:endParaRPr lang="ja-JP" altLang="en-US" sz="105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2" descr="\begin{align*}&#10;  \leq \text{Const.} \times \sum_{\gamma_0,\cdots,\gamma_p} \| [H_{\gamma_p},\cdots,[H_{\gamma_1},H_{\gamma_0}]] \| \tau^{p+1}&#10;\end{align*}">
            <a:extLst>
              <a:ext uri="{FF2B5EF4-FFF2-40B4-BE49-F238E27FC236}">
                <a16:creationId xmlns:a16="http://schemas.microsoft.com/office/drawing/2014/main" id="{D53C9366-D8FB-398C-B4B3-CE61D2242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2462" y="1999108"/>
            <a:ext cx="4707576" cy="536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4AA9AA2-3E2C-F01A-FF54-5E3BBFB5E3F8}"/>
              </a:ext>
            </a:extLst>
          </p:cNvPr>
          <p:cNvSpPr txBox="1"/>
          <p:nvPr/>
        </p:nvSpPr>
        <p:spPr>
          <a:xfrm>
            <a:off x="620424" y="2774471"/>
            <a:ext cx="6420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✔️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Trotter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誤差の係数が一般に多重交換子であることを証明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A16FE80-EC66-F2E7-DDA3-A40FCA53C018}"/>
              </a:ext>
            </a:extLst>
          </p:cNvPr>
          <p:cNvSpPr txBox="1"/>
          <p:nvPr/>
        </p:nvSpPr>
        <p:spPr>
          <a:xfrm>
            <a:off x="620424" y="3227989"/>
            <a:ext cx="6178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✔️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局所相互作用では多数の交換子がゼロになり、</a:t>
            </a:r>
            <a:endParaRPr kumimoji="1" lang="en-US" altLang="ja-JP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                      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誤差が小さくなる→ 計算コストも改善される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DB9A33F9-178D-D5E9-88A0-9D8EAD2D7898}"/>
              </a:ext>
            </a:extLst>
          </p:cNvPr>
          <p:cNvGrpSpPr/>
          <p:nvPr/>
        </p:nvGrpSpPr>
        <p:grpSpPr>
          <a:xfrm>
            <a:off x="346797" y="5510459"/>
            <a:ext cx="8471263" cy="1192989"/>
            <a:chOff x="346797" y="5510459"/>
            <a:chExt cx="8471263" cy="119298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7F7E8F39-4B21-82F3-D0DA-7E4166C8B3DD}"/>
                    </a:ext>
                  </a:extLst>
                </p:cNvPr>
                <p:cNvSpPr txBox="1"/>
                <p:nvPr/>
              </p:nvSpPr>
              <p:spPr>
                <a:xfrm>
                  <a:off x="346797" y="5510459"/>
                  <a:ext cx="235576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b="1" u="sng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Trotter</a:t>
                  </a:r>
                  <a:r>
                    <a:rPr kumimoji="1" lang="ja-JP" altLang="en-US" b="1" u="sng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数</a:t>
                  </a:r>
                  <a:r>
                    <a:rPr kumimoji="1" lang="en-US" altLang="ja-JP" b="1" u="sng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b="1" i="1" u="sng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𝒓</m:t>
                      </m:r>
                    </m:oMath>
                  </a14:m>
                  <a:r>
                    <a:rPr kumimoji="1" lang="en-US" altLang="ja-JP" b="1" u="sng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(</a:t>
                  </a:r>
                  <a:r>
                    <a:rPr kumimoji="1" lang="ja-JP" altLang="en-US" b="1" u="sng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複雑性</a:t>
                  </a:r>
                  <a:r>
                    <a:rPr kumimoji="1" lang="en-US" altLang="ja-JP" b="1" u="sng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)</a:t>
                  </a:r>
                  <a:endParaRPr kumimoji="1" lang="ja-JP" altLang="en-US" b="1" u="sng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7F7E8F39-4B21-82F3-D0DA-7E4166C8B3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797" y="5510459"/>
                  <a:ext cx="2355763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9677" b="-2258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" descr="\begin{align*}&#10;  gt \left( \frac{Ngt}{\varepsilon}\right)^{\frac1p}&#10;\end{align*}">
              <a:extLst>
                <a:ext uri="{FF2B5EF4-FFF2-40B4-BE49-F238E27FC236}">
                  <a16:creationId xmlns:a16="http://schemas.microsoft.com/office/drawing/2014/main" id="{7D0B57FC-ACA8-42A6-2FCA-32B8C68B84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1195" y="5980474"/>
              <a:ext cx="1325452" cy="7229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AACE789C-1E36-E638-0B7F-D437CD13B5DC}"/>
                </a:ext>
              </a:extLst>
            </p:cNvPr>
            <p:cNvSpPr/>
            <p:nvPr/>
          </p:nvSpPr>
          <p:spPr>
            <a:xfrm>
              <a:off x="3540369" y="5770268"/>
              <a:ext cx="5277691" cy="93318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BE461BB-4B44-9FF7-AF0E-82BD43F23D0D}"/>
                </a:ext>
              </a:extLst>
            </p:cNvPr>
            <p:cNvSpPr txBox="1"/>
            <p:nvPr/>
          </p:nvSpPr>
          <p:spPr>
            <a:xfrm>
              <a:off x="3540369" y="5889641"/>
              <a:ext cx="4236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✔️</a:t>
              </a:r>
              <a:r>
                <a:rPr kumimoji="1" lang="en-US" altLang="ja-JP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 </a:t>
              </a:r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従来の見積もり</a:t>
              </a:r>
              <a:r>
                <a:rPr kumimoji="1" lang="en-US" altLang="ja-JP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                     </a:t>
              </a:r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より改善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AF5369CF-8750-B40F-8673-435442BBB08B}"/>
                    </a:ext>
                  </a:extLst>
                </p:cNvPr>
                <p:cNvSpPr txBox="1"/>
                <p:nvPr/>
              </p:nvSpPr>
              <p:spPr>
                <a:xfrm>
                  <a:off x="3540369" y="6334116"/>
                  <a:ext cx="52141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✔️</a:t>
                  </a:r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Post-Trotter 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法</a:t>
                  </a:r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(LCU,QSVT) 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より</a:t>
                  </a:r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𝑁</m:t>
                      </m:r>
                    </m:oMath>
                  </a14:m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依存性良い</a:t>
                  </a:r>
                </a:p>
              </p:txBody>
            </p:sp>
          </mc:Choice>
          <mc:Fallback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AF5369CF-8750-B40F-8673-435442BBB0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0369" y="6334116"/>
                  <a:ext cx="5214150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971" t="-13333" b="-2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050" name="Picture 2" descr="\begin{align*}&#10;  \propto N^{1+\frac1p}&#10;\end{align*}">
              <a:extLst>
                <a:ext uri="{FF2B5EF4-FFF2-40B4-BE49-F238E27FC236}">
                  <a16:creationId xmlns:a16="http://schemas.microsoft.com/office/drawing/2014/main" id="{325B037B-C44D-0D54-2FBA-D8576955DE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5028" y="5868769"/>
              <a:ext cx="970204" cy="2985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1705CB6B-BCB3-FE71-55B4-842A5DBB7166}"/>
              </a:ext>
            </a:extLst>
          </p:cNvPr>
          <p:cNvGrpSpPr/>
          <p:nvPr/>
        </p:nvGrpSpPr>
        <p:grpSpPr>
          <a:xfrm>
            <a:off x="393062" y="4116013"/>
            <a:ext cx="8504194" cy="1394446"/>
            <a:chOff x="393062" y="4116013"/>
            <a:chExt cx="8504194" cy="1394446"/>
          </a:xfrm>
        </p:grpSpPr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3A911AFB-F016-E700-03E7-FE2DAFD5DD9D}"/>
                </a:ext>
              </a:extLst>
            </p:cNvPr>
            <p:cNvSpPr txBox="1"/>
            <p:nvPr/>
          </p:nvSpPr>
          <p:spPr>
            <a:xfrm>
              <a:off x="393062" y="4116013"/>
              <a:ext cx="18775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u="sng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Trotter</a:t>
              </a:r>
              <a:r>
                <a:rPr kumimoji="1" lang="ja-JP" altLang="en-US" b="1" u="sng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誤差上限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8CA5A9DB-EA5D-D8EE-9CB3-D53ABAA781BB}"/>
                    </a:ext>
                  </a:extLst>
                </p:cNvPr>
                <p:cNvSpPr txBox="1"/>
                <p:nvPr/>
              </p:nvSpPr>
              <p:spPr>
                <a:xfrm>
                  <a:off x="4955166" y="5202682"/>
                  <a:ext cx="394209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kumimoji="1" lang="en-US" altLang="ja-JP" sz="1400" b="0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𝑔</m:t>
                      </m:r>
                    </m:oMath>
                  </a14:m>
                  <a:r>
                    <a:rPr kumimoji="1" lang="en-US" altLang="ja-JP" sz="1400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: 1 </a:t>
                  </a:r>
                  <a:r>
                    <a:rPr kumimoji="1" lang="ja-JP" altLang="en-US" sz="140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サイトあたりのエネルギー</a:t>
                  </a:r>
                  <a:r>
                    <a:rPr kumimoji="1" lang="en-US" altLang="ja-JP" sz="1400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(</a:t>
                  </a:r>
                  <a:r>
                    <a:rPr kumimoji="1" lang="ja-JP" altLang="en-US" sz="140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後ほど定義</a:t>
                  </a:r>
                  <a:r>
                    <a:rPr kumimoji="1" lang="en-US" altLang="ja-JP" sz="1400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)</a:t>
                  </a:r>
                  <a:endParaRPr kumimoji="1" lang="ja-JP" altLang="en-US" sz="1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8CA5A9DB-EA5D-D8EE-9CB3-D53ABAA781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5166" y="5202682"/>
                  <a:ext cx="3942090" cy="307777"/>
                </a:xfrm>
                <a:prstGeom prst="rect">
                  <a:avLst/>
                </a:prstGeom>
                <a:blipFill>
                  <a:blip r:embed="rId10"/>
                  <a:stretch>
                    <a:fillRect t="-4000" b="-2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1" name="Picture 2" descr="\begin{align*}&#10;  \| e^{-iH\tau} -  T_p(\tau) \| = \max_{\ket{\psi} \in \mathcal{H}} \left( \| (e^{-iH\tau} -  T_p(\tau) ) \ket{\psi}\right)&#10;\end{align*}">
              <a:extLst>
                <a:ext uri="{FF2B5EF4-FFF2-40B4-BE49-F238E27FC236}">
                  <a16:creationId xmlns:a16="http://schemas.microsoft.com/office/drawing/2014/main" id="{BB763510-831C-2EB6-9421-6FF072E57F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100" b="7640"/>
            <a:stretch/>
          </p:blipFill>
          <p:spPr bwMode="auto">
            <a:xfrm>
              <a:off x="1211838" y="4697427"/>
              <a:ext cx="1730081" cy="390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2" descr="\begin{align*}&#10;  \leq \text{Const.} \times \sum_{\gamma_0,\cdots,\gamma_p} \| [H_{\gamma_p},\cdots,[H_{\gamma_1},H_{\gamma_0}]] \| \tau^{p+1}&#10;\end{align*}">
              <a:extLst>
                <a:ext uri="{FF2B5EF4-FFF2-40B4-BE49-F238E27FC236}">
                  <a16:creationId xmlns:a16="http://schemas.microsoft.com/office/drawing/2014/main" id="{ACD0FD43-66DF-1C42-DCBE-5C293EFE99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6315" b="-34644"/>
            <a:stretch>
              <a:fillRect/>
            </a:stretch>
          </p:blipFill>
          <p:spPr bwMode="auto">
            <a:xfrm>
              <a:off x="3142463" y="4690689"/>
              <a:ext cx="1114984" cy="7229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\begin{align*}&#10;  (g\tau)^p Ng \tau&#10;\end{align*}">
              <a:extLst>
                <a:ext uri="{FF2B5EF4-FFF2-40B4-BE49-F238E27FC236}">
                  <a16:creationId xmlns:a16="http://schemas.microsoft.com/office/drawing/2014/main" id="{AF0BB860-9C2C-B39B-A829-874731DB4E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7991" y="4706077"/>
              <a:ext cx="1169086" cy="2786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317DD7E1-BFA4-F15E-D32F-7237E60E880A}"/>
              </a:ext>
            </a:extLst>
          </p:cNvPr>
          <p:cNvGrpSpPr/>
          <p:nvPr/>
        </p:nvGrpSpPr>
        <p:grpSpPr>
          <a:xfrm>
            <a:off x="7558145" y="2449213"/>
            <a:ext cx="1365795" cy="1377637"/>
            <a:chOff x="7452722" y="4938760"/>
            <a:chExt cx="1365795" cy="1377637"/>
          </a:xfrm>
        </p:grpSpPr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C740CF0F-58A4-0F03-6DD5-99AF9E091B76}"/>
                </a:ext>
              </a:extLst>
            </p:cNvPr>
            <p:cNvCxnSpPr>
              <a:cxnSpLocks/>
            </p:cNvCxnSpPr>
            <p:nvPr/>
          </p:nvCxnSpPr>
          <p:spPr>
            <a:xfrm>
              <a:off x="7452722" y="560133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a16:creationId xmlns:a16="http://schemas.microsoft.com/office/drawing/2014/main" id="{B434F3E2-AA01-02B3-4EC0-D3F9A9D5FB47}"/>
                </a:ext>
              </a:extLst>
            </p:cNvPr>
            <p:cNvCxnSpPr>
              <a:cxnSpLocks/>
            </p:cNvCxnSpPr>
            <p:nvPr/>
          </p:nvCxnSpPr>
          <p:spPr>
            <a:xfrm>
              <a:off x="7452722" y="575373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B23E7BDE-E1C4-B791-B728-36487F1E17F3}"/>
                </a:ext>
              </a:extLst>
            </p:cNvPr>
            <p:cNvCxnSpPr>
              <a:cxnSpLocks/>
            </p:cNvCxnSpPr>
            <p:nvPr/>
          </p:nvCxnSpPr>
          <p:spPr>
            <a:xfrm>
              <a:off x="7452722" y="590613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BC186166-D618-D002-A0C0-79A670B1EDC1}"/>
                </a:ext>
              </a:extLst>
            </p:cNvPr>
            <p:cNvCxnSpPr>
              <a:cxnSpLocks/>
            </p:cNvCxnSpPr>
            <p:nvPr/>
          </p:nvCxnSpPr>
          <p:spPr>
            <a:xfrm>
              <a:off x="7452722" y="605853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コネクタ 42">
              <a:extLst>
                <a:ext uri="{FF2B5EF4-FFF2-40B4-BE49-F238E27FC236}">
                  <a16:creationId xmlns:a16="http://schemas.microsoft.com/office/drawing/2014/main" id="{BF289E29-CB9B-01B6-23D3-E41A5E10C37B}"/>
                </a:ext>
              </a:extLst>
            </p:cNvPr>
            <p:cNvCxnSpPr>
              <a:cxnSpLocks/>
            </p:cNvCxnSpPr>
            <p:nvPr/>
          </p:nvCxnSpPr>
          <p:spPr>
            <a:xfrm>
              <a:off x="7452722" y="621093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5ECCF1D-94ED-E89E-C102-91FE48DC2E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450908" y="562165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F44FA41E-22D5-B399-C11C-F6041081B10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298508" y="562165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2D253570-D75E-CFE9-DAEA-868232E0DF0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146108" y="562165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B63184BA-D8EA-D7D2-F86D-8B6260BE8FC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93708" y="562165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AEB1282B-7AAB-F3D9-006A-F436A3E50F8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841308" y="562165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21EF411-52D9-70CA-0C99-EC7D08BB06E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064499" y="5633500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a16:creationId xmlns:a16="http://schemas.microsoft.com/office/drawing/2014/main" id="{7EB518DF-5D01-3EC1-13DF-55E16266237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912099" y="5633500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D60F518E-491C-7105-6AA7-0F49FC1C526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759699" y="5633500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a16:creationId xmlns:a16="http://schemas.microsoft.com/office/drawing/2014/main" id="{179AB288-2B9C-A16F-C24C-3D2935ED69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07299" y="5633500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E5D289C7-0C75-7C32-BADF-2C37203FE229}"/>
                </a:ext>
              </a:extLst>
            </p:cNvPr>
            <p:cNvCxnSpPr>
              <a:cxnSpLocks/>
            </p:cNvCxnSpPr>
            <p:nvPr/>
          </p:nvCxnSpPr>
          <p:spPr>
            <a:xfrm>
              <a:off x="7452722" y="515091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8272034B-045A-96D8-A75A-D1F7FBDFF8FF}"/>
                </a:ext>
              </a:extLst>
            </p:cNvPr>
            <p:cNvCxnSpPr>
              <a:cxnSpLocks/>
            </p:cNvCxnSpPr>
            <p:nvPr/>
          </p:nvCxnSpPr>
          <p:spPr>
            <a:xfrm>
              <a:off x="7452722" y="530331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a16:creationId xmlns:a16="http://schemas.microsoft.com/office/drawing/2014/main" id="{81F397AF-A935-9ABB-7BAB-560D4FF406F7}"/>
                </a:ext>
              </a:extLst>
            </p:cNvPr>
            <p:cNvCxnSpPr>
              <a:cxnSpLocks/>
            </p:cNvCxnSpPr>
            <p:nvPr/>
          </p:nvCxnSpPr>
          <p:spPr>
            <a:xfrm>
              <a:off x="7452722" y="5455718"/>
              <a:ext cx="1365795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角丸四角形 55">
              <a:extLst>
                <a:ext uri="{FF2B5EF4-FFF2-40B4-BE49-F238E27FC236}">
                  <a16:creationId xmlns:a16="http://schemas.microsoft.com/office/drawing/2014/main" id="{361638D1-7933-6E47-4A0B-C5EFEDF65395}"/>
                </a:ext>
              </a:extLst>
            </p:cNvPr>
            <p:cNvSpPr/>
            <p:nvPr/>
          </p:nvSpPr>
          <p:spPr>
            <a:xfrm>
              <a:off x="7606614" y="5387638"/>
              <a:ext cx="299558" cy="577251"/>
            </a:xfrm>
            <a:prstGeom prst="roundRect">
              <a:avLst/>
            </a:prstGeom>
            <a:solidFill>
              <a:schemeClr val="accent6">
                <a:lumMod val="75000"/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角丸四角形 56">
              <a:extLst>
                <a:ext uri="{FF2B5EF4-FFF2-40B4-BE49-F238E27FC236}">
                  <a16:creationId xmlns:a16="http://schemas.microsoft.com/office/drawing/2014/main" id="{DB58A2AA-B199-E2A3-79DA-A67A8B5D5D53}"/>
                </a:ext>
              </a:extLst>
            </p:cNvPr>
            <p:cNvSpPr/>
            <p:nvPr/>
          </p:nvSpPr>
          <p:spPr>
            <a:xfrm rot="5400000">
              <a:off x="8380112" y="5095546"/>
              <a:ext cx="299558" cy="577251"/>
            </a:xfrm>
            <a:prstGeom prst="roundRect">
              <a:avLst/>
            </a:prstGeom>
            <a:solidFill>
              <a:schemeClr val="accent5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角丸四角形 57">
              <a:extLst>
                <a:ext uri="{FF2B5EF4-FFF2-40B4-BE49-F238E27FC236}">
                  <a16:creationId xmlns:a16="http://schemas.microsoft.com/office/drawing/2014/main" id="{6BF7A89A-0F9E-B3E3-274C-7371A455F652}"/>
                </a:ext>
              </a:extLst>
            </p:cNvPr>
            <p:cNvSpPr/>
            <p:nvPr/>
          </p:nvSpPr>
          <p:spPr>
            <a:xfrm>
              <a:off x="8203114" y="5840587"/>
              <a:ext cx="172401" cy="413040"/>
            </a:xfrm>
            <a:prstGeom prst="roundRect">
              <a:avLst/>
            </a:prstGeom>
            <a:solidFill>
              <a:schemeClr val="accent2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44909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2BCB8-AA0C-4694-B45B-E026FB4A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39B1527-4E6F-270A-9590-06FE7EA21FEF}"/>
              </a:ext>
            </a:extLst>
          </p:cNvPr>
          <p:cNvSpPr/>
          <p:nvPr/>
        </p:nvSpPr>
        <p:spPr>
          <a:xfrm>
            <a:off x="0" y="3459103"/>
            <a:ext cx="9144000" cy="21579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9868F11-EAEE-C9FF-BE98-330423844B1B}"/>
              </a:ext>
            </a:extLst>
          </p:cNvPr>
          <p:cNvSpPr txBox="1"/>
          <p:nvPr/>
        </p:nvSpPr>
        <p:spPr>
          <a:xfrm>
            <a:off x="3569962" y="403085"/>
            <a:ext cx="200407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4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Outline</a:t>
            </a:r>
            <a:endParaRPr kumimoji="1" lang="ja-JP" altLang="en-US" sz="4400" b="1" u="sng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6ABD38-FDD1-5AB7-E76E-C30BC4E1D4DA}"/>
              </a:ext>
            </a:extLst>
          </p:cNvPr>
          <p:cNvSpPr txBox="1"/>
          <p:nvPr/>
        </p:nvSpPr>
        <p:spPr>
          <a:xfrm>
            <a:off x="605738" y="1510421"/>
            <a:ext cx="1202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導入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A744AC50-A239-A2BF-DF38-EB8BBDB1061A}"/>
                  </a:ext>
                </a:extLst>
              </p:cNvPr>
              <p:cNvSpPr txBox="1"/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7</m:t>
                      </m:r>
                    </m:oMath>
                  </m:oMathPara>
                </a14:m>
                <a:endParaRPr kumimoji="1" lang="ja-JP" alt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A744AC50-A239-A2BF-DF38-EB8BBDB10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blipFill>
                <a:blip r:embed="rId2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D677407-5541-9053-C525-D7F08F3270F4}"/>
              </a:ext>
            </a:extLst>
          </p:cNvPr>
          <p:cNvSpPr txBox="1"/>
          <p:nvPr/>
        </p:nvSpPr>
        <p:spPr>
          <a:xfrm>
            <a:off x="605738" y="3486490"/>
            <a:ext cx="16818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本結果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82B48AA-53A7-E6C6-A79F-9D792C8020A1}"/>
              </a:ext>
            </a:extLst>
          </p:cNvPr>
          <p:cNvSpPr txBox="1"/>
          <p:nvPr/>
        </p:nvSpPr>
        <p:spPr>
          <a:xfrm>
            <a:off x="605738" y="5950950"/>
            <a:ext cx="28793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u="sng" dirty="0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III. </a:t>
            </a:r>
            <a:r>
              <a:rPr kumimoji="1" lang="ja-JP" altLang="en-US" sz="2800" u="sng">
                <a:solidFill>
                  <a:srgbClr val="0070C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まとめと展望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03D2F1B-11F9-7F68-4A63-7AECA4E1535E}"/>
              </a:ext>
            </a:extLst>
          </p:cNvPr>
          <p:cNvSpPr txBox="1"/>
          <p:nvPr/>
        </p:nvSpPr>
        <p:spPr>
          <a:xfrm>
            <a:off x="997782" y="2198538"/>
            <a:ext cx="47724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I-1. Hamiltonian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シミュレーション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CF9EBA2-504A-B767-3B6F-E1E81AB4264A}"/>
              </a:ext>
            </a:extLst>
          </p:cNvPr>
          <p:cNvSpPr txBox="1"/>
          <p:nvPr/>
        </p:nvSpPr>
        <p:spPr>
          <a:xfrm>
            <a:off x="997782" y="2828820"/>
            <a:ext cx="2226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I-2. Trotter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分解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30F37E-4164-3FDA-6E77-3B88A28EC1D8}"/>
              </a:ext>
            </a:extLst>
          </p:cNvPr>
          <p:cNvSpPr txBox="1"/>
          <p:nvPr/>
        </p:nvSpPr>
        <p:spPr>
          <a:xfrm>
            <a:off x="1193018" y="4463273"/>
            <a:ext cx="6834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“Trotter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分解の低エネルギー状態に対する効率性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”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63EF49-430F-221E-0A4C-0F6CE1503B19}"/>
              </a:ext>
            </a:extLst>
          </p:cNvPr>
          <p:cNvSpPr txBox="1"/>
          <p:nvPr/>
        </p:nvSpPr>
        <p:spPr>
          <a:xfrm>
            <a:off x="3224289" y="5009169"/>
            <a:ext cx="5681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KM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and T. Kuwahara, Phys. Rev. Lett. 135, 130602 (2025)</a:t>
            </a:r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03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1886-86F4-D537-53D5-6C0D4CF9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4C2695B-6178-3CCB-C9AF-21EF471B73F1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1. Trotter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分解の問題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C25636AE-1DEC-792F-B29D-AAD9F5CEE214}"/>
                  </a:ext>
                </a:extLst>
              </p:cNvPr>
              <p:cNvSpPr txBox="1"/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8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C25636AE-1DEC-792F-B29D-AAD9F5CEE2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56" y="50605"/>
                <a:ext cx="185948" cy="276999"/>
              </a:xfrm>
              <a:prstGeom prst="rect">
                <a:avLst/>
              </a:prstGeom>
              <a:blipFill>
                <a:blip r:embed="rId3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5A4702D-85B3-C0C8-99B1-29891FDD2EE7}"/>
              </a:ext>
            </a:extLst>
          </p:cNvPr>
          <p:cNvSpPr/>
          <p:nvPr/>
        </p:nvSpPr>
        <p:spPr>
          <a:xfrm>
            <a:off x="227164" y="1223219"/>
            <a:ext cx="8670091" cy="168472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4040A35-A557-8DD1-5F04-9849CBBA0A84}"/>
              </a:ext>
            </a:extLst>
          </p:cNvPr>
          <p:cNvSpPr txBox="1"/>
          <p:nvPr/>
        </p:nvSpPr>
        <p:spPr>
          <a:xfrm>
            <a:off x="353568" y="1234396"/>
            <a:ext cx="1327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[</a:t>
            </a:r>
            <a:r>
              <a:rPr kumimoji="1" lang="ja-JP" altLang="en-US" sz="2000" b="1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問題</a:t>
            </a:r>
            <a:r>
              <a:rPr kumimoji="1" lang="en-US" altLang="ja-JP" sz="20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]</a:t>
            </a:r>
            <a:endParaRPr kumimoji="1" lang="ja-JP" altLang="en-US" sz="2000" b="1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A5D50BF-666B-C459-038C-232D6B5417EA}"/>
              </a:ext>
            </a:extLst>
          </p:cNvPr>
          <p:cNvSpPr txBox="1"/>
          <p:nvPr/>
        </p:nvSpPr>
        <p:spPr>
          <a:xfrm>
            <a:off x="1237839" y="1305602"/>
            <a:ext cx="6637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u="sng">
                <a:latin typeface="UD Digi Kyokasho NK-R" panose="02020400000000000000" pitchFamily="18" charset="-128"/>
                <a:ea typeface="UD Digi Kyokasho NK-R" panose="02020400000000000000" pitchFamily="18" charset="-128"/>
              </a:rPr>
              <a:t>誤差・コストが任意初期状態に対する</a:t>
            </a:r>
            <a:r>
              <a:rPr lang="en-US" altLang="ja-JP" u="sng" dirty="0">
                <a:latin typeface="UD Digi Kyokasho NK-R" panose="02020400000000000000" pitchFamily="18" charset="-128"/>
                <a:ea typeface="UD Digi Kyokasho NK-R" panose="02020400000000000000" pitchFamily="18" charset="-128"/>
              </a:rPr>
              <a:t> </a:t>
            </a:r>
            <a:r>
              <a:rPr lang="en-US" altLang="ja-JP" u="sng" dirty="0">
                <a:latin typeface="Times New Roman" panose="02020603050405020304" pitchFamily="18" charset="0"/>
                <a:ea typeface="UD Digi Kyokasho NK-R" panose="02020400000000000000" pitchFamily="18" charset="-128"/>
                <a:cs typeface="Times New Roman" panose="02020603050405020304" pitchFamily="18" charset="0"/>
              </a:rPr>
              <a:t>worst-case error </a:t>
            </a:r>
            <a:r>
              <a:rPr lang="ja-JP" altLang="en-US" u="sng">
                <a:latin typeface="UD Digi Kyokasho NK-R" panose="02020400000000000000" pitchFamily="18" charset="-128"/>
                <a:ea typeface="UD Digi Kyokasho NK-R" panose="02020400000000000000" pitchFamily="18" charset="-128"/>
              </a:rPr>
              <a:t>で決まる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A8AE3C5-0B3B-5560-DEDF-926968EBEADF}"/>
              </a:ext>
            </a:extLst>
          </p:cNvPr>
          <p:cNvSpPr txBox="1"/>
          <p:nvPr/>
        </p:nvSpPr>
        <p:spPr>
          <a:xfrm>
            <a:off x="651332" y="2201509"/>
            <a:ext cx="78108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→</a:t>
            </a:r>
            <a:r>
              <a:rPr lang="en-US" altLang="ja-JP" dirty="0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 </a:t>
            </a:r>
            <a:r>
              <a:rPr lang="ja-JP" altLang="en-US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往々にして過大評価。</a:t>
            </a:r>
            <a:endParaRPr lang="en-US" altLang="ja-JP" dirty="0">
              <a:solidFill>
                <a:schemeClr val="accent2"/>
              </a:solidFill>
              <a:latin typeface="UD Digi Kyokasho NK-R" panose="02020400000000000000" pitchFamily="18" charset="-128"/>
              <a:ea typeface="UD Digi Kyokasho NK-R" panose="02020400000000000000" pitchFamily="18" charset="-128"/>
              <a:cs typeface="Times New Roman" panose="02020603050405020304" pitchFamily="18" charset="0"/>
            </a:endParaRPr>
          </a:p>
          <a:p>
            <a:r>
              <a:rPr lang="en-US" altLang="ja-JP" dirty="0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     </a:t>
            </a:r>
            <a:r>
              <a:rPr lang="ja-JP" altLang="en-US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特別な</a:t>
            </a:r>
            <a:r>
              <a:rPr lang="en-US" altLang="ja-JP" dirty="0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(</a:t>
            </a:r>
            <a:r>
              <a:rPr lang="ja-JP" altLang="en-US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とはいえ物理的に意味のある</a:t>
            </a:r>
            <a:r>
              <a:rPr lang="en-US" altLang="ja-JP" dirty="0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)</a:t>
            </a:r>
            <a:r>
              <a:rPr lang="ja-JP" altLang="en-US">
                <a:solidFill>
                  <a:schemeClr val="accent2"/>
                </a:solidFill>
                <a:latin typeface="UD Digi Kyokasho NK-R" panose="02020400000000000000" pitchFamily="18" charset="-128"/>
                <a:ea typeface="UD Digi Kyokasho NK-R" panose="02020400000000000000" pitchFamily="18" charset="-128"/>
                <a:cs typeface="Times New Roman" panose="02020603050405020304" pitchFamily="18" charset="0"/>
              </a:rPr>
              <a:t>初期状態に対して改善できるか？</a:t>
            </a: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A68E0EA5-5205-4C08-0BED-E8DBB6F27D92}"/>
              </a:ext>
            </a:extLst>
          </p:cNvPr>
          <p:cNvGrpSpPr/>
          <p:nvPr/>
        </p:nvGrpSpPr>
        <p:grpSpPr>
          <a:xfrm>
            <a:off x="2041265" y="1745608"/>
            <a:ext cx="5180732" cy="455330"/>
            <a:chOff x="2041265" y="1745608"/>
            <a:chExt cx="5180732" cy="455330"/>
          </a:xfrm>
        </p:grpSpPr>
        <p:pic>
          <p:nvPicPr>
            <p:cNvPr id="20" name="Picture 2" descr="\begin{align*}&#10;  \max_{\ket{\psi}} \left( \| (e^{-iHt}-T_p(t)) \ket{\psi} \| \right)&#10;\end{align*}">
              <a:extLst>
                <a:ext uri="{FF2B5EF4-FFF2-40B4-BE49-F238E27FC236}">
                  <a16:creationId xmlns:a16="http://schemas.microsoft.com/office/drawing/2014/main" id="{4DDDA97E-7FDC-5B15-3EAB-C723425CBE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51958" y="1769040"/>
              <a:ext cx="2970039" cy="4318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0" name="Picture 2" descr="\begin{align*}&#10;  \| e^{-iHt} - T_p(t) \| = &#10;\end{align*}">
              <a:extLst>
                <a:ext uri="{FF2B5EF4-FFF2-40B4-BE49-F238E27FC236}">
                  <a16:creationId xmlns:a16="http://schemas.microsoft.com/office/drawing/2014/main" id="{62D8F38F-BE2B-C290-9194-B4B8C82DDF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1265" y="1745608"/>
              <a:ext cx="1984396" cy="302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8C88F03-6EF9-06BC-94CE-50ADFA7BE71E}"/>
              </a:ext>
            </a:extLst>
          </p:cNvPr>
          <p:cNvGrpSpPr/>
          <p:nvPr/>
        </p:nvGrpSpPr>
        <p:grpSpPr>
          <a:xfrm>
            <a:off x="227164" y="3094551"/>
            <a:ext cx="7858431" cy="1817993"/>
            <a:chOff x="227164" y="3094551"/>
            <a:chExt cx="7858431" cy="1817993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663B2370-F435-17D5-D4F5-0EB649DD9140}"/>
                </a:ext>
              </a:extLst>
            </p:cNvPr>
            <p:cNvSpPr/>
            <p:nvPr/>
          </p:nvSpPr>
          <p:spPr>
            <a:xfrm>
              <a:off x="2547297" y="4396529"/>
              <a:ext cx="793777" cy="17388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9752EE0-59E5-0401-802F-333530FCAB1A}"/>
                </a:ext>
              </a:extLst>
            </p:cNvPr>
            <p:cNvSpPr txBox="1"/>
            <p:nvPr/>
          </p:nvSpPr>
          <p:spPr>
            <a:xfrm>
              <a:off x="227164" y="3094551"/>
              <a:ext cx="764851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ja-JP" altLang="en-US" sz="2400" b="1" u="sng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低エネルギー初期状態</a:t>
              </a:r>
              <a:r>
                <a:rPr kumimoji="1" lang="en-US" altLang="ja-JP" sz="2400" b="1" u="sng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 </a:t>
              </a:r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→</a:t>
              </a:r>
              <a:r>
                <a:rPr kumimoji="1" lang="en-US" altLang="ja-JP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 </a:t>
              </a:r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物理・化学での主要な関心の対象</a:t>
              </a:r>
              <a:endParaRPr lang="ja-JP" altLang="en-US" u="sng"/>
            </a:p>
          </p:txBody>
        </p:sp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B6F05106-E19A-FF4D-D9AB-EBBB45FD2B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39720"/>
            <a:stretch/>
          </p:blipFill>
          <p:spPr>
            <a:xfrm>
              <a:off x="3540598" y="3840106"/>
              <a:ext cx="1771920" cy="921938"/>
            </a:xfrm>
            <a:prstGeom prst="rect">
              <a:avLst/>
            </a:prstGeom>
          </p:spPr>
        </p:pic>
        <p:pic>
          <p:nvPicPr>
            <p:cNvPr id="24" name="Picture 2" descr="\begin{align*}&#10;  e^{-iHt} \ket{\psi} + \mathcal{O}(\varepsilon)&#10;\end{align*}">
              <a:extLst>
                <a:ext uri="{FF2B5EF4-FFF2-40B4-BE49-F238E27FC236}">
                  <a16:creationId xmlns:a16="http://schemas.microsoft.com/office/drawing/2014/main" id="{A367C090-A282-6F64-2046-8F5CDEB605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2308"/>
            <a:stretch>
              <a:fillRect/>
            </a:stretch>
          </p:blipFill>
          <p:spPr bwMode="auto">
            <a:xfrm>
              <a:off x="5597801" y="4149207"/>
              <a:ext cx="780835" cy="330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8" descr="\begin{align*}&#10;  \ket{\psi_{\leq \Delta}} = \sum_{n; E_n \leq \Delta} c_n \ket{E_n}, \quad 0 \leq \Delta \ll Ng&#10;\end{align*}">
              <a:extLst>
                <a:ext uri="{FF2B5EF4-FFF2-40B4-BE49-F238E27FC236}">
                  <a16:creationId xmlns:a16="http://schemas.microsoft.com/office/drawing/2014/main" id="{98CCC2F0-044B-580A-35E2-99EB9323A03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3780"/>
            <a:stretch>
              <a:fillRect/>
            </a:stretch>
          </p:blipFill>
          <p:spPr bwMode="auto">
            <a:xfrm>
              <a:off x="2627416" y="4149207"/>
              <a:ext cx="713658" cy="5835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8" descr="\begin{align*}&#10;  \ket{\psi_{\leq \Delta}} = \sum_{n; E_n \leq \Delta} c_n \ket{E_n}, \quad 0 \leq \Delta \ll Ng&#10;\end{align*}">
              <a:extLst>
                <a:ext uri="{FF2B5EF4-FFF2-40B4-BE49-F238E27FC236}">
                  <a16:creationId xmlns:a16="http://schemas.microsoft.com/office/drawing/2014/main" id="{4EF3DDA7-80D0-129A-BF11-A9A1CF6AF74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3780"/>
            <a:stretch>
              <a:fillRect/>
            </a:stretch>
          </p:blipFill>
          <p:spPr bwMode="auto">
            <a:xfrm>
              <a:off x="6378636" y="4149206"/>
              <a:ext cx="713658" cy="5835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\begin{align*}&#10;  e^{-iHt} \ket{\psi} + \mathcal{O}(\varepsilon)&#10;\end{align*}">
              <a:extLst>
                <a:ext uri="{FF2B5EF4-FFF2-40B4-BE49-F238E27FC236}">
                  <a16:creationId xmlns:a16="http://schemas.microsoft.com/office/drawing/2014/main" id="{CC158144-88BE-D714-47D9-9A89B85811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259" t="-12940" r="-6360" b="-23302"/>
            <a:stretch>
              <a:fillRect/>
            </a:stretch>
          </p:blipFill>
          <p:spPr bwMode="auto">
            <a:xfrm>
              <a:off x="7089133" y="4120741"/>
              <a:ext cx="996462" cy="449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E3A1F590-02CD-38B2-6861-BE3B70E38B31}"/>
                    </a:ext>
                  </a:extLst>
                </p:cNvPr>
                <p:cNvSpPr txBox="1"/>
                <p:nvPr/>
              </p:nvSpPr>
              <p:spPr>
                <a:xfrm>
                  <a:off x="787408" y="4604767"/>
                  <a:ext cx="277890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ja-JP" altLang="en-US" sz="1400">
                      <a:solidFill>
                        <a:schemeClr val="accent2"/>
                      </a:solidFill>
                      <a:latin typeface="UD Digi Kyokasho NK-R" panose="02020400000000000000" pitchFamily="18" charset="-128"/>
                      <a:ea typeface="UD Digi Kyokasho NK-R" panose="02020400000000000000" pitchFamily="18" charset="-128"/>
                      <a:cs typeface="Times New Roman" panose="02020603050405020304" pitchFamily="18" charset="0"/>
                    </a:rPr>
                    <a:t>エネルギー</a:t>
                  </a:r>
                  <a:r>
                    <a:rPr lang="en-US" altLang="ja-JP" sz="1400" dirty="0">
                      <a:solidFill>
                        <a:schemeClr val="accent2"/>
                      </a:solidFill>
                      <a:latin typeface="UD Digi Kyokasho NK-R" panose="02020400000000000000" pitchFamily="18" charset="-128"/>
                      <a:ea typeface="UD Digi Kyokasho NK-R" panose="02020400000000000000" pitchFamily="18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ja-JP" sz="14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</m:oMath>
                  </a14:m>
                  <a:r>
                    <a:rPr lang="en-US" altLang="ja-JP" sz="1400" dirty="0">
                      <a:solidFill>
                        <a:schemeClr val="accent2"/>
                      </a:solidFill>
                      <a:latin typeface="UD Digi Kyokasho NK-R" panose="02020400000000000000" pitchFamily="18" charset="-128"/>
                      <a:ea typeface="UD Digi Kyokasho NK-R" panose="02020400000000000000" pitchFamily="18" charset="-128"/>
                      <a:cs typeface="Times New Roman" panose="02020603050405020304" pitchFamily="18" charset="0"/>
                    </a:rPr>
                    <a:t> </a:t>
                  </a:r>
                  <a:r>
                    <a:rPr lang="ja-JP" altLang="en-US" sz="1400">
                      <a:solidFill>
                        <a:schemeClr val="accent2"/>
                      </a:solidFill>
                      <a:latin typeface="UD Digi Kyokasho NK-R" panose="02020400000000000000" pitchFamily="18" charset="-128"/>
                      <a:ea typeface="UD Digi Kyokasho NK-R" panose="02020400000000000000" pitchFamily="18" charset="-128"/>
                      <a:cs typeface="Times New Roman" panose="02020603050405020304" pitchFamily="18" charset="0"/>
                    </a:rPr>
                    <a:t>以下</a:t>
                  </a:r>
                  <a:r>
                    <a:rPr lang="en-US" altLang="ja-JP" sz="1400" dirty="0">
                      <a:solidFill>
                        <a:schemeClr val="accent2"/>
                      </a:solidFill>
                      <a:latin typeface="UD Digi Kyokasho NK-R" panose="02020400000000000000" pitchFamily="18" charset="-128"/>
                      <a:ea typeface="UD Digi Kyokasho NK-R" panose="02020400000000000000" pitchFamily="18" charset="-128"/>
                      <a:cs typeface="Times New Roman" panose="02020603050405020304" pitchFamily="18" charset="0"/>
                    </a:rPr>
                    <a:t> (</a:t>
                  </a:r>
                  <a:r>
                    <a:rPr lang="ja-JP" altLang="en-US" sz="1400">
                      <a:solidFill>
                        <a:schemeClr val="accent2"/>
                      </a:solidFill>
                      <a:latin typeface="UD Digi Kyokasho NK-R" panose="02020400000000000000" pitchFamily="18" charset="-128"/>
                      <a:ea typeface="UD Digi Kyokasho NK-R" panose="02020400000000000000" pitchFamily="18" charset="-128"/>
                      <a:cs typeface="Times New Roman" panose="02020603050405020304" pitchFamily="18" charset="0"/>
                    </a:rPr>
                    <a:t>十分小さい</a:t>
                  </a:r>
                  <a:r>
                    <a:rPr lang="en-US" altLang="ja-JP" sz="1400" dirty="0">
                      <a:solidFill>
                        <a:schemeClr val="accent2"/>
                      </a:solidFill>
                      <a:latin typeface="UD Digi Kyokasho NK-R" panose="02020400000000000000" pitchFamily="18" charset="-128"/>
                      <a:ea typeface="UD Digi Kyokasho NK-R" panose="02020400000000000000" pitchFamily="18" charset="-128"/>
                      <a:cs typeface="Times New Roman" panose="02020603050405020304" pitchFamily="18" charset="0"/>
                    </a:rPr>
                    <a:t>)</a:t>
                  </a:r>
                  <a:endParaRPr lang="ja-JP" altLang="en-US" sz="1400">
                    <a:solidFill>
                      <a:schemeClr val="accent2"/>
                    </a:solidFill>
                    <a:latin typeface="UD Digi Kyokasho NK-R" panose="02020400000000000000" pitchFamily="18" charset="-128"/>
                    <a:ea typeface="UD Digi Kyokasho NK-R" panose="02020400000000000000" pitchFamily="18" charset="-128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E3A1F590-02CD-38B2-6861-BE3B70E38B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408" y="4604767"/>
                  <a:ext cx="2778901" cy="307777"/>
                </a:xfrm>
                <a:prstGeom prst="rect">
                  <a:avLst/>
                </a:prstGeom>
                <a:blipFill>
                  <a:blip r:embed="rId9"/>
                  <a:stretch>
                    <a:fillRect l="-455" t="-4000" b="-2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B879D1-B94B-B61C-E598-2D1AAE73C535}"/>
              </a:ext>
            </a:extLst>
          </p:cNvPr>
          <p:cNvGrpSpPr/>
          <p:nvPr/>
        </p:nvGrpSpPr>
        <p:grpSpPr>
          <a:xfrm>
            <a:off x="317633" y="5279288"/>
            <a:ext cx="5414952" cy="1156681"/>
            <a:chOff x="317633" y="5279288"/>
            <a:chExt cx="5414952" cy="1156681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497AD789-8A62-C8ED-2897-E8F1AF84F821}"/>
                </a:ext>
              </a:extLst>
            </p:cNvPr>
            <p:cNvSpPr/>
            <p:nvPr/>
          </p:nvSpPr>
          <p:spPr>
            <a:xfrm>
              <a:off x="317633" y="5279288"/>
              <a:ext cx="5414952" cy="115668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8F2AB02C-16DA-D587-CB17-C055FED59ADB}"/>
                </a:ext>
              </a:extLst>
            </p:cNvPr>
            <p:cNvSpPr txBox="1"/>
            <p:nvPr/>
          </p:nvSpPr>
          <p:spPr>
            <a:xfrm>
              <a:off x="377816" y="5395963"/>
              <a:ext cx="5176244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>
                  <a:latin typeface="YuKyokasho Medium" panose="02000500000000000000" pitchFamily="2" charset="-128"/>
                  <a:ea typeface="YuKyokasho Medium" panose="02000500000000000000" pitchFamily="2" charset="-128"/>
                  <a:cs typeface="Times New Roman" panose="02020603050405020304" pitchFamily="18" charset="0"/>
                </a:rPr>
                <a:t>初期状態の低エネルギー性を使って、</a:t>
              </a:r>
              <a:endParaRPr lang="en-US" altLang="ja-JP" dirty="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  <a:p>
              <a:endParaRPr lang="en-US" altLang="ja-JP" dirty="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  <a:p>
              <a:pPr algn="r"/>
              <a:r>
                <a:rPr lang="ja-JP" altLang="en-US">
                  <a:latin typeface="YuKyokasho Medium" panose="02000500000000000000" pitchFamily="2" charset="-128"/>
                  <a:ea typeface="YuKyokasho Medium" panose="02000500000000000000" pitchFamily="2" charset="-128"/>
                  <a:cs typeface="Times New Roman" panose="02020603050405020304" pitchFamily="18" charset="0"/>
                </a:rPr>
                <a:t>誤差・計算コストを本質的に改善できるか？</a:t>
              </a:r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E9F78108-FF44-E66F-58FF-A2BA52718B6B}"/>
              </a:ext>
            </a:extLst>
          </p:cNvPr>
          <p:cNvGrpSpPr/>
          <p:nvPr/>
        </p:nvGrpSpPr>
        <p:grpSpPr>
          <a:xfrm>
            <a:off x="5956631" y="5041617"/>
            <a:ext cx="3033599" cy="1484352"/>
            <a:chOff x="5956631" y="5041617"/>
            <a:chExt cx="3033599" cy="1484352"/>
          </a:xfrm>
        </p:grpSpPr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AB85806-DFBB-B023-4464-EC0ED38D5149}"/>
                </a:ext>
              </a:extLst>
            </p:cNvPr>
            <p:cNvSpPr txBox="1"/>
            <p:nvPr/>
          </p:nvSpPr>
          <p:spPr>
            <a:xfrm>
              <a:off x="5956631" y="6218192"/>
              <a:ext cx="303359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400">
                  <a:latin typeface="YuKyokasho Medium" panose="02000500000000000000" pitchFamily="2" charset="-128"/>
                  <a:ea typeface="YuKyokasho Medium" panose="02000500000000000000" pitchFamily="2" charset="-128"/>
                  <a:cs typeface="Times New Roman" panose="02020603050405020304" pitchFamily="18" charset="0"/>
                </a:rPr>
                <a:t>低温状態、基底状態</a:t>
              </a:r>
              <a:r>
                <a:rPr lang="en-US" altLang="ja-JP" sz="1400" dirty="0">
                  <a:latin typeface="YuKyokasho Medium" panose="02000500000000000000" pitchFamily="2" charset="-128"/>
                  <a:ea typeface="YuKyokasho Medium" panose="02000500000000000000" pitchFamily="2" charset="-128"/>
                  <a:cs typeface="Times New Roman" panose="02020603050405020304" pitchFamily="18" charset="0"/>
                </a:rPr>
                <a:t>(</a:t>
              </a:r>
              <a:r>
                <a:rPr lang="ja-JP" altLang="en-US" sz="1400">
                  <a:latin typeface="YuKyokasho Medium" panose="02000500000000000000" pitchFamily="2" charset="-128"/>
                  <a:ea typeface="YuKyokasho Medium" panose="02000500000000000000" pitchFamily="2" charset="-128"/>
                  <a:cs typeface="Times New Roman" panose="02020603050405020304" pitchFamily="18" charset="0"/>
                </a:rPr>
                <a:t>に近い</a:t>
              </a:r>
              <a:r>
                <a:rPr lang="en-US" altLang="ja-JP" sz="1400" dirty="0">
                  <a:latin typeface="YuKyokasho Medium" panose="02000500000000000000" pitchFamily="2" charset="-128"/>
                  <a:ea typeface="YuKyokasho Medium" panose="02000500000000000000" pitchFamily="2" charset="-128"/>
                  <a:cs typeface="Times New Roman" panose="02020603050405020304" pitchFamily="18" charset="0"/>
                </a:rPr>
                <a:t>), etc.</a:t>
              </a:r>
              <a:endParaRPr lang="ja-JP" altLang="en-US" sz="14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D236C3A4-E7D4-A7B3-E54C-9313D70C8A13}"/>
                </a:ext>
              </a:extLst>
            </p:cNvPr>
            <p:cNvSpPr/>
            <p:nvPr/>
          </p:nvSpPr>
          <p:spPr>
            <a:xfrm>
              <a:off x="6107723" y="5041617"/>
              <a:ext cx="2354462" cy="104266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33000">
                  <a:schemeClr val="accent5">
                    <a:lumMod val="20000"/>
                    <a:lumOff val="80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/楕円 26">
              <a:extLst>
                <a:ext uri="{FF2B5EF4-FFF2-40B4-BE49-F238E27FC236}">
                  <a16:creationId xmlns:a16="http://schemas.microsoft.com/office/drawing/2014/main" id="{DF6C6FF5-F772-0355-7889-50EA9DBB3DDC}"/>
                </a:ext>
              </a:extLst>
            </p:cNvPr>
            <p:cNvSpPr/>
            <p:nvPr/>
          </p:nvSpPr>
          <p:spPr>
            <a:xfrm>
              <a:off x="6658708" y="5279288"/>
              <a:ext cx="1216972" cy="65258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73A9E8E4-2C79-0E4E-4331-1E0A74C447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702167" y="5397849"/>
              <a:ext cx="1130054" cy="4068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7833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CF846-93E8-640E-5DD3-FDBDD51BA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41B942E-1D92-2A6A-5D91-BDAA8D59DD48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2.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セットアップと結果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137F2D33-F2EE-630D-DB0A-B8EB7886E2B5}"/>
                  </a:ext>
                </a:extLst>
              </p:cNvPr>
              <p:cNvSpPr txBox="1"/>
              <p:nvPr/>
            </p:nvSpPr>
            <p:spPr>
              <a:xfrm>
                <a:off x="8899812" y="0"/>
                <a:ext cx="185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9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137F2D33-F2EE-630D-DB0A-B8EB7886E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9812" y="0"/>
                <a:ext cx="185948" cy="276999"/>
              </a:xfrm>
              <a:prstGeom prst="rect">
                <a:avLst/>
              </a:prstGeom>
              <a:blipFill>
                <a:blip r:embed="rId3"/>
                <a:stretch>
                  <a:fillRect l="-25000" r="-25000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大かっこ 5">
            <a:extLst>
              <a:ext uri="{FF2B5EF4-FFF2-40B4-BE49-F238E27FC236}">
                <a16:creationId xmlns:a16="http://schemas.microsoft.com/office/drawing/2014/main" id="{034F456C-A400-FE2F-8C91-06CEF63901F6}"/>
              </a:ext>
            </a:extLst>
          </p:cNvPr>
          <p:cNvSpPr/>
          <p:nvPr/>
        </p:nvSpPr>
        <p:spPr>
          <a:xfrm>
            <a:off x="333652" y="2156822"/>
            <a:ext cx="8406384" cy="2398270"/>
          </a:xfrm>
          <a:prstGeom prst="bracketPair">
            <a:avLst>
              <a:gd name="adj" fmla="val 712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\begin{align*}&#10;  H = \sum_X h_X, \quad h_X \geq 0&#10;\end{align*}">
            <a:extLst>
              <a:ext uri="{FF2B5EF4-FFF2-40B4-BE49-F238E27FC236}">
                <a16:creationId xmlns:a16="http://schemas.microsoft.com/office/drawing/2014/main" id="{33E286C4-32D8-747E-551C-97AE220E2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6495" y="1293994"/>
            <a:ext cx="2364155" cy="519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B09DFE-BF53-8000-6F08-984952ADB702}"/>
              </a:ext>
            </a:extLst>
          </p:cNvPr>
          <p:cNvSpPr txBox="1"/>
          <p:nvPr/>
        </p:nvSpPr>
        <p:spPr>
          <a:xfrm>
            <a:off x="1212271" y="1261758"/>
            <a:ext cx="453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局所的で半正定値なハミルトニアン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3B0D28F4-51F6-4E10-686A-5889A98B0666}"/>
                  </a:ext>
                </a:extLst>
              </p:cNvPr>
              <p:cNvSpPr txBox="1"/>
              <p:nvPr/>
            </p:nvSpPr>
            <p:spPr>
              <a:xfrm>
                <a:off x="501326" y="2037510"/>
                <a:ext cx="20007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・系サイズ</a:t>
                </a:r>
                <a:r>
                  <a:rPr kumimoji="1" lang="en-US" altLang="ja-JP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endPara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3B0D28F4-51F6-4E10-686A-5889A98B0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26" y="2037510"/>
                <a:ext cx="2000706" cy="369332"/>
              </a:xfrm>
              <a:prstGeom prst="rect">
                <a:avLst/>
              </a:prstGeom>
              <a:blipFill>
                <a:blip r:embed="rId5"/>
                <a:stretch>
                  <a:fillRect l="-2532" t="-1000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93834594-2692-7F9F-40E5-A514A5B95652}"/>
                  </a:ext>
                </a:extLst>
              </p:cNvPr>
              <p:cNvSpPr txBox="1"/>
              <p:nvPr/>
            </p:nvSpPr>
            <p:spPr>
              <a:xfrm>
                <a:off x="501326" y="2505968"/>
                <a:ext cx="35079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・</a:t>
                </a:r>
                <a:r>
                  <a:rPr kumimoji="1" lang="ja-JP" altLang="en-US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サイトあたりのエネルギー</a:t>
                </a:r>
                <a:r>
                  <a:rPr kumimoji="1" lang="en-US" altLang="ja-JP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𝑔</m:t>
                    </m:r>
                  </m:oMath>
                </a14:m>
                <a:endPara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93834594-2692-7F9F-40E5-A514A5B95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26" y="2505968"/>
                <a:ext cx="3507980" cy="369332"/>
              </a:xfrm>
              <a:prstGeom prst="rect">
                <a:avLst/>
              </a:prstGeom>
              <a:blipFill>
                <a:blip r:embed="rId6"/>
                <a:stretch>
                  <a:fillRect l="-1444" t="-1000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\begin{align*}&#10;  g = \max_{i=1,\cdots, N} \left( \sum_{X \ni i} \| h_X \|\right)&#10;\end{align*}">
            <a:extLst>
              <a:ext uri="{FF2B5EF4-FFF2-40B4-BE49-F238E27FC236}">
                <a16:creationId xmlns:a16="http://schemas.microsoft.com/office/drawing/2014/main" id="{FF17417A-87AD-E2C3-B4C2-BE35A5091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3726" y="2132664"/>
            <a:ext cx="2645101" cy="741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036566E0-76AD-D513-C83D-0450B758DD2F}"/>
                  </a:ext>
                </a:extLst>
              </p:cNvPr>
              <p:cNvSpPr txBox="1"/>
              <p:nvPr/>
            </p:nvSpPr>
            <p:spPr>
              <a:xfrm>
                <a:off x="501326" y="2942518"/>
                <a:ext cx="27522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・全系のエネルギー</a:t>
                </a:r>
                <a:r>
                  <a:rPr kumimoji="1" lang="en-US" altLang="ja-JP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𝑁𝑔</m:t>
                    </m:r>
                  </m:oMath>
                </a14:m>
                <a:endParaRPr kumimoji="1" lang="en-US" altLang="ja-JP" b="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036566E0-76AD-D513-C83D-0450B758D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26" y="2942518"/>
                <a:ext cx="2752276" cy="369332"/>
              </a:xfrm>
              <a:prstGeom prst="rect">
                <a:avLst/>
              </a:prstGeom>
              <a:blipFill>
                <a:blip r:embed="rId8"/>
                <a:stretch>
                  <a:fillRect l="-1835" t="-1000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ED9DE13-8853-46FD-8F21-3CE20C5A0A44}"/>
              </a:ext>
            </a:extLst>
          </p:cNvPr>
          <p:cNvGrpSpPr/>
          <p:nvPr/>
        </p:nvGrpSpPr>
        <p:grpSpPr>
          <a:xfrm>
            <a:off x="501326" y="3370293"/>
            <a:ext cx="5970981" cy="1130937"/>
            <a:chOff x="501326" y="3370293"/>
            <a:chExt cx="5970981" cy="1130937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6AF004FD-2D21-B79E-DE75-3865E17EEC3B}"/>
                </a:ext>
              </a:extLst>
            </p:cNvPr>
            <p:cNvSpPr/>
            <p:nvPr/>
          </p:nvSpPr>
          <p:spPr>
            <a:xfrm>
              <a:off x="5640253" y="4054901"/>
              <a:ext cx="832054" cy="18339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8CE5424C-028E-2FD1-D617-BB6BAAF721D1}"/>
                    </a:ext>
                  </a:extLst>
                </p:cNvPr>
                <p:cNvSpPr txBox="1"/>
                <p:nvPr/>
              </p:nvSpPr>
              <p:spPr>
                <a:xfrm>
                  <a:off x="501326" y="3370293"/>
                  <a:ext cx="481690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>
                      <a:solidFill>
                        <a:schemeClr val="accent2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・低エネルギー初期状態</a:t>
                  </a:r>
                  <a:r>
                    <a:rPr kumimoji="1" lang="en-US" altLang="ja-JP" dirty="0">
                      <a:solidFill>
                        <a:schemeClr val="accent2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: </a:t>
                  </a:r>
                  <a:r>
                    <a:rPr kumimoji="1" lang="ja-JP" altLang="en-US">
                      <a:solidFill>
                        <a:schemeClr val="accent2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エネルギー</a:t>
                  </a:r>
                  <a:r>
                    <a:rPr kumimoji="1" lang="en-US" altLang="ja-JP" dirty="0">
                      <a:solidFill>
                        <a:schemeClr val="accent2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ja-JP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</m:oMath>
                  </a14:m>
                  <a:r>
                    <a:rPr kumimoji="1" lang="en-US" altLang="ja-JP" dirty="0">
                      <a:solidFill>
                        <a:schemeClr val="accent2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>
                      <a:solidFill>
                        <a:schemeClr val="accent2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以下</a:t>
                  </a:r>
                </a:p>
              </p:txBody>
            </p:sp>
          </mc:Choice>
          <mc:Fallback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8CE5424C-028E-2FD1-D617-BB6BAAF721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326" y="3370293"/>
                  <a:ext cx="481690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053" t="-10000" b="-2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5E143638-F8AC-135B-C245-4EEA8A6AFF22}"/>
                </a:ext>
              </a:extLst>
            </p:cNvPr>
            <p:cNvSpPr/>
            <p:nvPr/>
          </p:nvSpPr>
          <p:spPr>
            <a:xfrm>
              <a:off x="3415213" y="4340683"/>
              <a:ext cx="786351" cy="16054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32" name="Picture 8" descr="\begin{align*}&#10;  \ket{\psi_{\leq \Delta}} = \sum_{n; E_n \leq \Delta} c_n \ket{E_n}, \quad 0 \leq \Delta \ll Ng&#10;\end{align*}">
              <a:extLst>
                <a:ext uri="{FF2B5EF4-FFF2-40B4-BE49-F238E27FC236}">
                  <a16:creationId xmlns:a16="http://schemas.microsoft.com/office/drawing/2014/main" id="{898DC2AD-9DC5-251C-2484-66BEBC115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1380" y="3898288"/>
              <a:ext cx="3870927" cy="5134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7B5D48-346B-BE82-064C-EDFF74B91AA0}"/>
              </a:ext>
            </a:extLst>
          </p:cNvPr>
          <p:cNvSpPr txBox="1"/>
          <p:nvPr/>
        </p:nvSpPr>
        <p:spPr>
          <a:xfrm>
            <a:off x="232428" y="1267202"/>
            <a:ext cx="838691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Setup: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1D24AD64-34D5-992C-317F-2BD7C8113ED8}"/>
              </a:ext>
            </a:extLst>
          </p:cNvPr>
          <p:cNvGrpSpPr/>
          <p:nvPr/>
        </p:nvGrpSpPr>
        <p:grpSpPr>
          <a:xfrm>
            <a:off x="7490650" y="4470790"/>
            <a:ext cx="1444091" cy="2206589"/>
            <a:chOff x="7398827" y="4063966"/>
            <a:chExt cx="1444091" cy="2206589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F0828990-9782-E4F9-8F72-DD8CBDA51BCF}"/>
                </a:ext>
              </a:extLst>
            </p:cNvPr>
            <p:cNvSpPr/>
            <p:nvPr/>
          </p:nvSpPr>
          <p:spPr>
            <a:xfrm>
              <a:off x="7746106" y="4696554"/>
              <a:ext cx="1096812" cy="14267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A4338DC2-FF12-404D-0EC5-AFEC625CF3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14488" y="4356411"/>
              <a:ext cx="0" cy="191414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7ECA931D-C47B-80BA-40BB-F86819CB2462}"/>
                    </a:ext>
                  </a:extLst>
                </p:cNvPr>
                <p:cNvSpPr txBox="1"/>
                <p:nvPr/>
              </p:nvSpPr>
              <p:spPr>
                <a:xfrm>
                  <a:off x="7611383" y="4063966"/>
                  <a:ext cx="2062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7ECA931D-C47B-80BA-40BB-F86819CB24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1383" y="4063966"/>
                  <a:ext cx="206210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23529" r="-17647" b="-90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5D980014-D2D2-A305-A064-CF9E099BFC0C}"/>
                    </a:ext>
                  </a:extLst>
                </p:cNvPr>
                <p:cNvSpPr txBox="1"/>
                <p:nvPr/>
              </p:nvSpPr>
              <p:spPr>
                <a:xfrm>
                  <a:off x="7398827" y="4584343"/>
                  <a:ext cx="285206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1400" b="0" i="1" smtClean="0">
                            <a:latin typeface="Cambria Math" panose="02040503050406030204" pitchFamily="18" charset="0"/>
                          </a:rPr>
                          <m:t>𝑁𝑔</m:t>
                        </m:r>
                      </m:oMath>
                    </m:oMathPara>
                  </a14:m>
                  <a:endParaRPr kumimoji="1" lang="ja-JP" altLang="en-US" sz="1400"/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5D980014-D2D2-A305-A064-CF9E099BF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8827" y="4584343"/>
                  <a:ext cx="285206" cy="215444"/>
                </a:xfrm>
                <a:prstGeom prst="rect">
                  <a:avLst/>
                </a:prstGeom>
                <a:blipFill>
                  <a:blip r:embed="rId12"/>
                  <a:stretch>
                    <a:fillRect l="-20833" r="-16667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C42837F3-BA3C-F8CE-0090-04BA08AB0920}"/>
                    </a:ext>
                  </a:extLst>
                </p:cNvPr>
                <p:cNvSpPr txBox="1"/>
                <p:nvPr/>
              </p:nvSpPr>
              <p:spPr>
                <a:xfrm>
                  <a:off x="7482635" y="5516710"/>
                  <a:ext cx="147476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l-GR" altLang="ja-JP" sz="1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kumimoji="1" lang="ja-JP" altLang="en-US" sz="1400"/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C42837F3-BA3C-F8CE-0090-04BA08AB0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82635" y="5516710"/>
                  <a:ext cx="147476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5385" r="-23077" b="-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992CCC4A-9B70-0F6E-D004-EE02E0A96AE8}"/>
                    </a:ext>
                  </a:extLst>
                </p:cNvPr>
                <p:cNvSpPr txBox="1"/>
                <p:nvPr/>
              </p:nvSpPr>
              <p:spPr>
                <a:xfrm>
                  <a:off x="7490650" y="5935962"/>
                  <a:ext cx="13946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kumimoji="1" lang="en-US" altLang="ja-JP" sz="1400" b="0" dirty="0"/>
                </a:p>
              </p:txBody>
            </p:sp>
          </mc:Choice>
          <mc:Fallback xmlns="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992CCC4A-9B70-0F6E-D004-EE02E0A96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0650" y="5935962"/>
                  <a:ext cx="139461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25000" r="-25000" b="-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57EA5C9C-AF02-0614-91D9-D7183CD77E4A}"/>
                </a:ext>
              </a:extLst>
            </p:cNvPr>
            <p:cNvSpPr/>
            <p:nvPr/>
          </p:nvSpPr>
          <p:spPr>
            <a:xfrm>
              <a:off x="7778561" y="5641160"/>
              <a:ext cx="1024698" cy="44693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8C652AFF-6EC8-3560-53B3-8BF8D3E9D0E7}"/>
                </a:ext>
              </a:extLst>
            </p:cNvPr>
            <p:cNvSpPr txBox="1"/>
            <p:nvPr/>
          </p:nvSpPr>
          <p:spPr>
            <a:xfrm>
              <a:off x="7798866" y="5649182"/>
              <a:ext cx="9854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accent2"/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Low-energy </a:t>
              </a:r>
            </a:p>
            <a:p>
              <a:pPr algn="ctr"/>
              <a:r>
                <a:rPr kumimoji="1" lang="en-US" altLang="ja-JP" sz="1100" dirty="0">
                  <a:solidFill>
                    <a:schemeClr val="accent2"/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initial states</a:t>
              </a:r>
              <a:endParaRPr kumimoji="1" lang="ja-JP" altLang="en-US" sz="1100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FF81D340-2AE1-D047-A747-05D278DD8F4D}"/>
                </a:ext>
              </a:extLst>
            </p:cNvPr>
            <p:cNvSpPr txBox="1"/>
            <p:nvPr/>
          </p:nvSpPr>
          <p:spPr>
            <a:xfrm>
              <a:off x="7798182" y="4953414"/>
              <a:ext cx="9854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Arbitrary </a:t>
              </a:r>
            </a:p>
            <a:p>
              <a:pPr algn="ctr"/>
              <a:r>
                <a:rPr kumimoji="1" lang="en-US" altLang="ja-JP" sz="11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initial states</a:t>
              </a:r>
              <a:endParaRPr kumimoji="1" lang="ja-JP" altLang="en-US" sz="11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97F4FE8B-8C34-6DFD-F323-FE8F2BC04602}"/>
              </a:ext>
            </a:extLst>
          </p:cNvPr>
          <p:cNvGrpSpPr/>
          <p:nvPr/>
        </p:nvGrpSpPr>
        <p:grpSpPr>
          <a:xfrm>
            <a:off x="174038" y="4726195"/>
            <a:ext cx="7270565" cy="1951184"/>
            <a:chOff x="174038" y="4726195"/>
            <a:chExt cx="7270565" cy="1951184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C9526CBC-0256-23C6-553B-19F3E408C249}"/>
                </a:ext>
              </a:extLst>
            </p:cNvPr>
            <p:cNvSpPr txBox="1"/>
            <p:nvPr/>
          </p:nvSpPr>
          <p:spPr>
            <a:xfrm>
              <a:off x="174038" y="4726195"/>
              <a:ext cx="1285929" cy="4001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0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Our result:</a:t>
              </a:r>
              <a:endPara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BC383729-FC6B-BAC8-FCED-4038A287EAE4}"/>
                    </a:ext>
                  </a:extLst>
                </p:cNvPr>
                <p:cNvSpPr txBox="1"/>
                <p:nvPr/>
              </p:nvSpPr>
              <p:spPr>
                <a:xfrm>
                  <a:off x="268539" y="5294070"/>
                  <a:ext cx="7132696" cy="369332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初期エネルギー</a:t>
                  </a:r>
                  <a:r>
                    <a:rPr kumimoji="1" lang="en-US" altLang="ja-JP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ja-JP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kumimoji="1" lang="el-GR" altLang="ja-JP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∈</m:t>
                      </m:r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𝑜</m:t>
                      </m:r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𝑁𝑔</m:t>
                      </m:r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のとき誤差・計算コストが本質的に減少</a:t>
                  </a:r>
                  <a:r>
                    <a:rPr kumimoji="1" lang="en-US" altLang="ja-JP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BC383729-FC6B-BAC8-FCED-4038A287EA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39" y="5294070"/>
                  <a:ext cx="7132696" cy="369332"/>
                </a:xfrm>
                <a:prstGeom prst="rect">
                  <a:avLst/>
                </a:prstGeom>
                <a:blipFill>
                  <a:blip r:embed="rId15"/>
                  <a:stretch>
                    <a:fillRect l="-712" t="-10000" r="-356" b="-2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大かっこ 16">
              <a:extLst>
                <a:ext uri="{FF2B5EF4-FFF2-40B4-BE49-F238E27FC236}">
                  <a16:creationId xmlns:a16="http://schemas.microsoft.com/office/drawing/2014/main" id="{E09DA72E-7CEE-DD34-8A05-990C1537ED50}"/>
                </a:ext>
              </a:extLst>
            </p:cNvPr>
            <p:cNvSpPr/>
            <p:nvPr/>
          </p:nvSpPr>
          <p:spPr>
            <a:xfrm>
              <a:off x="267854" y="5831167"/>
              <a:ext cx="7038879" cy="846212"/>
            </a:xfrm>
            <a:prstGeom prst="bracketPair">
              <a:avLst>
                <a:gd name="adj" fmla="val 1418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60CB92E6-6BAB-8210-C593-A73DF5380DFD}"/>
                </a:ext>
              </a:extLst>
            </p:cNvPr>
            <p:cNvSpPr txBox="1"/>
            <p:nvPr/>
          </p:nvSpPr>
          <p:spPr>
            <a:xfrm>
              <a:off x="3227948" y="5948283"/>
              <a:ext cx="42166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B. </a:t>
              </a:r>
              <a:r>
                <a:rPr lang="en" altLang="ja-JP" sz="1200" dirty="0" err="1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Şahinoğlu</a:t>
              </a:r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and R. D. Somma, </a:t>
              </a:r>
              <a:r>
                <a:rPr lang="en" altLang="ja-JP" sz="1200" dirty="0" err="1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Npj</a:t>
              </a:r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Quantum Info. </a:t>
              </a:r>
              <a:r>
                <a:rPr lang="en" altLang="ja-JP" sz="1200" b="1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1 (2021)</a:t>
              </a:r>
            </a:p>
            <a:p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W. Gong, et al., Quantum </a:t>
              </a:r>
              <a:r>
                <a:rPr lang="en" altLang="ja-JP" sz="1200" b="1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1409 (2024)</a:t>
              </a:r>
              <a:b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K. Hejazi, at al., arXiv:2402.10362 (2024) </a:t>
              </a:r>
              <a:endParaRPr lang="ja-JP" altLang="en-US" sz="120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DFC52092-C72C-E7BB-05DD-983A8F6A7939}"/>
                </a:ext>
              </a:extLst>
            </p:cNvPr>
            <p:cNvSpPr txBox="1"/>
            <p:nvPr/>
          </p:nvSpPr>
          <p:spPr>
            <a:xfrm>
              <a:off x="401961" y="5968208"/>
              <a:ext cx="274160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先行研究を改善し、</a:t>
              </a:r>
              <a:endParaRPr kumimoji="1" lang="en-US" altLang="ja-JP" sz="1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  <a:p>
              <a:r>
                <a:rPr kumimoji="1" lang="ja-JP" altLang="en-US" sz="16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理論上ベストの結果を証明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1631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5969E-C983-984B-2648-B3B1353FB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7B552C7-D64B-B85B-6DAF-967D69310AB8}"/>
              </a:ext>
            </a:extLst>
          </p:cNvPr>
          <p:cNvSpPr/>
          <p:nvPr/>
        </p:nvSpPr>
        <p:spPr>
          <a:xfrm>
            <a:off x="5262975" y="3024065"/>
            <a:ext cx="426625" cy="1009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E3EDC12-B942-9971-C89F-54D8C93A7C3D}"/>
              </a:ext>
            </a:extLst>
          </p:cNvPr>
          <p:cNvSpPr/>
          <p:nvPr/>
        </p:nvSpPr>
        <p:spPr>
          <a:xfrm>
            <a:off x="3402425" y="3125050"/>
            <a:ext cx="426625" cy="1009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20EBB34-38FA-80AB-32F9-7167C8835F83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3.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主結果</a:t>
            </a:r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: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最適な誤差上限とコスト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DEC35E9-EA8E-C0E7-99E9-BFB280DB15EF}"/>
              </a:ext>
            </a:extLst>
          </p:cNvPr>
          <p:cNvSpPr txBox="1"/>
          <p:nvPr/>
        </p:nvSpPr>
        <p:spPr>
          <a:xfrm>
            <a:off x="239966" y="2141849"/>
            <a:ext cx="23264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任意初期状態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BCD5EA6-55C2-85CB-9DE0-59B726362AD1}"/>
              </a:ext>
            </a:extLst>
          </p:cNvPr>
          <p:cNvSpPr txBox="1"/>
          <p:nvPr/>
        </p:nvSpPr>
        <p:spPr>
          <a:xfrm>
            <a:off x="3408775" y="1484297"/>
            <a:ext cx="23264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アルゴリズムの誤差上限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8D498C7C-DA1C-E9D1-1C90-2C826583AD50}"/>
                  </a:ext>
                </a:extLst>
              </p:cNvPr>
              <p:cNvSpPr txBox="1"/>
              <p:nvPr/>
            </p:nvSpPr>
            <p:spPr>
              <a:xfrm>
                <a:off x="6570806" y="1484296"/>
                <a:ext cx="23264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Trotter</a:t>
                </a:r>
                <a:r>
                  <a:rPr kumimoji="1" lang="ja-JP" altLang="en-US" sz="1400" b="1" u="sng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数</a:t>
                </a:r>
                <a14:m>
                  <m:oMath xmlns:m="http://schemas.openxmlformats.org/officeDocument/2006/math">
                    <m:r>
                      <a:rPr kumimoji="1" lang="en-US" altLang="ja-JP" sz="1400" b="1" i="1" u="sng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𝒓</m:t>
                    </m:r>
                  </m:oMath>
                </a14:m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(</a:t>
                </a:r>
                <a:r>
                  <a:rPr kumimoji="1" lang="ja-JP" altLang="en-US" sz="1400" b="1" u="sng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計算コスト</a:t>
                </a:r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)</a:t>
                </a:r>
                <a:endParaRPr kumimoji="1" lang="ja-JP" altLang="en-US" sz="1400" b="1" u="sng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8D498C7C-DA1C-E9D1-1C90-2C826583A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0806" y="1484296"/>
                <a:ext cx="2326450" cy="307777"/>
              </a:xfrm>
              <a:prstGeom prst="rect">
                <a:avLst/>
              </a:prstGeom>
              <a:blipFill>
                <a:blip r:embed="rId3"/>
                <a:stretch>
                  <a:fillRect t="-3846" b="-1923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04F7387-5A19-78FD-54B7-D4A93C62E0ED}"/>
              </a:ext>
            </a:extLst>
          </p:cNvPr>
          <p:cNvSpPr txBox="1"/>
          <p:nvPr/>
        </p:nvSpPr>
        <p:spPr>
          <a:xfrm>
            <a:off x="239966" y="2413869"/>
            <a:ext cx="260077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105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A. M. Childs, et al., PRX </a:t>
            </a:r>
            <a:r>
              <a:rPr lang="en" altLang="ja-JP" sz="1050" b="1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" altLang="ja-JP" sz="105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011020 (2021)</a:t>
            </a:r>
            <a:endParaRPr lang="ja-JP" altLang="en-US" sz="105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\begin{align*}&#10;  \max_{\ket{\psi}} \left( \| (e^{-iHt}-T_p(t)) \ket{\psi} \| \right)&#10;\end{align*}">
            <a:extLst>
              <a:ext uri="{FF2B5EF4-FFF2-40B4-BE49-F238E27FC236}">
                <a16:creationId xmlns:a16="http://schemas.microsoft.com/office/drawing/2014/main" id="{9894815D-05D4-FD81-3B71-8CE814A7BF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8837" y="2249041"/>
            <a:ext cx="2266950" cy="329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\begin{align*}&#10;  \max_{\ket{\psi_{\leq \Delta}}} \left( \| (e^{-iHt}-T_p(t)) \ket{\psi_{\leq \Delta}} \| \right)&#10;\end{align*}">
            <a:extLst>
              <a:ext uri="{FF2B5EF4-FFF2-40B4-BE49-F238E27FC236}">
                <a16:creationId xmlns:a16="http://schemas.microsoft.com/office/drawing/2014/main" id="{A7D88709-7CDA-968D-10AC-78BCDEF0E9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5124" y="2870692"/>
            <a:ext cx="2494375" cy="329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右矢印 12">
            <a:extLst>
              <a:ext uri="{FF2B5EF4-FFF2-40B4-BE49-F238E27FC236}">
                <a16:creationId xmlns:a16="http://schemas.microsoft.com/office/drawing/2014/main" id="{480DA0A2-993A-881C-5838-B39FA3C24192}"/>
              </a:ext>
            </a:extLst>
          </p:cNvPr>
          <p:cNvSpPr/>
          <p:nvPr/>
        </p:nvSpPr>
        <p:spPr>
          <a:xfrm>
            <a:off x="6158193" y="2271427"/>
            <a:ext cx="325695" cy="7750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EC0FAFC-62F6-D4D3-03D4-42B75AA36181}"/>
              </a:ext>
            </a:extLst>
          </p:cNvPr>
          <p:cNvSpPr/>
          <p:nvPr/>
        </p:nvSpPr>
        <p:spPr>
          <a:xfrm>
            <a:off x="6661150" y="2006218"/>
            <a:ext cx="2134267" cy="13231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5CCE571-675F-6666-3AD2-DA69C8AAB515}"/>
              </a:ext>
            </a:extLst>
          </p:cNvPr>
          <p:cNvSpPr txBox="1"/>
          <p:nvPr/>
        </p:nvSpPr>
        <p:spPr>
          <a:xfrm>
            <a:off x="6729116" y="2786506"/>
            <a:ext cx="2168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が満たされるように決定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B484B41C-5B84-FF32-441B-5230A74EA58A}"/>
                  </a:ext>
                </a:extLst>
              </p:cNvPr>
              <p:cNvSpPr txBox="1"/>
              <p:nvPr/>
            </p:nvSpPr>
            <p:spPr>
              <a:xfrm>
                <a:off x="6930385" y="2354953"/>
                <a:ext cx="159579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合計誤差</a:t>
                </a:r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&lt; </a:t>
                </a:r>
                <a14:m>
                  <m:oMath xmlns:m="http://schemas.openxmlformats.org/officeDocument/2006/math">
                    <m:r>
                      <a:rPr kumimoji="1" lang="en-US" altLang="ja-JP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endParaRPr kumimoji="1" lang="ja-JP" altLang="en-US" sz="1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B484B41C-5B84-FF32-441B-5230A74EA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385" y="2354953"/>
                <a:ext cx="1595795" cy="307777"/>
              </a:xfrm>
              <a:prstGeom prst="rect">
                <a:avLst/>
              </a:prstGeom>
              <a:blipFill>
                <a:blip r:embed="rId6"/>
                <a:stretch>
                  <a:fillRect t="-8000" b="-2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49995D04-F517-D8D9-995F-347F2AF3DC93}"/>
                  </a:ext>
                </a:extLst>
              </p:cNvPr>
              <p:cNvSpPr txBox="1"/>
              <p:nvPr/>
            </p:nvSpPr>
            <p:spPr>
              <a:xfrm>
                <a:off x="239966" y="2763048"/>
                <a:ext cx="232645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低エネルギー初期状態</a:t>
                </a:r>
                <a:endParaRPr kumimoji="1" lang="en-US" altLang="ja-JP" sz="14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  <a:p>
                <a:pPr algn="ctr"/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(Energy </a:t>
                </a:r>
                <a14:m>
                  <m:oMath xmlns:m="http://schemas.openxmlformats.org/officeDocument/2006/math">
                    <m:r>
                      <a:rPr kumimoji="1" lang="en-US" altLang="ja-JP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kumimoji="1" lang="el-GR" altLang="ja-JP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</m:oMath>
                </a14:m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, Our results)</a:t>
                </a:r>
                <a:endParaRPr kumimoji="1" lang="ja-JP" altLang="en-US" sz="1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49995D04-F517-D8D9-995F-347F2AF3D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66" y="2763048"/>
                <a:ext cx="2326450" cy="523220"/>
              </a:xfrm>
              <a:prstGeom prst="rect">
                <a:avLst/>
              </a:prstGeom>
              <a:blipFill>
                <a:blip r:embed="rId7"/>
                <a:stretch>
                  <a:fillRect t="-4762" b="-119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9D99CF9A-449A-BB42-6A95-D4BF80F9C5D2}"/>
              </a:ext>
            </a:extLst>
          </p:cNvPr>
          <p:cNvCxnSpPr>
            <a:cxnSpLocks/>
          </p:cNvCxnSpPr>
          <p:nvPr/>
        </p:nvCxnSpPr>
        <p:spPr>
          <a:xfrm>
            <a:off x="3104880" y="1890342"/>
            <a:ext cx="0" cy="162113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2DD0D1CE-F895-D1E6-E740-0B1A6580F03A}"/>
                  </a:ext>
                </a:extLst>
              </p:cNvPr>
              <p:cNvSpPr txBox="1"/>
              <p:nvPr/>
            </p:nvSpPr>
            <p:spPr>
              <a:xfrm>
                <a:off x="8783638" y="0"/>
                <a:ext cx="3141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10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2DD0D1CE-F895-D1E6-E740-0B1A6580F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3638" y="0"/>
                <a:ext cx="314189" cy="276999"/>
              </a:xfrm>
              <a:prstGeom prst="rect">
                <a:avLst/>
              </a:prstGeom>
              <a:blipFill>
                <a:blip r:embed="rId8"/>
                <a:stretch>
                  <a:fillRect l="-15385" r="-11538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22BE27A-1612-1433-5DE4-C540B68E9018}"/>
              </a:ext>
            </a:extLst>
          </p:cNvPr>
          <p:cNvSpPr txBox="1"/>
          <p:nvPr/>
        </p:nvSpPr>
        <p:spPr>
          <a:xfrm>
            <a:off x="228060" y="1235410"/>
            <a:ext cx="1707519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主結果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定理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):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57BF9D6F-FF70-804D-00E2-E6DAD393B455}"/>
                  </a:ext>
                </a:extLst>
              </p:cNvPr>
              <p:cNvSpPr txBox="1"/>
              <p:nvPr/>
            </p:nvSpPr>
            <p:spPr>
              <a:xfrm>
                <a:off x="1704989" y="1191984"/>
                <a:ext cx="23264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ja-JP" sz="1400" b="0" i="1" dirty="0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𝑝</m:t>
                    </m:r>
                    <m:r>
                      <a:rPr kumimoji="1" lang="en-US" altLang="ja-JP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kumimoji="1" lang="en-US" altLang="ja-JP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ℕ</m:t>
                    </m:r>
                  </m:oMath>
                </a14:m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: Trotter order</a:t>
                </a:r>
                <a:endParaRPr kumimoji="1" lang="ja-JP" altLang="en-US" sz="1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57BF9D6F-FF70-804D-00E2-E6DAD393B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4989" y="1191984"/>
                <a:ext cx="2326450" cy="307777"/>
              </a:xfrm>
              <a:prstGeom prst="rect">
                <a:avLst/>
              </a:prstGeom>
              <a:blipFill>
                <a:blip r:embed="rId9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19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D2786-15E0-09D6-212E-5EEB090A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12" name="グループ化 4111">
            <a:extLst>
              <a:ext uri="{FF2B5EF4-FFF2-40B4-BE49-F238E27FC236}">
                <a16:creationId xmlns:a16="http://schemas.microsoft.com/office/drawing/2014/main" id="{3ABA2493-0ABB-B74F-9A70-AA13A22BA851}"/>
              </a:ext>
            </a:extLst>
          </p:cNvPr>
          <p:cNvGrpSpPr/>
          <p:nvPr/>
        </p:nvGrpSpPr>
        <p:grpSpPr>
          <a:xfrm>
            <a:off x="4704354" y="2814304"/>
            <a:ext cx="1168061" cy="3071956"/>
            <a:chOff x="4704354" y="2814304"/>
            <a:chExt cx="1168061" cy="3071956"/>
          </a:xfrm>
        </p:grpSpPr>
        <p:cxnSp>
          <p:nvCxnSpPr>
            <p:cNvPr id="4101" name="直線矢印コネクタ 4100">
              <a:extLst>
                <a:ext uri="{FF2B5EF4-FFF2-40B4-BE49-F238E27FC236}">
                  <a16:creationId xmlns:a16="http://schemas.microsoft.com/office/drawing/2014/main" id="{8EA9F826-BFD2-2F66-B53D-4237277049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7572" y="3262204"/>
              <a:ext cx="0" cy="262405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97" name="角丸四角形 4096">
              <a:extLst>
                <a:ext uri="{FF2B5EF4-FFF2-40B4-BE49-F238E27FC236}">
                  <a16:creationId xmlns:a16="http://schemas.microsoft.com/office/drawing/2014/main" id="{4F78B58E-635C-22D6-A586-4A098EE6B6B7}"/>
                </a:ext>
              </a:extLst>
            </p:cNvPr>
            <p:cNvSpPr/>
            <p:nvPr/>
          </p:nvSpPr>
          <p:spPr>
            <a:xfrm>
              <a:off x="4704354" y="2814304"/>
              <a:ext cx="1168061" cy="447900"/>
            </a:xfrm>
            <a:prstGeom prst="roundRect">
              <a:avLst>
                <a:gd name="adj" fmla="val 7456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612C2EEF-23B2-80C3-3C19-CD3E55F5C16F}"/>
              </a:ext>
            </a:extLst>
          </p:cNvPr>
          <p:cNvGrpSpPr/>
          <p:nvPr/>
        </p:nvGrpSpPr>
        <p:grpSpPr>
          <a:xfrm>
            <a:off x="7172170" y="4377199"/>
            <a:ext cx="1444091" cy="2206589"/>
            <a:chOff x="7172170" y="4093421"/>
            <a:chExt cx="1444091" cy="2206589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7290579D-68CE-2093-437F-8103C96925C7}"/>
                </a:ext>
              </a:extLst>
            </p:cNvPr>
            <p:cNvSpPr/>
            <p:nvPr/>
          </p:nvSpPr>
          <p:spPr>
            <a:xfrm>
              <a:off x="7519449" y="4726009"/>
              <a:ext cx="1096812" cy="142670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9FDCC07C-0D1A-CBA0-F910-254D58C2FB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7831" y="4385866"/>
              <a:ext cx="0" cy="191414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4EA3CB6B-9EA2-28E3-720D-7361D0E70F24}"/>
                    </a:ext>
                  </a:extLst>
                </p:cNvPr>
                <p:cNvSpPr txBox="1"/>
                <p:nvPr/>
              </p:nvSpPr>
              <p:spPr>
                <a:xfrm>
                  <a:off x="7384726" y="4093421"/>
                  <a:ext cx="2062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2" name="テキスト ボックス 11">
                  <a:extLst>
                    <a:ext uri="{FF2B5EF4-FFF2-40B4-BE49-F238E27FC236}">
                      <a16:creationId xmlns:a16="http://schemas.microsoft.com/office/drawing/2014/main" id="{4EA3CB6B-9EA2-28E3-720D-7361D0E70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4726" y="4093421"/>
                  <a:ext cx="206210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3529" r="-17647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EA1E1C5D-3F14-EF5F-21D3-2C7F63033CC6}"/>
                    </a:ext>
                  </a:extLst>
                </p:cNvPr>
                <p:cNvSpPr txBox="1"/>
                <p:nvPr/>
              </p:nvSpPr>
              <p:spPr>
                <a:xfrm>
                  <a:off x="7172170" y="4613798"/>
                  <a:ext cx="285206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1400" b="0" i="1" smtClean="0">
                            <a:latin typeface="Cambria Math" panose="02040503050406030204" pitchFamily="18" charset="0"/>
                          </a:rPr>
                          <m:t>𝑁𝑔</m:t>
                        </m:r>
                      </m:oMath>
                    </m:oMathPara>
                  </a14:m>
                  <a:endParaRPr kumimoji="1" lang="ja-JP" altLang="en-US" sz="1400"/>
                </a:p>
              </p:txBody>
            </p:sp>
          </mc:Choice>
          <mc:Fallback xmlns="">
            <p:sp>
              <p:nvSpPr>
                <p:cNvPr id="13" name="テキスト ボックス 12">
                  <a:extLst>
                    <a:ext uri="{FF2B5EF4-FFF2-40B4-BE49-F238E27FC236}">
                      <a16:creationId xmlns:a16="http://schemas.microsoft.com/office/drawing/2014/main" id="{EA1E1C5D-3F14-EF5F-21D3-2C7F63033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2170" y="4613798"/>
                  <a:ext cx="285206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6667" r="-16667" b="-2777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17AFB2F6-3714-CD3C-58B9-069740535B9E}"/>
                    </a:ext>
                  </a:extLst>
                </p:cNvPr>
                <p:cNvSpPr txBox="1"/>
                <p:nvPr/>
              </p:nvSpPr>
              <p:spPr>
                <a:xfrm>
                  <a:off x="7255978" y="5546165"/>
                  <a:ext cx="147476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l-GR" altLang="ja-JP" sz="1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kumimoji="1" lang="ja-JP" altLang="en-US" sz="1400"/>
                </a:p>
              </p:txBody>
            </p:sp>
          </mc:Choice>
          <mc:Fallback xmlns=""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17AFB2F6-3714-CD3C-58B9-069740535B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978" y="5546165"/>
                  <a:ext cx="147476" cy="215444"/>
                </a:xfrm>
                <a:prstGeom prst="rect">
                  <a:avLst/>
                </a:prstGeom>
                <a:blipFill>
                  <a:blip r:embed="rId5"/>
                  <a:stretch>
                    <a:fillRect l="-25000" r="-33333" b="-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85163BCF-85D7-EF29-CF2D-086A8AB75822}"/>
                    </a:ext>
                  </a:extLst>
                </p:cNvPr>
                <p:cNvSpPr txBox="1"/>
                <p:nvPr/>
              </p:nvSpPr>
              <p:spPr>
                <a:xfrm>
                  <a:off x="7263993" y="5965417"/>
                  <a:ext cx="13946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kumimoji="1" lang="en-US" altLang="ja-JP" sz="1400" b="0" dirty="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85163BCF-85D7-EF29-CF2D-086A8AB758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3993" y="5965417"/>
                  <a:ext cx="139461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36364" r="-36364" b="-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A2E7C1B5-0CDD-20DE-1585-CD2B57EB205A}"/>
                </a:ext>
              </a:extLst>
            </p:cNvPr>
            <p:cNvSpPr/>
            <p:nvPr/>
          </p:nvSpPr>
          <p:spPr>
            <a:xfrm>
              <a:off x="7551904" y="5670615"/>
              <a:ext cx="1024698" cy="44693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339470D-E4D4-9202-42F3-53691386298B}"/>
                </a:ext>
              </a:extLst>
            </p:cNvPr>
            <p:cNvSpPr txBox="1"/>
            <p:nvPr/>
          </p:nvSpPr>
          <p:spPr>
            <a:xfrm>
              <a:off x="7572209" y="5678637"/>
              <a:ext cx="9854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solidFill>
                    <a:schemeClr val="accent2"/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Low-energy </a:t>
              </a:r>
            </a:p>
            <a:p>
              <a:pPr algn="ctr"/>
              <a:r>
                <a:rPr kumimoji="1" lang="en-US" altLang="ja-JP" sz="1100" dirty="0">
                  <a:solidFill>
                    <a:schemeClr val="accent2"/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initial states</a:t>
              </a:r>
              <a:endParaRPr kumimoji="1" lang="ja-JP" altLang="en-US" sz="1100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3C2F605E-129B-727E-44FD-0A6826467789}"/>
                </a:ext>
              </a:extLst>
            </p:cNvPr>
            <p:cNvSpPr txBox="1"/>
            <p:nvPr/>
          </p:nvSpPr>
          <p:spPr>
            <a:xfrm>
              <a:off x="7571525" y="4982869"/>
              <a:ext cx="9854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Arbitrary </a:t>
              </a:r>
            </a:p>
            <a:p>
              <a:pPr algn="ctr"/>
              <a:r>
                <a:rPr kumimoji="1" lang="en-US" altLang="ja-JP" sz="11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initial states</a:t>
              </a:r>
              <a:endParaRPr kumimoji="1" lang="ja-JP" altLang="en-US" sz="11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8B5235B-01E2-2913-6B50-217176BD206A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3.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主結果</a:t>
            </a:r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: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最適な誤差上限とコスト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CCE08640-A8C7-1309-A254-5C868E1AD85A}"/>
                  </a:ext>
                </a:extLst>
              </p:cNvPr>
              <p:cNvSpPr txBox="1"/>
              <p:nvPr/>
            </p:nvSpPr>
            <p:spPr>
              <a:xfrm>
                <a:off x="8790434" y="61703"/>
                <a:ext cx="3141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11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CCE08640-A8C7-1309-A254-5C868E1AD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434" y="61703"/>
                <a:ext cx="314189" cy="276999"/>
              </a:xfrm>
              <a:prstGeom prst="rect">
                <a:avLst/>
              </a:prstGeom>
              <a:blipFill>
                <a:blip r:embed="rId7"/>
                <a:stretch>
                  <a:fillRect l="-15385" r="-11538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28F766-4035-0C13-AF9E-30C4EADB2E63}"/>
              </a:ext>
            </a:extLst>
          </p:cNvPr>
          <p:cNvSpPr txBox="1"/>
          <p:nvPr/>
        </p:nvSpPr>
        <p:spPr>
          <a:xfrm>
            <a:off x="228060" y="1235410"/>
            <a:ext cx="1707519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主結果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定理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):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A8C0D3A-EA83-6C39-9C32-F6213D5945F6}"/>
              </a:ext>
            </a:extLst>
          </p:cNvPr>
          <p:cNvSpPr txBox="1"/>
          <p:nvPr/>
        </p:nvSpPr>
        <p:spPr>
          <a:xfrm>
            <a:off x="239966" y="2141849"/>
            <a:ext cx="23264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任意初期状態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FE0572F-C16C-F44C-CCCC-D0C209CED02F}"/>
              </a:ext>
            </a:extLst>
          </p:cNvPr>
          <p:cNvSpPr txBox="1"/>
          <p:nvPr/>
        </p:nvSpPr>
        <p:spPr>
          <a:xfrm>
            <a:off x="239966" y="2413869"/>
            <a:ext cx="260077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105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A. M. Childs, et al., PRX </a:t>
            </a:r>
            <a:r>
              <a:rPr lang="en" altLang="ja-JP" sz="1050" b="1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" altLang="ja-JP" sz="105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011020 (2021)</a:t>
            </a:r>
            <a:endParaRPr lang="ja-JP" altLang="en-US" sz="105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AC36F43F-B129-7498-59BE-248669279F42}"/>
              </a:ext>
            </a:extLst>
          </p:cNvPr>
          <p:cNvSpPr/>
          <p:nvPr/>
        </p:nvSpPr>
        <p:spPr>
          <a:xfrm>
            <a:off x="7451993" y="2044652"/>
            <a:ext cx="356235" cy="1437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4BA48F4-4E29-7386-0D00-6B3972DC9581}"/>
              </a:ext>
            </a:extLst>
          </p:cNvPr>
          <p:cNvSpPr/>
          <p:nvPr/>
        </p:nvSpPr>
        <p:spPr>
          <a:xfrm>
            <a:off x="4698364" y="2261398"/>
            <a:ext cx="356235" cy="1437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07B1D9C7-3E04-2F41-1C0D-477FD9CBD6AE}"/>
              </a:ext>
            </a:extLst>
          </p:cNvPr>
          <p:cNvSpPr txBox="1"/>
          <p:nvPr/>
        </p:nvSpPr>
        <p:spPr>
          <a:xfrm>
            <a:off x="5624378" y="2001636"/>
            <a:ext cx="13237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Energy of </a:t>
            </a:r>
          </a:p>
          <a:p>
            <a:pPr algn="ctr"/>
            <a:r>
              <a:rPr kumimoji="1" lang="en-US" altLang="ja-JP" sz="11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whole system</a:t>
            </a:r>
            <a:endParaRPr kumimoji="1" lang="ja-JP" altLang="en-US" sz="110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0960B62-E73D-DE5E-8F61-8743766151F8}"/>
              </a:ext>
            </a:extLst>
          </p:cNvPr>
          <p:cNvGrpSpPr/>
          <p:nvPr/>
        </p:nvGrpSpPr>
        <p:grpSpPr>
          <a:xfrm>
            <a:off x="7564095" y="5747761"/>
            <a:ext cx="1540638" cy="381117"/>
            <a:chOff x="7564095" y="5463983"/>
            <a:chExt cx="1540638" cy="381117"/>
          </a:xfrm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CBC1E0B2-D276-FE34-A03E-710573E56956}"/>
                </a:ext>
              </a:extLst>
            </p:cNvPr>
            <p:cNvSpPr/>
            <p:nvPr/>
          </p:nvSpPr>
          <p:spPr>
            <a:xfrm>
              <a:off x="7564095" y="5498805"/>
              <a:ext cx="992379" cy="14432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上カーブ矢印 62">
              <a:extLst>
                <a:ext uri="{FF2B5EF4-FFF2-40B4-BE49-F238E27FC236}">
                  <a16:creationId xmlns:a16="http://schemas.microsoft.com/office/drawing/2014/main" id="{03713F43-5F93-9231-E7B5-2B1009ABBE85}"/>
                </a:ext>
              </a:extLst>
            </p:cNvPr>
            <p:cNvSpPr/>
            <p:nvPr/>
          </p:nvSpPr>
          <p:spPr>
            <a:xfrm rot="16200000">
              <a:off x="8446427" y="5629533"/>
              <a:ext cx="300959" cy="130175"/>
            </a:xfrm>
            <a:prstGeom prst="curved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96" name="テキスト ボックス 4095">
                  <a:extLst>
                    <a:ext uri="{FF2B5EF4-FFF2-40B4-BE49-F238E27FC236}">
                      <a16:creationId xmlns:a16="http://schemas.microsoft.com/office/drawing/2014/main" id="{FF0825E8-CB09-9A9E-93A6-C48BBE836D45}"/>
                    </a:ext>
                  </a:extLst>
                </p:cNvPr>
                <p:cNvSpPr txBox="1"/>
                <p:nvPr/>
              </p:nvSpPr>
              <p:spPr>
                <a:xfrm>
                  <a:off x="8647878" y="5463983"/>
                  <a:ext cx="456855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9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kumimoji="1" lang="en-US" altLang="ja-JP" sz="9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func>
                          <m:funcPr>
                            <m:ctrlPr>
                              <a:rPr kumimoji="1" lang="en-US" altLang="ja-JP" sz="9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kumimoji="1" lang="en-US" altLang="ja-JP" sz="900" b="0" i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kumimoji="1" lang="en-US" altLang="ja-JP" sz="9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oMath>
                    </m:oMathPara>
                  </a14:m>
                  <a:endParaRPr kumimoji="1" lang="ja-JP" altLang="en-US" sz="90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096" name="テキスト ボックス 4095">
                  <a:extLst>
                    <a:ext uri="{FF2B5EF4-FFF2-40B4-BE49-F238E27FC236}">
                      <a16:creationId xmlns:a16="http://schemas.microsoft.com/office/drawing/2014/main" id="{FF0825E8-CB09-9A9E-93A6-C48BBE836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7878" y="5463983"/>
                  <a:ext cx="456855" cy="138499"/>
                </a:xfrm>
                <a:prstGeom prst="rect">
                  <a:avLst/>
                </a:prstGeom>
                <a:blipFill>
                  <a:blip r:embed="rId17"/>
                  <a:stretch>
                    <a:fillRect l="-2703" r="-2703" b="-2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DD83B022-7205-5260-06E5-03FEB360E998}"/>
              </a:ext>
            </a:extLst>
          </p:cNvPr>
          <p:cNvCxnSpPr>
            <a:cxnSpLocks/>
          </p:cNvCxnSpPr>
          <p:nvPr/>
        </p:nvCxnSpPr>
        <p:spPr>
          <a:xfrm>
            <a:off x="3104880" y="1890342"/>
            <a:ext cx="0" cy="162113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BD91A989-7408-B7C2-2BBE-C8442460F01F}"/>
              </a:ext>
            </a:extLst>
          </p:cNvPr>
          <p:cNvGrpSpPr/>
          <p:nvPr/>
        </p:nvGrpSpPr>
        <p:grpSpPr>
          <a:xfrm>
            <a:off x="297550" y="5723141"/>
            <a:ext cx="7017223" cy="1029574"/>
            <a:chOff x="284194" y="4602302"/>
            <a:chExt cx="7017223" cy="1029574"/>
          </a:xfrm>
        </p:grpSpPr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3B0F9834-F147-AB06-B521-CB28D471E90E}"/>
                </a:ext>
              </a:extLst>
            </p:cNvPr>
            <p:cNvSpPr txBox="1"/>
            <p:nvPr/>
          </p:nvSpPr>
          <p:spPr>
            <a:xfrm>
              <a:off x="284194" y="4602302"/>
              <a:ext cx="534018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(2) </a:t>
              </a:r>
              <a:r>
                <a:rPr kumimoji="1" lang="ja-JP" altLang="en-US" sz="16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局所演算子による励起の指数減衰</a:t>
              </a:r>
              <a:r>
                <a:rPr kumimoji="1" lang="en-US" altLang="ja-JP" sz="16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 (Hastings</a:t>
              </a:r>
              <a:r>
                <a:rPr kumimoji="1" lang="ja-JP" altLang="en-US" sz="16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の定理</a:t>
              </a:r>
              <a:r>
                <a:rPr kumimoji="1" lang="en-US" altLang="ja-JP" sz="16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)</a:t>
              </a:r>
              <a:endParaRPr kumimoji="1" lang="ja-JP" altLang="en-US" sz="1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pic>
          <p:nvPicPr>
            <p:cNvPr id="2052" name="Picture 4" descr="\begin{align*}&#10;  |\braket{\psi_{&gt; \Delta'} |O_X | \psi_{\leq \Delta}}| \leq \| O_X \| e^{- \mathcal{O} \left( \frac{\Delta'-\Delta - g|X|}g \right)}&#10;\end{align*}">
              <a:extLst>
                <a:ext uri="{FF2B5EF4-FFF2-40B4-BE49-F238E27FC236}">
                  <a16:creationId xmlns:a16="http://schemas.microsoft.com/office/drawing/2014/main" id="{4570AC43-C2BB-2D95-94DC-40755227B5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2733" y="5250770"/>
              <a:ext cx="4165413" cy="3811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3A550F61-0E91-A67B-56BE-4892545C93E5}"/>
                </a:ext>
              </a:extLst>
            </p:cNvPr>
            <p:cNvSpPr txBox="1"/>
            <p:nvPr/>
          </p:nvSpPr>
          <p:spPr>
            <a:xfrm>
              <a:off x="3872127" y="4912216"/>
              <a:ext cx="34292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I. Arad, et al., J. Stat. Mech. 2016, 033301 (2016).</a:t>
              </a:r>
              <a:endParaRPr lang="ja-JP" altLang="en-US" sz="120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113" name="グループ化 4112">
            <a:extLst>
              <a:ext uri="{FF2B5EF4-FFF2-40B4-BE49-F238E27FC236}">
                <a16:creationId xmlns:a16="http://schemas.microsoft.com/office/drawing/2014/main" id="{61E6CA9B-D3A1-7102-3DCA-1BC5D87DCBEA}"/>
              </a:ext>
            </a:extLst>
          </p:cNvPr>
          <p:cNvGrpSpPr/>
          <p:nvPr/>
        </p:nvGrpSpPr>
        <p:grpSpPr>
          <a:xfrm>
            <a:off x="137436" y="2518182"/>
            <a:ext cx="8820415" cy="1523800"/>
            <a:chOff x="137436" y="2518182"/>
            <a:chExt cx="8820415" cy="1523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テキスト ボックス 54">
                  <a:extLst>
                    <a:ext uri="{FF2B5EF4-FFF2-40B4-BE49-F238E27FC236}">
                      <a16:creationId xmlns:a16="http://schemas.microsoft.com/office/drawing/2014/main" id="{620FF680-7332-B7A4-9F04-F9E6BD87D862}"/>
                    </a:ext>
                  </a:extLst>
                </p:cNvPr>
                <p:cNvSpPr txBox="1"/>
                <p:nvPr/>
              </p:nvSpPr>
              <p:spPr>
                <a:xfrm>
                  <a:off x="137436" y="3672650"/>
                  <a:ext cx="8820415" cy="369332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ja-JP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“</a:t>
                  </a:r>
                  <a:r>
                    <a:rPr kumimoji="1" lang="ja-JP" altLang="en-US" b="1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初期エネルギー</a:t>
                  </a:r>
                  <a:r>
                    <a:rPr kumimoji="1" lang="en-US" altLang="ja-JP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l-GR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𝜟</m:t>
                      </m:r>
                    </m:oMath>
                  </a14:m>
                  <a:r>
                    <a:rPr kumimoji="1" lang="en-US" altLang="ja-JP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 b="1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が全系エネルギー</a:t>
                  </a:r>
                  <a:r>
                    <a:rPr kumimoji="1" lang="en-US" altLang="ja-JP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b="1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𝑵𝒈</m:t>
                      </m:r>
                    </m:oMath>
                  </a14:m>
                  <a:r>
                    <a:rPr kumimoji="1" lang="en-US" altLang="ja-JP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より小さい</a:t>
                  </a:r>
                  <a:r>
                    <a:rPr kumimoji="1" lang="ja-JP" altLang="en-US" b="1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と、誤差・コストが減少</a:t>
                  </a:r>
                  <a:r>
                    <a:rPr kumimoji="1" lang="en-US" altLang="ja-JP" b="1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!”</a:t>
                  </a:r>
                  <a:endParaRPr kumimoji="1" lang="ja-JP" altLang="en-US" b="1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5" name="テキスト ボックス 54">
                  <a:extLst>
                    <a:ext uri="{FF2B5EF4-FFF2-40B4-BE49-F238E27FC236}">
                      <a16:creationId xmlns:a16="http://schemas.microsoft.com/office/drawing/2014/main" id="{620FF680-7332-B7A4-9F04-F9E6BD87D8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436" y="3672650"/>
                  <a:ext cx="8820415" cy="369332"/>
                </a:xfrm>
                <a:prstGeom prst="rect">
                  <a:avLst/>
                </a:prstGeom>
                <a:blipFill>
                  <a:blip r:embed="rId19"/>
                  <a:stretch>
                    <a:fillRect t="-6452" b="-2258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111" name="グループ化 4110">
              <a:extLst>
                <a:ext uri="{FF2B5EF4-FFF2-40B4-BE49-F238E27FC236}">
                  <a16:creationId xmlns:a16="http://schemas.microsoft.com/office/drawing/2014/main" id="{687ADA9D-D92C-B7D5-A182-CD7F21158567}"/>
                </a:ext>
              </a:extLst>
            </p:cNvPr>
            <p:cNvGrpSpPr/>
            <p:nvPr/>
          </p:nvGrpSpPr>
          <p:grpSpPr>
            <a:xfrm>
              <a:off x="3762798" y="2518182"/>
              <a:ext cx="5027636" cy="993291"/>
              <a:chOff x="3762798" y="2518182"/>
              <a:chExt cx="5027636" cy="993291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B7BAF5AF-9FE1-97A2-6B7B-D5E894317D8E}"/>
                  </a:ext>
                </a:extLst>
              </p:cNvPr>
              <p:cNvSpPr/>
              <p:nvPr/>
            </p:nvSpPr>
            <p:spPr>
              <a:xfrm>
                <a:off x="6908664" y="2864511"/>
                <a:ext cx="1550691" cy="13044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100" name="Picture 4" descr="\begin{align*}&#10;  gt \left( \frac{(\Delta + g \log (N/\varepsilon))t}{\varepsilon}\right)^{\frac1p}&#10;\end{align*}">
                <a:extLst>
                  <a:ext uri="{FF2B5EF4-FFF2-40B4-BE49-F238E27FC236}">
                    <a16:creationId xmlns:a16="http://schemas.microsoft.com/office/drawing/2014/main" id="{87B82710-D0D1-6C10-FAE3-CCBDED61CD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577586" y="2718042"/>
                <a:ext cx="2212848" cy="55321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9CD1594D-EDCF-B322-70D1-A6A51D46F24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7620841" y="2508724"/>
                    <a:ext cx="25808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ja-JP" altLang="en-US" i="1" smtClean="0">
                              <a:latin typeface="Cambria Math" panose="02040503050406030204" pitchFamily="18" charset="0"/>
                            </a:rPr>
                            <m:t>≫</m:t>
                          </m:r>
                        </m:oMath>
                      </m:oMathPara>
                    </a14:m>
                    <a:endParaRPr kumimoji="1" lang="ja-JP" altLang="en-US"/>
                  </a:p>
                </p:txBody>
              </p:sp>
            </mc:Choice>
            <mc:Fallback xmlns="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9CD1594D-EDCF-B322-70D1-A6A51D46F2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7620841" y="2508724"/>
                    <a:ext cx="258083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4348" t="-19048" b="-1904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51E69C1D-4FE1-A79B-C287-8397F0D1897C}"/>
                  </a:ext>
                </a:extLst>
              </p:cNvPr>
              <p:cNvSpPr/>
              <p:nvPr/>
            </p:nvSpPr>
            <p:spPr>
              <a:xfrm>
                <a:off x="4297659" y="3063623"/>
                <a:ext cx="1550691" cy="13044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104" name="Picture 8" descr="\begin{align*}&#10;  (gt)^p (\Delta + g \log (N/\varepsilon))t&#10;\end{align*}">
                <a:extLst>
                  <a:ext uri="{FF2B5EF4-FFF2-40B4-BE49-F238E27FC236}">
                    <a16:creationId xmlns:a16="http://schemas.microsoft.com/office/drawing/2014/main" id="{9EA03035-5F46-A669-3158-6A5054D7C09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62798" y="2913351"/>
                <a:ext cx="2251667" cy="2285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1057F045-E6F1-A7F8-1BB8-67E79A3AAD9F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4849040" y="2529285"/>
                    <a:ext cx="25808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ja-JP" altLang="en-US" i="1" smtClean="0">
                              <a:latin typeface="Cambria Math" panose="02040503050406030204" pitchFamily="18" charset="0"/>
                            </a:rPr>
                            <m:t>≫</m:t>
                          </m:r>
                        </m:oMath>
                      </m:oMathPara>
                    </a14:m>
                    <a:endParaRPr kumimoji="1" lang="ja-JP" altLang="en-US"/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1057F045-E6F1-A7F8-1BB8-67E79A3AAD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4849040" y="2529285"/>
                    <a:ext cx="258083" cy="27699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4545" t="-13636" b="-1363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A4071382-3E20-D649-CDEE-3D40397AF10F}"/>
                  </a:ext>
                </a:extLst>
              </p:cNvPr>
              <p:cNvSpPr txBox="1"/>
              <p:nvPr/>
            </p:nvSpPr>
            <p:spPr>
              <a:xfrm>
                <a:off x="5615217" y="3249863"/>
                <a:ext cx="1550691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100" dirty="0">
                    <a:solidFill>
                      <a:schemeClr val="accent2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Energy of initial state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10" name="テキスト ボックス 4109">
                <a:extLst>
                  <a:ext uri="{FF2B5EF4-FFF2-40B4-BE49-F238E27FC236}">
                    <a16:creationId xmlns:a16="http://schemas.microsoft.com/office/drawing/2014/main" id="{00CEF9EA-5E77-F580-F84A-6D03CA407C0B}"/>
                  </a:ext>
                </a:extLst>
              </p:cNvPr>
              <p:cNvSpPr txBox="1"/>
              <p:nvPr/>
            </p:nvSpPr>
            <p:spPr>
              <a:xfrm>
                <a:off x="1704989" y="1191984"/>
                <a:ext cx="23264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ja-JP" sz="1400" b="0" i="1" dirty="0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𝑝</m:t>
                    </m:r>
                    <m:r>
                      <a:rPr kumimoji="1" lang="en-US" altLang="ja-JP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kumimoji="1" lang="en-US" altLang="ja-JP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ℕ</m:t>
                    </m:r>
                  </m:oMath>
                </a14:m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: Trotter order</a:t>
                </a:r>
                <a:endParaRPr kumimoji="1" lang="ja-JP" altLang="en-US" sz="1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10" name="テキスト ボックス 4109">
                <a:extLst>
                  <a:ext uri="{FF2B5EF4-FFF2-40B4-BE49-F238E27FC236}">
                    <a16:creationId xmlns:a16="http://schemas.microsoft.com/office/drawing/2014/main" id="{00CEF9EA-5E77-F580-F84A-6D03CA407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4989" y="1191984"/>
                <a:ext cx="2326450" cy="307777"/>
              </a:xfrm>
              <a:prstGeom prst="rect">
                <a:avLst/>
              </a:prstGeom>
              <a:blipFill>
                <a:blip r:embed="rId2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2" descr="\begin{align*}&#10;  gt \left( \frac{Ngt}{\varepsilon}\right)^{\frac1p}&#10;\end{align*}">
            <a:extLst>
              <a:ext uri="{FF2B5EF4-FFF2-40B4-BE49-F238E27FC236}">
                <a16:creationId xmlns:a16="http://schemas.microsoft.com/office/drawing/2014/main" id="{F116BB6C-22E2-1C97-2054-DFC9277EF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1873" y="1890342"/>
            <a:ext cx="1040638" cy="56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\begin{align*}&#10;  (gt)^p Ngt&#10;\end{align*}">
            <a:extLst>
              <a:ext uri="{FF2B5EF4-FFF2-40B4-BE49-F238E27FC236}">
                <a16:creationId xmlns:a16="http://schemas.microsoft.com/office/drawing/2014/main" id="{ACB43EBF-416B-612A-F9B2-AC1D9CFF2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6480" y="2113603"/>
            <a:ext cx="875030" cy="22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DBA6D40-E9E2-DB74-57F1-6B904E36BE88}"/>
              </a:ext>
            </a:extLst>
          </p:cNvPr>
          <p:cNvSpPr txBox="1"/>
          <p:nvPr/>
        </p:nvSpPr>
        <p:spPr>
          <a:xfrm>
            <a:off x="3408775" y="1484297"/>
            <a:ext cx="23264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アルゴリズムの誤差上限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C515E947-A521-DB89-984A-EE7C52688114}"/>
                  </a:ext>
                </a:extLst>
              </p:cNvPr>
              <p:cNvSpPr txBox="1"/>
              <p:nvPr/>
            </p:nvSpPr>
            <p:spPr>
              <a:xfrm>
                <a:off x="6570806" y="1484296"/>
                <a:ext cx="23264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Trotter</a:t>
                </a:r>
                <a:r>
                  <a:rPr kumimoji="1" lang="ja-JP" altLang="en-US" sz="1400" b="1" u="sng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数</a:t>
                </a:r>
                <a14:m>
                  <m:oMath xmlns:m="http://schemas.openxmlformats.org/officeDocument/2006/math">
                    <m:r>
                      <a:rPr kumimoji="1" lang="en-US" altLang="ja-JP" sz="1400" b="1" i="1" u="sng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𝒓</m:t>
                    </m:r>
                  </m:oMath>
                </a14:m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(</a:t>
                </a:r>
                <a:r>
                  <a:rPr kumimoji="1" lang="ja-JP" altLang="en-US" sz="1400" b="1" u="sng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計算コスト</a:t>
                </a:r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)</a:t>
                </a:r>
                <a:endParaRPr kumimoji="1" lang="ja-JP" altLang="en-US" sz="1400" b="1" u="sng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C515E947-A521-DB89-984A-EE7C526881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0806" y="1484296"/>
                <a:ext cx="2326450" cy="307777"/>
              </a:xfrm>
              <a:prstGeom prst="rect">
                <a:avLst/>
              </a:prstGeom>
              <a:blipFill>
                <a:blip r:embed="rId28"/>
                <a:stretch>
                  <a:fillRect t="-3846" b="-1923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D0637ED3-7F4A-D49F-6410-00051678DE38}"/>
                  </a:ext>
                </a:extLst>
              </p:cNvPr>
              <p:cNvSpPr txBox="1"/>
              <p:nvPr/>
            </p:nvSpPr>
            <p:spPr>
              <a:xfrm>
                <a:off x="239966" y="2763048"/>
                <a:ext cx="232645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低エネルギー初期状態</a:t>
                </a:r>
                <a:endParaRPr kumimoji="1" lang="en-US" altLang="ja-JP" sz="14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  <a:p>
                <a:pPr algn="ctr"/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(Energy </a:t>
                </a:r>
                <a14:m>
                  <m:oMath xmlns:m="http://schemas.openxmlformats.org/officeDocument/2006/math">
                    <m:r>
                      <a:rPr kumimoji="1" lang="en-US" altLang="ja-JP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kumimoji="1" lang="el-GR" altLang="ja-JP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</m:oMath>
                </a14:m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, Our results)</a:t>
                </a:r>
                <a:endParaRPr kumimoji="1" lang="ja-JP" altLang="en-US" sz="1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D0637ED3-7F4A-D49F-6410-00051678D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66" y="2763048"/>
                <a:ext cx="2326450" cy="523220"/>
              </a:xfrm>
              <a:prstGeom prst="rect">
                <a:avLst/>
              </a:prstGeom>
              <a:blipFill>
                <a:blip r:embed="rId29"/>
                <a:stretch>
                  <a:fillRect t="-4762" b="-119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06" name="テキスト ボックス 4105">
            <a:extLst>
              <a:ext uri="{FF2B5EF4-FFF2-40B4-BE49-F238E27FC236}">
                <a16:creationId xmlns:a16="http://schemas.microsoft.com/office/drawing/2014/main" id="{F0575C9A-6C5D-9931-9E30-03F451AA8865}"/>
              </a:ext>
            </a:extLst>
          </p:cNvPr>
          <p:cNvSpPr txBox="1"/>
          <p:nvPr/>
        </p:nvSpPr>
        <p:spPr>
          <a:xfrm>
            <a:off x="3303559" y="4153656"/>
            <a:ext cx="2296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>
                <a:solidFill>
                  <a:schemeClr val="accent1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Trotter </a:t>
            </a:r>
            <a:r>
              <a:rPr kumimoji="1" lang="ja-JP" altLang="en-US" sz="1400">
                <a:solidFill>
                  <a:schemeClr val="accent1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誤差による励起</a:t>
            </a:r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6C2159C8-EB6D-28FA-2990-304F6666B6FF}"/>
              </a:ext>
            </a:extLst>
          </p:cNvPr>
          <p:cNvGrpSpPr/>
          <p:nvPr/>
        </p:nvGrpSpPr>
        <p:grpSpPr>
          <a:xfrm>
            <a:off x="200995" y="4179029"/>
            <a:ext cx="6611596" cy="1526318"/>
            <a:chOff x="200995" y="4179029"/>
            <a:chExt cx="6611596" cy="1526318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1519ACD8-4CDC-3460-4623-82F030183F96}"/>
                </a:ext>
              </a:extLst>
            </p:cNvPr>
            <p:cNvSpPr/>
            <p:nvPr/>
          </p:nvSpPr>
          <p:spPr>
            <a:xfrm>
              <a:off x="4644309" y="4605412"/>
              <a:ext cx="2077189" cy="10951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0C99F9BA-A68A-AA9D-10D3-5F1CE25DF33C}"/>
                </a:ext>
              </a:extLst>
            </p:cNvPr>
            <p:cNvSpPr/>
            <p:nvPr/>
          </p:nvSpPr>
          <p:spPr>
            <a:xfrm>
              <a:off x="6350827" y="5214478"/>
              <a:ext cx="249694" cy="14031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8A2E573B-8449-5FF1-C8A9-6D85669ADC09}"/>
                </a:ext>
              </a:extLst>
            </p:cNvPr>
            <p:cNvSpPr txBox="1"/>
            <p:nvPr/>
          </p:nvSpPr>
          <p:spPr>
            <a:xfrm>
              <a:off x="200995" y="4179029"/>
              <a:ext cx="140294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証明の手法</a:t>
              </a:r>
              <a:r>
                <a:rPr kumimoji="1" lang="en-US" altLang="ja-JP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:</a:t>
              </a:r>
              <a:endPara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39327EBC-3EAE-7ABE-3C3E-2D4AB868B243}"/>
                </a:ext>
              </a:extLst>
            </p:cNvPr>
            <p:cNvGrpSpPr/>
            <p:nvPr/>
          </p:nvGrpSpPr>
          <p:grpSpPr>
            <a:xfrm>
              <a:off x="312493" y="4617459"/>
              <a:ext cx="6500098" cy="1087888"/>
              <a:chOff x="284194" y="5784895"/>
              <a:chExt cx="6500098" cy="1087888"/>
            </a:xfrm>
          </p:grpSpPr>
          <p:sp>
            <p:nvSpPr>
              <p:cNvPr id="30" name="正方形/長方形 29">
                <a:extLst>
                  <a:ext uri="{FF2B5EF4-FFF2-40B4-BE49-F238E27FC236}">
                    <a16:creationId xmlns:a16="http://schemas.microsoft.com/office/drawing/2014/main" id="{A0F4DC43-7ACB-8069-0FB1-3AFA686BF5A1}"/>
                  </a:ext>
                </a:extLst>
              </p:cNvPr>
              <p:cNvSpPr/>
              <p:nvPr/>
            </p:nvSpPr>
            <p:spPr>
              <a:xfrm>
                <a:off x="4751649" y="6385107"/>
                <a:ext cx="412366" cy="17603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F80B9AC6-DE4B-EB13-F782-23964AD9F62C}"/>
                  </a:ext>
                </a:extLst>
              </p:cNvPr>
              <p:cNvSpPr/>
              <p:nvPr/>
            </p:nvSpPr>
            <p:spPr>
              <a:xfrm>
                <a:off x="2647680" y="6385107"/>
                <a:ext cx="2050684" cy="176031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D5A8E832-9A46-7D66-31AF-3041514D673E}"/>
                  </a:ext>
                </a:extLst>
              </p:cNvPr>
              <p:cNvSpPr txBox="1"/>
              <p:nvPr/>
            </p:nvSpPr>
            <p:spPr>
              <a:xfrm>
                <a:off x="284194" y="5784895"/>
                <a:ext cx="53401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16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(1) </a:t>
                </a:r>
                <a:r>
                  <a:rPr kumimoji="1" lang="ja-JP" altLang="en-US" sz="16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低エネルギー状態の交換子スケーリング</a:t>
                </a:r>
              </a:p>
            </p:txBody>
          </p:sp>
          <p:pic>
            <p:nvPicPr>
              <p:cNvPr id="10" name="Picture 4" descr="\begin{align*}&#10;  \sum_{\gamma_0,\cdots,\gamma_q} \| \Pi_{\leq \Delta}[H_{\gamma_q},[\cdots,[H_{\gamma_1},H_{\gamma_0}]]] \Pi_{\leq\Delta}\| \leq q! (2kg)^q \Delta&#10;\end{align*}">
                <a:extLst>
                  <a:ext uri="{FF2B5EF4-FFF2-40B4-BE49-F238E27FC236}">
                    <a16:creationId xmlns:a16="http://schemas.microsoft.com/office/drawing/2014/main" id="{49A8D11B-36B9-CB50-1108-70242C03F4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03190" y="6231472"/>
                <a:ext cx="5116956" cy="50281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1AC5EC33-3D0D-9644-1CD5-EB7E4DB5DB5B}"/>
                  </a:ext>
                </a:extLst>
              </p:cNvPr>
              <p:cNvSpPr txBox="1"/>
              <p:nvPr/>
            </p:nvSpPr>
            <p:spPr>
              <a:xfrm>
                <a:off x="2736818" y="6595784"/>
                <a:ext cx="196154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Trotter</a:t>
                </a:r>
                <a:r>
                  <a:rPr kumimoji="1" lang="ja-JP" altLang="en-US" sz="1200">
                    <a:solidFill>
                      <a:srgbClr val="0070C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誤差の多重交換子</a:t>
                </a: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032C49CD-65E4-E024-2272-969C5F36AEF6}"/>
                  </a:ext>
                </a:extLst>
              </p:cNvPr>
              <p:cNvSpPr txBox="1"/>
              <p:nvPr/>
            </p:nvSpPr>
            <p:spPr>
              <a:xfrm>
                <a:off x="4572000" y="6583788"/>
                <a:ext cx="221229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200">
                    <a:solidFill>
                      <a:schemeClr val="accent2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低エネルギー状態への射影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0777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3C307-B5A8-EE86-BE6C-1005F2014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152FD85-5A6A-0432-3FEA-30B9A71DF2BC}"/>
              </a:ext>
            </a:extLst>
          </p:cNvPr>
          <p:cNvSpPr/>
          <p:nvPr/>
        </p:nvSpPr>
        <p:spPr>
          <a:xfrm>
            <a:off x="3740511" y="3164622"/>
            <a:ext cx="233069" cy="1152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5A85E7B-AD43-CD7A-8CE8-4F8B9862519B}"/>
              </a:ext>
            </a:extLst>
          </p:cNvPr>
          <p:cNvSpPr/>
          <p:nvPr/>
        </p:nvSpPr>
        <p:spPr>
          <a:xfrm>
            <a:off x="4199247" y="2302935"/>
            <a:ext cx="356235" cy="1437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5A001DC-771C-7CB9-296C-619250BDC496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4.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先行研究との比較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EDA8C82-B1FA-6D5A-6F09-3C3B45A1B241}"/>
              </a:ext>
            </a:extLst>
          </p:cNvPr>
          <p:cNvSpPr txBox="1"/>
          <p:nvPr/>
        </p:nvSpPr>
        <p:spPr>
          <a:xfrm>
            <a:off x="123533" y="1199350"/>
            <a:ext cx="5513048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低エネルギー状態に対する既存結果との比較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: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4098" name="Picture 2" descr="\begin{align*}&#10;  gt \left( \frac{Ngt}{\varepsilon}\right)^{\frac1p}&#10;\end{align*}">
            <a:extLst>
              <a:ext uri="{FF2B5EF4-FFF2-40B4-BE49-F238E27FC236}">
                <a16:creationId xmlns:a16="http://schemas.microsoft.com/office/drawing/2014/main" id="{B70ACD50-C5D1-4F8D-1CE2-594846B7F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7046" y="2162903"/>
            <a:ext cx="1040638" cy="56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\begin{align*}&#10;  gt \left( \frac{(\Delta + g \log (N/\varepsilon))t}{\varepsilon}\right)^{\frac1p}&#10;\end{align*}">
            <a:extLst>
              <a:ext uri="{FF2B5EF4-FFF2-40B4-BE49-F238E27FC236}">
                <a16:creationId xmlns:a16="http://schemas.microsoft.com/office/drawing/2014/main" id="{34E00B74-35B7-E877-6A02-DAF1E7E87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7742" y="3005617"/>
            <a:ext cx="2212848" cy="553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599354C6-6FD8-41C2-693D-FFEF85A88D24}"/>
              </a:ext>
            </a:extLst>
          </p:cNvPr>
          <p:cNvCxnSpPr>
            <a:cxnSpLocks/>
          </p:cNvCxnSpPr>
          <p:nvPr/>
        </p:nvCxnSpPr>
        <p:spPr>
          <a:xfrm>
            <a:off x="3104880" y="2162903"/>
            <a:ext cx="0" cy="292555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AC89D83-6EC0-5EBE-A581-816BFC2D201E}"/>
              </a:ext>
            </a:extLst>
          </p:cNvPr>
          <p:cNvSpPr txBox="1"/>
          <p:nvPr/>
        </p:nvSpPr>
        <p:spPr>
          <a:xfrm>
            <a:off x="239966" y="2299714"/>
            <a:ext cx="23264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任意初期状態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8F871C0-7038-6487-D0B2-65F1312C57B2}"/>
              </a:ext>
            </a:extLst>
          </p:cNvPr>
          <p:cNvSpPr txBox="1"/>
          <p:nvPr/>
        </p:nvSpPr>
        <p:spPr>
          <a:xfrm>
            <a:off x="239966" y="2571734"/>
            <a:ext cx="260077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105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A. M. Childs, et al., PRX </a:t>
            </a:r>
            <a:r>
              <a:rPr lang="en" altLang="ja-JP" sz="1050" b="1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" altLang="ja-JP" sz="105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011020 (2021)</a:t>
            </a:r>
            <a:endParaRPr lang="ja-JP" altLang="en-US" sz="105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D753B7E2-9F6E-DAE8-8D03-A6E8ED984DB1}"/>
                  </a:ext>
                </a:extLst>
              </p:cNvPr>
              <p:cNvSpPr txBox="1"/>
              <p:nvPr/>
            </p:nvSpPr>
            <p:spPr>
              <a:xfrm>
                <a:off x="282171" y="3023082"/>
                <a:ext cx="232645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1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低エネルギー初期状態</a:t>
                </a:r>
                <a:endParaRPr kumimoji="1" lang="en-US" altLang="ja-JP" sz="14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  <a:p>
                <a:pPr algn="ctr"/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(Energy </a:t>
                </a:r>
                <a14:m>
                  <m:oMath xmlns:m="http://schemas.openxmlformats.org/officeDocument/2006/math">
                    <m:r>
                      <a:rPr kumimoji="1" lang="en-US" altLang="ja-JP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kumimoji="1" lang="el-GR" altLang="ja-JP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</m:oMath>
                </a14:m>
                <a:r>
                  <a:rPr kumimoji="1" lang="en-US" altLang="ja-JP" sz="1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, Our results)</a:t>
                </a:r>
                <a:endParaRPr kumimoji="1" lang="ja-JP" altLang="en-US" sz="1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D753B7E2-9F6E-DAE8-8D03-A6E8ED984D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171" y="3023082"/>
                <a:ext cx="2326450" cy="523220"/>
              </a:xfrm>
              <a:prstGeom prst="rect">
                <a:avLst/>
              </a:prstGeom>
              <a:blipFill>
                <a:blip r:embed="rId7"/>
                <a:stretch>
                  <a:fillRect t="-4762" b="-95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4DEAF8F2-3839-0DD6-D2DB-F162E8FE7E0B}"/>
              </a:ext>
            </a:extLst>
          </p:cNvPr>
          <p:cNvGrpSpPr/>
          <p:nvPr/>
        </p:nvGrpSpPr>
        <p:grpSpPr>
          <a:xfrm>
            <a:off x="178054" y="3709280"/>
            <a:ext cx="5494925" cy="1233267"/>
            <a:chOff x="178054" y="3709280"/>
            <a:chExt cx="5494925" cy="1233267"/>
          </a:xfrm>
        </p:grpSpPr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CE42AA1-7894-2F68-C36A-DD7702334E74}"/>
                </a:ext>
              </a:extLst>
            </p:cNvPr>
            <p:cNvSpPr txBox="1"/>
            <p:nvPr/>
          </p:nvSpPr>
          <p:spPr>
            <a:xfrm>
              <a:off x="178054" y="3992867"/>
              <a:ext cx="269536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10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B. </a:t>
              </a:r>
              <a:r>
                <a:rPr lang="en" altLang="ja-JP" sz="1000" dirty="0" err="1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Şahinoğlu</a:t>
              </a:r>
              <a:r>
                <a:rPr lang="en" altLang="ja-JP" sz="10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et al., </a:t>
              </a:r>
              <a:r>
                <a:rPr lang="en" altLang="ja-JP" sz="1000" dirty="0" err="1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Npj</a:t>
              </a:r>
              <a:r>
                <a:rPr lang="en" altLang="ja-JP" sz="10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Quantum Info. (2021)</a:t>
              </a: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B9867BA-9112-CA78-087D-9B7AAF064A9F}"/>
                </a:ext>
              </a:extLst>
            </p:cNvPr>
            <p:cNvSpPr txBox="1"/>
            <p:nvPr/>
          </p:nvSpPr>
          <p:spPr>
            <a:xfrm>
              <a:off x="282171" y="4696326"/>
              <a:ext cx="242746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10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K. Hejazi, at al., arXiv:2402.10362 (2024) </a:t>
              </a:r>
              <a:endParaRPr lang="ja-JP" altLang="en-US" sz="100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28" name="Picture 4" descr="\begin{align*}&#10;    \Delta t \left(\frac{\Delta t}{\varepsilon}\right)^{\frac1p}+ gt \left( \frac{N^{p+1}gt}{\varepsilon}\right)^{\frac1{(p+1)^2+p}}&#10;\end{align*}">
              <a:extLst>
                <a:ext uri="{FF2B5EF4-FFF2-40B4-BE49-F238E27FC236}">
                  <a16:creationId xmlns:a16="http://schemas.microsoft.com/office/drawing/2014/main" id="{AA6E52BE-D12F-E40E-3ACC-869A9C0149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95592" y="4531812"/>
              <a:ext cx="2228324" cy="4064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\begin{align*}&#10;   \Delta t \left(\frac{\Delta t}{\varepsilon}\right)^{\frac1p}+ gt \left(\frac{gt}{\varepsilon}\right)^{\frac1{2p+1}} N^{\frac12+\frac1{4p+2}}&#10;\end{align*}">
              <a:extLst>
                <a:ext uri="{FF2B5EF4-FFF2-40B4-BE49-F238E27FC236}">
                  <a16:creationId xmlns:a16="http://schemas.microsoft.com/office/drawing/2014/main" id="{C452E8AA-39B7-3E06-D916-D58FCA5361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6529" y="3844741"/>
              <a:ext cx="2326450" cy="410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2A8B7671-24B1-27C9-8C19-CC9D245EDD2B}"/>
                </a:ext>
              </a:extLst>
            </p:cNvPr>
            <p:cNvSpPr txBox="1"/>
            <p:nvPr/>
          </p:nvSpPr>
          <p:spPr>
            <a:xfrm>
              <a:off x="239966" y="3709280"/>
              <a:ext cx="23264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低エネルギー初期状態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7BE5211E-5026-50E7-A152-633130EF4E6E}"/>
                </a:ext>
              </a:extLst>
            </p:cNvPr>
            <p:cNvSpPr txBox="1"/>
            <p:nvPr/>
          </p:nvSpPr>
          <p:spPr>
            <a:xfrm>
              <a:off x="239966" y="4402066"/>
              <a:ext cx="23264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低エネルギー初期状態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E1BBDCB1-95E6-19D1-7BED-47C98EB13FD6}"/>
                  </a:ext>
                </a:extLst>
              </p:cNvPr>
              <p:cNvSpPr txBox="1"/>
              <p:nvPr/>
            </p:nvSpPr>
            <p:spPr>
              <a:xfrm>
                <a:off x="3262803" y="1791639"/>
                <a:ext cx="23264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Trotter</a:t>
                </a:r>
                <a:r>
                  <a:rPr kumimoji="1" lang="ja-JP" altLang="en-US" sz="1400" b="1" u="sng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数</a:t>
                </a:r>
                <a14:m>
                  <m:oMath xmlns:m="http://schemas.openxmlformats.org/officeDocument/2006/math">
                    <m:r>
                      <a:rPr kumimoji="1" lang="en-US" altLang="ja-JP" sz="1400" b="1" i="1" u="sng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𝒓</m:t>
                    </m:r>
                  </m:oMath>
                </a14:m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(</a:t>
                </a:r>
                <a:r>
                  <a:rPr kumimoji="1" lang="ja-JP" altLang="en-US" sz="1400" b="1" u="sng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計算コスト</a:t>
                </a:r>
                <a:r>
                  <a:rPr kumimoji="1" lang="en-US" altLang="ja-JP" sz="1400" b="1" u="sng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)</a:t>
                </a:r>
                <a:endParaRPr kumimoji="1" lang="ja-JP" altLang="en-US" sz="1400" b="1" u="sng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E1BBDCB1-95E6-19D1-7BED-47C98EB13F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803" y="1791639"/>
                <a:ext cx="2326450" cy="307777"/>
              </a:xfrm>
              <a:prstGeom prst="rect">
                <a:avLst/>
              </a:prstGeom>
              <a:blipFill>
                <a:blip r:embed="rId10"/>
                <a:stretch>
                  <a:fillRect t="-8000" b="-2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7E672EF6-46A8-CD91-CF37-AB6E9A7FBD93}"/>
                  </a:ext>
                </a:extLst>
              </p:cNvPr>
              <p:cNvSpPr txBox="1"/>
              <p:nvPr/>
            </p:nvSpPr>
            <p:spPr>
              <a:xfrm>
                <a:off x="8783638" y="0"/>
                <a:ext cx="3141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12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7E672EF6-46A8-CD91-CF37-AB6E9A7FB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3638" y="0"/>
                <a:ext cx="314189" cy="276999"/>
              </a:xfrm>
              <a:prstGeom prst="rect">
                <a:avLst/>
              </a:prstGeom>
              <a:blipFill>
                <a:blip r:embed="rId11"/>
                <a:stretch>
                  <a:fillRect l="-15385" r="-11538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E355C8FD-CAE8-997F-CCDE-529E97DDBEED}"/>
              </a:ext>
            </a:extLst>
          </p:cNvPr>
          <p:cNvGrpSpPr/>
          <p:nvPr/>
        </p:nvGrpSpPr>
        <p:grpSpPr>
          <a:xfrm>
            <a:off x="5793680" y="2299714"/>
            <a:ext cx="2831032" cy="2796636"/>
            <a:chOff x="5793680" y="2299714"/>
            <a:chExt cx="2831032" cy="2796636"/>
          </a:xfrm>
        </p:grpSpPr>
        <p:sp>
          <p:nvSpPr>
            <p:cNvPr id="45" name="曲折矢印 44">
              <a:extLst>
                <a:ext uri="{FF2B5EF4-FFF2-40B4-BE49-F238E27FC236}">
                  <a16:creationId xmlns:a16="http://schemas.microsoft.com/office/drawing/2014/main" id="{B2D91FD0-AD9B-BB8D-234E-B686F503E259}"/>
                </a:ext>
              </a:extLst>
            </p:cNvPr>
            <p:cNvSpPr/>
            <p:nvPr/>
          </p:nvSpPr>
          <p:spPr>
            <a:xfrm rot="5400000">
              <a:off x="5891245" y="2250891"/>
              <a:ext cx="1444758" cy="1542403"/>
            </a:xfrm>
            <a:prstGeom prst="bentArrow">
              <a:avLst>
                <a:gd name="adj1" fmla="val 6768"/>
                <a:gd name="adj2" fmla="val 10144"/>
                <a:gd name="adj3" fmla="val 4741"/>
                <a:gd name="adj4" fmla="val 4375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pic>
          <p:nvPicPr>
            <p:cNvPr id="13" name="Picture 8" descr="\begin{align*}&#10;   \Delta t \left(\frac{\Delta t}{\varepsilon}\right)^{\frac1p}+ gt \left(\frac{gt}{\varepsilon}\right)^{\frac1{2p+1}} N^{\frac12+\frac1{4p+2}}&#10;\end{align*}">
              <a:extLst>
                <a:ext uri="{FF2B5EF4-FFF2-40B4-BE49-F238E27FC236}">
                  <a16:creationId xmlns:a16="http://schemas.microsoft.com/office/drawing/2014/main" id="{687990A1-8E93-4F1F-AD34-A1FBE294D9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67135" y="4144114"/>
              <a:ext cx="2326450" cy="410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6B620BC3-17E7-6A4E-AC05-385A1F074F60}"/>
                </a:ext>
              </a:extLst>
            </p:cNvPr>
            <p:cNvSpPr/>
            <p:nvPr/>
          </p:nvSpPr>
          <p:spPr>
            <a:xfrm>
              <a:off x="5793680" y="3717645"/>
              <a:ext cx="2831032" cy="1378705"/>
            </a:xfrm>
            <a:prstGeom prst="roundRect">
              <a:avLst>
                <a:gd name="adj" fmla="val 4125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248CAC99-FFB7-950A-8B85-406400DEAF61}"/>
                </a:ext>
              </a:extLst>
            </p:cNvPr>
            <p:cNvSpPr txBox="1"/>
            <p:nvPr/>
          </p:nvSpPr>
          <p:spPr>
            <a:xfrm>
              <a:off x="5867134" y="3744471"/>
              <a:ext cx="1789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低エネルギー領域</a:t>
              </a:r>
              <a:endParaRPr kumimoji="1" lang="en-US" altLang="ja-JP" sz="1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A1026E5D-896E-2122-A7CD-A46B821179B4}"/>
                    </a:ext>
                  </a:extLst>
                </p:cNvPr>
                <p:cNvSpPr txBox="1"/>
                <p:nvPr/>
              </p:nvSpPr>
              <p:spPr>
                <a:xfrm>
                  <a:off x="5875967" y="4746504"/>
                  <a:ext cx="232645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kumimoji="1" lang="en-US" altLang="ja-JP" sz="1200" b="0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𝑁</m:t>
                      </m:r>
                    </m:oMath>
                  </a14:m>
                  <a:r>
                    <a:rPr kumimoji="1" lang="en-US" altLang="ja-JP" sz="1200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-scaling </a:t>
                  </a:r>
                  <a:r>
                    <a:rPr kumimoji="1" lang="ja-JP" altLang="en-US" sz="120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の改善がほぼない</a:t>
                  </a:r>
                  <a:endParaRPr kumimoji="1" lang="en-US" altLang="ja-JP" sz="12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A1026E5D-896E-2122-A7CD-A46B821179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5967" y="4746504"/>
                  <a:ext cx="2326451" cy="276999"/>
                </a:xfrm>
                <a:prstGeom prst="rect">
                  <a:avLst/>
                </a:prstGeom>
                <a:blipFill>
                  <a:blip r:embed="rId12"/>
                  <a:stretch>
                    <a:fillRect t="-4348" b="-1739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9" name="Picture 6" descr="\begin{align*}&#10;   N^{\frac1p} g \lesssim \Delta &lt; Ng&#10;\end{align*}">
              <a:extLst>
                <a:ext uri="{FF2B5EF4-FFF2-40B4-BE49-F238E27FC236}">
                  <a16:creationId xmlns:a16="http://schemas.microsoft.com/office/drawing/2014/main" id="{268F5D3B-E469-8716-6967-1ABC5428A1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28547" y="4443803"/>
              <a:ext cx="1255492" cy="234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E6C42AD-F5F4-6116-9D5A-284ACF03B30A}"/>
                </a:ext>
              </a:extLst>
            </p:cNvPr>
            <p:cNvSpPr txBox="1"/>
            <p:nvPr/>
          </p:nvSpPr>
          <p:spPr>
            <a:xfrm>
              <a:off x="7384833" y="4439623"/>
              <a:ext cx="9405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では悪化</a:t>
              </a:r>
              <a:endParaRPr kumimoji="1" lang="en-US" altLang="ja-JP" sz="1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pic>
          <p:nvPicPr>
            <p:cNvPr id="9" name="Picture 2" descr="\begin{align*}&#10;  \Delta \in \mathcal{O}(N^{\frac1p}g)&#10;\end{align*}">
              <a:extLst>
                <a:ext uri="{FF2B5EF4-FFF2-40B4-BE49-F238E27FC236}">
                  <a16:creationId xmlns:a16="http://schemas.microsoft.com/office/drawing/2014/main" id="{39E987C7-06E9-78B6-FE9B-815F4725DF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58808" y="4096738"/>
              <a:ext cx="939952" cy="2178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434C60B-E2BA-840D-ED78-7EE579227BF0}"/>
                </a:ext>
              </a:extLst>
            </p:cNvPr>
            <p:cNvSpPr txBox="1"/>
            <p:nvPr/>
          </p:nvSpPr>
          <p:spPr>
            <a:xfrm>
              <a:off x="7352338" y="4071754"/>
              <a:ext cx="9405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では改善</a:t>
              </a:r>
              <a:endParaRPr kumimoji="1" lang="en-US" altLang="ja-JP" sz="1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B5E58ED-C81F-0DC9-E74F-625396623BFF}"/>
              </a:ext>
            </a:extLst>
          </p:cNvPr>
          <p:cNvGrpSpPr/>
          <p:nvPr/>
        </p:nvGrpSpPr>
        <p:grpSpPr>
          <a:xfrm>
            <a:off x="5821217" y="2345939"/>
            <a:ext cx="2763593" cy="1236864"/>
            <a:chOff x="5821217" y="2345939"/>
            <a:chExt cx="2763593" cy="1236864"/>
          </a:xfrm>
        </p:grpSpPr>
        <p:sp>
          <p:nvSpPr>
            <p:cNvPr id="40" name="角丸四角形 39">
              <a:extLst>
                <a:ext uri="{FF2B5EF4-FFF2-40B4-BE49-F238E27FC236}">
                  <a16:creationId xmlns:a16="http://schemas.microsoft.com/office/drawing/2014/main" id="{44D927DF-0498-A361-7A57-C78833F6F125}"/>
                </a:ext>
              </a:extLst>
            </p:cNvPr>
            <p:cNvSpPr/>
            <p:nvPr/>
          </p:nvSpPr>
          <p:spPr>
            <a:xfrm>
              <a:off x="5821217" y="2825650"/>
              <a:ext cx="2763593" cy="757153"/>
            </a:xfrm>
            <a:prstGeom prst="roundRect">
              <a:avLst>
                <a:gd name="adj" fmla="val 7334"/>
              </a:avLst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6981C12-6BEB-C3C6-AE11-973EA53521A2}"/>
                </a:ext>
              </a:extLst>
            </p:cNvPr>
            <p:cNvSpPr txBox="1"/>
            <p:nvPr/>
          </p:nvSpPr>
          <p:spPr>
            <a:xfrm>
              <a:off x="5842423" y="2887623"/>
              <a:ext cx="26581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全ての低エネルギー領域</a:t>
              </a:r>
              <a:endParaRPr kumimoji="1" lang="en-US" altLang="ja-JP" sz="1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  <a:p>
              <a:endParaRPr kumimoji="1" lang="en-US" altLang="ja-JP" sz="1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  <a:p>
              <a:pPr algn="r"/>
              <a:r>
                <a:rPr kumimoji="1" lang="ja-JP" altLang="en-US" sz="12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で改善</a:t>
              </a:r>
              <a:endParaRPr kumimoji="1" lang="en-US" altLang="ja-JP" sz="12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pic>
          <p:nvPicPr>
            <p:cNvPr id="43" name="Picture 2" descr="\begin{align*}&#10;   \Delta \in o(Ng)&#10;\end{align*}">
              <a:extLst>
                <a:ext uri="{FF2B5EF4-FFF2-40B4-BE49-F238E27FC236}">
                  <a16:creationId xmlns:a16="http://schemas.microsoft.com/office/drawing/2014/main" id="{C7386615-C0A1-4723-9420-6FCFA538C4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8284" y="3261563"/>
              <a:ext cx="1141879" cy="2438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曲折矢印 43">
              <a:extLst>
                <a:ext uri="{FF2B5EF4-FFF2-40B4-BE49-F238E27FC236}">
                  <a16:creationId xmlns:a16="http://schemas.microsoft.com/office/drawing/2014/main" id="{3D719642-F4B1-1A82-077F-4BCEFC4180D4}"/>
                </a:ext>
              </a:extLst>
            </p:cNvPr>
            <p:cNvSpPr/>
            <p:nvPr/>
          </p:nvSpPr>
          <p:spPr>
            <a:xfrm rot="5400000">
              <a:off x="5964009" y="2230465"/>
              <a:ext cx="411601" cy="642550"/>
            </a:xfrm>
            <a:prstGeom prst="bentArrow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6" name="図 45">
            <a:extLst>
              <a:ext uri="{FF2B5EF4-FFF2-40B4-BE49-F238E27FC236}">
                <a16:creationId xmlns:a16="http://schemas.microsoft.com/office/drawing/2014/main" id="{8C220844-E4F0-6F80-39B3-C13D7E3C479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20379" y="5124367"/>
            <a:ext cx="1161267" cy="1707745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DC25802A-83C8-6AE7-EC0A-69FF7CFEAF2F}"/>
              </a:ext>
            </a:extLst>
          </p:cNvPr>
          <p:cNvGrpSpPr/>
          <p:nvPr/>
        </p:nvGrpSpPr>
        <p:grpSpPr>
          <a:xfrm>
            <a:off x="178053" y="5328128"/>
            <a:ext cx="7105986" cy="1320569"/>
            <a:chOff x="178053" y="5328128"/>
            <a:chExt cx="7105986" cy="1320569"/>
          </a:xfrm>
        </p:grpSpPr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56EE420B-C50F-859A-4AE7-9A05F7665E29}"/>
                </a:ext>
              </a:extLst>
            </p:cNvPr>
            <p:cNvSpPr/>
            <p:nvPr/>
          </p:nvSpPr>
          <p:spPr>
            <a:xfrm>
              <a:off x="178053" y="5328128"/>
              <a:ext cx="7105986" cy="132056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231630E3-1302-B0F9-33E4-BB945A54B3B7}"/>
                    </a:ext>
                  </a:extLst>
                </p:cNvPr>
                <p:cNvSpPr txBox="1"/>
                <p:nvPr/>
              </p:nvSpPr>
              <p:spPr>
                <a:xfrm>
                  <a:off x="282170" y="5429774"/>
                  <a:ext cx="681658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✔️</a:t>
                  </a:r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任意エネルギー</a:t>
                  </a:r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ja-JP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</m:oMath>
                  </a14:m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について多項式的な改善</a:t>
                  </a:r>
                  <a:endParaRPr kumimoji="1" lang="en-US" altLang="ja-JP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endParaRPr>
                </a:p>
                <a:p>
                  <a:pPr algn="r"/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&amp; 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系サイズ</a:t>
                  </a:r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𝑁</m:t>
                      </m:r>
                    </m:oMath>
                  </a14:m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について指数的な改善</a:t>
                  </a:r>
                </a:p>
              </p:txBody>
            </p:sp>
          </mc:Choice>
          <mc:Fallback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231630E3-1302-B0F9-33E4-BB945A54B3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170" y="5429774"/>
                  <a:ext cx="6816589" cy="646331"/>
                </a:xfrm>
                <a:prstGeom prst="rect">
                  <a:avLst/>
                </a:prstGeom>
                <a:blipFill>
                  <a:blip r:embed="rId17"/>
                  <a:stretch>
                    <a:fillRect l="-745" t="-7692" r="-931" b="-134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2B7F1C7B-FCEF-6803-7AD2-068205986BE7}"/>
                    </a:ext>
                  </a:extLst>
                </p:cNvPr>
                <p:cNvSpPr txBox="1"/>
                <p:nvPr/>
              </p:nvSpPr>
              <p:spPr>
                <a:xfrm>
                  <a:off x="282170" y="6195344"/>
                  <a:ext cx="70018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✔️</a:t>
                  </a:r>
                  <a:r>
                    <a:rPr kumimoji="1" lang="en-US" altLang="ja-JP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 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更に、</a:t>
                  </a:r>
                  <a14:m>
                    <m:oMath xmlns:m="http://schemas.openxmlformats.org/officeDocument/2006/math">
                      <m:r>
                        <a:rPr kumimoji="1" lang="el-GR" altLang="ja-JP" b="1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𝜟</m:t>
                      </m:r>
                    </m:oMath>
                  </a14:m>
                  <a:r>
                    <a:rPr kumimoji="1" lang="en-US" altLang="ja-JP" b="1" u="sng" dirty="0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-scaling </a:t>
                  </a:r>
                  <a:r>
                    <a:rPr kumimoji="1" lang="ja-JP" altLang="en-US" b="1" u="sng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は本結果が理論上ベスト</a:t>
                  </a:r>
                  <a:r>
                    <a:rPr kumimoji="1" lang="ja-JP" altLang="en-US">
                      <a:latin typeface="Times New Roman" panose="02020603050405020304" pitchFamily="18" charset="0"/>
                      <a:ea typeface="YuKyokasho Medium" panose="02000500000000000000" pitchFamily="2" charset="-128"/>
                      <a:cs typeface="Times New Roman" panose="02020603050405020304" pitchFamily="18" charset="0"/>
                    </a:rPr>
                    <a:t>であることを証明</a:t>
                  </a:r>
                </a:p>
              </p:txBody>
            </p:sp>
          </mc:Choice>
          <mc:Fallback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2B7F1C7B-FCEF-6803-7AD2-068205986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170" y="6195344"/>
                  <a:ext cx="7001869" cy="369332"/>
                </a:xfrm>
                <a:prstGeom prst="rect">
                  <a:avLst/>
                </a:prstGeom>
                <a:blipFill>
                  <a:blip r:embed="rId18"/>
                  <a:stretch>
                    <a:fillRect l="-725" t="-13333" b="-2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49089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3541D-CCED-8914-84A4-A1596667A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1478120-8BA8-0713-6329-0848F7EC84E3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2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5. </a:t>
            </a:r>
            <a:r>
              <a:rPr kumimoji="1" lang="ja-JP" altLang="en-US" sz="32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拡張</a:t>
            </a:r>
            <a:r>
              <a:rPr kumimoji="1" lang="en-US" altLang="ja-JP" sz="32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: </a:t>
            </a:r>
            <a:r>
              <a:rPr kumimoji="1" lang="ja-JP" altLang="en-US" sz="32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低エネルギー期待値の初期状態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D69E823-7B19-0B22-55B8-0506711404B7}"/>
              </a:ext>
            </a:extLst>
          </p:cNvPr>
          <p:cNvSpPr txBox="1"/>
          <p:nvPr/>
        </p:nvSpPr>
        <p:spPr>
          <a:xfrm>
            <a:off x="123533" y="1199350"/>
            <a:ext cx="1279517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Extension: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581D45DE-0540-2937-F531-07DCB03F9EF6}"/>
              </a:ext>
            </a:extLst>
          </p:cNvPr>
          <p:cNvSpPr txBox="1"/>
          <p:nvPr/>
        </p:nvSpPr>
        <p:spPr>
          <a:xfrm>
            <a:off x="265155" y="1746455"/>
            <a:ext cx="1085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Theorem</a:t>
            </a:r>
            <a:endParaRPr kumimoji="1" lang="ja-JP" altLang="en-US" b="1" u="sng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347C361E-BAA8-463A-FC44-0AC976CA3FD8}"/>
              </a:ext>
            </a:extLst>
          </p:cNvPr>
          <p:cNvSpPr txBox="1"/>
          <p:nvPr/>
        </p:nvSpPr>
        <p:spPr>
          <a:xfrm>
            <a:off x="1472718" y="1222133"/>
            <a:ext cx="6695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初期状態が完全には低エネルギー部分空間で閉じていない場合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98AE2299-51A8-5B20-CAEE-0BD6BAAD3802}"/>
              </a:ext>
            </a:extLst>
          </p:cNvPr>
          <p:cNvSpPr txBox="1"/>
          <p:nvPr/>
        </p:nvSpPr>
        <p:spPr>
          <a:xfrm>
            <a:off x="1472718" y="1765086"/>
            <a:ext cx="6923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初期状態が</a:t>
            </a:r>
            <a:r>
              <a:rPr kumimoji="1" lang="ja-JP" altLang="en-US" b="1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弱相関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かつ</a:t>
            </a:r>
            <a:r>
              <a:rPr kumimoji="1" lang="ja-JP" altLang="en-US" b="1" u="sng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小さいエネルギー期待値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をもつならば、</a:t>
            </a:r>
          </a:p>
        </p:txBody>
      </p:sp>
      <p:pic>
        <p:nvPicPr>
          <p:cNvPr id="1026" name="Picture 2" descr="\begin{align*}&#10;  \braket{\psi|H|\psi} \in o(Ng)&#10;\end{align*}">
            <a:extLst>
              <a:ext uri="{FF2B5EF4-FFF2-40B4-BE49-F238E27FC236}">
                <a16:creationId xmlns:a16="http://schemas.microsoft.com/office/drawing/2014/main" id="{72871032-60A3-70AB-5481-F1B117278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1094" y="2371200"/>
            <a:ext cx="2163386" cy="290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87A07015-41B4-2BB2-8DDB-44BB422A90D6}"/>
              </a:ext>
            </a:extLst>
          </p:cNvPr>
          <p:cNvGrpSpPr/>
          <p:nvPr/>
        </p:nvGrpSpPr>
        <p:grpSpPr>
          <a:xfrm>
            <a:off x="495766" y="3451740"/>
            <a:ext cx="7146613" cy="1399995"/>
            <a:chOff x="495766" y="3451740"/>
            <a:chExt cx="7146613" cy="1399995"/>
          </a:xfrm>
        </p:grpSpPr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5E475A7-70D1-8AAF-FA28-277DC576D091}"/>
                </a:ext>
              </a:extLst>
            </p:cNvPr>
            <p:cNvSpPr txBox="1"/>
            <p:nvPr/>
          </p:nvSpPr>
          <p:spPr>
            <a:xfrm>
              <a:off x="495766" y="3451740"/>
              <a:ext cx="28445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・</a:t>
              </a:r>
              <a:r>
                <a:rPr kumimoji="1" lang="en-US" altLang="ja-JP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Trotter </a:t>
              </a:r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分解の誤差上限</a:t>
              </a:r>
              <a:r>
                <a:rPr kumimoji="1" lang="en-US" altLang="ja-JP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:</a:t>
              </a:r>
              <a:endParaRPr kumimoji="1" lang="ja-JP" altLang="en-US" sz="12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B03A4AD-9B48-9AC4-0921-FCA43064142B}"/>
                </a:ext>
              </a:extLst>
            </p:cNvPr>
            <p:cNvSpPr txBox="1"/>
            <p:nvPr/>
          </p:nvSpPr>
          <p:spPr>
            <a:xfrm>
              <a:off x="495766" y="4275777"/>
              <a:ext cx="32277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・</a:t>
              </a:r>
              <a:r>
                <a:rPr kumimoji="1" lang="en-US" altLang="ja-JP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Trotter </a:t>
              </a:r>
              <a:r>
                <a:rPr kumimoji="1" lang="ja-JP" altLang="en-US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分解の計算コスト</a:t>
              </a:r>
              <a:r>
                <a:rPr kumimoji="1" lang="en-US" altLang="ja-JP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:</a:t>
              </a:r>
              <a:endParaRPr kumimoji="1" lang="ja-JP" altLang="en-US" sz="12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pic>
          <p:nvPicPr>
            <p:cNvPr id="1028" name="Picture 4" descr="\begin{align*}&#10;  (gt)^p (\braket{\psi|H|\psi}t + \sqrt{N\log(1/\epsilon)}gt) + \epsilon&#10;\end{align*}">
              <a:extLst>
                <a:ext uri="{FF2B5EF4-FFF2-40B4-BE49-F238E27FC236}">
                  <a16:creationId xmlns:a16="http://schemas.microsoft.com/office/drawing/2014/main" id="{42E87B72-FB11-5468-A228-7D51F34EA1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4369" y="3486576"/>
              <a:ext cx="3944983" cy="2935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\begin{align*}&#10;  gt \left( \frac{\braket{\psi|H|\psi}t+\sqrt{N\log(N/\varepsilon)}gt}{\varepsilon}\right)^{\frac1p}&#10;\end{align*}">
              <a:extLst>
                <a:ext uri="{FF2B5EF4-FFF2-40B4-BE49-F238E27FC236}">
                  <a16:creationId xmlns:a16="http://schemas.microsoft.com/office/drawing/2014/main" id="{A463610E-CF24-876C-CBD1-E3B1400D3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3525" y="4008514"/>
              <a:ext cx="3918854" cy="8432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2B2FCC-4CD1-68BE-6D0F-FF222C571AB3}"/>
              </a:ext>
            </a:extLst>
          </p:cNvPr>
          <p:cNvSpPr txBox="1"/>
          <p:nvPr/>
        </p:nvSpPr>
        <p:spPr>
          <a:xfrm>
            <a:off x="4533639" y="2868022"/>
            <a:ext cx="4363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誤差・コストの減少あり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(up to 2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乗加速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  <a:endParaRPr kumimoji="1" lang="ja-JP" altLang="en-US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10B63B58-3329-1170-851B-134B7E51B33D}"/>
              </a:ext>
            </a:extLst>
          </p:cNvPr>
          <p:cNvGrpSpPr/>
          <p:nvPr/>
        </p:nvGrpSpPr>
        <p:grpSpPr>
          <a:xfrm>
            <a:off x="220592" y="5109876"/>
            <a:ext cx="8922757" cy="1725656"/>
            <a:chOff x="220592" y="5109876"/>
            <a:chExt cx="8922757" cy="1725656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2492965-F698-37D1-CFEF-FA6F117B941B}"/>
                </a:ext>
              </a:extLst>
            </p:cNvPr>
            <p:cNvSpPr txBox="1"/>
            <p:nvPr/>
          </p:nvSpPr>
          <p:spPr>
            <a:xfrm>
              <a:off x="220592" y="5109876"/>
              <a:ext cx="12521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b="1" u="sng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Derivation </a:t>
              </a:r>
              <a:endParaRPr kumimoji="1" lang="ja-JP" altLang="en-US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D1FFD271-493E-00BF-2020-1B6951E70F81}"/>
                </a:ext>
              </a:extLst>
            </p:cNvPr>
            <p:cNvSpPr txBox="1"/>
            <p:nvPr/>
          </p:nvSpPr>
          <p:spPr>
            <a:xfrm>
              <a:off x="1403050" y="5128507"/>
              <a:ext cx="21229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Concentration bound</a:t>
              </a:r>
              <a:endPara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  <p:pic>
          <p:nvPicPr>
            <p:cNvPr id="12" name="図 11" descr="グラフィカル ユーザー インターフェイス&#10;&#10;AI によって生成されたコンテンツは間違っている可能性があります。">
              <a:extLst>
                <a:ext uri="{FF2B5EF4-FFF2-40B4-BE49-F238E27FC236}">
                  <a16:creationId xmlns:a16="http://schemas.microsoft.com/office/drawing/2014/main" id="{3B6C26C5-B8EE-6287-C56A-5A2F20DF5A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8713" t="44262" r="9809" b="35515"/>
            <a:stretch/>
          </p:blipFill>
          <p:spPr>
            <a:xfrm>
              <a:off x="5937061" y="5605999"/>
              <a:ext cx="2844581" cy="1101845"/>
            </a:xfrm>
            <a:prstGeom prst="rect">
              <a:avLst/>
            </a:prstGeom>
          </p:spPr>
        </p:pic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23BE6AD8-96E2-436D-5CEC-3C446695A811}"/>
                </a:ext>
              </a:extLst>
            </p:cNvPr>
            <p:cNvCxnSpPr>
              <a:cxnSpLocks/>
            </p:cNvCxnSpPr>
            <p:nvPr/>
          </p:nvCxnSpPr>
          <p:spPr>
            <a:xfrm>
              <a:off x="5847062" y="6521505"/>
              <a:ext cx="309620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06F4E01B-BE72-1261-8615-D8CD89D383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9462" y="5605999"/>
              <a:ext cx="0" cy="106790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C087A3E1-AABA-B757-B8EA-1C15EE2DA89E}"/>
                    </a:ext>
                  </a:extLst>
                </p:cNvPr>
                <p:cNvSpPr txBox="1"/>
                <p:nvPr/>
              </p:nvSpPr>
              <p:spPr>
                <a:xfrm>
                  <a:off x="5386860" y="5523230"/>
                  <a:ext cx="52931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C087A3E1-AABA-B757-B8EA-1C15EE2DA8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6860" y="5523230"/>
                  <a:ext cx="529311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6279" t="-4348" r="-2326" b="-347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4853CED3-90C5-2BA8-9444-05F35BF11BC2}"/>
                    </a:ext>
                  </a:extLst>
                </p:cNvPr>
                <p:cNvSpPr txBox="1"/>
                <p:nvPr/>
              </p:nvSpPr>
              <p:spPr>
                <a:xfrm>
                  <a:off x="8837111" y="6143151"/>
                  <a:ext cx="3062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4853CED3-90C5-2BA8-9444-05F35BF11B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7111" y="6143151"/>
                  <a:ext cx="306238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0833" b="-869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0" name="Picture 4" descr="\begin{align*}&#10;  (gt)^p (\braket{\psi|H|\psi}t + \sqrt{N\log(1/\epsilon)}gt) + \epsilon&#10;\end{align*}">
              <a:extLst>
                <a:ext uri="{FF2B5EF4-FFF2-40B4-BE49-F238E27FC236}">
                  <a16:creationId xmlns:a16="http://schemas.microsoft.com/office/drawing/2014/main" id="{D9BCEFFA-79BC-124E-00A1-0B6E66810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8" t="5630" r="62833" b="-30024"/>
            <a:stretch/>
          </p:blipFill>
          <p:spPr bwMode="auto">
            <a:xfrm>
              <a:off x="6494651" y="6567774"/>
              <a:ext cx="634111" cy="2677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EE09D1C0-0203-59B0-8F73-0E680D44D3EA}"/>
                </a:ext>
              </a:extLst>
            </p:cNvPr>
            <p:cNvSpPr txBox="1"/>
            <p:nvPr/>
          </p:nvSpPr>
          <p:spPr>
            <a:xfrm>
              <a:off x="362358" y="5595493"/>
              <a:ext cx="39188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弱相関な状態は、指数的に小さい誤差で</a:t>
              </a:r>
            </a:p>
          </p:txBody>
        </p:sp>
        <p:pic>
          <p:nvPicPr>
            <p:cNvPr id="1032" name="Picture 8" descr="\begin{align*}&#10;  \braket{\psi|H|\psi} - \sqrt{N}g \leq E_n \leq \braket{\psi|H|\psi} + \sqrt{N}g&#10;\end{align*}">
              <a:extLst>
                <a:ext uri="{FF2B5EF4-FFF2-40B4-BE49-F238E27FC236}">
                  <a16:creationId xmlns:a16="http://schemas.microsoft.com/office/drawing/2014/main" id="{F594C7D1-4818-3D67-5DC0-2D1A6AF663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1728" y="5999957"/>
              <a:ext cx="3918854" cy="2564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9D2964B-A86E-F190-1744-A08C05EAA7F9}"/>
                </a:ext>
              </a:extLst>
            </p:cNvPr>
            <p:cNvSpPr txBox="1"/>
            <p:nvPr/>
          </p:nvSpPr>
          <p:spPr>
            <a:xfrm>
              <a:off x="3159351" y="6376484"/>
              <a:ext cx="264012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の部分空間で閉じている</a:t>
              </a:r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9ADEDF7B-4E30-1509-F488-CC58B9D7D094}"/>
                </a:ext>
              </a:extLst>
            </p:cNvPr>
            <p:cNvCxnSpPr>
              <a:cxnSpLocks/>
            </p:cNvCxnSpPr>
            <p:nvPr/>
          </p:nvCxnSpPr>
          <p:spPr>
            <a:xfrm>
              <a:off x="6811706" y="5576862"/>
              <a:ext cx="0" cy="96889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79AF4208-B5C6-D24A-60DD-A6576BCFC883}"/>
                </a:ext>
              </a:extLst>
            </p:cNvPr>
            <p:cNvCxnSpPr>
              <a:cxnSpLocks/>
            </p:cNvCxnSpPr>
            <p:nvPr/>
          </p:nvCxnSpPr>
          <p:spPr>
            <a:xfrm>
              <a:off x="6309283" y="5934047"/>
              <a:ext cx="1004845" cy="0"/>
            </a:xfrm>
            <a:prstGeom prst="straightConnector1">
              <a:avLst/>
            </a:prstGeom>
            <a:ln w="12700">
              <a:solidFill>
                <a:schemeClr val="accent2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5BBCF0D0-4C40-2410-3904-349B950FC6C3}"/>
                    </a:ext>
                  </a:extLst>
                </p:cNvPr>
                <p:cNvSpPr txBox="1"/>
                <p:nvPr/>
              </p:nvSpPr>
              <p:spPr>
                <a:xfrm>
                  <a:off x="7388158" y="5766111"/>
                  <a:ext cx="68858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ad>
                          <m:radPr>
                            <m:degHide m:val="on"/>
                            <m:ctrlPr>
                              <a:rPr kumimoji="1" lang="en-US" altLang="ja-JP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kumimoji="1" lang="en-US" altLang="ja-JP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  <m:r>
                          <a:rPr kumimoji="1" lang="en-US" altLang="ja-JP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oMath>
                    </m:oMathPara>
                  </a14:m>
                  <a:endParaRPr kumimoji="1" lang="ja-JP" altLang="en-US">
                    <a:solidFill>
                      <a:schemeClr val="accent2"/>
                    </a:solidFill>
                  </a:endParaRPr>
                </a:p>
              </p:txBody>
            </p:sp>
          </mc:Choice>
          <mc:Fallback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5BBCF0D0-4C40-2410-3904-349B950FC6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8158" y="5766111"/>
                  <a:ext cx="688586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1818" r="-7273" b="-2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9F213611-70B8-F7E4-42E5-D171F0BFF595}"/>
                </a:ext>
              </a:extLst>
            </p:cNvPr>
            <p:cNvSpPr txBox="1"/>
            <p:nvPr/>
          </p:nvSpPr>
          <p:spPr>
            <a:xfrm>
              <a:off x="3572466" y="5162431"/>
              <a:ext cx="302364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A. Anshu, New J. Phys. </a:t>
              </a:r>
              <a:r>
                <a:rPr lang="en" altLang="ja-JP" sz="1200" b="1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18</a:t>
              </a:r>
              <a:r>
                <a:rPr lang="en" altLang="ja-JP" sz="1200" dirty="0">
                  <a:solidFill>
                    <a:srgbClr val="00206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083011 (2016). </a:t>
              </a:r>
              <a:endParaRPr lang="ja-JP" altLang="en-US" sz="120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58B9DC61-F2AB-F849-ADE1-5516D1DBDB61}"/>
                  </a:ext>
                </a:extLst>
              </p:cNvPr>
              <p:cNvSpPr txBox="1"/>
              <p:nvPr/>
            </p:nvSpPr>
            <p:spPr>
              <a:xfrm>
                <a:off x="8783638" y="0"/>
                <a:ext cx="3141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13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58B9DC61-F2AB-F849-ADE1-5516D1DBD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3638" y="0"/>
                <a:ext cx="314189" cy="276999"/>
              </a:xfrm>
              <a:prstGeom prst="rect">
                <a:avLst/>
              </a:prstGeom>
              <a:blipFill>
                <a:blip r:embed="rId11"/>
                <a:stretch>
                  <a:fillRect l="-15385" r="-11538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4423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B6FC-8310-B1C3-E4CC-F06614700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F7D544-F397-FFD1-EDC0-F34F662B50E4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3. </a:t>
            </a:r>
            <a:r>
              <a:rPr kumimoji="1" lang="ja-JP" altLang="en-US" sz="3600" b="1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まとめと展望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3843C77-DD77-1A68-55E4-EE2E9399A0F0}"/>
              </a:ext>
            </a:extLst>
          </p:cNvPr>
          <p:cNvSpPr/>
          <p:nvPr/>
        </p:nvSpPr>
        <p:spPr>
          <a:xfrm>
            <a:off x="7923655" y="1757522"/>
            <a:ext cx="1096812" cy="1426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96F75BE5-5A11-7E31-830A-9A81CD4A85CB}"/>
              </a:ext>
            </a:extLst>
          </p:cNvPr>
          <p:cNvCxnSpPr>
            <a:cxnSpLocks/>
          </p:cNvCxnSpPr>
          <p:nvPr/>
        </p:nvCxnSpPr>
        <p:spPr>
          <a:xfrm flipV="1">
            <a:off x="7892037" y="1417379"/>
            <a:ext cx="0" cy="19141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12FE599-53A0-215A-5E2D-45975D9B6CA2}"/>
                  </a:ext>
                </a:extLst>
              </p:cNvPr>
              <p:cNvSpPr txBox="1"/>
              <p:nvPr/>
            </p:nvSpPr>
            <p:spPr>
              <a:xfrm>
                <a:off x="7788932" y="1124934"/>
                <a:ext cx="2062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12FE599-53A0-215A-5E2D-45975D9B6C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8932" y="1124934"/>
                <a:ext cx="206210" cy="276999"/>
              </a:xfrm>
              <a:prstGeom prst="rect">
                <a:avLst/>
              </a:prstGeom>
              <a:blipFill>
                <a:blip r:embed="rId3"/>
                <a:stretch>
                  <a:fillRect l="-23529" r="-17647" b="-43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6027C87-246F-2617-665C-1B2D22CFCD5E}"/>
                  </a:ext>
                </a:extLst>
              </p:cNvPr>
              <p:cNvSpPr txBox="1"/>
              <p:nvPr/>
            </p:nvSpPr>
            <p:spPr>
              <a:xfrm>
                <a:off x="7576376" y="1645311"/>
                <a:ext cx="28520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1400" b="0" i="1" smtClean="0">
                          <a:latin typeface="Cambria Math" panose="02040503050406030204" pitchFamily="18" charset="0"/>
                        </a:rPr>
                        <m:t>𝑁𝑔</m:t>
                      </m:r>
                    </m:oMath>
                  </m:oMathPara>
                </a14:m>
                <a:endParaRPr kumimoji="1" lang="ja-JP" altLang="en-US" sz="140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6027C87-246F-2617-665C-1B2D22CFCD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6376" y="1645311"/>
                <a:ext cx="285206" cy="215444"/>
              </a:xfrm>
              <a:prstGeom prst="rect">
                <a:avLst/>
              </a:prstGeom>
              <a:blipFill>
                <a:blip r:embed="rId4"/>
                <a:stretch>
                  <a:fillRect l="-20833" r="-16667" b="-277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359F50A3-FED7-0B12-1C99-53D25FE6BC66}"/>
                  </a:ext>
                </a:extLst>
              </p:cNvPr>
              <p:cNvSpPr txBox="1"/>
              <p:nvPr/>
            </p:nvSpPr>
            <p:spPr>
              <a:xfrm>
                <a:off x="7660184" y="2577678"/>
                <a:ext cx="14747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l-GR" altLang="ja-JP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kumimoji="1" lang="ja-JP" altLang="en-US" sz="1400"/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359F50A3-FED7-0B12-1C99-53D25FE6B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0184" y="2577678"/>
                <a:ext cx="147476" cy="215444"/>
              </a:xfrm>
              <a:prstGeom prst="rect">
                <a:avLst/>
              </a:prstGeom>
              <a:blipFill>
                <a:blip r:embed="rId5"/>
                <a:stretch>
                  <a:fillRect l="-25000" r="-25000" b="-58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A961E95-0817-B4D3-17CA-1C5CC9EEC79A}"/>
                  </a:ext>
                </a:extLst>
              </p:cNvPr>
              <p:cNvSpPr txBox="1"/>
              <p:nvPr/>
            </p:nvSpPr>
            <p:spPr>
              <a:xfrm>
                <a:off x="7668199" y="2996930"/>
                <a:ext cx="1394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en-US" altLang="ja-JP" sz="1400" b="0" dirty="0"/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A961E95-0817-B4D3-17CA-1C5CC9EEC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199" y="2996930"/>
                <a:ext cx="139461" cy="215444"/>
              </a:xfrm>
              <a:prstGeom prst="rect">
                <a:avLst/>
              </a:prstGeom>
              <a:blipFill>
                <a:blip r:embed="rId6"/>
                <a:stretch>
                  <a:fillRect l="-25000" r="-25000" b="-58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186E6CE-1658-E362-9D04-5336CBDBF12B}"/>
              </a:ext>
            </a:extLst>
          </p:cNvPr>
          <p:cNvSpPr/>
          <p:nvPr/>
        </p:nvSpPr>
        <p:spPr>
          <a:xfrm>
            <a:off x="7949760" y="2702128"/>
            <a:ext cx="1024698" cy="44693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2633F36-0DDE-4BA4-BED6-635179338343}"/>
              </a:ext>
            </a:extLst>
          </p:cNvPr>
          <p:cNvSpPr txBox="1"/>
          <p:nvPr/>
        </p:nvSpPr>
        <p:spPr>
          <a:xfrm>
            <a:off x="7970065" y="2710150"/>
            <a:ext cx="9854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Low-energy </a:t>
            </a:r>
          </a:p>
          <a:p>
            <a:pPr algn="ctr"/>
            <a:r>
              <a:rPr kumimoji="1" lang="en-US" altLang="ja-JP" sz="1100" dirty="0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initial states</a:t>
            </a:r>
            <a:endParaRPr kumimoji="1" lang="ja-JP" altLang="en-US" sz="1100">
              <a:solidFill>
                <a:schemeClr val="accent2"/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E9310F3-1B71-29E0-34CD-357C0B9E8B0C}"/>
              </a:ext>
            </a:extLst>
          </p:cNvPr>
          <p:cNvSpPr txBox="1"/>
          <p:nvPr/>
        </p:nvSpPr>
        <p:spPr>
          <a:xfrm>
            <a:off x="7975731" y="2014382"/>
            <a:ext cx="9854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Arbitrary </a:t>
            </a:r>
          </a:p>
          <a:p>
            <a:pPr algn="ctr"/>
            <a:r>
              <a:rPr kumimoji="1" lang="en-US" altLang="ja-JP" sz="11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initial states</a:t>
            </a:r>
            <a:endParaRPr kumimoji="1" lang="ja-JP" altLang="en-US" sz="11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16268ED-8368-B64B-8AA0-1D768CA045A3}"/>
              </a:ext>
            </a:extLst>
          </p:cNvPr>
          <p:cNvSpPr txBox="1"/>
          <p:nvPr/>
        </p:nvSpPr>
        <p:spPr>
          <a:xfrm>
            <a:off x="123533" y="1280993"/>
            <a:ext cx="2265364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Take-home message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5102315-53D8-40B1-7F18-5457B34308C4}"/>
              </a:ext>
            </a:extLst>
          </p:cNvPr>
          <p:cNvSpPr txBox="1"/>
          <p:nvPr/>
        </p:nvSpPr>
        <p:spPr>
          <a:xfrm>
            <a:off x="375261" y="1846152"/>
            <a:ext cx="70556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初期状態のエネルギーが</a:t>
            </a:r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                         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であれば</a:t>
            </a:r>
            <a:endParaRPr kumimoji="1" lang="en-US" altLang="ja-JP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endParaRPr kumimoji="1" lang="en-US" altLang="ja-JP" sz="8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Trotter </a:t>
            </a:r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分解の誤差・コストが本質的に改善</a:t>
            </a:r>
            <a:endParaRPr kumimoji="1" lang="en-US" altLang="ja-JP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11" name="Picture 2" descr="\begin{align*}&#10;   \Delta \in o(Ng)&#10;\end{align*}">
            <a:extLst>
              <a:ext uri="{FF2B5EF4-FFF2-40B4-BE49-F238E27FC236}">
                <a16:creationId xmlns:a16="http://schemas.microsoft.com/office/drawing/2014/main" id="{3A199EED-6922-38A1-63DB-7F01D6F52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970" y="1919248"/>
            <a:ext cx="1141879" cy="24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3891D178-4E65-9CCA-73CD-3B8D0A3E0D51}"/>
                  </a:ext>
                </a:extLst>
              </p:cNvPr>
              <p:cNvSpPr txBox="1"/>
              <p:nvPr/>
            </p:nvSpPr>
            <p:spPr>
              <a:xfrm>
                <a:off x="1723560" y="2707036"/>
                <a:ext cx="44508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dirty="0">
                    <a:solidFill>
                      <a:schemeClr val="accent2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Optimal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ja-JP" sz="240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</m:oMath>
                </a14:m>
                <a:r>
                  <a:rPr kumimoji="1" lang="en-US" altLang="ja-JP" sz="2400" dirty="0">
                    <a:solidFill>
                      <a:schemeClr val="accent2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&amp; Near-optimal in 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endParaRPr kumimoji="1" lang="en-US" altLang="ja-JP" sz="2400" dirty="0">
                  <a:solidFill>
                    <a:schemeClr val="accent2"/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3891D178-4E65-9CCA-73CD-3B8D0A3E0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560" y="2707036"/>
                <a:ext cx="4450822" cy="461665"/>
              </a:xfrm>
              <a:prstGeom prst="rect">
                <a:avLst/>
              </a:prstGeom>
              <a:blipFill>
                <a:blip r:embed="rId8"/>
                <a:stretch>
                  <a:fillRect l="-1989" t="-10811" b="-297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678D59D-5ECC-CFE2-9867-FDB3AF0BD5E9}"/>
                  </a:ext>
                </a:extLst>
              </p:cNvPr>
              <p:cNvSpPr txBox="1"/>
              <p:nvPr/>
            </p:nvSpPr>
            <p:spPr>
              <a:xfrm>
                <a:off x="520690" y="3400624"/>
                <a:ext cx="576436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600">
                    <a:solidFill>
                      <a:srgbClr val="00206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注</a:t>
                </a:r>
                <a:r>
                  <a:rPr kumimoji="1" lang="en-US" altLang="ja-JP" sz="1600" dirty="0">
                    <a:solidFill>
                      <a:srgbClr val="00206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ja-JP" sz="1600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𝐻</m:t>
                    </m:r>
                  </m:oMath>
                </a14:m>
                <a:r>
                  <a:rPr kumimoji="1" lang="en-US" altLang="ja-JP" sz="1600" dirty="0">
                    <a:solidFill>
                      <a:srgbClr val="00206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:r>
                  <a:rPr kumimoji="1" lang="ja-JP" altLang="en-US" sz="1600">
                    <a:solidFill>
                      <a:srgbClr val="00206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の各項</a:t>
                </a:r>
                <a:r>
                  <a:rPr kumimoji="1" lang="en-US" altLang="ja-JP" sz="1600" dirty="0">
                    <a:solidFill>
                      <a:srgbClr val="00206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160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sz="16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kumimoji="1" lang="en-US" altLang="ja-JP" sz="16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YuKyokasho Medium" panose="02000500000000000000" pitchFamily="2" charset="-128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kumimoji="1" lang="en-US" altLang="ja-JP" sz="1600" dirty="0">
                    <a:solidFill>
                      <a:srgbClr val="00206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:r>
                  <a:rPr kumimoji="1" lang="ja-JP" altLang="en-US" sz="1600">
                    <a:solidFill>
                      <a:srgbClr val="002060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が半正定値であるようシフトが必要</a:t>
                </a:r>
                <a:endParaRPr kumimoji="1" lang="en-US" altLang="ja-JP" sz="1600" dirty="0">
                  <a:solidFill>
                    <a:srgbClr val="002060"/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5678D59D-5ECC-CFE2-9867-FDB3AF0BD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690" y="3400624"/>
                <a:ext cx="5764363" cy="338554"/>
              </a:xfrm>
              <a:prstGeom prst="rect">
                <a:avLst/>
              </a:prstGeom>
              <a:blipFill>
                <a:blip r:embed="rId9"/>
                <a:stretch>
                  <a:fillRect l="-440" t="-7143" b="-2142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C3FF484-73D5-9186-39AB-E5869CA82002}"/>
              </a:ext>
            </a:extLst>
          </p:cNvPr>
          <p:cNvSpPr txBox="1"/>
          <p:nvPr/>
        </p:nvSpPr>
        <p:spPr>
          <a:xfrm>
            <a:off x="123533" y="4564694"/>
            <a:ext cx="1925527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Future directions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1AE223D-12D4-7B64-070E-E4597D620495}"/>
              </a:ext>
            </a:extLst>
          </p:cNvPr>
          <p:cNvSpPr txBox="1"/>
          <p:nvPr/>
        </p:nvSpPr>
        <p:spPr>
          <a:xfrm>
            <a:off x="375261" y="5243801"/>
            <a:ext cx="7055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・種々の量子アルゴリズムにおける低エネルギー性の優位性</a:t>
            </a:r>
            <a:endParaRPr kumimoji="1" lang="en-US" altLang="ja-JP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E054AC5-D3DB-538B-7AD3-177499BB7CDF}"/>
              </a:ext>
            </a:extLst>
          </p:cNvPr>
          <p:cNvSpPr txBox="1"/>
          <p:nvPr/>
        </p:nvSpPr>
        <p:spPr>
          <a:xfrm>
            <a:off x="4300849" y="5699554"/>
            <a:ext cx="4386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時間依存系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量子開放系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複数積公式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etc.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F936620-BB70-1F9F-C47C-9BD11A56942C}"/>
              </a:ext>
            </a:extLst>
          </p:cNvPr>
          <p:cNvSpPr txBox="1"/>
          <p:nvPr/>
        </p:nvSpPr>
        <p:spPr>
          <a:xfrm>
            <a:off x="375261" y="6187769"/>
            <a:ext cx="7055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・様々な初期状態クラスにおける優位性の探索</a:t>
            </a:r>
            <a:endParaRPr kumimoji="1" lang="en-US" altLang="ja-JP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B2DC4597-9EDE-9A82-EAED-4D10A5BC7BDD}"/>
              </a:ext>
            </a:extLst>
          </p:cNvPr>
          <p:cNvSpPr txBox="1"/>
          <p:nvPr/>
        </p:nvSpPr>
        <p:spPr>
          <a:xfrm>
            <a:off x="5694744" y="6187769"/>
            <a:ext cx="2951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部分空間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対称性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相関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en-US" altLang="ja-JP" dirty="0" err="1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etc</a:t>
            </a:r>
            <a:endParaRPr kumimoji="1" lang="en-US" altLang="ja-JP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116624FD-D265-7E97-D2EF-62E072B06779}"/>
                  </a:ext>
                </a:extLst>
              </p:cNvPr>
              <p:cNvSpPr txBox="1"/>
              <p:nvPr/>
            </p:nvSpPr>
            <p:spPr>
              <a:xfrm>
                <a:off x="8783638" y="0"/>
                <a:ext cx="3141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14</m:t>
                      </m:r>
                    </m:oMath>
                  </m:oMathPara>
                </a14:m>
                <a:endParaRPr kumimoji="1" lang="ja-JP" alt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116624FD-D265-7E97-D2EF-62E072B06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3638" y="0"/>
                <a:ext cx="314189" cy="276999"/>
              </a:xfrm>
              <a:prstGeom prst="rect">
                <a:avLst/>
              </a:prstGeom>
              <a:blipFill>
                <a:blip r:embed="rId10"/>
                <a:stretch>
                  <a:fillRect l="-15385" r="-11538" b="-90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5A237F7-F9FB-BA15-F837-B85374AC50B3}"/>
              </a:ext>
            </a:extLst>
          </p:cNvPr>
          <p:cNvSpPr txBox="1"/>
          <p:nvPr/>
        </p:nvSpPr>
        <p:spPr>
          <a:xfrm>
            <a:off x="520690" y="3922954"/>
            <a:ext cx="52959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[</a:t>
            </a:r>
            <a:r>
              <a:rPr kumimoji="1" lang="ja-JP" altLang="en-US" sz="1400" b="1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拡張</a:t>
            </a:r>
            <a:r>
              <a:rPr kumimoji="1" lang="en-US" altLang="ja-JP" sz="1400" b="1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] </a:t>
            </a:r>
            <a:r>
              <a:rPr kumimoji="1" lang="ja-JP" altLang="en-US" sz="1400" b="1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低エネルギー期待値を持つ弱相関な初期状態でも改善</a:t>
            </a:r>
            <a:endParaRPr kumimoji="1" lang="en-US" altLang="ja-JP" sz="1400" b="1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12FDAC-BEE8-B0C0-4F91-672B6AF7BE0B}"/>
              </a:ext>
            </a:extLst>
          </p:cNvPr>
          <p:cNvSpPr txBox="1"/>
          <p:nvPr/>
        </p:nvSpPr>
        <p:spPr>
          <a:xfrm>
            <a:off x="2419650" y="1334336"/>
            <a:ext cx="44614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KM</a:t>
            </a:r>
            <a:r>
              <a:rPr kumimoji="1" lang="en-US" altLang="ja-JP" sz="1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and T. Kuwahara, Phys. Rev. Lett. 135, 130602 (2025)</a:t>
            </a:r>
            <a:endParaRPr kumimoji="1" lang="ja-JP" altLang="en-US" sz="14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57418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7D6B6-1D90-ACAE-801D-417357227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CF34148-F02E-EF1D-C244-297E16BCCDCD}"/>
              </a:ext>
            </a:extLst>
          </p:cNvPr>
          <p:cNvSpPr/>
          <p:nvPr/>
        </p:nvSpPr>
        <p:spPr>
          <a:xfrm>
            <a:off x="4840939" y="2314388"/>
            <a:ext cx="2649971" cy="2136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7A11F6-3FCC-7BB8-5C83-13507D9716FC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Appendix: Numerical demonstration</a:t>
            </a:r>
            <a:endParaRPr kumimoji="1" lang="ja-JP" altLang="en-US" sz="3600" b="1">
              <a:latin typeface="Times New Roman" panose="02020603050405020304" pitchFamily="18" charset="0"/>
              <a:ea typeface="YuKyokasho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914C8D96-9AE0-9815-5FAC-8CDA7CC3FA24}"/>
              </a:ext>
            </a:extLst>
          </p:cNvPr>
          <p:cNvSpPr txBox="1"/>
          <p:nvPr/>
        </p:nvSpPr>
        <p:spPr>
          <a:xfrm>
            <a:off x="1574209" y="1238342"/>
            <a:ext cx="5162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Affleck-Kennedy-Lieb-Tasaki (AKLT) Hamiltonian</a:t>
            </a:r>
            <a:endParaRPr kumimoji="1" lang="ja-JP" altLang="en-US" sz="12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95A9C91-968A-4970-AF68-637B2048F54B}"/>
              </a:ext>
            </a:extLst>
          </p:cNvPr>
          <p:cNvSpPr txBox="1"/>
          <p:nvPr/>
        </p:nvSpPr>
        <p:spPr>
          <a:xfrm>
            <a:off x="231110" y="1207564"/>
            <a:ext cx="1165704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Example: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10" name="図 9" descr="グラフィカル ユーザー インターフェイス, テキスト, アプリケーション, Word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A92E59BF-CCF7-223B-C071-14CCF900A1F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6838" t="39634" r="4478" b="50000"/>
          <a:stretch/>
        </p:blipFill>
        <p:spPr>
          <a:xfrm>
            <a:off x="1653090" y="1769493"/>
            <a:ext cx="6093198" cy="8566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E6D75127-00AA-BF59-E264-41A9B50191C1}"/>
                  </a:ext>
                </a:extLst>
              </p:cNvPr>
              <p:cNvSpPr txBox="1"/>
              <p:nvPr/>
            </p:nvSpPr>
            <p:spPr>
              <a:xfrm>
                <a:off x="5522099" y="2368750"/>
                <a:ext cx="156791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1600" dirty="0">
                    <a:solidFill>
                      <a:schemeClr val="accent2"/>
                    </a:solidFill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Projection </a:t>
                </a:r>
                <a14:m>
                  <m:oMath xmlns:m="http://schemas.openxmlformats.org/officeDocument/2006/math">
                    <m:r>
                      <a:rPr kumimoji="1" lang="en-US" altLang="ja-JP" sz="160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kumimoji="1" lang="en-US" altLang="ja-JP" sz="16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endParaRPr kumimoji="1" lang="ja-JP" altLang="en-US" sz="1600">
                  <a:solidFill>
                    <a:schemeClr val="accent2"/>
                  </a:solidFill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E6D75127-00AA-BF59-E264-41A9B5019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2099" y="2368750"/>
                <a:ext cx="1567919" cy="338554"/>
              </a:xfrm>
              <a:prstGeom prst="rect">
                <a:avLst/>
              </a:prstGeom>
              <a:blipFill>
                <a:blip r:embed="rId4"/>
                <a:stretch>
                  <a:fillRect l="-1600" t="-3571" b="-1785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912D410A-D36B-84F2-42CA-6D15BE9CAB14}"/>
                  </a:ext>
                </a:extLst>
              </p:cNvPr>
              <p:cNvSpPr txBox="1"/>
              <p:nvPr/>
            </p:nvSpPr>
            <p:spPr>
              <a:xfrm>
                <a:off x="813962" y="2940862"/>
                <a:ext cx="384924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0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・</a:t>
                </a:r>
                <a:r>
                  <a:rPr kumimoji="1" lang="en-US" altLang="ja-JP" sz="20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1d spin chain with spin </a:t>
                </a:r>
                <a14:m>
                  <m:oMath xmlns:m="http://schemas.openxmlformats.org/officeDocument/2006/math">
                    <m:r>
                      <a:rPr kumimoji="1" lang="en-US" altLang="ja-JP" sz="20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𝑆</m:t>
                    </m:r>
                    <m:r>
                      <a:rPr kumimoji="1" lang="en-US" altLang="ja-JP" sz="20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=1</m:t>
                    </m:r>
                  </m:oMath>
                </a14:m>
                <a:endParaRPr kumimoji="1" lang="ja-JP" altLang="en-US" sz="20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912D410A-D36B-84F2-42CA-6D15BE9CA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962" y="2940862"/>
                <a:ext cx="3849246" cy="400110"/>
              </a:xfrm>
              <a:prstGeom prst="rect">
                <a:avLst/>
              </a:prstGeom>
              <a:blipFill>
                <a:blip r:embed="rId5"/>
                <a:stretch>
                  <a:fillRect l="-1645" t="-9091" b="-2727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68F966A-AFDB-6243-C2A8-7BB80CAE7142}"/>
              </a:ext>
            </a:extLst>
          </p:cNvPr>
          <p:cNvSpPr txBox="1"/>
          <p:nvPr/>
        </p:nvSpPr>
        <p:spPr>
          <a:xfrm>
            <a:off x="813962" y="3455612"/>
            <a:ext cx="3849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・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Frustration-free Hamiltonian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50D31A0-372F-2B95-A62B-A364780D422F}"/>
              </a:ext>
            </a:extLst>
          </p:cNvPr>
          <p:cNvSpPr txBox="1"/>
          <p:nvPr/>
        </p:nvSpPr>
        <p:spPr>
          <a:xfrm>
            <a:off x="813961" y="4022885"/>
            <a:ext cx="78997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・</a:t>
            </a:r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Rigorous example hosting </a:t>
            </a:r>
          </a:p>
          <a:p>
            <a:pPr algn="r"/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symmetry-protected topological (SPT) order in its ground state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5CD4FCDB-0F6F-905E-7C03-6171D54FF996}"/>
              </a:ext>
            </a:extLst>
          </p:cNvPr>
          <p:cNvGrpSpPr/>
          <p:nvPr/>
        </p:nvGrpSpPr>
        <p:grpSpPr>
          <a:xfrm>
            <a:off x="231109" y="5046205"/>
            <a:ext cx="8643949" cy="1251621"/>
            <a:chOff x="231109" y="5046205"/>
            <a:chExt cx="8643949" cy="1251621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A4A308DB-DC2C-668F-D790-8308E955BDA9}"/>
                </a:ext>
              </a:extLst>
            </p:cNvPr>
            <p:cNvSpPr/>
            <p:nvPr/>
          </p:nvSpPr>
          <p:spPr>
            <a:xfrm>
              <a:off x="231109" y="5046205"/>
              <a:ext cx="8643949" cy="12516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" name="Picture 6" descr="\begin{align*}&#10;  \| (e^{-iH\tau} - T_p(\tau)) \Pi_{\leq \Delta} \| \leq \mathcal{O} \left( (g\tau)^p \{\Delta+g \log (N/\epsilon)\} \tau \right) + \epsilon&#10;\end{align*}">
              <a:extLst>
                <a:ext uri="{FF2B5EF4-FFF2-40B4-BE49-F238E27FC236}">
                  <a16:creationId xmlns:a16="http://schemas.microsoft.com/office/drawing/2014/main" id="{AC1370CB-FCD7-77C8-58D5-0F12C1DBA1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1269" y="5756183"/>
              <a:ext cx="6516840" cy="307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3614D2DB-CE6C-30CE-AF11-F813CFF3AAC0}"/>
                </a:ext>
              </a:extLst>
            </p:cNvPr>
            <p:cNvSpPr txBox="1"/>
            <p:nvPr/>
          </p:nvSpPr>
          <p:spPr>
            <a:xfrm>
              <a:off x="486604" y="5101670"/>
              <a:ext cx="71109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rPr>
                <a:t>Numerically demonstrate whether the error matches</a:t>
              </a:r>
              <a:endParaRPr kumimoji="1" lang="ja-JP" altLang="en-US" sz="1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80162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B2C1-2C25-5B5B-3937-1B9909DAC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5A8B670-5CC7-3227-B83D-908F748A5BC1}"/>
              </a:ext>
            </a:extLst>
          </p:cNvPr>
          <p:cNvSpPr/>
          <p:nvPr/>
        </p:nvSpPr>
        <p:spPr>
          <a:xfrm>
            <a:off x="5876365" y="1959233"/>
            <a:ext cx="1385048" cy="2682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2CD8F4-B3B8-CD88-648A-1EE0C2EE6EA5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Appendix: Numerical demonstration</a:t>
            </a:r>
            <a:endParaRPr kumimoji="1" lang="ja-JP" altLang="en-US" sz="3600" b="1">
              <a:latin typeface="Times New Roman" panose="02020603050405020304" pitchFamily="18" charset="0"/>
              <a:ea typeface="YuKyokasho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25" name="図 24" descr="グラフィカル ユーザー インターフェイス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53B359A3-DB86-5A15-178C-BE365816BB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769" t="50000" r="8564" b="22891"/>
          <a:stretch/>
        </p:blipFill>
        <p:spPr>
          <a:xfrm>
            <a:off x="12711048" y="5033647"/>
            <a:ext cx="731520" cy="1476974"/>
          </a:xfrm>
          <a:prstGeom prst="rect">
            <a:avLst/>
          </a:prstGeom>
        </p:spPr>
      </p:pic>
      <p:pic>
        <p:nvPicPr>
          <p:cNvPr id="27" name="図 26" descr="グラフィカル ユーザー インターフェイス, アプリケーショ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63A012-D06E-BC42-9E1D-DF4FBD6BC2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877" t="32329" r="7744" b="30120"/>
          <a:stretch/>
        </p:blipFill>
        <p:spPr>
          <a:xfrm>
            <a:off x="227376" y="3122145"/>
            <a:ext cx="5698597" cy="3069745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DB62537-5694-4A6F-83F3-CFE10723E1F6}"/>
              </a:ext>
            </a:extLst>
          </p:cNvPr>
          <p:cNvSpPr txBox="1"/>
          <p:nvPr/>
        </p:nvSpPr>
        <p:spPr>
          <a:xfrm>
            <a:off x="349136" y="2359497"/>
            <a:ext cx="33353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System size dependence</a:t>
            </a:r>
            <a:endParaRPr kumimoji="1" lang="ja-JP" altLang="en-US" sz="2400" u="sng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AE43424-A42B-41AE-D61F-EB856C9462A7}"/>
              </a:ext>
            </a:extLst>
          </p:cNvPr>
          <p:cNvSpPr txBox="1"/>
          <p:nvPr/>
        </p:nvSpPr>
        <p:spPr>
          <a:xfrm>
            <a:off x="1574209" y="1238342"/>
            <a:ext cx="5162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Affleck-Kennedy-Lieb-Tasaki (AKLT) Hamiltonian</a:t>
            </a:r>
            <a:endParaRPr kumimoji="1" lang="ja-JP" altLang="en-US" sz="12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6" name="Picture 6" descr="\begin{align*}&#10;  \| (e^{-iH\tau} - T_p(\tau)) \Pi_{\leq \Delta} \| \leq \mathcal{O} \left( (g\tau)^p \{\Delta+g \log (N/\epsilon)\} \tau \right) + \epsilon&#10;\end{align*}">
            <a:extLst>
              <a:ext uri="{FF2B5EF4-FFF2-40B4-BE49-F238E27FC236}">
                <a16:creationId xmlns:a16="http://schemas.microsoft.com/office/drawing/2014/main" id="{E1EDA014-5234-4B46-A764-DB0C48972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814" y="1800335"/>
            <a:ext cx="6516840" cy="307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646F001-4B10-68FA-7F5A-D6CA4A7C8E01}"/>
              </a:ext>
            </a:extLst>
          </p:cNvPr>
          <p:cNvSpPr txBox="1"/>
          <p:nvPr/>
        </p:nvSpPr>
        <p:spPr>
          <a:xfrm>
            <a:off x="231110" y="1207564"/>
            <a:ext cx="1165704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Example: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1ECB434-D686-0541-699A-17D8B1F7469B}"/>
              </a:ext>
            </a:extLst>
          </p:cNvPr>
          <p:cNvSpPr txBox="1"/>
          <p:nvPr/>
        </p:nvSpPr>
        <p:spPr>
          <a:xfrm>
            <a:off x="5974592" y="3555697"/>
            <a:ext cx="257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1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For arbitrary initial state</a:t>
            </a:r>
            <a:endParaRPr kumimoji="1" lang="ja-JP" altLang="en-US">
              <a:solidFill>
                <a:schemeClr val="accent1"/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3D778037-C0B2-744D-7C01-55D4649E1ED7}"/>
                  </a:ext>
                </a:extLst>
              </p:cNvPr>
              <p:cNvSpPr txBox="1"/>
              <p:nvPr/>
            </p:nvSpPr>
            <p:spPr>
              <a:xfrm>
                <a:off x="6908976" y="3925029"/>
                <a:ext cx="7048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sz="280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kumimoji="1" lang="ja-JP" altLang="en-US" sz="280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3D778037-C0B2-744D-7C01-55D4649E1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976" y="3925029"/>
                <a:ext cx="704873" cy="430887"/>
              </a:xfrm>
              <a:prstGeom prst="rect">
                <a:avLst/>
              </a:prstGeom>
              <a:blipFill>
                <a:blip r:embed="rId6"/>
                <a:stretch>
                  <a:fillRect l="-7018" r="-10526" b="-285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20ADCCD-D848-657A-AECF-4F866970CE5E}"/>
              </a:ext>
            </a:extLst>
          </p:cNvPr>
          <p:cNvSpPr txBox="1"/>
          <p:nvPr/>
        </p:nvSpPr>
        <p:spPr>
          <a:xfrm>
            <a:off x="5974592" y="4624176"/>
            <a:ext cx="257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For low-energy state</a:t>
            </a:r>
            <a:endParaRPr kumimoji="1" lang="ja-JP" altLang="en-US">
              <a:solidFill>
                <a:schemeClr val="accent2"/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4" name="右中かっこ 13">
            <a:extLst>
              <a:ext uri="{FF2B5EF4-FFF2-40B4-BE49-F238E27FC236}">
                <a16:creationId xmlns:a16="http://schemas.microsoft.com/office/drawing/2014/main" id="{A7A01645-37E3-D78C-8C74-17F18E17385B}"/>
              </a:ext>
            </a:extLst>
          </p:cNvPr>
          <p:cNvSpPr/>
          <p:nvPr/>
        </p:nvSpPr>
        <p:spPr>
          <a:xfrm>
            <a:off x="5880254" y="4624176"/>
            <a:ext cx="162737" cy="421408"/>
          </a:xfrm>
          <a:prstGeom prst="righ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447FDC41-7678-2A36-D8C0-34BE9608325B}"/>
                  </a:ext>
                </a:extLst>
              </p:cNvPr>
              <p:cNvSpPr txBox="1"/>
              <p:nvPr/>
            </p:nvSpPr>
            <p:spPr>
              <a:xfrm>
                <a:off x="6568889" y="5126098"/>
                <a:ext cx="191578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en-US" altLang="ja-JP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Almost </a:t>
                </a:r>
                <a14:m>
                  <m:oMath xmlns:m="http://schemas.openxmlformats.org/officeDocument/2006/math">
                    <m:r>
                      <a:rPr kumimoji="1" lang="en-US" altLang="ja-JP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kumimoji="1" lang="en-US" altLang="ja-JP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-independent</a:t>
                </a:r>
                <a:endParaRPr kumimoji="1" lang="ja-JP" altLang="en-US" sz="16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447FDC41-7678-2A36-D8C0-34BE96083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889" y="5126098"/>
                <a:ext cx="1915781" cy="246221"/>
              </a:xfrm>
              <a:prstGeom prst="rect">
                <a:avLst/>
              </a:prstGeom>
              <a:blipFill>
                <a:blip r:embed="rId7"/>
                <a:stretch>
                  <a:fillRect l="-6579" t="-25000" r="-3289" b="-5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0524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D3428-2E63-66D4-FD01-C5B593478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15D3331-03BE-9765-EF2D-68775C52076F}"/>
              </a:ext>
            </a:extLst>
          </p:cNvPr>
          <p:cNvSpPr/>
          <p:nvPr/>
        </p:nvSpPr>
        <p:spPr>
          <a:xfrm>
            <a:off x="4655235" y="1963106"/>
            <a:ext cx="1050622" cy="3077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8D1EFCB-A589-8144-E5BB-CCA15154A2F6}"/>
              </a:ext>
            </a:extLst>
          </p:cNvPr>
          <p:cNvSpPr/>
          <p:nvPr/>
        </p:nvSpPr>
        <p:spPr>
          <a:xfrm>
            <a:off x="0" y="0"/>
            <a:ext cx="9144000" cy="104851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b="1" dirty="0">
                <a:latin typeface="Times New Roman" panose="02020603050405020304" pitchFamily="18" charset="0"/>
                <a:ea typeface="YuKyokasho" panose="02000500000000000000" pitchFamily="2" charset="-128"/>
                <a:cs typeface="Times New Roman" panose="02020603050405020304" pitchFamily="18" charset="0"/>
              </a:rPr>
              <a:t>Appendix: Numerical demonstration</a:t>
            </a:r>
            <a:endParaRPr kumimoji="1" lang="ja-JP" altLang="en-US" sz="3600" b="1">
              <a:latin typeface="Times New Roman" panose="02020603050405020304" pitchFamily="18" charset="0"/>
              <a:ea typeface="YuKyokasho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17" name="図 16" descr="テキスト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B3588F2-E0F3-15A1-3F58-C1BE6FB671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27" t="54348" r="35043" b="32776"/>
          <a:stretch/>
        </p:blipFill>
        <p:spPr>
          <a:xfrm>
            <a:off x="592976" y="3106740"/>
            <a:ext cx="4466704" cy="1350564"/>
          </a:xfrm>
          <a:prstGeom prst="rect">
            <a:avLst/>
          </a:prstGeom>
        </p:spPr>
      </p:pic>
      <p:pic>
        <p:nvPicPr>
          <p:cNvPr id="25" name="図 24" descr="グラフィカル ユーザー インターフェイス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5EAB8C1-EB17-4809-3CA8-49300CC5AED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0769" t="50000" r="8564" b="22891"/>
          <a:stretch/>
        </p:blipFill>
        <p:spPr>
          <a:xfrm>
            <a:off x="5180546" y="3289554"/>
            <a:ext cx="1258092" cy="2540148"/>
          </a:xfrm>
          <a:prstGeom prst="rect">
            <a:avLst/>
          </a:prstGeom>
        </p:spPr>
      </p:pic>
      <p:pic>
        <p:nvPicPr>
          <p:cNvPr id="28" name="図 27" descr="テキスト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99650C3-9267-006D-7CC1-4BED5699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133" t="54459" r="2087" b="29605"/>
          <a:stretch/>
        </p:blipFill>
        <p:spPr>
          <a:xfrm>
            <a:off x="867210" y="4536167"/>
            <a:ext cx="4326582" cy="1671129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78284CF-8D06-A79E-39CF-94C756B702E1}"/>
              </a:ext>
            </a:extLst>
          </p:cNvPr>
          <p:cNvSpPr txBox="1"/>
          <p:nvPr/>
        </p:nvSpPr>
        <p:spPr>
          <a:xfrm>
            <a:off x="349136" y="2359497"/>
            <a:ext cx="40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Initial state energy dependence</a:t>
            </a:r>
            <a:endParaRPr kumimoji="1" lang="ja-JP" altLang="en-US" sz="2400" u="sng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805FB0D-88F4-6B74-7748-38A5037BC6B9}"/>
              </a:ext>
            </a:extLst>
          </p:cNvPr>
          <p:cNvSpPr txBox="1"/>
          <p:nvPr/>
        </p:nvSpPr>
        <p:spPr>
          <a:xfrm>
            <a:off x="1574209" y="1238342"/>
            <a:ext cx="5162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Affleck-Kennedy-Lieb-Tasaki (AKLT) Hamiltonian</a:t>
            </a:r>
            <a:endParaRPr kumimoji="1" lang="ja-JP" altLang="en-US" sz="12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6" name="Picture 6" descr="\begin{align*}&#10;  \| (e^{-iH\tau} - T_p(\tau)) \Pi_{\leq \Delta} \| \leq \mathcal{O} \left( (g\tau)^p \{\Delta+g \log (N/\epsilon)\} \tau \right) + \epsilon&#10;\end{align*}">
            <a:extLst>
              <a:ext uri="{FF2B5EF4-FFF2-40B4-BE49-F238E27FC236}">
                <a16:creationId xmlns:a16="http://schemas.microsoft.com/office/drawing/2014/main" id="{D4183DD1-250A-91EB-919A-BC24CEA5E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814" y="1800335"/>
            <a:ext cx="6516840" cy="307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4475FCB-E10B-DAA7-D040-526B19B18F90}"/>
              </a:ext>
            </a:extLst>
          </p:cNvPr>
          <p:cNvSpPr txBox="1"/>
          <p:nvPr/>
        </p:nvSpPr>
        <p:spPr>
          <a:xfrm>
            <a:off x="231110" y="1207564"/>
            <a:ext cx="1165704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Example:</a:t>
            </a:r>
            <a:endParaRPr kumimoji="1" lang="ja-JP" altLang="en-US" sz="20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9D4360D5-F8D8-BED4-33BC-30EF021383DD}"/>
                  </a:ext>
                </a:extLst>
              </p:cNvPr>
              <p:cNvSpPr txBox="1"/>
              <p:nvPr/>
            </p:nvSpPr>
            <p:spPr>
              <a:xfrm>
                <a:off x="206600" y="3121780"/>
                <a:ext cx="7727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dirty="0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𝑝</m:t>
                      </m:r>
                      <m:r>
                        <a:rPr kumimoji="1" lang="en-US" altLang="ja-JP" b="0" i="1" dirty="0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=1</m:t>
                      </m:r>
                    </m:oMath>
                  </m:oMathPara>
                </a14:m>
                <a:endParaRPr kumimoji="1" lang="ja-JP" altLang="en-US" sz="12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9D4360D5-F8D8-BED4-33BC-30EF02138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600" y="3121780"/>
                <a:ext cx="772751" cy="369332"/>
              </a:xfrm>
              <a:prstGeom prst="rect">
                <a:avLst/>
              </a:prstGeom>
              <a:blipFill>
                <a:blip r:embed="rId6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2C241EED-0709-4189-6BB2-353216648FD9}"/>
                  </a:ext>
                </a:extLst>
              </p:cNvPr>
              <p:cNvSpPr txBox="1"/>
              <p:nvPr/>
            </p:nvSpPr>
            <p:spPr>
              <a:xfrm>
                <a:off x="231110" y="4664315"/>
                <a:ext cx="7727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dirty="0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𝑝</m:t>
                      </m:r>
                      <m:r>
                        <a:rPr kumimoji="1" lang="en-US" altLang="ja-JP" b="0" i="1" dirty="0" smtClean="0">
                          <a:latin typeface="Cambria Math" panose="02040503050406030204" pitchFamily="18" charset="0"/>
                          <a:ea typeface="YuKyokasho Medium" panose="02000500000000000000" pitchFamily="2" charset="-128"/>
                          <a:cs typeface="Times New Roman" panose="02020603050405020304" pitchFamily="18" charset="0"/>
                        </a:rPr>
                        <m:t>=2</m:t>
                      </m:r>
                    </m:oMath>
                  </m:oMathPara>
                </a14:m>
                <a:endParaRPr kumimoji="1" lang="ja-JP" altLang="en-US" sz="12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2C241EED-0709-4189-6BB2-353216648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10" y="4664315"/>
                <a:ext cx="772751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円/楕円 9">
            <a:extLst>
              <a:ext uri="{FF2B5EF4-FFF2-40B4-BE49-F238E27FC236}">
                <a16:creationId xmlns:a16="http://schemas.microsoft.com/office/drawing/2014/main" id="{E4E7C9E7-B89E-3DF5-947D-4DF5BEF1C520}"/>
              </a:ext>
            </a:extLst>
          </p:cNvPr>
          <p:cNvSpPr/>
          <p:nvPr/>
        </p:nvSpPr>
        <p:spPr>
          <a:xfrm>
            <a:off x="1987296" y="3540566"/>
            <a:ext cx="1043205" cy="1059527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円/楕円 10">
            <a:extLst>
              <a:ext uri="{FF2B5EF4-FFF2-40B4-BE49-F238E27FC236}">
                <a16:creationId xmlns:a16="http://schemas.microsoft.com/office/drawing/2014/main" id="{A418D31B-2BD0-BB95-A383-439A6C6C8FF2}"/>
              </a:ext>
            </a:extLst>
          </p:cNvPr>
          <p:cNvSpPr/>
          <p:nvPr/>
        </p:nvSpPr>
        <p:spPr>
          <a:xfrm>
            <a:off x="1963787" y="4974973"/>
            <a:ext cx="1043205" cy="1059527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C42D5107-3DA2-3659-2AC9-10A686D53A08}"/>
                  </a:ext>
                </a:extLst>
              </p:cNvPr>
              <p:cNvSpPr txBox="1"/>
              <p:nvPr/>
            </p:nvSpPr>
            <p:spPr>
              <a:xfrm>
                <a:off x="6559504" y="4103361"/>
                <a:ext cx="240702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ja-JP" sz="20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kumimoji="1" lang="en-US" altLang="ja-JP" sz="20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-independent </a:t>
                </a:r>
              </a:p>
              <a:p>
                <a:pPr algn="ctr"/>
                <a:r>
                  <a:rPr kumimoji="1" lang="en-US" altLang="ja-JP" sz="20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linear increase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ja-JP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</m:oMath>
                </a14:m>
                <a:endParaRPr kumimoji="1" lang="ja-JP" altLang="en-US" sz="200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C42D5107-3DA2-3659-2AC9-10A686D53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504" y="4103361"/>
                <a:ext cx="2407024" cy="707886"/>
              </a:xfrm>
              <a:prstGeom prst="rect">
                <a:avLst/>
              </a:prstGeom>
              <a:blipFill>
                <a:blip r:embed="rId8"/>
                <a:stretch>
                  <a:fillRect t="-5357" b="-1428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5376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59308</TotalTime>
  <Words>1450</Words>
  <Application>Microsoft Macintosh PowerPoint</Application>
  <PresentationFormat>画面に合わせる (4:3)</PresentationFormat>
  <Paragraphs>249</Paragraphs>
  <Slides>17</Slides>
  <Notes>13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6" baseType="lpstr">
      <vt:lpstr>UD Digi Kyokasho NK-R</vt:lpstr>
      <vt:lpstr>YuKyokasho Medium</vt:lpstr>
      <vt:lpstr>游ゴシック</vt:lpstr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154</cp:revision>
  <dcterms:created xsi:type="dcterms:W3CDTF">2023-07-06T06:11:03Z</dcterms:created>
  <dcterms:modified xsi:type="dcterms:W3CDTF">2026-03-05T01:56:24Z</dcterms:modified>
</cp:coreProperties>
</file>