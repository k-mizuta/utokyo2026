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0"/>
  </p:notesMasterIdLst>
  <p:sldIdLst>
    <p:sldId id="256" r:id="rId2"/>
    <p:sldId id="344" r:id="rId3"/>
    <p:sldId id="285" r:id="rId4"/>
    <p:sldId id="286" r:id="rId5"/>
    <p:sldId id="355" r:id="rId6"/>
    <p:sldId id="335" r:id="rId7"/>
    <p:sldId id="356" r:id="rId8"/>
    <p:sldId id="345" r:id="rId9"/>
    <p:sldId id="357" r:id="rId10"/>
    <p:sldId id="324" r:id="rId11"/>
    <p:sldId id="354" r:id="rId12"/>
    <p:sldId id="325" r:id="rId13"/>
    <p:sldId id="359" r:id="rId14"/>
    <p:sldId id="358" r:id="rId15"/>
    <p:sldId id="341" r:id="rId16"/>
    <p:sldId id="347" r:id="rId17"/>
    <p:sldId id="338" r:id="rId18"/>
    <p:sldId id="360" r:id="rId19"/>
    <p:sldId id="348" r:id="rId20"/>
    <p:sldId id="361" r:id="rId21"/>
    <p:sldId id="349" r:id="rId22"/>
    <p:sldId id="362" r:id="rId23"/>
    <p:sldId id="339" r:id="rId24"/>
    <p:sldId id="350" r:id="rId25"/>
    <p:sldId id="329" r:id="rId26"/>
    <p:sldId id="351" r:id="rId27"/>
    <p:sldId id="352" r:id="rId28"/>
    <p:sldId id="353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10" userDrawn="1">
          <p15:clr>
            <a:srgbClr val="A4A3A4"/>
          </p15:clr>
        </p15:guide>
        <p15:guide id="2" pos="510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9498"/>
    <p:restoredTop sz="94548"/>
  </p:normalViewPr>
  <p:slideViewPr>
    <p:cSldViewPr snapToGrid="0" showGuides="1">
      <p:cViewPr varScale="1">
        <p:scale>
          <a:sx n="105" d="100"/>
          <a:sy n="105" d="100"/>
        </p:scale>
        <p:origin x="1048" y="168"/>
      </p:cViewPr>
      <p:guideLst>
        <p:guide orient="horz" pos="4110"/>
        <p:guide pos="510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02B219-3CDB-964D-A793-A2FE66A4EE60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329F2E-2D5A-F140-898F-8E4AF6C370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402811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07879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385583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99127-2902-E78B-7E03-BB2C6EC8F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1B8C2239-F0BF-FDB5-1691-B87B185A1D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3421F18-207D-9FB0-779A-9CE40AD7D1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3A87435-0A1F-05A5-EC96-3BFD823009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76365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0D906C-E6E3-E107-61F0-17CD2115C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2277474-4D31-F965-76A5-43170507C1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550757-1CC0-049E-5922-25176DF484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984D8D1-2882-8E50-E69B-0CDF8B6215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425900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ACD42D-1BFD-7189-4B4E-0C24F92BF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043A6FB-46A1-5050-4BF2-506A202237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0605BA5-0882-C1CA-DAAC-4E78037545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EBC63D9-341E-9632-16E2-9CD5F09601E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463229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A4E82A-AD39-0FFD-9014-7683677CDA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D1AB91D-D0E0-C804-48A6-72906ADDA2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4F52A72-BD77-9D4A-B714-F1FFA522E1A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133086C2-6843-1B9B-0753-9A19422E83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55597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7F0241-A45B-C761-9919-14F2C11583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DEE6445-C3C2-599C-45BC-EB3F08A9F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4C16A8A7-5CD1-795E-646C-D9D373E1F0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985AF0D-0B02-23B0-C840-10DF4C7B07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005025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D87F46-DE85-678C-5A03-59CD2C88A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C11D1B-E6B2-3846-A55C-CA4554ACEE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E834BC62-97B1-8F80-E8FE-1EDCB68291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A739F37-F385-8EF9-27B1-99F6E76954F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888640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21B095-CB8F-1C1C-E5DE-C1F56908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F3DC304-792E-296F-DE82-77CF699D6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2285FA-5BD5-0781-26A7-ED98290DA8E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540AD98-9E7C-C1F6-A578-7D471BAF13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561342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5B85C-C88D-B2D5-0FF5-0DC95F838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5421AD6-9F0F-3401-5A1F-F8DF200FC2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C8DC7A71-0438-0164-CC42-1C2B4F98D4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1D7C49-F1C3-DC68-707D-8A88D02F17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1486069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9FBC05-5E61-2941-0868-BCE9BD88D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E4849152-C824-3E4E-3585-DF22BDC8E4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2C4C5B08-60A2-51F8-7BB0-989B5C1724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CE9B7B1-C3F8-56A9-76F5-572AA2D83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2383090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A27BDB-AA62-550B-1226-CD6C6FDE2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5BE98937-C23A-1457-F0D1-EE2BF34250F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0676A9D7-2DEB-0D40-D7B5-AEFE0DA0F9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6A71606-7FDD-1212-96D6-34211AB699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41610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9A3EC-ADF5-AA84-6BC5-059F67761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BDB2DA-2C61-7DF4-00F9-CAD9F72B92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710CD9EE-869C-CF60-76EC-602EF47A3A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6339FE4-F5CE-13D9-03B5-5E3645F4BC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34439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F6E989-6527-B39F-2028-5540E52884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A6E04715-75BB-F19A-633E-1750E784DB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7F947C1-C048-CAEF-4898-2062FE0013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FBE29FA-5567-152C-29B2-E01C07456B6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176425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08D003-86FC-E152-C30F-E07840253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3FC7E54-6178-BCE2-D4BA-4992FD1490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2C0799-F827-6699-32CF-4853F2EDFC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57BC11F-C66F-3545-449A-60ED1F02F2B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406757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60260-3A1D-BC04-DDC2-DE393BD6D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D594A375-57BC-B9A0-2EAF-7D2B6017A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B24D2B3-D27E-EB5A-D510-681D52B394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CF12C042-114C-192C-AACA-B5749C6BC3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3041743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403CC4-FCEF-B40B-521B-460CA7FDD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45B0783E-CAB6-C78B-90CE-5DA8B570D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906392C-4C18-3D24-0FDB-310626A586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B15AA5-8D9A-1F0B-31F6-4E7C1279B3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46914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ED0C4-358C-2B2E-6AD8-349947597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A7CCA04-CEDE-D688-A226-4B6DEAE6CD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D264981F-DB5D-C12A-F32A-F115C2595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E407FB4A-84EC-399A-6483-5758EC18CF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5008067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4939EE-BCC8-CF23-B85C-327A3C71CB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3EBB7F27-646E-16B1-E83B-0C949B2CF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56283836-AC1A-2B2E-2168-20A7B02C44B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DD5E27A4-F2D0-0D83-2F3C-6C70874A66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246508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03154C-AE28-C87E-C2DE-883247266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017C448-D16E-410B-C329-550F39D4F7E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A9A3DC8-2742-6AA3-D1ED-CEC4F589044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3225A0E-B848-0BC7-0871-42B6DBEBCF9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2361533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1BD03-FC0C-D643-0B23-BAEC1E12E4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4CE937-4354-7466-EE26-AD48B866E8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34AC96E6-B2EF-E30D-E289-E703CC8A72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049D496-8431-EB5B-7F18-20B5060307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369224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304DFA-9AFE-676B-1C18-9E7A84AD52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2F758E72-A5B6-0A64-DA8E-713B068336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6DD3A728-D04D-333E-10CF-BEA454D38F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573A6C4-7073-1C07-A699-75162BAFDD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25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4552049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3256-1408-5C88-75B7-F2DDBCD6FE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72F5AD48-93F7-1548-FEE4-013649AAEC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BC5E2EFB-F2C9-B1F1-AD60-D897C4A967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46BE66B-B37E-F147-8C8F-E1B232F439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5948443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3F66C-5760-03E6-4780-063C4DED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F2B6CF59-A149-9B5A-B567-A6816980613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E847CB5-E4C5-8385-3972-5C34A1BF11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1F949F-18EC-E5C8-F1D5-ED55DC0A4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27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140547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1A66D2-019C-4FB8-C342-C6097E0DE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CDCEE2DC-A210-E326-819A-7F97BE4A9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80BFEDBD-D1FC-5F82-DDA6-53BD3D6CE21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2FCD40E-E6F0-A1A2-321F-852F9616E2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329F2E-2D5A-F140-898F-8E4AF6C37083}" type="slidenum">
              <a:rPr kumimoji="1" lang="ja-JP" altLang="en-US" smtClean="0"/>
              <a:t>28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395693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403277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74057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906366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044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018962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553026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1561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6392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13060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573000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2254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5548CF-C04A-8444-998A-3BFCC00B062A}" type="datetimeFigureOut">
              <a:rPr kumimoji="1" lang="ja-JP" altLang="en-US" smtClean="0"/>
              <a:t>2026/1/21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4EB1FC-79AA-EE44-8923-1F32EA0536B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099546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png"/><Relationship Id="rId3" Type="http://schemas.openxmlformats.org/officeDocument/2006/relationships/image" Target="../media/image3.png"/><Relationship Id="rId7" Type="http://schemas.openxmlformats.org/officeDocument/2006/relationships/image" Target="../media/image5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1.emf"/><Relationship Id="rId9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9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.png"/><Relationship Id="rId15" Type="http://schemas.openxmlformats.org/officeDocument/2006/relationships/image" Target="../media/image15.emf"/><Relationship Id="rId10" Type="http://schemas.openxmlformats.org/officeDocument/2006/relationships/image" Target="../media/image13.png"/><Relationship Id="rId4" Type="http://schemas.openxmlformats.org/officeDocument/2006/relationships/image" Target="../media/image10.png"/><Relationship Id="rId1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9.png"/><Relationship Id="rId18" Type="http://schemas.openxmlformats.org/officeDocument/2006/relationships/image" Target="../media/image24.png"/><Relationship Id="rId3" Type="http://schemas.openxmlformats.org/officeDocument/2006/relationships/image" Target="../media/image20.png"/><Relationship Id="rId12" Type="http://schemas.openxmlformats.org/officeDocument/2006/relationships/image" Target="../media/image221.png"/><Relationship Id="rId17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5.emf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15" Type="http://schemas.openxmlformats.org/officeDocument/2006/relationships/image" Target="../media/image22.png"/><Relationship Id="rId19" Type="http://schemas.openxmlformats.org/officeDocument/2006/relationships/image" Target="../media/image25.png"/><Relationship Id="rId14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10" Type="http://schemas.openxmlformats.org/officeDocument/2006/relationships/image" Target="../media/image16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3" Type="http://schemas.openxmlformats.org/officeDocument/2006/relationships/image" Target="../media/image220.png"/><Relationship Id="rId7" Type="http://schemas.openxmlformats.org/officeDocument/2006/relationships/image" Target="../media/image30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30.png"/><Relationship Id="rId10" Type="http://schemas.openxmlformats.org/officeDocument/2006/relationships/image" Target="../media/image35.png"/><Relationship Id="rId4" Type="http://schemas.openxmlformats.org/officeDocument/2006/relationships/image" Target="../media/image28.png"/><Relationship Id="rId9" Type="http://schemas.openxmlformats.org/officeDocument/2006/relationships/image" Target="../media/image3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0.png"/><Relationship Id="rId13" Type="http://schemas.openxmlformats.org/officeDocument/2006/relationships/image" Target="../media/image29.png"/><Relationship Id="rId18" Type="http://schemas.openxmlformats.org/officeDocument/2006/relationships/image" Target="../media/image390.png"/><Relationship Id="rId3" Type="http://schemas.openxmlformats.org/officeDocument/2006/relationships/image" Target="../media/image39.png"/><Relationship Id="rId12" Type="http://schemas.openxmlformats.org/officeDocument/2006/relationships/image" Target="../media/image28.png"/><Relationship Id="rId17" Type="http://schemas.openxmlformats.org/officeDocument/2006/relationships/image" Target="../media/image380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40.png"/><Relationship Id="rId5" Type="http://schemas.openxmlformats.org/officeDocument/2006/relationships/image" Target="../media/image37.png"/><Relationship Id="rId15" Type="http://schemas.openxmlformats.org/officeDocument/2006/relationships/image" Target="../media/image15.emf"/><Relationship Id="rId19" Type="http://schemas.openxmlformats.org/officeDocument/2006/relationships/image" Target="../media/image35.png"/><Relationship Id="rId4" Type="http://schemas.openxmlformats.org/officeDocument/2006/relationships/image" Target="../media/image36.png"/><Relationship Id="rId14" Type="http://schemas.openxmlformats.org/officeDocument/2006/relationships/image" Target="../media/image3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4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6.png"/><Relationship Id="rId9" Type="http://schemas.openxmlformats.org/officeDocument/2006/relationships/image" Target="../media/image421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image" Target="../media/image40.emf"/><Relationship Id="rId7" Type="http://schemas.openxmlformats.org/officeDocument/2006/relationships/image" Target="../media/image4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Relationship Id="rId9" Type="http://schemas.openxmlformats.org/officeDocument/2006/relationships/image" Target="../media/image45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7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53.png"/><Relationship Id="rId18" Type="http://schemas.openxmlformats.org/officeDocument/2006/relationships/image" Target="../media/image61.png"/><Relationship Id="rId3" Type="http://schemas.openxmlformats.org/officeDocument/2006/relationships/image" Target="../media/image500.png"/><Relationship Id="rId12" Type="http://schemas.openxmlformats.org/officeDocument/2006/relationships/image" Target="../media/image57.png"/><Relationship Id="rId17" Type="http://schemas.openxmlformats.org/officeDocument/2006/relationships/image" Target="../media/image60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40.png"/><Relationship Id="rId20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56.png"/><Relationship Id="rId5" Type="http://schemas.openxmlformats.org/officeDocument/2006/relationships/image" Target="../media/image280.png"/><Relationship Id="rId15" Type="http://schemas.openxmlformats.org/officeDocument/2006/relationships/image" Target="../media/image58.png"/><Relationship Id="rId10" Type="http://schemas.openxmlformats.org/officeDocument/2006/relationships/image" Target="../media/image55.png"/><Relationship Id="rId19" Type="http://schemas.openxmlformats.org/officeDocument/2006/relationships/image" Target="../media/image16.png"/><Relationship Id="rId4" Type="http://schemas.openxmlformats.org/officeDocument/2006/relationships/image" Target="../media/image52.png"/><Relationship Id="rId14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114.png"/><Relationship Id="rId7" Type="http://schemas.openxmlformats.org/officeDocument/2006/relationships/image" Target="../media/image6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3.emf"/><Relationship Id="rId5" Type="http://schemas.openxmlformats.org/officeDocument/2006/relationships/image" Target="../media/image62.png"/><Relationship Id="rId4" Type="http://schemas.openxmlformats.org/officeDocument/2006/relationships/image" Target="../media/image600.png"/><Relationship Id="rId9" Type="http://schemas.openxmlformats.org/officeDocument/2006/relationships/image" Target="../media/image65.png"/></Relationships>
</file>

<file path=ppt/slides/_rels/slide1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8.png"/><Relationship Id="rId18" Type="http://schemas.openxmlformats.org/officeDocument/2006/relationships/image" Target="../media/image63.emf"/><Relationship Id="rId26" Type="http://schemas.openxmlformats.org/officeDocument/2006/relationships/image" Target="../media/image80.png"/><Relationship Id="rId21" Type="http://schemas.openxmlformats.org/officeDocument/2006/relationships/image" Target="../media/image75.png"/><Relationship Id="rId7" Type="http://schemas.openxmlformats.org/officeDocument/2006/relationships/image" Target="../media/image66.png"/><Relationship Id="rId12" Type="http://schemas.openxmlformats.org/officeDocument/2006/relationships/image" Target="../media/image480.png"/><Relationship Id="rId17" Type="http://schemas.openxmlformats.org/officeDocument/2006/relationships/image" Target="../media/image72.png"/><Relationship Id="rId25" Type="http://schemas.openxmlformats.org/officeDocument/2006/relationships/image" Target="../media/image79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71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7.png"/><Relationship Id="rId11" Type="http://schemas.openxmlformats.org/officeDocument/2006/relationships/image" Target="../media/image470.png"/><Relationship Id="rId24" Type="http://schemas.openxmlformats.org/officeDocument/2006/relationships/image" Target="../media/image78.png"/><Relationship Id="rId15" Type="http://schemas.openxmlformats.org/officeDocument/2006/relationships/image" Target="../media/image70.png"/><Relationship Id="rId23" Type="http://schemas.openxmlformats.org/officeDocument/2006/relationships/image" Target="../media/image77.png"/><Relationship Id="rId28" Type="http://schemas.openxmlformats.org/officeDocument/2006/relationships/image" Target="../media/image82.png"/><Relationship Id="rId10" Type="http://schemas.openxmlformats.org/officeDocument/2006/relationships/image" Target="../media/image680.png"/><Relationship Id="rId19" Type="http://schemas.openxmlformats.org/officeDocument/2006/relationships/image" Target="../media/image73.png"/><Relationship Id="rId14" Type="http://schemas.openxmlformats.org/officeDocument/2006/relationships/image" Target="../media/image69.png"/><Relationship Id="rId22" Type="http://schemas.openxmlformats.org/officeDocument/2006/relationships/image" Target="../media/image76.png"/><Relationship Id="rId27" Type="http://schemas.openxmlformats.org/officeDocument/2006/relationships/image" Target="../media/image8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20.png"/><Relationship Id="rId18" Type="http://schemas.openxmlformats.org/officeDocument/2006/relationships/image" Target="../media/image87.png"/><Relationship Id="rId7" Type="http://schemas.openxmlformats.org/officeDocument/2006/relationships/image" Target="../media/image570.png"/><Relationship Id="rId12" Type="http://schemas.openxmlformats.org/officeDocument/2006/relationships/image" Target="../media/image85.png"/><Relationship Id="rId17" Type="http://schemas.openxmlformats.org/officeDocument/2006/relationships/image" Target="../media/image860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85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00.png"/><Relationship Id="rId11" Type="http://schemas.openxmlformats.org/officeDocument/2006/relationships/image" Target="../media/image84.png"/><Relationship Id="rId15" Type="http://schemas.openxmlformats.org/officeDocument/2006/relationships/image" Target="../media/image840.png"/><Relationship Id="rId10" Type="http://schemas.openxmlformats.org/officeDocument/2006/relationships/image" Target="../media/image810.png"/><Relationship Id="rId9" Type="http://schemas.openxmlformats.org/officeDocument/2006/relationships/image" Target="../media/image590.png"/><Relationship Id="rId14" Type="http://schemas.openxmlformats.org/officeDocument/2006/relationships/image" Target="../media/image8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871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70.png"/><Relationship Id="rId10" Type="http://schemas.openxmlformats.org/officeDocument/2006/relationships/image" Target="../media/image91.png"/><Relationship Id="rId9" Type="http://schemas.openxmlformats.org/officeDocument/2006/relationships/image" Target="../media/image90.png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96.emf"/><Relationship Id="rId18" Type="http://schemas.openxmlformats.org/officeDocument/2006/relationships/image" Target="../media/image101.png"/><Relationship Id="rId12" Type="http://schemas.openxmlformats.org/officeDocument/2006/relationships/image" Target="../media/image95.png"/><Relationship Id="rId17" Type="http://schemas.openxmlformats.org/officeDocument/2006/relationships/image" Target="../media/image100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94.png"/><Relationship Id="rId15" Type="http://schemas.openxmlformats.org/officeDocument/2006/relationships/image" Target="../media/image98.png"/><Relationship Id="rId10" Type="http://schemas.openxmlformats.org/officeDocument/2006/relationships/image" Target="../media/image93.png"/><Relationship Id="rId4" Type="http://schemas.openxmlformats.org/officeDocument/2006/relationships/image" Target="../media/image92.png"/><Relationship Id="rId9" Type="http://schemas.openxmlformats.org/officeDocument/2006/relationships/image" Target="../media/image96.png"/><Relationship Id="rId14" Type="http://schemas.openxmlformats.org/officeDocument/2006/relationships/image" Target="../media/image97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96.emf"/><Relationship Id="rId3" Type="http://schemas.openxmlformats.org/officeDocument/2006/relationships/image" Target="../media/image102.png"/><Relationship Id="rId7" Type="http://schemas.openxmlformats.org/officeDocument/2006/relationships/image" Target="../media/image105.png"/><Relationship Id="rId12" Type="http://schemas.openxmlformats.org/officeDocument/2006/relationships/image" Target="../media/image107.png"/><Relationship Id="rId2" Type="http://schemas.openxmlformats.org/officeDocument/2006/relationships/notesSlide" Target="../notesSlides/notesSlide16.xml"/><Relationship Id="rId16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.png"/><Relationship Id="rId11" Type="http://schemas.openxmlformats.org/officeDocument/2006/relationships/image" Target="../media/image106.emf"/><Relationship Id="rId5" Type="http://schemas.openxmlformats.org/officeDocument/2006/relationships/image" Target="../media/image103.png"/><Relationship Id="rId15" Type="http://schemas.openxmlformats.org/officeDocument/2006/relationships/image" Target="../media/image110.png"/><Relationship Id="rId10" Type="http://schemas.openxmlformats.org/officeDocument/2006/relationships/image" Target="../media/image68.png"/><Relationship Id="rId4" Type="http://schemas.openxmlformats.org/officeDocument/2006/relationships/image" Target="../media/image66.png"/><Relationship Id="rId9" Type="http://schemas.openxmlformats.org/officeDocument/2006/relationships/image" Target="../media/image106.png"/><Relationship Id="rId14" Type="http://schemas.openxmlformats.org/officeDocument/2006/relationships/image" Target="../media/image10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0.png"/><Relationship Id="rId13" Type="http://schemas.openxmlformats.org/officeDocument/2006/relationships/image" Target="../media/image84.png"/><Relationship Id="rId18" Type="http://schemas.openxmlformats.org/officeDocument/2006/relationships/image" Target="../media/image77.png"/><Relationship Id="rId3" Type="http://schemas.openxmlformats.org/officeDocument/2006/relationships/image" Target="../media/image112.png"/><Relationship Id="rId21" Type="http://schemas.openxmlformats.org/officeDocument/2006/relationships/image" Target="../media/image116.png"/><Relationship Id="rId12" Type="http://schemas.openxmlformats.org/officeDocument/2006/relationships/image" Target="../media/image105.png"/><Relationship Id="rId17" Type="http://schemas.openxmlformats.org/officeDocument/2006/relationships/image" Target="../media/image78.png"/><Relationship Id="rId2" Type="http://schemas.openxmlformats.org/officeDocument/2006/relationships/notesSlide" Target="../notesSlides/notesSlide17.xml"/><Relationship Id="rId16" Type="http://schemas.openxmlformats.org/officeDocument/2006/relationships/image" Target="../media/image114.png"/><Relationship Id="rId20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11" Type="http://schemas.openxmlformats.org/officeDocument/2006/relationships/image" Target="../media/image780.png"/><Relationship Id="rId5" Type="http://schemas.openxmlformats.org/officeDocument/2006/relationships/image" Target="../media/image74.png"/><Relationship Id="rId15" Type="http://schemas.openxmlformats.org/officeDocument/2006/relationships/image" Target="../media/image68.png"/><Relationship Id="rId23" Type="http://schemas.openxmlformats.org/officeDocument/2006/relationships/image" Target="../media/image70.png"/><Relationship Id="rId10" Type="http://schemas.openxmlformats.org/officeDocument/2006/relationships/image" Target="../media/image770.png"/><Relationship Id="rId19" Type="http://schemas.openxmlformats.org/officeDocument/2006/relationships/image" Target="../media/image115.png"/><Relationship Id="rId4" Type="http://schemas.openxmlformats.org/officeDocument/2006/relationships/image" Target="../media/image66.png"/><Relationship Id="rId9" Type="http://schemas.openxmlformats.org/officeDocument/2006/relationships/image" Target="../media/image760.png"/><Relationship Id="rId14" Type="http://schemas.openxmlformats.org/officeDocument/2006/relationships/image" Target="../media/image113.png"/><Relationship Id="rId22" Type="http://schemas.openxmlformats.org/officeDocument/2006/relationships/image" Target="../media/image63.emf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160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7.png"/><Relationship Id="rId5" Type="http://schemas.openxmlformats.org/officeDocument/2006/relationships/image" Target="../media/image105.png"/><Relationship Id="rId4" Type="http://schemas.openxmlformats.org/officeDocument/2006/relationships/image" Target="../media/image8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3.png"/><Relationship Id="rId3" Type="http://schemas.openxmlformats.org/officeDocument/2006/relationships/image" Target="../media/image120.png"/><Relationship Id="rId7" Type="http://schemas.openxmlformats.org/officeDocument/2006/relationships/image" Target="../media/image63.e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2.png"/><Relationship Id="rId5" Type="http://schemas.openxmlformats.org/officeDocument/2006/relationships/image" Target="../media/image26.png"/><Relationship Id="rId10" Type="http://schemas.openxmlformats.org/officeDocument/2006/relationships/image" Target="../media/image125.png"/><Relationship Id="rId4" Type="http://schemas.openxmlformats.org/officeDocument/2006/relationships/image" Target="../media/image121.png"/><Relationship Id="rId9" Type="http://schemas.openxmlformats.org/officeDocument/2006/relationships/image" Target="../media/image1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7.png"/><Relationship Id="rId5" Type="http://schemas.openxmlformats.org/officeDocument/2006/relationships/image" Target="../media/image126.png"/><Relationship Id="rId4" Type="http://schemas.openxmlformats.org/officeDocument/2006/relationships/image" Target="../media/image63.emf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970.png"/><Relationship Id="rId18" Type="http://schemas.openxmlformats.org/officeDocument/2006/relationships/image" Target="../media/image136.png"/><Relationship Id="rId3" Type="http://schemas.openxmlformats.org/officeDocument/2006/relationships/image" Target="../media/image126.png"/><Relationship Id="rId7" Type="http://schemas.openxmlformats.org/officeDocument/2006/relationships/image" Target="../media/image130.png"/><Relationship Id="rId17" Type="http://schemas.openxmlformats.org/officeDocument/2006/relationships/image" Target="../media/image135.png"/><Relationship Id="rId2" Type="http://schemas.openxmlformats.org/officeDocument/2006/relationships/notesSlide" Target="../notesSlides/notesSlide21.xml"/><Relationship Id="rId16" Type="http://schemas.openxmlformats.org/officeDocument/2006/relationships/image" Target="../media/image1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9.png"/><Relationship Id="rId11" Type="http://schemas.openxmlformats.org/officeDocument/2006/relationships/image" Target="../media/image950.png"/><Relationship Id="rId5" Type="http://schemas.openxmlformats.org/officeDocument/2006/relationships/image" Target="../media/image901.png"/><Relationship Id="rId15" Type="http://schemas.openxmlformats.org/officeDocument/2006/relationships/image" Target="../media/image132.png"/><Relationship Id="rId10" Type="http://schemas.openxmlformats.org/officeDocument/2006/relationships/image" Target="../media/image940.png"/><Relationship Id="rId4" Type="http://schemas.openxmlformats.org/officeDocument/2006/relationships/image" Target="../media/image128.png"/><Relationship Id="rId14" Type="http://schemas.openxmlformats.org/officeDocument/2006/relationships/image" Target="../media/image13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8.png"/><Relationship Id="rId7" Type="http://schemas.openxmlformats.org/officeDocument/2006/relationships/image" Target="../media/image5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6.emf"/><Relationship Id="rId5" Type="http://schemas.openxmlformats.org/officeDocument/2006/relationships/image" Target="../media/image138.png"/><Relationship Id="rId4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1010.png"/><Relationship Id="rId4" Type="http://schemas.openxmlformats.org/officeDocument/2006/relationships/image" Target="../media/image1000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0.png"/><Relationship Id="rId7" Type="http://schemas.openxmlformats.org/officeDocument/2006/relationships/image" Target="../media/image105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40.png"/><Relationship Id="rId5" Type="http://schemas.openxmlformats.org/officeDocument/2006/relationships/image" Target="../media/image84.png"/><Relationship Id="rId4" Type="http://schemas.openxmlformats.org/officeDocument/2006/relationships/image" Target="../media/image141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90.png"/><Relationship Id="rId3" Type="http://schemas.openxmlformats.org/officeDocument/2006/relationships/image" Target="../media/image142.png"/><Relationship Id="rId7" Type="http://schemas.openxmlformats.org/officeDocument/2006/relationships/image" Target="../media/image108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70.png"/><Relationship Id="rId5" Type="http://schemas.openxmlformats.org/officeDocument/2006/relationships/image" Target="../media/image84.png"/><Relationship Id="rId4" Type="http://schemas.openxmlformats.org/officeDocument/2006/relationships/image" Target="../media/image1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DF7BAED-C382-24EA-B5BB-37E822E7352A}"/>
              </a:ext>
            </a:extLst>
          </p:cNvPr>
          <p:cNvSpPr txBox="1"/>
          <p:nvPr/>
        </p:nvSpPr>
        <p:spPr>
          <a:xfrm>
            <a:off x="1984073" y="1581638"/>
            <a:ext cx="51684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 err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Qleap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AI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セミナー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on 2025.12.16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83DDE47-9988-C0F1-4D77-1A9A5F7AA042}"/>
              </a:ext>
            </a:extLst>
          </p:cNvPr>
          <p:cNvSpPr txBox="1"/>
          <p:nvPr/>
        </p:nvSpPr>
        <p:spPr>
          <a:xfrm>
            <a:off x="4224630" y="5186483"/>
            <a:ext cx="418576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水田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32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郁</a:t>
            </a:r>
            <a:r>
              <a:rPr kumimoji="1" lang="en-US" altLang="ja-JP" sz="32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(Kaoru Mizuta)</a:t>
            </a:r>
            <a:endParaRPr kumimoji="1" lang="ja-JP" altLang="en-US" sz="3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3876284-020F-9D2E-A632-83F1D9324467}"/>
              </a:ext>
            </a:extLst>
          </p:cNvPr>
          <p:cNvSpPr txBox="1"/>
          <p:nvPr/>
        </p:nvSpPr>
        <p:spPr>
          <a:xfrm>
            <a:off x="726159" y="2394556"/>
            <a:ext cx="7684232" cy="107721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altLang="ja-JP" sz="3200" b="1" dirty="0">
                <a:effectLst/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Trotterization is substantially efficient </a:t>
            </a:r>
          </a:p>
          <a:p>
            <a:pPr algn="ctr"/>
            <a:r>
              <a:rPr lang="en-US" altLang="ja-JP" sz="3200" b="1" dirty="0">
                <a:effectLst/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for low-energy states</a:t>
            </a:r>
            <a:endParaRPr lang="ja-JP" altLang="en-US" sz="3200" b="1">
              <a:effectLst/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E165DB56-6FD2-4F15-28A5-5AD535066EAF}"/>
              </a:ext>
            </a:extLst>
          </p:cNvPr>
          <p:cNvSpPr txBox="1"/>
          <p:nvPr/>
        </p:nvSpPr>
        <p:spPr>
          <a:xfrm>
            <a:off x="3543618" y="5973630"/>
            <a:ext cx="5052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東大物工</a:t>
            </a:r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理研</a:t>
            </a:r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RQC, JST </a:t>
            </a:r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さきがけ「量子協奏」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EF887FF-01C0-B7E2-7191-979EA15C8E3C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2EF887FF-01C0-B7E2-7191-979EA15C8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2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7758E9-F8D5-1D2E-474C-C702D12BDDAE}"/>
              </a:ext>
            </a:extLst>
          </p:cNvPr>
          <p:cNvSpPr txBox="1"/>
          <p:nvPr/>
        </p:nvSpPr>
        <p:spPr>
          <a:xfrm>
            <a:off x="1727592" y="3573346"/>
            <a:ext cx="56813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56982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28A186-8741-8CC8-81D8-3B3762E5C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049EB78-E112-2E7E-D832-6041F6E85A3A}"/>
              </a:ext>
            </a:extLst>
          </p:cNvPr>
          <p:cNvSpPr/>
          <p:nvPr/>
        </p:nvSpPr>
        <p:spPr>
          <a:xfrm>
            <a:off x="0" y="1510422"/>
            <a:ext cx="9144000" cy="1861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67689C8-C152-C03E-0DF2-BDF186F73503}"/>
              </a:ext>
            </a:extLst>
          </p:cNvPr>
          <p:cNvSpPr txBox="1"/>
          <p:nvPr/>
        </p:nvSpPr>
        <p:spPr>
          <a:xfrm>
            <a:off x="3569962" y="403085"/>
            <a:ext cx="20040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Outline</a:t>
            </a:r>
            <a:endParaRPr kumimoji="1" lang="ja-JP" altLang="en-US" sz="4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3A0792E-6CA7-F99E-9D8F-4529F5046E69}"/>
              </a:ext>
            </a:extLst>
          </p:cNvPr>
          <p:cNvSpPr txBox="1"/>
          <p:nvPr/>
        </p:nvSpPr>
        <p:spPr>
          <a:xfrm>
            <a:off x="605738" y="1510421"/>
            <a:ext cx="2258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I. Introduction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C1F8AEBF-FCEB-F1A6-884D-B31A0C296477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EC4C2E5A-DA8E-BCD0-528B-66074FE431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2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E6028AC-1D2D-8D28-B95A-B36D45E18406}"/>
              </a:ext>
            </a:extLst>
          </p:cNvPr>
          <p:cNvSpPr txBox="1"/>
          <p:nvPr/>
        </p:nvSpPr>
        <p:spPr>
          <a:xfrm>
            <a:off x="605738" y="3486490"/>
            <a:ext cx="2387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II. Main results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A46F4CD8-5F77-F332-E4A7-CF68037385A3}"/>
              </a:ext>
            </a:extLst>
          </p:cNvPr>
          <p:cNvSpPr txBox="1"/>
          <p:nvPr/>
        </p:nvSpPr>
        <p:spPr>
          <a:xfrm>
            <a:off x="605738" y="5567938"/>
            <a:ext cx="2121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III. Summary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85407B35-C82F-C7D0-D116-740C1E33B2C2}"/>
              </a:ext>
            </a:extLst>
          </p:cNvPr>
          <p:cNvSpPr txBox="1"/>
          <p:nvPr/>
        </p:nvSpPr>
        <p:spPr>
          <a:xfrm>
            <a:off x="997782" y="2198538"/>
            <a:ext cx="360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I-1. Hamiltonian simulation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5355F5F3-C686-B400-61F2-1E60DDBD479D}"/>
              </a:ext>
            </a:extLst>
          </p:cNvPr>
          <p:cNvSpPr txBox="1"/>
          <p:nvPr/>
        </p:nvSpPr>
        <p:spPr>
          <a:xfrm>
            <a:off x="997782" y="2828820"/>
            <a:ext cx="2369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I-2. Trotterization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7D464AE-CBC2-FAF3-AAE5-631B4CA96B01}"/>
              </a:ext>
            </a:extLst>
          </p:cNvPr>
          <p:cNvSpPr txBox="1"/>
          <p:nvPr/>
        </p:nvSpPr>
        <p:spPr>
          <a:xfrm>
            <a:off x="806342" y="4197798"/>
            <a:ext cx="7890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“Trotterization is substantially efficient for low-energy states”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149BC02-16DC-EEE7-0D0C-FF0D8D300FF7}"/>
              </a:ext>
            </a:extLst>
          </p:cNvPr>
          <p:cNvSpPr txBox="1"/>
          <p:nvPr/>
        </p:nvSpPr>
        <p:spPr>
          <a:xfrm>
            <a:off x="4236076" y="4646487"/>
            <a:ext cx="4460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sz="1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 sz="1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5640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ECAC52-45AC-CAAF-BF0C-EAC3FE74E60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I-1. Hamiltonian simulation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503993D8-017F-CBBE-A0FD-F5DEA35DF46F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503993D8-017F-CBBE-A0FD-F5DEA35DF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3" name="図 32">
            <a:extLst>
              <a:ext uri="{FF2B5EF4-FFF2-40B4-BE49-F238E27FC236}">
                <a16:creationId xmlns:a16="http://schemas.microsoft.com/office/drawing/2014/main" id="{95C825C9-A5DC-16E7-8CDA-88683E749A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6592" y="1979463"/>
            <a:ext cx="1966352" cy="707886"/>
          </a:xfrm>
          <a:prstGeom prst="rect">
            <a:avLst/>
          </a:prstGeom>
        </p:spPr>
      </p:pic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52747DBE-1AF4-EEBA-409E-3A83C130CB1C}"/>
              </a:ext>
            </a:extLst>
          </p:cNvPr>
          <p:cNvSpPr txBox="1"/>
          <p:nvPr/>
        </p:nvSpPr>
        <p:spPr>
          <a:xfrm>
            <a:off x="181054" y="1244723"/>
            <a:ext cx="1146468" cy="46166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Task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D741FF86-5C75-B985-4CD5-D104BF142F6C}"/>
              </a:ext>
            </a:extLst>
          </p:cNvPr>
          <p:cNvSpPr txBox="1"/>
          <p:nvPr/>
        </p:nvSpPr>
        <p:spPr>
          <a:xfrm>
            <a:off x="1604301" y="1273237"/>
            <a:ext cx="500838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Solve Schrodinger eq. by quantum computers</a:t>
            </a:r>
            <a:endParaRPr kumimoji="1" lang="ja-JP" altLang="en-US" sz="20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51" name="Picture 2" descr="\begin{align*}&#10;  \ket{\psi} \to f_q (H) \ket{\psi}, \quad f_q (H) = \sum_{n=0}^q c_n H^n&#10;\end{align*}">
            <a:extLst>
              <a:ext uri="{FF2B5EF4-FFF2-40B4-BE49-F238E27FC236}">
                <a16:creationId xmlns:a16="http://schemas.microsoft.com/office/drawing/2014/main" id="{18B02678-837D-73E8-5690-D4C72100E9C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9" r="92785" b="20485"/>
          <a:stretch/>
        </p:blipFill>
        <p:spPr bwMode="auto">
          <a:xfrm>
            <a:off x="1879055" y="1892593"/>
            <a:ext cx="406483" cy="6046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2" descr="\begin{align*}&#10;  e^{-iHt} \ket{\psi} + \mathcal{O}(\varepsilon)&#10;\end{align*}">
            <a:extLst>
              <a:ext uri="{FF2B5EF4-FFF2-40B4-BE49-F238E27FC236}">
                <a16:creationId xmlns:a16="http://schemas.microsoft.com/office/drawing/2014/main" id="{7A420055-B2AB-D944-64FB-A26276CD75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494" y="2044351"/>
            <a:ext cx="2071637" cy="330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テキスト ボックス 53">
            <a:extLst>
              <a:ext uri="{FF2B5EF4-FFF2-40B4-BE49-F238E27FC236}">
                <a16:creationId xmlns:a16="http://schemas.microsoft.com/office/drawing/2014/main" id="{3FCF2257-48BE-CCAD-F54F-CBC4666A0CE3}"/>
              </a:ext>
            </a:extLst>
          </p:cNvPr>
          <p:cNvSpPr txBox="1"/>
          <p:nvPr/>
        </p:nvSpPr>
        <p:spPr>
          <a:xfrm>
            <a:off x="1392423" y="2476218"/>
            <a:ext cx="1274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Initial state</a:t>
            </a:r>
            <a:endParaRPr kumimoji="1" lang="ja-JP" altLang="en-US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7E745E3-8948-392E-E2DB-C375FDC3B577}"/>
                  </a:ext>
                </a:extLst>
              </p:cNvPr>
              <p:cNvSpPr txBox="1"/>
              <p:nvPr/>
            </p:nvSpPr>
            <p:spPr>
              <a:xfrm>
                <a:off x="4246798" y="2478207"/>
                <a:ext cx="193333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Solution at time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endParaRPr kumimoji="1" lang="ja-JP" altLang="en-US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テキスト ボックス 54">
                <a:extLst>
                  <a:ext uri="{FF2B5EF4-FFF2-40B4-BE49-F238E27FC236}">
                    <a16:creationId xmlns:a16="http://schemas.microsoft.com/office/drawing/2014/main" id="{87E745E3-8948-392E-E2DB-C375FDC3B5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6798" y="2478207"/>
                <a:ext cx="1933333" cy="369332"/>
              </a:xfrm>
              <a:prstGeom prst="rect">
                <a:avLst/>
              </a:prstGeom>
              <a:blipFill>
                <a:blip r:embed="rId7"/>
                <a:stretch>
                  <a:fillRect l="-2614" t="-10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2" name="テキスト ボックス 61">
            <a:extLst>
              <a:ext uri="{FF2B5EF4-FFF2-40B4-BE49-F238E27FC236}">
                <a16:creationId xmlns:a16="http://schemas.microsoft.com/office/drawing/2014/main" id="{33478594-66D0-942B-3BF5-509087216925}"/>
              </a:ext>
            </a:extLst>
          </p:cNvPr>
          <p:cNvSpPr txBox="1"/>
          <p:nvPr/>
        </p:nvSpPr>
        <p:spPr>
          <a:xfrm>
            <a:off x="866945" y="3186504"/>
            <a:ext cx="24985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Exponential speedup</a:t>
            </a:r>
            <a:endParaRPr kumimoji="1" lang="ja-JP" altLang="en-US" sz="20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0C6D26C-66BC-63D6-2081-61007948CED1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4B71E2EE-BEEB-CA80-0601-0DA7BE26EDE2}"/>
              </a:ext>
            </a:extLst>
          </p:cNvPr>
          <p:cNvCxnSpPr>
            <a:cxnSpLocks/>
          </p:cNvCxnSpPr>
          <p:nvPr/>
        </p:nvCxnSpPr>
        <p:spPr>
          <a:xfrm>
            <a:off x="2554513" y="2209379"/>
            <a:ext cx="13113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DF298264-BB75-1110-B81B-60FFBBCFE7D6}"/>
              </a:ext>
            </a:extLst>
          </p:cNvPr>
          <p:cNvCxnSpPr>
            <a:cxnSpLocks/>
          </p:cNvCxnSpPr>
          <p:nvPr/>
        </p:nvCxnSpPr>
        <p:spPr>
          <a:xfrm>
            <a:off x="2810589" y="2376929"/>
            <a:ext cx="78088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67E3F4E6-18F4-745B-B937-452294B6449D}"/>
              </a:ext>
            </a:extLst>
          </p:cNvPr>
          <p:cNvCxnSpPr>
            <a:cxnSpLocks/>
          </p:cNvCxnSpPr>
          <p:nvPr/>
        </p:nvCxnSpPr>
        <p:spPr>
          <a:xfrm>
            <a:off x="2810589" y="2539519"/>
            <a:ext cx="78088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コネクタ 12">
            <a:extLst>
              <a:ext uri="{FF2B5EF4-FFF2-40B4-BE49-F238E27FC236}">
                <a16:creationId xmlns:a16="http://schemas.microsoft.com/office/drawing/2014/main" id="{A516F4CC-277B-6A24-FAC2-3A6421590D2B}"/>
              </a:ext>
            </a:extLst>
          </p:cNvPr>
          <p:cNvCxnSpPr>
            <a:cxnSpLocks/>
          </p:cNvCxnSpPr>
          <p:nvPr/>
        </p:nvCxnSpPr>
        <p:spPr>
          <a:xfrm>
            <a:off x="2810589" y="2702109"/>
            <a:ext cx="78088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コネクタ 13">
            <a:extLst>
              <a:ext uri="{FF2B5EF4-FFF2-40B4-BE49-F238E27FC236}">
                <a16:creationId xmlns:a16="http://schemas.microsoft.com/office/drawing/2014/main" id="{177D94DF-7E77-3441-35E2-C89886ABC4B7}"/>
              </a:ext>
            </a:extLst>
          </p:cNvPr>
          <p:cNvCxnSpPr>
            <a:cxnSpLocks/>
          </p:cNvCxnSpPr>
          <p:nvPr/>
        </p:nvCxnSpPr>
        <p:spPr>
          <a:xfrm>
            <a:off x="2810589" y="2864698"/>
            <a:ext cx="780889" cy="0"/>
          </a:xfrm>
          <a:prstGeom prst="line">
            <a:avLst/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B01A7109-13C6-10CF-6D2B-5C4B324DCC10}"/>
              </a:ext>
            </a:extLst>
          </p:cNvPr>
          <p:cNvSpPr/>
          <p:nvPr/>
        </p:nvSpPr>
        <p:spPr>
          <a:xfrm>
            <a:off x="2862939" y="2322578"/>
            <a:ext cx="172172" cy="280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CE8ED6E6-848C-780B-8FC7-326DCF16C895}"/>
              </a:ext>
            </a:extLst>
          </p:cNvPr>
          <p:cNvSpPr/>
          <p:nvPr/>
        </p:nvSpPr>
        <p:spPr>
          <a:xfrm>
            <a:off x="3108944" y="2489427"/>
            <a:ext cx="172172" cy="280301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64AE0EF2-7B2D-69C3-D96E-E6C92DA592C4}"/>
              </a:ext>
            </a:extLst>
          </p:cNvPr>
          <p:cNvSpPr/>
          <p:nvPr/>
        </p:nvSpPr>
        <p:spPr>
          <a:xfrm>
            <a:off x="3358920" y="2317413"/>
            <a:ext cx="172172" cy="612689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CDF3F146-8D4D-38CA-B9B8-798D17F257E2}"/>
              </a:ext>
            </a:extLst>
          </p:cNvPr>
          <p:cNvSpPr txBox="1"/>
          <p:nvPr/>
        </p:nvSpPr>
        <p:spPr>
          <a:xfrm>
            <a:off x="4454793" y="3186504"/>
            <a:ext cx="41277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- Application to physics &amp; chemistry</a:t>
            </a:r>
            <a:endParaRPr kumimoji="1" lang="ja-JP" altLang="en-US" sz="20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4860A5E7-A59C-DDC3-0654-255831FDE91B}"/>
              </a:ext>
            </a:extLst>
          </p:cNvPr>
          <p:cNvGrpSpPr/>
          <p:nvPr/>
        </p:nvGrpSpPr>
        <p:grpSpPr>
          <a:xfrm>
            <a:off x="331924" y="3799473"/>
            <a:ext cx="8420192" cy="982323"/>
            <a:chOff x="331924" y="3799473"/>
            <a:chExt cx="8420192" cy="982323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7C7C4E98-8DF0-DC7A-CB89-C68BD47F915C}"/>
                </a:ext>
              </a:extLst>
            </p:cNvPr>
            <p:cNvSpPr/>
            <p:nvPr/>
          </p:nvSpPr>
          <p:spPr>
            <a:xfrm>
              <a:off x="331924" y="3799473"/>
              <a:ext cx="8420192" cy="98232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A76786F-BC65-2D79-51B8-249F9CCC8ECF}"/>
                </a:ext>
              </a:extLst>
            </p:cNvPr>
            <p:cNvSpPr txBox="1"/>
            <p:nvPr/>
          </p:nvSpPr>
          <p:spPr>
            <a:xfrm>
              <a:off x="641403" y="3844022"/>
              <a:ext cx="7748705" cy="46166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400" b="1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What is the fastest algorithm with guaranteed accuracy ?</a:t>
              </a:r>
              <a:endParaRPr kumimoji="1" lang="ja-JP" altLang="en-US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495AE0FE-B13C-4A8C-420A-852F54805143}"/>
                    </a:ext>
                  </a:extLst>
                </p:cNvPr>
                <p:cNvSpPr txBox="1"/>
                <p:nvPr/>
              </p:nvSpPr>
              <p:spPr>
                <a:xfrm>
                  <a:off x="461470" y="4287242"/>
                  <a:ext cx="822106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Goal: Best scaling in system </a:t>
                  </a:r>
                  <a:r>
                    <a:rPr kumimoji="1" lang="en-US" altLang="ja-JP" sz="2000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size </a:t>
                  </a:r>
                  <a14:m>
                    <m:oMath xmlns:m="http://schemas.openxmlformats.org/officeDocument/2006/math">
                      <m:r>
                        <a:rPr kumimoji="1" lang="en-US" altLang="ja-JP" sz="2000" b="0" i="1" u="sng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&amp; evolution </a:t>
                  </a:r>
                  <a:r>
                    <a:rPr kumimoji="1" lang="en-US" altLang="ja-JP" sz="2000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time </a:t>
                  </a:r>
                  <a14:m>
                    <m:oMath xmlns:m="http://schemas.openxmlformats.org/officeDocument/2006/math">
                      <m:r>
                        <a:rPr kumimoji="1" lang="en-US" altLang="ja-JP" sz="2000" b="0" i="1" u="sng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𝑡</m:t>
                      </m:r>
                    </m:oMath>
                  </a14:m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&amp; allowable </a:t>
                  </a:r>
                  <a:r>
                    <a:rPr kumimoji="1" lang="en-US" altLang="ja-JP" sz="2000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accuracy </a:t>
                  </a:r>
                  <a14:m>
                    <m:oMath xmlns:m="http://schemas.openxmlformats.org/officeDocument/2006/math">
                      <m:r>
                        <a:rPr kumimoji="1" lang="en-US" altLang="ja-JP" sz="2000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a14:m>
                  <a:r>
                    <a:rPr kumimoji="1" lang="en-US" altLang="ja-JP" sz="2000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:endParaRPr kumimoji="1" lang="ja-JP" altLang="en-US" sz="2000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2" name="テキスト ボックス 21">
                  <a:extLst>
                    <a:ext uri="{FF2B5EF4-FFF2-40B4-BE49-F238E27FC236}">
                      <a16:creationId xmlns:a16="http://schemas.microsoft.com/office/drawing/2014/main" id="{495AE0FE-B13C-4A8C-420A-852F5480514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470" y="4287242"/>
                  <a:ext cx="8221060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772" t="-6061" r="-1389" b="-2424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1B58633C-B7E0-D7D7-A334-128BCF55AD55}"/>
              </a:ext>
            </a:extLst>
          </p:cNvPr>
          <p:cNvGrpSpPr/>
          <p:nvPr/>
        </p:nvGrpSpPr>
        <p:grpSpPr>
          <a:xfrm>
            <a:off x="331924" y="4856155"/>
            <a:ext cx="8751280" cy="1481420"/>
            <a:chOff x="331924" y="4856155"/>
            <a:chExt cx="8751280" cy="1481420"/>
          </a:xfrm>
        </p:grpSpPr>
        <p:grpSp>
          <p:nvGrpSpPr>
            <p:cNvPr id="7" name="グループ化 6">
              <a:extLst>
                <a:ext uri="{FF2B5EF4-FFF2-40B4-BE49-F238E27FC236}">
                  <a16:creationId xmlns:a16="http://schemas.microsoft.com/office/drawing/2014/main" id="{387FD1D5-275A-0670-83AA-E3732624C7EC}"/>
                </a:ext>
              </a:extLst>
            </p:cNvPr>
            <p:cNvGrpSpPr/>
            <p:nvPr/>
          </p:nvGrpSpPr>
          <p:grpSpPr>
            <a:xfrm>
              <a:off x="331924" y="4913872"/>
              <a:ext cx="8751280" cy="1423703"/>
              <a:chOff x="331924" y="4913872"/>
              <a:chExt cx="8751280" cy="1423703"/>
            </a:xfrm>
          </p:grpSpPr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568A9031-9ECB-409B-F2AD-DBBE4774FF50}"/>
                  </a:ext>
                </a:extLst>
              </p:cNvPr>
              <p:cNvSpPr txBox="1"/>
              <p:nvPr/>
            </p:nvSpPr>
            <p:spPr>
              <a:xfrm>
                <a:off x="331924" y="4913872"/>
                <a:ext cx="188984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Trotterization</a:t>
                </a:r>
                <a:endParaRPr kumimoji="1" lang="ja-JP" altLang="en-US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04FC3F9D-7C46-210D-B6B5-53C398D56CA0}"/>
                  </a:ext>
                </a:extLst>
              </p:cNvPr>
              <p:cNvSpPr txBox="1"/>
              <p:nvPr/>
            </p:nvSpPr>
            <p:spPr>
              <a:xfrm>
                <a:off x="2116196" y="4989737"/>
                <a:ext cx="1738502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1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S. Lloyd, Science (1997)</a:t>
                </a:r>
                <a:endParaRPr lang="ja-JP" altLang="en-US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AA0519B2-15A1-C60D-B9B2-9BF1313C2A1C}"/>
                  </a:ext>
                </a:extLst>
              </p:cNvPr>
              <p:cNvSpPr txBox="1"/>
              <p:nvPr/>
            </p:nvSpPr>
            <p:spPr>
              <a:xfrm>
                <a:off x="4344742" y="4913872"/>
                <a:ext cx="2096298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LCU, QSVT</a:t>
                </a:r>
                <a:endParaRPr kumimoji="1" lang="ja-JP" altLang="en-US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F16C1944-CB17-4CE0-6B64-A8A40C9680E8}"/>
                      </a:ext>
                    </a:extLst>
                  </p:cNvPr>
                  <p:cNvSpPr txBox="1"/>
                  <p:nvPr/>
                </p:nvSpPr>
                <p:spPr>
                  <a:xfrm>
                    <a:off x="754288" y="5342555"/>
                    <a:ext cx="3459264" cy="9848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kumimoji="1" lang="en-US" altLang="ja-JP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Simple circuit structure</a:t>
                    </a:r>
                  </a:p>
                  <a:p>
                    <a:endParaRPr kumimoji="1" lang="en-US" altLang="ja-JP" sz="800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  <a:p>
                    <a:r>
                      <a:rPr kumimoji="1" lang="en-US" altLang="ja-JP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Better scaling in System size </a:t>
                    </a:r>
                    <a14:m>
                      <m:oMath xmlns:m="http://schemas.openxmlformats.org/officeDocument/2006/math">
                        <m:r>
                          <a:rPr kumimoji="1" lang="en-US" altLang="ja-JP" b="0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𝑁</m:t>
                        </m:r>
                      </m:oMath>
                    </a14:m>
                    <a:endParaRPr kumimoji="1"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  <a:p>
                    <a:r>
                      <a:rPr kumimoji="1" lang="en-US" altLang="ja-JP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(commutator scaling)</a:t>
                    </a:r>
                  </a:p>
                </p:txBody>
              </p:sp>
            </mc:Choice>
            <mc:Fallback xmlns="">
              <p:sp>
                <p:nvSpPr>
                  <p:cNvPr id="27" name="テキスト ボックス 26">
                    <a:extLst>
                      <a:ext uri="{FF2B5EF4-FFF2-40B4-BE49-F238E27FC236}">
                        <a16:creationId xmlns:a16="http://schemas.microsoft.com/office/drawing/2014/main" id="{F16C1944-CB17-4CE0-6B64-A8A40C9680E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4288" y="5342555"/>
                    <a:ext cx="3459264" cy="984885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465" t="-2532" b="-506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テキスト ボックス 27">
                    <a:extLst>
                      <a:ext uri="{FF2B5EF4-FFF2-40B4-BE49-F238E27FC236}">
                        <a16:creationId xmlns:a16="http://schemas.microsoft.com/office/drawing/2014/main" id="{521AAD6B-D529-CC86-4F84-962C3256E924}"/>
                      </a:ext>
                    </a:extLst>
                  </p:cNvPr>
                  <p:cNvSpPr txBox="1"/>
                  <p:nvPr/>
                </p:nvSpPr>
                <p:spPr>
                  <a:xfrm>
                    <a:off x="4930450" y="5352690"/>
                    <a:ext cx="4152754" cy="98488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kumimoji="1" lang="en-US" altLang="ja-JP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Grand unification of quantum algorithms</a:t>
                    </a:r>
                  </a:p>
                  <a:p>
                    <a:endParaRPr kumimoji="1" lang="en-US" altLang="ja-JP" sz="800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  <a:p>
                    <a:r>
                      <a:rPr kumimoji="1" lang="en-US" altLang="ja-JP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Optimal scaling in allowable error </a:t>
                    </a:r>
                    <a14:m>
                      <m:oMath xmlns:m="http://schemas.openxmlformats.org/officeDocument/2006/math">
                        <m:r>
                          <a:rPr kumimoji="1" lang="en-US" altLang="ja-JP" i="1" smtClean="0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oMath>
                    </a14:m>
                    <a:endParaRPr kumimoji="1" lang="en-US" altLang="ja-JP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  <a:p>
                    <a:r>
                      <a:rPr kumimoji="1" lang="en-US" altLang="ja-JP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(</a:t>
                    </a:r>
                    <a14:m>
                      <m:oMath xmlns:m="http://schemas.openxmlformats.org/officeDocument/2006/math">
                        <m:func>
                          <m:funcPr>
                            <m:ctrlPr>
                              <a:rPr kumimoji="1" lang="en-US" altLang="ja-JP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Kyokasho Medium" panose="02000500000000000000" pitchFamily="2" charset="-128"/>
                                <a:cs typeface="Times New Roman" panose="020206030504050203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1400" b="0" i="0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Kyokasho Medium" panose="02000500000000000000" pitchFamily="2" charset="-128"/>
                                <a:cs typeface="Times New Roman" panose="020206030504050203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kumimoji="1" lang="en-US" altLang="ja-JP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Kyokasho Medium" panose="02000500000000000000" pitchFamily="2" charset="-128"/>
                                <a:cs typeface="Times New Roman" panose="02020603050405020304" pitchFamily="18" charset="0"/>
                              </a:rPr>
                              <m:t>(1/</m:t>
                            </m:r>
                            <m:r>
                              <a:rPr kumimoji="1" lang="en-US" altLang="ja-JP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𝜀</m:t>
                            </m:r>
                            <m:r>
                              <a:rPr kumimoji="1" lang="en-US" altLang="ja-JP" sz="1400" b="0" i="1" smtClean="0">
                                <a:solidFill>
                                  <a:schemeClr val="bg1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  <a:ea typeface="YuKyokasho Medium" panose="02000500000000000000" pitchFamily="2" charset="-128"/>
                                <a:cs typeface="Times New Roman" panose="02020603050405020304" pitchFamily="18" charset="0"/>
                              </a:rPr>
                              <m:t>)</m:t>
                            </m:r>
                          </m:e>
                        </m:func>
                      </m:oMath>
                    </a14:m>
                    <a:r>
                      <a:rPr kumimoji="1" lang="en-US" altLang="ja-JP" sz="1400" dirty="0">
                        <a:solidFill>
                          <a:schemeClr val="bg1">
                            <a:lumMod val="50000"/>
                          </a:schemeClr>
                        </a:solidFill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)</a:t>
                    </a:r>
                  </a:p>
                </p:txBody>
              </p:sp>
            </mc:Choice>
            <mc:Fallback xmlns="">
              <p:sp>
                <p:nvSpPr>
                  <p:cNvPr id="28" name="テキスト ボックス 27">
                    <a:extLst>
                      <a:ext uri="{FF2B5EF4-FFF2-40B4-BE49-F238E27FC236}">
                        <a16:creationId xmlns:a16="http://schemas.microsoft.com/office/drawing/2014/main" id="{521AAD6B-D529-CC86-4F84-962C3256E9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930450" y="5352690"/>
                    <a:ext cx="4152754" cy="98488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220" t="-2532" b="-506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0746E5DA-2DFD-6CD9-CBDA-1266731472BD}"/>
                </a:ext>
              </a:extLst>
            </p:cNvPr>
            <p:cNvSpPr txBox="1"/>
            <p:nvPr/>
          </p:nvSpPr>
          <p:spPr>
            <a:xfrm>
              <a:off x="6082149" y="5105409"/>
              <a:ext cx="20970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</a:t>
              </a:r>
              <a:r>
                <a:rPr lang="en-US" altLang="ja-JP" sz="1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Gilyen</a:t>
              </a:r>
              <a:r>
                <a:rPr lang="en-US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al., STOC (2019)</a:t>
              </a:r>
              <a:endParaRPr lang="ja-JP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A0E54BE-E3D8-EE45-751F-B3C8F6B64657}"/>
                </a:ext>
              </a:extLst>
            </p:cNvPr>
            <p:cNvSpPr txBox="1"/>
            <p:nvPr/>
          </p:nvSpPr>
          <p:spPr>
            <a:xfrm>
              <a:off x="6082149" y="4856155"/>
              <a:ext cx="2989181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 W. Berry, et al., PRL 114, 090502 (2015).</a:t>
              </a:r>
              <a:endParaRPr lang="ja-JP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575338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3A50A414-8FBD-7C94-8C06-FB7CDF1847BF}"/>
              </a:ext>
            </a:extLst>
          </p:cNvPr>
          <p:cNvSpPr txBox="1"/>
          <p:nvPr/>
        </p:nvSpPr>
        <p:spPr>
          <a:xfrm>
            <a:off x="4656593" y="2376725"/>
            <a:ext cx="19967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Lie-Suzuki-Trotter</a:t>
            </a:r>
            <a:endParaRPr kumimoji="1" lang="ja-JP" altLang="en-US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3" name="左中かっこ 32">
            <a:extLst>
              <a:ext uri="{FF2B5EF4-FFF2-40B4-BE49-F238E27FC236}">
                <a16:creationId xmlns:a16="http://schemas.microsoft.com/office/drawing/2014/main" id="{1C12DF22-407E-3036-0F25-BCD890FB8A40}"/>
              </a:ext>
            </a:extLst>
          </p:cNvPr>
          <p:cNvSpPr/>
          <p:nvPr/>
        </p:nvSpPr>
        <p:spPr>
          <a:xfrm>
            <a:off x="4946163" y="2850114"/>
            <a:ext cx="157755" cy="937967"/>
          </a:xfrm>
          <a:prstGeom prst="leftBrace">
            <a:avLst>
              <a:gd name="adj1" fmla="val 8333"/>
              <a:gd name="adj2" fmla="val 227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572C95CC-35FC-AB3F-A001-16E73A717AD4}"/>
                  </a:ext>
                </a:extLst>
              </p:cNvPr>
              <p:cNvSpPr txBox="1"/>
              <p:nvPr/>
            </p:nvSpPr>
            <p:spPr>
              <a:xfrm>
                <a:off x="6790984" y="2429688"/>
                <a:ext cx="1323952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𝐻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kumimoji="1" lang="en-US" altLang="ja-JP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𝐻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kumimoji="1" lang="ja-JP" altLang="en-US"/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572C95CC-35FC-AB3F-A001-16E73A717A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984" y="2429688"/>
                <a:ext cx="1323952" cy="276999"/>
              </a:xfrm>
              <a:prstGeom prst="rect">
                <a:avLst/>
              </a:prstGeom>
              <a:blipFill>
                <a:blip r:embed="rId3"/>
                <a:stretch>
                  <a:fillRect l="-3810" r="-952" b="-130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ECAC52-45AC-CAAF-BF0C-EAC3FE74E60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I-2. Trotterization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503993D8-017F-CBBE-A0FD-F5DEA35DF46F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503993D8-017F-CBBE-A0FD-F5DEA35DF4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4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9C6E0A9-3D18-11B0-180C-EC883CAD6477}"/>
              </a:ext>
            </a:extLst>
          </p:cNvPr>
          <p:cNvSpPr txBox="1"/>
          <p:nvPr/>
        </p:nvSpPr>
        <p:spPr>
          <a:xfrm>
            <a:off x="257698" y="1248262"/>
            <a:ext cx="269496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Product formula (PF)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242FDD49-5536-A252-B7B5-ED703BA61C4C}"/>
                  </a:ext>
                </a:extLst>
              </p:cNvPr>
              <p:cNvSpPr txBox="1"/>
              <p:nvPr/>
            </p:nvSpPr>
            <p:spPr>
              <a:xfrm>
                <a:off x="968712" y="1847469"/>
                <a:ext cx="7286491" cy="4246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Approximate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𝑖𝐻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𝜏</m:t>
                        </m:r>
                      </m:sup>
                    </m:sSup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by the evolution under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𝐻</m:t>
                        </m:r>
                      </m:e>
                      <m:sub>
                        <m:r>
                          <a:rPr kumimoji="1" lang="en-US" altLang="ja-JP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for small time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kumimoji="1" lang="en-US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→0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242FDD49-5536-A252-B7B5-ED703BA61C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8712" y="1847469"/>
                <a:ext cx="7286491" cy="424603"/>
              </a:xfrm>
              <a:prstGeom prst="rect">
                <a:avLst/>
              </a:prstGeom>
              <a:blipFill>
                <a:blip r:embed="rId10"/>
                <a:stretch>
                  <a:fillRect l="-871" t="-5714" b="-17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274095F-8E49-F8BA-9F53-FEFE8112310B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2" descr="\begin{align*}&#10;  H = \sum_{\gamma=1}^\Gamma H_\gamma&#10;\end{align*}">
            <a:extLst>
              <a:ext uri="{FF2B5EF4-FFF2-40B4-BE49-F238E27FC236}">
                <a16:creationId xmlns:a16="http://schemas.microsoft.com/office/drawing/2014/main" id="{0A08FDFB-B71E-2B6F-CC24-2170E129E9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2723" y="1178474"/>
            <a:ext cx="1044637" cy="622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EF9BC25C-C58D-EFB3-5DD1-662476212B47}"/>
              </a:ext>
            </a:extLst>
          </p:cNvPr>
          <p:cNvSpPr txBox="1"/>
          <p:nvPr/>
        </p:nvSpPr>
        <p:spPr>
          <a:xfrm>
            <a:off x="3052854" y="1277744"/>
            <a:ext cx="1559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Hamiltonian:</a:t>
            </a:r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9" name="Picture 4" descr="\begin{align*}&#10;  T_1(\tau) = e^{-iH_2\tau}e^{-iH_1\tau}&#10;\end{align*}">
            <a:extLst>
              <a:ext uri="{FF2B5EF4-FFF2-40B4-BE49-F238E27FC236}">
                <a16:creationId xmlns:a16="http://schemas.microsoft.com/office/drawing/2014/main" id="{A19A7FD8-E877-7846-D9C0-AF74E9293D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61" y="2913007"/>
            <a:ext cx="2199942" cy="2644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\begin{align*}&#10;  T_2(\tau) = e^{-iH_1\tau/2}e^{-iH_2\tau}e^{-iH_1\tau/2}&#10;\end{align*}">
            <a:extLst>
              <a:ext uri="{FF2B5EF4-FFF2-40B4-BE49-F238E27FC236}">
                <a16:creationId xmlns:a16="http://schemas.microsoft.com/office/drawing/2014/main" id="{CC92ACB0-1792-41EF-2E51-EEDF1D0B57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61" y="3452705"/>
            <a:ext cx="3190204" cy="269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\begin{align*}&#10;  T_p(\tau) \equiv \prod_{v=1}^{c_p\Gamma} e^{-iH_{\gamma_v} \alpha_v \tau} \\&#10;  = e^{-iH\tau} + \mathcal{O}(\tau^{p+1})&#10;\end{align*}">
            <a:extLst>
              <a:ext uri="{FF2B5EF4-FFF2-40B4-BE49-F238E27FC236}">
                <a16:creationId xmlns:a16="http://schemas.microsoft.com/office/drawing/2014/main" id="{FA3CBC47-3124-B553-C085-21617FFF50B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970"/>
          <a:stretch/>
        </p:blipFill>
        <p:spPr bwMode="auto">
          <a:xfrm>
            <a:off x="721033" y="2328824"/>
            <a:ext cx="2755098" cy="937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\begin{align*}&#10;  T_p(\tau) \equiv \prod_{v=1}^{c_p\Gamma} e^{-iH_{\gamma_v} \alpha_v \tau} \\&#10;  = e^{-iH\tau} + \mathcal{O}(\tau^{p+1})&#10;\end{align*}">
            <a:extLst>
              <a:ext uri="{FF2B5EF4-FFF2-40B4-BE49-F238E27FC236}">
                <a16:creationId xmlns:a16="http://schemas.microsoft.com/office/drawing/2014/main" id="{94FAD321-C364-DC1E-146C-FF8CB67413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106" b="-8017"/>
          <a:stretch/>
        </p:blipFill>
        <p:spPr bwMode="auto">
          <a:xfrm>
            <a:off x="1142611" y="3319097"/>
            <a:ext cx="2755098" cy="480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087B6D15-CAA4-CF0B-8B4E-79AADD63411A}"/>
              </a:ext>
            </a:extLst>
          </p:cNvPr>
          <p:cNvGrpSpPr/>
          <p:nvPr/>
        </p:nvGrpSpPr>
        <p:grpSpPr>
          <a:xfrm>
            <a:off x="257698" y="4027030"/>
            <a:ext cx="8443961" cy="2151710"/>
            <a:chOff x="257698" y="4027030"/>
            <a:chExt cx="8443961" cy="2151710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DD61961C-781A-8D53-355F-69AEFA3DC723}"/>
                </a:ext>
              </a:extLst>
            </p:cNvPr>
            <p:cNvSpPr/>
            <p:nvPr/>
          </p:nvSpPr>
          <p:spPr>
            <a:xfrm>
              <a:off x="4507523" y="5910566"/>
              <a:ext cx="1522753" cy="15795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4" name="正方形/長方形 13">
              <a:extLst>
                <a:ext uri="{FF2B5EF4-FFF2-40B4-BE49-F238E27FC236}">
                  <a16:creationId xmlns:a16="http://schemas.microsoft.com/office/drawing/2014/main" id="{F58480F4-0219-A46E-0576-CCB8E5296EF8}"/>
                </a:ext>
              </a:extLst>
            </p:cNvPr>
            <p:cNvSpPr/>
            <p:nvPr/>
          </p:nvSpPr>
          <p:spPr>
            <a:xfrm>
              <a:off x="6076926" y="5909106"/>
              <a:ext cx="1522753" cy="157953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72E00013-57A3-F903-560A-6FC26AAA9E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rcRect t="31721" r="75699"/>
            <a:stretch>
              <a:fillRect/>
            </a:stretch>
          </p:blipFill>
          <p:spPr>
            <a:xfrm>
              <a:off x="7808746" y="4652672"/>
              <a:ext cx="892913" cy="1334927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876CA18-4BA3-0A5B-2041-B38D613F2CD5}"/>
                </a:ext>
              </a:extLst>
            </p:cNvPr>
            <p:cNvSpPr txBox="1"/>
            <p:nvPr/>
          </p:nvSpPr>
          <p:spPr>
            <a:xfrm>
              <a:off x="257698" y="4027030"/>
              <a:ext cx="1415772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▶︎</a:t>
              </a:r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Example</a:t>
              </a:r>
              <a:endPara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050" name="Picture 2" descr="\begin{align*}&#10;  H = \sum_{i=1}^N h_{i,i+1}&#10;\end{align*}">
              <a:extLst>
                <a:ext uri="{FF2B5EF4-FFF2-40B4-BE49-F238E27FC236}">
                  <a16:creationId xmlns:a16="http://schemas.microsoft.com/office/drawing/2014/main" id="{DD389551-6BEE-BC7A-CFD9-3D3AE2E449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8313" y="4660771"/>
              <a:ext cx="1415772" cy="6717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B53F6DC2-6C13-D8E3-1898-41825DC3EC7A}"/>
                </a:ext>
              </a:extLst>
            </p:cNvPr>
            <p:cNvSpPr txBox="1"/>
            <p:nvPr/>
          </p:nvSpPr>
          <p:spPr>
            <a:xfrm>
              <a:off x="1817571" y="4030371"/>
              <a:ext cx="386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Hamiltonian with N.N. interactions</a:t>
              </a:r>
              <a:endPara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052" name="Picture 4" descr="\begin{align*}&#10;  H_{1 (2)} = \sum_{i: \text{odd (even)}} h_{i,i+1}&#10;\end{align*}">
              <a:extLst>
                <a:ext uri="{FF2B5EF4-FFF2-40B4-BE49-F238E27FC236}">
                  <a16:creationId xmlns:a16="http://schemas.microsoft.com/office/drawing/2014/main" id="{B21257FE-4C50-CD9F-0A8F-DC0342FF3A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68712" y="5639473"/>
              <a:ext cx="2356736" cy="5392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7FE90806-F5D9-7BA9-6D2D-781655032428}"/>
                </a:ext>
              </a:extLst>
            </p:cNvPr>
            <p:cNvSpPr txBox="1"/>
            <p:nvPr/>
          </p:nvSpPr>
          <p:spPr>
            <a:xfrm>
              <a:off x="490489" y="5587489"/>
              <a:ext cx="6817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</a:p>
          </p:txBody>
        </p:sp>
        <p:sp>
          <p:nvSpPr>
            <p:cNvPr id="12" name="右矢印 11">
              <a:extLst>
                <a:ext uri="{FF2B5EF4-FFF2-40B4-BE49-F238E27FC236}">
                  <a16:creationId xmlns:a16="http://schemas.microsoft.com/office/drawing/2014/main" id="{82C215FA-E8E0-2EF7-96CE-AAFA171BDF3A}"/>
                </a:ext>
              </a:extLst>
            </p:cNvPr>
            <p:cNvSpPr/>
            <p:nvPr/>
          </p:nvSpPr>
          <p:spPr>
            <a:xfrm>
              <a:off x="3644414" y="5201929"/>
              <a:ext cx="506589" cy="492886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056" name="Picture 8" descr="\begin{align*}&#10;  T_1(\tau) =  \prod_{i:\text{even}} e^{-ih_{i,i+1}\tau}\prod_{i:\text{odd}} e^{-ih_{i,i+1}\tau}&#10;\end{align*}">
              <a:extLst>
                <a:ext uri="{FF2B5EF4-FFF2-40B4-BE49-F238E27FC236}">
                  <a16:creationId xmlns:a16="http://schemas.microsoft.com/office/drawing/2014/main" id="{B5C01BBF-6FB2-ED81-0955-2413C87194C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8581" b="-8627"/>
            <a:stretch>
              <a:fillRect/>
            </a:stretch>
          </p:blipFill>
          <p:spPr bwMode="auto">
            <a:xfrm>
              <a:off x="4290436" y="4737031"/>
              <a:ext cx="813482" cy="5586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8" descr="\begin{align*}&#10;  T_1(\tau) =  \prod_{i:\text{even}} e^{-ih_{i,i+1}\tau}\prod_{i:\text{odd}} e^{-ih_{i,i+1}\tau}&#10;\end{align*}">
              <a:extLst>
                <a:ext uri="{FF2B5EF4-FFF2-40B4-BE49-F238E27FC236}">
                  <a16:creationId xmlns:a16="http://schemas.microsoft.com/office/drawing/2014/main" id="{A2DCDF63-0A05-B4CB-5E11-BA88F0DE3F0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263" t="-14941" r="-8596" b="-13691"/>
            <a:stretch>
              <a:fillRect/>
            </a:stretch>
          </p:blipFill>
          <p:spPr bwMode="auto">
            <a:xfrm>
              <a:off x="4529875" y="5405492"/>
              <a:ext cx="3278871" cy="6615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3551827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384C0E-E4E6-79D1-4ACD-38DCE9ACD7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95C6133F-B657-2684-79D9-3F163D4B3D39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I-2. Trotterization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63CA89F0-9970-4BAB-6CE0-1AE23655CA4B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63CA89F0-9970-4BAB-6CE0-1AE23655C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F6458B2A-960A-EFD6-DCF7-81AB08BB2F99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EE325B4-8832-4E7A-27E7-1C560DF43D96}"/>
              </a:ext>
            </a:extLst>
          </p:cNvPr>
          <p:cNvSpPr txBox="1"/>
          <p:nvPr/>
        </p:nvSpPr>
        <p:spPr>
          <a:xfrm>
            <a:off x="283824" y="1283830"/>
            <a:ext cx="236795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Algorithm &amp; Cost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31BDD4E-11DB-CDC5-CC28-B7A07C97A31C}"/>
                  </a:ext>
                </a:extLst>
              </p:cNvPr>
              <p:cNvSpPr txBox="1"/>
              <p:nvPr/>
            </p:nvSpPr>
            <p:spPr>
              <a:xfrm>
                <a:off x="1940561" y="2496543"/>
                <a:ext cx="7286491" cy="42966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Divide evolution time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into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parts: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&amp; Repeat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𝑝</m:t>
                        </m:r>
                      </m:sub>
                    </m:sSub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(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𝑟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)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931BDD4E-11DB-CDC5-CC28-B7A07C97A3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0561" y="2496543"/>
                <a:ext cx="7286491" cy="429669"/>
              </a:xfrm>
              <a:prstGeom prst="rect">
                <a:avLst/>
              </a:prstGeom>
              <a:blipFill>
                <a:blip r:embed="rId12"/>
                <a:stretch>
                  <a:fillRect l="-870" t="-8571" b="-1714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11F538A9-C802-C226-5DD3-7D47102FA1DB}"/>
              </a:ext>
            </a:extLst>
          </p:cNvPr>
          <p:cNvGrpSpPr/>
          <p:nvPr/>
        </p:nvGrpSpPr>
        <p:grpSpPr>
          <a:xfrm>
            <a:off x="262886" y="2977581"/>
            <a:ext cx="8420192" cy="2223677"/>
            <a:chOff x="262886" y="2977581"/>
            <a:chExt cx="8420192" cy="2223677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46A7A50B-BEC9-4227-4473-EE013CEB6002}"/>
                </a:ext>
              </a:extLst>
            </p:cNvPr>
            <p:cNvSpPr/>
            <p:nvPr/>
          </p:nvSpPr>
          <p:spPr>
            <a:xfrm>
              <a:off x="3409783" y="3873281"/>
              <a:ext cx="983040" cy="176793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81EF5CD7-4DA4-FA95-D974-10956A67579D}"/>
                    </a:ext>
                  </a:extLst>
                </p:cNvPr>
                <p:cNvSpPr txBox="1"/>
                <p:nvPr/>
              </p:nvSpPr>
              <p:spPr>
                <a:xfrm>
                  <a:off x="3679177" y="3859239"/>
                  <a:ext cx="166118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kumimoji="1" lang="en-US" altLang="ja-JP" sz="1600" b="0" i="1" smtClean="0">
                          <a:solidFill>
                            <a:schemeClr val="accent6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a14:m>
                  <a:r>
                    <a:rPr kumimoji="1" lang="en-US" altLang="ja-JP" sz="1600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ja-JP" sz="1200" dirty="0">
                      <a:solidFill>
                        <a:schemeClr val="accent6">
                          <a:lumMod val="75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(Allowable error)</a:t>
                  </a:r>
                  <a:endParaRPr kumimoji="1" lang="ja-JP" altLang="en-US" sz="1600">
                    <a:solidFill>
                      <a:schemeClr val="accent6">
                        <a:lumMod val="75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81EF5CD7-4DA4-FA95-D974-10956A6757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79177" y="3859239"/>
                  <a:ext cx="1661183" cy="338554"/>
                </a:xfrm>
                <a:prstGeom prst="rect">
                  <a:avLst/>
                </a:prstGeom>
                <a:blipFill>
                  <a:blip r:embed="rId13"/>
                  <a:stretch>
                    <a:fillRect t="-3571" b="-1785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6" name="Picture 2" descr="\begin{align*}&#10;  e^{-iHt} = \left\{ T_p \left( \frac{t}r\right)\right\}^r + \mathcal{O} \left( \frac{t^{p+1}}{r}\right)&#10;\end{align*}">
              <a:extLst>
                <a:ext uri="{FF2B5EF4-FFF2-40B4-BE49-F238E27FC236}">
                  <a16:creationId xmlns:a16="http://schemas.microsoft.com/office/drawing/2014/main" id="{F9354C16-4FED-4DFF-CC2C-5D0F90DB70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43794" y="3327800"/>
              <a:ext cx="3408220" cy="5717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\begin{align*}&#10;  r^p&#10;\end{align*}">
              <a:extLst>
                <a:ext uri="{FF2B5EF4-FFF2-40B4-BE49-F238E27FC236}">
                  <a16:creationId xmlns:a16="http://schemas.microsoft.com/office/drawing/2014/main" id="{C3117037-FC06-BE28-9B44-DF04561ACC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01303" y="3682446"/>
              <a:ext cx="212152" cy="1767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図 15">
              <a:extLst>
                <a:ext uri="{FF2B5EF4-FFF2-40B4-BE49-F238E27FC236}">
                  <a16:creationId xmlns:a16="http://schemas.microsoft.com/office/drawing/2014/main" id="{F82D8076-14CD-B0EB-3FD5-6AEF5C36AB01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5626769" y="2977581"/>
              <a:ext cx="2675037" cy="1423322"/>
            </a:xfrm>
            <a:prstGeom prst="rect">
              <a:avLst/>
            </a:prstGeom>
          </p:spPr>
        </p:pic>
        <p:sp>
          <p:nvSpPr>
            <p:cNvPr id="32" name="正方形/長方形 31">
              <a:extLst>
                <a:ext uri="{FF2B5EF4-FFF2-40B4-BE49-F238E27FC236}">
                  <a16:creationId xmlns:a16="http://schemas.microsoft.com/office/drawing/2014/main" id="{0F111D63-34EF-EAFE-89B1-C61459E3E508}"/>
                </a:ext>
              </a:extLst>
            </p:cNvPr>
            <p:cNvSpPr/>
            <p:nvPr/>
          </p:nvSpPr>
          <p:spPr>
            <a:xfrm>
              <a:off x="262886" y="4706058"/>
              <a:ext cx="8420192" cy="4952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DCDEC3B9-0267-634A-6062-9D9B4D5FACC3}"/>
                    </a:ext>
                  </a:extLst>
                </p:cNvPr>
                <p:cNvSpPr txBox="1"/>
                <p:nvPr/>
              </p:nvSpPr>
              <p:spPr>
                <a:xfrm>
                  <a:off x="574573" y="4759542"/>
                  <a:ext cx="7780052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The error of Trotterization characterizes the computational complexity </a:t>
                  </a:r>
                  <a14:m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𝑟</m:t>
                      </m:r>
                    </m:oMath>
                  </a14:m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!</a:t>
                  </a:r>
                  <a:endPara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" name="テキスト ボックス 34">
                  <a:extLst>
                    <a:ext uri="{FF2B5EF4-FFF2-40B4-BE49-F238E27FC236}">
                      <a16:creationId xmlns:a16="http://schemas.microsoft.com/office/drawing/2014/main" id="{DCDEC3B9-0267-634A-6062-9D9B4D5FACC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4573" y="4759542"/>
                  <a:ext cx="7780052" cy="400110"/>
                </a:xfrm>
                <a:prstGeom prst="rect">
                  <a:avLst/>
                </a:prstGeom>
                <a:blipFill>
                  <a:blip r:embed="rId17"/>
                  <a:stretch>
                    <a:fillRect l="-814" t="-6061" b="-2424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2" descr="\begin{align*}&#10;  T_p(t/r)&#10;\end{align*}">
              <a:extLst>
                <a:ext uri="{FF2B5EF4-FFF2-40B4-BE49-F238E27FC236}">
                  <a16:creationId xmlns:a16="http://schemas.microsoft.com/office/drawing/2014/main" id="{6F050B33-79FD-4B37-4D37-C326FF3D27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85406" y="4296967"/>
              <a:ext cx="613944" cy="20787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F02308-39DB-689B-E149-8760F49B8DBB}"/>
                  </a:ext>
                </a:extLst>
              </p:cNvPr>
              <p:cNvSpPr txBox="1"/>
              <p:nvPr/>
            </p:nvSpPr>
            <p:spPr>
              <a:xfrm>
                <a:off x="522679" y="1919417"/>
                <a:ext cx="7286491" cy="4101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[Task] Simulate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200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𝑒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𝑖𝐻𝑡</m:t>
                        </m:r>
                      </m:sup>
                    </m:sSup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for large time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𝑡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within an error </a:t>
                </a:r>
                <a14:m>
                  <m:oMath xmlns:m="http://schemas.openxmlformats.org/officeDocument/2006/math">
                    <m:r>
                      <a:rPr kumimoji="1" lang="en-US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𝜀</m:t>
                    </m:r>
                  </m:oMath>
                </a14:m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45F02308-39DB-689B-E149-8760F49B8D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679" y="1919417"/>
                <a:ext cx="7286491" cy="410112"/>
              </a:xfrm>
              <a:prstGeom prst="rect">
                <a:avLst/>
              </a:prstGeom>
              <a:blipFill>
                <a:blip r:embed="rId19"/>
                <a:stretch>
                  <a:fillRect l="-871" t="-6061" b="-242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A9C69136-7D32-2B48-09D0-40ED6BEF59A0}"/>
              </a:ext>
            </a:extLst>
          </p:cNvPr>
          <p:cNvSpPr txBox="1"/>
          <p:nvPr/>
        </p:nvSpPr>
        <p:spPr>
          <a:xfrm>
            <a:off x="522679" y="2506322"/>
            <a:ext cx="1417882" cy="4101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[Algorithm]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B1D10D5-2C7E-EB19-A721-2F1B13C55777}"/>
              </a:ext>
            </a:extLst>
          </p:cNvPr>
          <p:cNvGrpSpPr/>
          <p:nvPr/>
        </p:nvGrpSpPr>
        <p:grpSpPr>
          <a:xfrm>
            <a:off x="348395" y="5356854"/>
            <a:ext cx="7023410" cy="991739"/>
            <a:chOff x="348395" y="5356854"/>
            <a:chExt cx="7023410" cy="991739"/>
          </a:xfrm>
        </p:grpSpPr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AA6D760E-049F-062C-714A-5E8975805994}"/>
                </a:ext>
              </a:extLst>
            </p:cNvPr>
            <p:cNvSpPr txBox="1"/>
            <p:nvPr/>
          </p:nvSpPr>
          <p:spPr>
            <a:xfrm>
              <a:off x="348395" y="5356854"/>
              <a:ext cx="499196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“Worst-case error for all the possible initial states”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4" descr="\begin{align*}&#10;  \| e^{-iH\tau} -  T_p(\tau) \| = \max_{\ket{\psi} \in \mathcal{H}} \left( \| (e^{-iH\tau} -  T_p(\tau) ) \ket{\psi} \|\right)&#10;\end{align*}">
              <a:extLst>
                <a:ext uri="{FF2B5EF4-FFF2-40B4-BE49-F238E27FC236}">
                  <a16:creationId xmlns:a16="http://schemas.microsoft.com/office/drawing/2014/main" id="{7F2FB76F-F21D-64E1-3B11-9A615904A03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72194" y="5885847"/>
              <a:ext cx="5599611" cy="4627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5387066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167426-3E3B-A633-1C1C-8153455CC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0D661939-EF46-00A9-52E2-42D467FA5344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EBE576D-DC48-9C8C-5DFD-2FFBC46F6F29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I-2. Trotter errors &amp; Cost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6916173-44EC-FABB-0D9F-25DF5A46B147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6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6916173-44EC-FABB-0D9F-25DF5A46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B83EBEC-4635-4AF6-4713-E79BC9D0E2F8}"/>
              </a:ext>
            </a:extLst>
          </p:cNvPr>
          <p:cNvSpPr txBox="1"/>
          <p:nvPr/>
        </p:nvSpPr>
        <p:spPr>
          <a:xfrm>
            <a:off x="257698" y="1248262"/>
            <a:ext cx="326884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Commutator-scaling errors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23" name="Picture 2" descr="\begin{align*}&#10;  \| e^{-iH\tau} -  T_p(\tau) \| = \max_{\ket{\psi} \in \mathcal{H}} \left( \| (e^{-iH\tau} -  T_p(\tau) ) \ket{\psi}\right)&#10;\end{align*}">
            <a:extLst>
              <a:ext uri="{FF2B5EF4-FFF2-40B4-BE49-F238E27FC236}">
                <a16:creationId xmlns:a16="http://schemas.microsoft.com/office/drawing/2014/main" id="{A2AB741B-FB5F-5800-54F2-44A11A50D11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0" b="7640"/>
          <a:stretch/>
        </p:blipFill>
        <p:spPr bwMode="auto">
          <a:xfrm>
            <a:off x="1190806" y="1853318"/>
            <a:ext cx="1730081" cy="39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DA10B8B7-788F-613D-AF8C-018E1E71BBB4}"/>
              </a:ext>
            </a:extLst>
          </p:cNvPr>
          <p:cNvSpPr txBox="1"/>
          <p:nvPr/>
        </p:nvSpPr>
        <p:spPr>
          <a:xfrm>
            <a:off x="3585827" y="1368962"/>
            <a:ext cx="31601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Phys. Rev. 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\leq \text{Const.} \times \sum_{\gamma_0,\cdots,\gamma_p} \| [H_{\gamma_p},\cdots,[H_{\gamma_1},H_{\gamma_0}]] \| \tau^{p+1}&#10;\end{align*}">
            <a:extLst>
              <a:ext uri="{FF2B5EF4-FFF2-40B4-BE49-F238E27FC236}">
                <a16:creationId xmlns:a16="http://schemas.microsoft.com/office/drawing/2014/main" id="{E6043F2B-7A35-9E8B-B5C0-47EAAC5757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430" y="1846580"/>
            <a:ext cx="4707576" cy="53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EB4B4D89-600D-9D2F-AC41-729B5041B155}"/>
              </a:ext>
            </a:extLst>
          </p:cNvPr>
          <p:cNvGrpSpPr/>
          <p:nvPr/>
        </p:nvGrpSpPr>
        <p:grpSpPr>
          <a:xfrm>
            <a:off x="488772" y="2689739"/>
            <a:ext cx="8813943" cy="1599967"/>
            <a:chOff x="488772" y="2689739"/>
            <a:chExt cx="8813943" cy="1599967"/>
          </a:xfrm>
        </p:grpSpPr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193E76E1-0F81-48DF-C525-18F43DAA689B}"/>
                </a:ext>
              </a:extLst>
            </p:cNvPr>
            <p:cNvSpPr txBox="1"/>
            <p:nvPr/>
          </p:nvSpPr>
          <p:spPr>
            <a:xfrm>
              <a:off x="488772" y="2695626"/>
              <a:ext cx="27543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Benefit from the locality</a:t>
              </a:r>
              <a:endParaRPr kumimoji="1" lang="ja-JP" altLang="en-US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4108" name="Picture 12" descr="\begin{align*}&#10;  g \in \mathcal{O}(1)&#10;\end{align*}">
              <a:extLst>
                <a:ext uri="{FF2B5EF4-FFF2-40B4-BE49-F238E27FC236}">
                  <a16:creationId xmlns:a16="http://schemas.microsoft.com/office/drawing/2014/main" id="{4F0E7B20-E6A0-10CE-E8B6-9D1AC56DE29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65887" y="4049590"/>
              <a:ext cx="755093" cy="199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B0D908D1-3941-1ACA-1FE4-0660CD6C3FFB}"/>
                </a:ext>
              </a:extLst>
            </p:cNvPr>
            <p:cNvSpPr txBox="1"/>
            <p:nvPr/>
          </p:nvSpPr>
          <p:spPr>
            <a:xfrm>
              <a:off x="5920980" y="3951152"/>
              <a:ext cx="290165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: Energy per site (defined later)</a:t>
              </a:r>
              <a:endParaRPr kumimoji="1" lang="ja-JP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4F983876-CB21-00F0-D742-08EF5A778BC1}"/>
                    </a:ext>
                  </a:extLst>
                </p:cNvPr>
                <p:cNvSpPr txBox="1"/>
                <p:nvPr/>
              </p:nvSpPr>
              <p:spPr>
                <a:xfrm>
                  <a:off x="3121430" y="2689739"/>
                  <a:ext cx="618128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←</a:t>
                  </a:r>
                  <a:r>
                    <a:rPr kumimoji="1" lang="en-US" altLang="ja-JP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Hamiltonian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𝐻</m:t>
                      </m:r>
                    </m:oMath>
                  </a14:m>
                  <a:r>
                    <a:rPr kumimoji="1" lang="en-US" altLang="ja-JP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is composed of </a:t>
                  </a:r>
                  <a14:m>
                    <m:oMath xmlns:m="http://schemas.openxmlformats.org/officeDocument/2006/math">
                      <m:r>
                        <a:rPr kumimoji="1" lang="en-US" altLang="ja-JP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𝒪</m:t>
                      </m:r>
                      <m:r>
                        <a:rPr kumimoji="1" lang="en-US" altLang="ja-JP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(1)</m:t>
                      </m:r>
                    </m:oMath>
                  </a14:m>
                  <a:r>
                    <a:rPr kumimoji="1" lang="en-US" altLang="ja-JP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-body interactions</a:t>
                  </a:r>
                  <a:endParaRPr kumimoji="1" lang="ja-JP" altLang="en-US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" name="テキスト ボックス 5">
                  <a:extLst>
                    <a:ext uri="{FF2B5EF4-FFF2-40B4-BE49-F238E27FC236}">
                      <a16:creationId xmlns:a16="http://schemas.microsoft.com/office/drawing/2014/main" id="{4F983876-CB21-00F0-D742-08EF5A778BC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1430" y="2689739"/>
                  <a:ext cx="6181285" cy="369332"/>
                </a:xfrm>
                <a:prstGeom prst="rect">
                  <a:avLst/>
                </a:prstGeom>
                <a:blipFill>
                  <a:blip r:embed="rId7"/>
                  <a:stretch>
                    <a:fillRect l="-820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46CC135B-BFD2-037E-1ED7-DAF0D2FDFB5D}"/>
                </a:ext>
              </a:extLst>
            </p:cNvPr>
            <p:cNvSpPr txBox="1"/>
            <p:nvPr/>
          </p:nvSpPr>
          <p:spPr>
            <a:xfrm>
              <a:off x="488772" y="3198019"/>
              <a:ext cx="1864300" cy="58477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Naïve expectation</a:t>
              </a:r>
            </a:p>
            <a:p>
              <a:pPr algn="ctr"/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(1-norm scaling)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028" name="Picture 4" descr="\begin{align*}&#10;  \text{Error} \sim \mathcal{O} \left( \left( \sum_\gamma \| H_\gamma \| \tau \right)^{p+1}\right) = \mathcal{O} \left( (Ng\tau)^{p+1} \right)&#10;\end{align*}">
              <a:extLst>
                <a:ext uri="{FF2B5EF4-FFF2-40B4-BE49-F238E27FC236}">
                  <a16:creationId xmlns:a16="http://schemas.microsoft.com/office/drawing/2014/main" id="{F544C6C0-93BE-DAE4-0070-BCCC583522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88284" y="3243314"/>
              <a:ext cx="3973867" cy="67266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5" name="グループ化 14">
            <a:extLst>
              <a:ext uri="{FF2B5EF4-FFF2-40B4-BE49-F238E27FC236}">
                <a16:creationId xmlns:a16="http://schemas.microsoft.com/office/drawing/2014/main" id="{79C0F0E0-5EA9-E73F-570B-8DA27A6E099C}"/>
              </a:ext>
            </a:extLst>
          </p:cNvPr>
          <p:cNvGrpSpPr/>
          <p:nvPr/>
        </p:nvGrpSpPr>
        <p:grpSpPr>
          <a:xfrm>
            <a:off x="488772" y="4482315"/>
            <a:ext cx="8333858" cy="1828052"/>
            <a:chOff x="488772" y="4482315"/>
            <a:chExt cx="8333858" cy="1828052"/>
          </a:xfrm>
        </p:grpSpPr>
        <p:grpSp>
          <p:nvGrpSpPr>
            <p:cNvPr id="10" name="グループ化 9">
              <a:extLst>
                <a:ext uri="{FF2B5EF4-FFF2-40B4-BE49-F238E27FC236}">
                  <a16:creationId xmlns:a16="http://schemas.microsoft.com/office/drawing/2014/main" id="{BEDE64B8-E26C-6F59-49CB-EAB1BF72DEE1}"/>
                </a:ext>
              </a:extLst>
            </p:cNvPr>
            <p:cNvGrpSpPr/>
            <p:nvPr/>
          </p:nvGrpSpPr>
          <p:grpSpPr>
            <a:xfrm>
              <a:off x="488772" y="4482315"/>
              <a:ext cx="8333858" cy="1828052"/>
              <a:chOff x="488772" y="4482315"/>
              <a:chExt cx="8333858" cy="1828052"/>
            </a:xfrm>
          </p:grpSpPr>
          <p:sp>
            <p:nvSpPr>
              <p:cNvPr id="18" name="テキスト ボックス 17">
                <a:extLst>
                  <a:ext uri="{FF2B5EF4-FFF2-40B4-BE49-F238E27FC236}">
                    <a16:creationId xmlns:a16="http://schemas.microsoft.com/office/drawing/2014/main" id="{25B77DC3-C543-5267-1B67-3DF88E1B371E}"/>
                  </a:ext>
                </a:extLst>
              </p:cNvPr>
              <p:cNvSpPr txBox="1"/>
              <p:nvPr/>
            </p:nvSpPr>
            <p:spPr>
              <a:xfrm>
                <a:off x="488772" y="4482315"/>
                <a:ext cx="2325548" cy="584775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6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Better scaling w/ locality</a:t>
                </a:r>
              </a:p>
              <a:p>
                <a:pPr algn="ctr"/>
                <a:r>
                  <a:rPr kumimoji="1" lang="en-US" altLang="ja-JP" sz="16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(commutator scaling)</a:t>
                </a:r>
                <a:endParaRPr kumimoji="1" lang="ja-JP" altLang="en-US" sz="16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A0AE2E24-FD9B-03BB-1DBD-94CDB1AFCA57}"/>
                  </a:ext>
                </a:extLst>
              </p:cNvPr>
              <p:cNvSpPr txBox="1"/>
              <p:nvPr/>
            </p:nvSpPr>
            <p:spPr>
              <a:xfrm>
                <a:off x="2981847" y="4590071"/>
                <a:ext cx="584078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Many vanishing commutators among local interactions</a:t>
                </a:r>
                <a:endParaRPr kumimoji="1" lang="ja-JP" altLang="en-US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87A75A0D-AC1C-EA51-2946-BEF2B207F3A3}"/>
                  </a:ext>
                </a:extLst>
              </p:cNvPr>
              <p:cNvSpPr txBox="1"/>
              <p:nvPr/>
            </p:nvSpPr>
            <p:spPr>
              <a:xfrm>
                <a:off x="514952" y="5158014"/>
                <a:ext cx="275433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Example) N.N. interactions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030" name="Picture 6" descr="\begin{align*}&#10;  \|[H_2,H_1]\| = \left\|\sum_{i:\text{even}} \sum_{j:\text{odd}} [h_{i,i+1},h_{j,j+1}]\right\| = \left\| \sum_{i:\text{even}}  [h_{i,i+1},h_{i-1,i}+h_{i+1,i+2}] \right\| \propto N&#10;\end{align*}">
                <a:extLst>
                  <a:ext uri="{FF2B5EF4-FFF2-40B4-BE49-F238E27FC236}">
                    <a16:creationId xmlns:a16="http://schemas.microsoft.com/office/drawing/2014/main" id="{ED1E9662-8CE6-DC3E-DA57-495DE3BA4F1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0200" y="5609738"/>
                <a:ext cx="6594156" cy="70062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3" name="Picture 2" descr="\begin{align*}&#10;  H = \sum_{i=1}^N h_{i,i+1}&#10;\end{align*}">
              <a:extLst>
                <a:ext uri="{FF2B5EF4-FFF2-40B4-BE49-F238E27FC236}">
                  <a16:creationId xmlns:a16="http://schemas.microsoft.com/office/drawing/2014/main" id="{10E7CE7E-3857-E0C5-10D6-9E228D0620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46313" y="5170944"/>
              <a:ext cx="924791" cy="4387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459329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C96EB1-0317-05E2-9FFB-9BCC7A0D68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06B778A-7076-4958-4904-EB58811CBCD6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10E4C85-8A5A-DFCC-5799-85787447F193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I-2. Trotter errors &amp; Cost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35BE666B-E77C-2956-52F5-7953574D8B95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7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6916173-44EC-FABB-0D9F-25DF5A46B1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A6E45EF-9C45-A804-B434-0077BF18D1BD}"/>
              </a:ext>
            </a:extLst>
          </p:cNvPr>
          <p:cNvSpPr txBox="1"/>
          <p:nvPr/>
        </p:nvSpPr>
        <p:spPr>
          <a:xfrm>
            <a:off x="257698" y="1248262"/>
            <a:ext cx="326884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Commutator-scaling errors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23" name="Picture 2" descr="\begin{align*}&#10;  \| e^{-iH\tau} -  T_p(\tau) \| = \max_{\ket{\psi} \in \mathcal{H}} \left( \| (e^{-iH\tau} -  T_p(\tau) ) \ket{\psi}\right)&#10;\end{align*}">
            <a:extLst>
              <a:ext uri="{FF2B5EF4-FFF2-40B4-BE49-F238E27FC236}">
                <a16:creationId xmlns:a16="http://schemas.microsoft.com/office/drawing/2014/main" id="{6AAC9B8C-8620-FDCF-8167-A3B323D9A3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100" b="7640"/>
          <a:stretch/>
        </p:blipFill>
        <p:spPr bwMode="auto">
          <a:xfrm>
            <a:off x="1190806" y="1853318"/>
            <a:ext cx="1730081" cy="3902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73E6D6BC-DFB6-E187-AE8E-BB83BE061C1C}"/>
              </a:ext>
            </a:extLst>
          </p:cNvPr>
          <p:cNvSpPr txBox="1"/>
          <p:nvPr/>
        </p:nvSpPr>
        <p:spPr>
          <a:xfrm>
            <a:off x="3585827" y="1368962"/>
            <a:ext cx="31601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Phys. Rev. 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87F342FC-A0B2-F5FC-D4F0-BEA7CA46A1D8}"/>
              </a:ext>
            </a:extLst>
          </p:cNvPr>
          <p:cNvSpPr txBox="1"/>
          <p:nvPr/>
        </p:nvSpPr>
        <p:spPr>
          <a:xfrm>
            <a:off x="488772" y="4482315"/>
            <a:ext cx="2325548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Better scaling w/ locality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(commutator scaling)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C49FCDE-F496-7E7A-BFC5-B12A494113C1}"/>
              </a:ext>
            </a:extLst>
          </p:cNvPr>
          <p:cNvSpPr txBox="1"/>
          <p:nvPr/>
        </p:nvSpPr>
        <p:spPr>
          <a:xfrm>
            <a:off x="488772" y="2695626"/>
            <a:ext cx="275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Benefit from the locality</a:t>
            </a:r>
            <a:endParaRPr kumimoji="1" lang="ja-JP" altLang="en-US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4108" name="Picture 12" descr="\begin{align*}&#10;  g \in \mathcal{O}(1)&#10;\end{align*}">
            <a:extLst>
              <a:ext uri="{FF2B5EF4-FFF2-40B4-BE49-F238E27FC236}">
                <a16:creationId xmlns:a16="http://schemas.microsoft.com/office/drawing/2014/main" id="{12C023A7-776A-CD65-CAFF-C9AFDD66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887" y="4049590"/>
            <a:ext cx="755093" cy="199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9BB6E3F-ED97-C8DB-57F7-37AF3B732314}"/>
              </a:ext>
            </a:extLst>
          </p:cNvPr>
          <p:cNvSpPr txBox="1"/>
          <p:nvPr/>
        </p:nvSpPr>
        <p:spPr>
          <a:xfrm>
            <a:off x="5920980" y="3951152"/>
            <a:ext cx="29016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Energy per site (defined later)</a:t>
            </a:r>
            <a:endParaRPr kumimoji="1" lang="ja-JP" altLang="en-US" sz="16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6" name="Picture 2" descr="\begin{align*}&#10;  \leq \text{Const.} \times \sum_{\gamma_0,\cdots,\gamma_p} \| [H_{\gamma_p},\cdots,[H_{\gamma_1},H_{\gamma_0}]] \| \tau^{p+1}&#10;\end{align*}">
            <a:extLst>
              <a:ext uri="{FF2B5EF4-FFF2-40B4-BE49-F238E27FC236}">
                <a16:creationId xmlns:a16="http://schemas.microsoft.com/office/drawing/2014/main" id="{12ABD45E-A60A-56D9-22BD-0F809049CF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1430" y="1846580"/>
            <a:ext cx="4707576" cy="5369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90DFFD0-9EBA-66D2-4DE5-B4C8AF93F726}"/>
                  </a:ext>
                </a:extLst>
              </p:cNvPr>
              <p:cNvSpPr txBox="1"/>
              <p:nvPr/>
            </p:nvSpPr>
            <p:spPr>
              <a:xfrm>
                <a:off x="3121430" y="2689739"/>
                <a:ext cx="6181285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←</a:t>
                </a:r>
                <a:r>
                  <a:rPr kumimoji="1"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Hamiltonian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kumimoji="1"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is composed of </a:t>
                </a:r>
                <a14:m>
                  <m:oMath xmlns:m="http://schemas.openxmlformats.org/officeDocument/2006/math">
                    <m:r>
                      <a:rPr kumimoji="1" lang="en-US" altLang="ja-JP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𝒪</m:t>
                    </m:r>
                    <m:r>
                      <a:rPr kumimoji="1" lang="en-US" altLang="ja-JP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r>
                  <a:rPr kumimoji="1"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-body interactions</a:t>
                </a:r>
                <a:endParaRPr kumimoji="1" lang="ja-JP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190DFFD0-9EBA-66D2-4DE5-B4C8AF93F7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1430" y="2689739"/>
                <a:ext cx="6181285" cy="369332"/>
              </a:xfrm>
              <a:prstGeom prst="rect">
                <a:avLst/>
              </a:prstGeom>
              <a:blipFill>
                <a:blip r:embed="rId7"/>
                <a:stretch>
                  <a:fillRect l="-820"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D03CF3CD-3BA0-4068-DD4F-9B625F2599C4}"/>
              </a:ext>
            </a:extLst>
          </p:cNvPr>
          <p:cNvSpPr txBox="1"/>
          <p:nvPr/>
        </p:nvSpPr>
        <p:spPr>
          <a:xfrm>
            <a:off x="488772" y="3198019"/>
            <a:ext cx="1864300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Naïve expectation</a:t>
            </a:r>
          </a:p>
          <a:p>
            <a:pPr algn="ctr"/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(1-norm scaling)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28" name="Picture 4" descr="\begin{align*}&#10;  \text{Error} \sim \mathcal{O} \left( \left( \sum_\gamma \| H_\gamma \| \tau \right)^{p+1}\right) = \mathcal{O} \left( (Ng\tau)^{p+1} \right)&#10;\end{align*}">
            <a:extLst>
              <a:ext uri="{FF2B5EF4-FFF2-40B4-BE49-F238E27FC236}">
                <a16:creationId xmlns:a16="http://schemas.microsoft.com/office/drawing/2014/main" id="{A3FDFA81-40CB-44D0-76AD-B34D1026C1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8284" y="3243314"/>
            <a:ext cx="3973867" cy="6726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FB9A6A37-E935-C6E9-2924-80B40D584101}"/>
              </a:ext>
            </a:extLst>
          </p:cNvPr>
          <p:cNvGrpSpPr/>
          <p:nvPr/>
        </p:nvGrpSpPr>
        <p:grpSpPr>
          <a:xfrm>
            <a:off x="679953" y="4590071"/>
            <a:ext cx="8142677" cy="1726326"/>
            <a:chOff x="679953" y="4590071"/>
            <a:chExt cx="8142677" cy="1726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FCFD2B94-A258-E129-746E-6B8C5D331025}"/>
                    </a:ext>
                  </a:extLst>
                </p:cNvPr>
                <p:cNvSpPr txBox="1"/>
                <p:nvPr/>
              </p:nvSpPr>
              <p:spPr>
                <a:xfrm>
                  <a:off x="2981847" y="4590071"/>
                  <a:ext cx="584078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Good scaling in size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kumimoji="1" lang="en-US" altLang="ja-JP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reflecting the locality</a:t>
                  </a:r>
                  <a:endParaRPr kumimoji="1" lang="ja-JP" altLang="en-US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FCFD2B94-A258-E129-746E-6B8C5D33102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1847" y="4590071"/>
                  <a:ext cx="5840783" cy="369332"/>
                </a:xfrm>
                <a:prstGeom prst="rect">
                  <a:avLst/>
                </a:prstGeom>
                <a:blipFill>
                  <a:blip r:embed="rId9"/>
                  <a:stretch>
                    <a:fillRect l="-868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5" name="グループ化 14">
              <a:extLst>
                <a:ext uri="{FF2B5EF4-FFF2-40B4-BE49-F238E27FC236}">
                  <a16:creationId xmlns:a16="http://schemas.microsoft.com/office/drawing/2014/main" id="{65DFE95F-E5FE-D22E-8F5D-647C8B1AF58A}"/>
                </a:ext>
              </a:extLst>
            </p:cNvPr>
            <p:cNvGrpSpPr/>
            <p:nvPr/>
          </p:nvGrpSpPr>
          <p:grpSpPr>
            <a:xfrm>
              <a:off x="679953" y="5350718"/>
              <a:ext cx="4979595" cy="880883"/>
              <a:chOff x="1005073" y="5350718"/>
              <a:chExt cx="4979595" cy="880883"/>
            </a:xfrm>
          </p:grpSpPr>
          <p:pic>
            <p:nvPicPr>
              <p:cNvPr id="9" name="Picture 4" descr="\begin{align*}&#10;  \text{Error} \sim \mathcal{O} \left( \left( \sum_\gamma \| H_\gamma \| \tau \right)^{p+1}\right) = \mathcal{O} \left( (Ng\tau)^{p+1} \right)&#10;\end{align*}">
                <a:extLst>
                  <a:ext uri="{FF2B5EF4-FFF2-40B4-BE49-F238E27FC236}">
                    <a16:creationId xmlns:a16="http://schemas.microsoft.com/office/drawing/2014/main" id="{9A86DB50-844A-BA0D-A0FB-FC026E9640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73135" b="-15650"/>
              <a:stretch>
                <a:fillRect/>
              </a:stretch>
            </p:blipFill>
            <p:spPr bwMode="auto">
              <a:xfrm>
                <a:off x="1005073" y="5372387"/>
                <a:ext cx="1179110" cy="8592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0" name="Picture 2" descr="\begin{align*}&#10;  \leq \text{Const.} \times \sum_{\gamma_0,\cdots,\gamma_p} \| [H_{\gamma_p},\cdots,[H_{\gamma_1},H_{\gamma_0}]] \| \tau^{p+1}&#10;\end{align*}">
                <a:extLst>
                  <a:ext uri="{FF2B5EF4-FFF2-40B4-BE49-F238E27FC236}">
                    <a16:creationId xmlns:a16="http://schemas.microsoft.com/office/drawing/2014/main" id="{A93BB50E-79A3-B329-D269-48A1BEA0B69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4927" t="-12327" b="-1"/>
              <a:stretch>
                <a:fillRect/>
              </a:stretch>
            </p:blipFill>
            <p:spPr bwMode="auto">
              <a:xfrm>
                <a:off x="2184183" y="5472860"/>
                <a:ext cx="3534106" cy="60315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4" descr="\begin{align*}&#10;  \text{Error} \sim \mathcal{O} \left( \left( \sum_\gamma \| H_\gamma \| \tau \right)^{p+1}\right) = \mathcal{O} \left( (Ng\tau)^{p+1} \right)&#10;\end{align*}">
                <a:extLst>
                  <a:ext uri="{FF2B5EF4-FFF2-40B4-BE49-F238E27FC236}">
                    <a16:creationId xmlns:a16="http://schemas.microsoft.com/office/drawing/2014/main" id="{578D8908-0763-A41A-0C23-0A3CD790C4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61760" r="34484" b="-15650"/>
              <a:stretch>
                <a:fillRect/>
              </a:stretch>
            </p:blipFill>
            <p:spPr bwMode="auto">
              <a:xfrm>
                <a:off x="5819808" y="5350718"/>
                <a:ext cx="164860" cy="85921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4098" name="Picture 2" descr="\begin{align*}&#10;  = \mathcal{O}((g\tau)^{p+1}N)&#10;\end{align*}">
              <a:extLst>
                <a:ext uri="{FF2B5EF4-FFF2-40B4-BE49-F238E27FC236}">
                  <a16:creationId xmlns:a16="http://schemas.microsoft.com/office/drawing/2014/main" id="{3606193C-BCF7-2AF0-4D44-B1B1CE3D32E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61067" y="5578302"/>
              <a:ext cx="1329690" cy="22369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43" name="グループ化 42">
              <a:extLst>
                <a:ext uri="{FF2B5EF4-FFF2-40B4-BE49-F238E27FC236}">
                  <a16:creationId xmlns:a16="http://schemas.microsoft.com/office/drawing/2014/main" id="{15222682-6263-FCAE-84A8-1E0EF4307785}"/>
                </a:ext>
              </a:extLst>
            </p:cNvPr>
            <p:cNvGrpSpPr/>
            <p:nvPr/>
          </p:nvGrpSpPr>
          <p:grpSpPr>
            <a:xfrm>
              <a:off x="7452722" y="4938760"/>
              <a:ext cx="1365795" cy="1377637"/>
              <a:chOff x="7452722" y="4938760"/>
              <a:chExt cx="1365795" cy="1377637"/>
            </a:xfrm>
          </p:grpSpPr>
          <p:cxnSp>
            <p:nvCxnSpPr>
              <p:cNvPr id="17" name="直線コネクタ 16">
                <a:extLst>
                  <a:ext uri="{FF2B5EF4-FFF2-40B4-BE49-F238E27FC236}">
                    <a16:creationId xmlns:a16="http://schemas.microsoft.com/office/drawing/2014/main" id="{9B908667-9BD4-383F-F27D-BBB1F0960B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60133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コネクタ 20">
                <a:extLst>
                  <a:ext uri="{FF2B5EF4-FFF2-40B4-BE49-F238E27FC236}">
                    <a16:creationId xmlns:a16="http://schemas.microsoft.com/office/drawing/2014/main" id="{FF2D452B-2156-D450-E5D1-B6B79466AE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75373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線コネクタ 21">
                <a:extLst>
                  <a:ext uri="{FF2B5EF4-FFF2-40B4-BE49-F238E27FC236}">
                    <a16:creationId xmlns:a16="http://schemas.microsoft.com/office/drawing/2014/main" id="{D8B096C4-DDA1-BDF5-1836-68CACE6105F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90613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67C8276F-B41A-EB06-F495-9312E5A7C2F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605853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直線コネクタ 24">
                <a:extLst>
                  <a:ext uri="{FF2B5EF4-FFF2-40B4-BE49-F238E27FC236}">
                    <a16:creationId xmlns:a16="http://schemas.microsoft.com/office/drawing/2014/main" id="{AE84D077-438F-E6EE-8807-B4065F7042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621093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線コネクタ 27">
                <a:extLst>
                  <a:ext uri="{FF2B5EF4-FFF2-40B4-BE49-F238E27FC236}">
                    <a16:creationId xmlns:a16="http://schemas.microsoft.com/office/drawing/2014/main" id="{BD128A8F-75E3-8F14-6BB4-CA669E47603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450908" y="562165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線コネクタ 28">
                <a:extLst>
                  <a:ext uri="{FF2B5EF4-FFF2-40B4-BE49-F238E27FC236}">
                    <a16:creationId xmlns:a16="http://schemas.microsoft.com/office/drawing/2014/main" id="{210C90FF-E95F-B1A7-DD64-AE241FEAA29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298508" y="562165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線コネクタ 29">
                <a:extLst>
                  <a:ext uri="{FF2B5EF4-FFF2-40B4-BE49-F238E27FC236}">
                    <a16:creationId xmlns:a16="http://schemas.microsoft.com/office/drawing/2014/main" id="{0C2FD6A0-0E85-82AB-9FAD-C08ACF03CA97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146108" y="562165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線コネクタ 30">
                <a:extLst>
                  <a:ext uri="{FF2B5EF4-FFF2-40B4-BE49-F238E27FC236}">
                    <a16:creationId xmlns:a16="http://schemas.microsoft.com/office/drawing/2014/main" id="{27E81EF1-579E-8AD0-B195-54DB1BF08D3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993708" y="562165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線コネクタ 31">
                <a:extLst>
                  <a:ext uri="{FF2B5EF4-FFF2-40B4-BE49-F238E27FC236}">
                    <a16:creationId xmlns:a16="http://schemas.microsoft.com/office/drawing/2014/main" id="{71E6947F-A872-E54B-4763-3BB7C426E0C2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6841308" y="562165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直線コネクタ 32">
                <a:extLst>
                  <a:ext uri="{FF2B5EF4-FFF2-40B4-BE49-F238E27FC236}">
                    <a16:creationId xmlns:a16="http://schemas.microsoft.com/office/drawing/2014/main" id="{54B0F9BC-F2A3-73CB-2E4B-162FE6180264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8064499" y="5633500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線コネクタ 33">
                <a:extLst>
                  <a:ext uri="{FF2B5EF4-FFF2-40B4-BE49-F238E27FC236}">
                    <a16:creationId xmlns:a16="http://schemas.microsoft.com/office/drawing/2014/main" id="{D7B13472-CC3C-CC27-9349-3EA18FDB82F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912099" y="5633500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線コネクタ 34">
                <a:extLst>
                  <a:ext uri="{FF2B5EF4-FFF2-40B4-BE49-F238E27FC236}">
                    <a16:creationId xmlns:a16="http://schemas.microsoft.com/office/drawing/2014/main" id="{89ADAB5C-8FCA-2A48-686F-6227A7ACCAED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759699" y="5633500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線コネクタ 35">
                <a:extLst>
                  <a:ext uri="{FF2B5EF4-FFF2-40B4-BE49-F238E27FC236}">
                    <a16:creationId xmlns:a16="http://schemas.microsoft.com/office/drawing/2014/main" id="{4BDEBFBF-AC5B-67BD-5B99-F05780626345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7607299" y="5633500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コネクタ 36">
                <a:extLst>
                  <a:ext uri="{FF2B5EF4-FFF2-40B4-BE49-F238E27FC236}">
                    <a16:creationId xmlns:a16="http://schemas.microsoft.com/office/drawing/2014/main" id="{95CE4534-FC29-314C-1AE2-2798C1156E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15091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線コネクタ 37">
                <a:extLst>
                  <a:ext uri="{FF2B5EF4-FFF2-40B4-BE49-F238E27FC236}">
                    <a16:creationId xmlns:a16="http://schemas.microsoft.com/office/drawing/2014/main" id="{CFFE8B91-5769-87FA-8323-482253C0887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30331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線コネクタ 38">
                <a:extLst>
                  <a:ext uri="{FF2B5EF4-FFF2-40B4-BE49-F238E27FC236}">
                    <a16:creationId xmlns:a16="http://schemas.microsoft.com/office/drawing/2014/main" id="{8E5BA384-2FAF-7331-4CDE-F8D5A1F61C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7452722" y="5455718"/>
                <a:ext cx="1365795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角丸四角形 39">
                <a:extLst>
                  <a:ext uri="{FF2B5EF4-FFF2-40B4-BE49-F238E27FC236}">
                    <a16:creationId xmlns:a16="http://schemas.microsoft.com/office/drawing/2014/main" id="{53552BFA-F021-A0F2-63F1-FFA2FD8F5F9C}"/>
                  </a:ext>
                </a:extLst>
              </p:cNvPr>
              <p:cNvSpPr/>
              <p:nvPr/>
            </p:nvSpPr>
            <p:spPr>
              <a:xfrm>
                <a:off x="7606614" y="5387638"/>
                <a:ext cx="299558" cy="577251"/>
              </a:xfrm>
              <a:prstGeom prst="roundRect">
                <a:avLst/>
              </a:prstGeom>
              <a:solidFill>
                <a:schemeClr val="accent6">
                  <a:lumMod val="75000"/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1" name="角丸四角形 40">
                <a:extLst>
                  <a:ext uri="{FF2B5EF4-FFF2-40B4-BE49-F238E27FC236}">
                    <a16:creationId xmlns:a16="http://schemas.microsoft.com/office/drawing/2014/main" id="{213B589D-FE41-472C-A22C-832BFB4EB5AE}"/>
                  </a:ext>
                </a:extLst>
              </p:cNvPr>
              <p:cNvSpPr/>
              <p:nvPr/>
            </p:nvSpPr>
            <p:spPr>
              <a:xfrm rot="5400000">
                <a:off x="8380112" y="5095546"/>
                <a:ext cx="299558" cy="577251"/>
              </a:xfrm>
              <a:prstGeom prst="roundRect">
                <a:avLst/>
              </a:prstGeom>
              <a:solidFill>
                <a:schemeClr val="accent5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42" name="角丸四角形 41">
                <a:extLst>
                  <a:ext uri="{FF2B5EF4-FFF2-40B4-BE49-F238E27FC236}">
                    <a16:creationId xmlns:a16="http://schemas.microsoft.com/office/drawing/2014/main" id="{FDD14367-33B2-60FB-37BC-25E857A37F90}"/>
                  </a:ext>
                </a:extLst>
              </p:cNvPr>
              <p:cNvSpPr/>
              <p:nvPr/>
            </p:nvSpPr>
            <p:spPr>
              <a:xfrm>
                <a:off x="8203114" y="5840587"/>
                <a:ext cx="172401" cy="413040"/>
              </a:xfrm>
              <a:prstGeom prst="roundRect">
                <a:avLst/>
              </a:prstGeom>
              <a:solidFill>
                <a:schemeClr val="accent2">
                  <a:alpha val="68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106434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AF3B3-F0B9-7D9D-095F-C2175D6E27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4C0EF1EF-3C40-AC14-F5C8-03746B5AAE36}"/>
              </a:ext>
            </a:extLst>
          </p:cNvPr>
          <p:cNvSpPr/>
          <p:nvPr/>
        </p:nvSpPr>
        <p:spPr>
          <a:xfrm>
            <a:off x="1167936" y="3752687"/>
            <a:ext cx="1498204" cy="159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31F3B03-480F-265A-4533-18FCCE71EF02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188000C-17CA-3B6A-150E-8F2E14298AD4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I-2. Trotter errors &amp; Cost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4A9F105-2567-0D21-AFC6-65A6594A7F61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8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F4A9F105-2567-0D21-AFC6-65A6594A7F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3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874EB58-5501-6B03-A415-2B05CE5B78E9}"/>
              </a:ext>
            </a:extLst>
          </p:cNvPr>
          <p:cNvSpPr txBox="1"/>
          <p:nvPr/>
        </p:nvSpPr>
        <p:spPr>
          <a:xfrm>
            <a:off x="257698" y="1248262"/>
            <a:ext cx="1713931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▶︎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Complexity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5124" name="Picture 4" descr="\begin{align*}&#10;  r \times \left( g \frac{t}{r}\right)^{p+1} N \leq \mathcal{O}(\varepsilon)&#10;\end{align*}">
            <a:extLst>
              <a:ext uri="{FF2B5EF4-FFF2-40B4-BE49-F238E27FC236}">
                <a16:creationId xmlns:a16="http://schemas.microsoft.com/office/drawing/2014/main" id="{2D2E0D54-6967-3F23-2347-32F4474154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2880" y="3177764"/>
            <a:ext cx="2731235" cy="6940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\begin{align*}&#10;  r \in \Theta \left( gt \left( \frac{Ngt}{\varepsilon}\right)^{\frac1p}\right)&#10;\end{align*}">
            <a:extLst>
              <a:ext uri="{FF2B5EF4-FFF2-40B4-BE49-F238E27FC236}">
                <a16:creationId xmlns:a16="http://schemas.microsoft.com/office/drawing/2014/main" id="{71BE43C4-D650-9274-F842-42F0D032DF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29755" y="3177764"/>
            <a:ext cx="2600372" cy="866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1EE4104E-E25F-BE8F-882D-4767C025B369}"/>
              </a:ext>
            </a:extLst>
          </p:cNvPr>
          <p:cNvSpPr txBox="1"/>
          <p:nvPr/>
        </p:nvSpPr>
        <p:spPr>
          <a:xfrm>
            <a:off x="2762724" y="3919564"/>
            <a:ext cx="158026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desirable error</a:t>
            </a:r>
            <a:endParaRPr kumimoji="1" lang="ja-JP" altLang="en-US" sz="1400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0F49A6B-9530-7907-A080-5B9EE481B9BC}"/>
              </a:ext>
            </a:extLst>
          </p:cNvPr>
          <p:cNvSpPr txBox="1"/>
          <p:nvPr/>
        </p:nvSpPr>
        <p:spPr>
          <a:xfrm>
            <a:off x="1058642" y="3916050"/>
            <a:ext cx="177041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400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 error per step</a:t>
            </a:r>
            <a:endParaRPr kumimoji="1" lang="ja-JP" altLang="en-US" sz="1400">
              <a:solidFill>
                <a:schemeClr val="accent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52C1B68F-D40E-14CC-4E94-8CE0EFE8421F}"/>
              </a:ext>
            </a:extLst>
          </p:cNvPr>
          <p:cNvSpPr/>
          <p:nvPr/>
        </p:nvSpPr>
        <p:spPr>
          <a:xfrm>
            <a:off x="2898828" y="3759715"/>
            <a:ext cx="749102" cy="15282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183A993-F888-FE3C-F110-3E9C002D87BA}"/>
                  </a:ext>
                </a:extLst>
              </p:cNvPr>
              <p:cNvSpPr txBox="1"/>
              <p:nvPr/>
            </p:nvSpPr>
            <p:spPr>
              <a:xfrm>
                <a:off x="508416" y="2627342"/>
                <a:ext cx="3246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Requirement for error in </a:t>
                </a:r>
                <a14:m>
                  <m:oMath xmlns:m="http://schemas.openxmlformats.org/officeDocument/2006/math">
                    <m:r>
                      <a:rPr kumimoji="1" lang="en-US" altLang="ja-JP" b="0" i="1" u="sng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r>
                  <a:rPr kumimoji="1" lang="en-US" altLang="ja-JP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steps</a:t>
                </a:r>
                <a:endParaRPr kumimoji="1" lang="ja-JP" altLang="en-US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4183A993-F888-FE3C-F110-3E9C002D87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16" y="2627342"/>
                <a:ext cx="3246721" cy="369332"/>
              </a:xfrm>
              <a:prstGeom prst="rect">
                <a:avLst/>
              </a:prstGeom>
              <a:blipFill>
                <a:blip r:embed="rId8"/>
                <a:stretch>
                  <a:fillRect l="-1167" t="-6452" b="-193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623CF20B-B11A-0400-C71E-48D18F748B12}"/>
              </a:ext>
            </a:extLst>
          </p:cNvPr>
          <p:cNvSpPr txBox="1"/>
          <p:nvPr/>
        </p:nvSpPr>
        <p:spPr>
          <a:xfrm>
            <a:off x="5178381" y="2627342"/>
            <a:ext cx="31517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Trotter number (complexity)</a:t>
            </a:r>
            <a:endParaRPr kumimoji="1" lang="ja-JP" altLang="en-US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9" name="右矢印 18">
            <a:extLst>
              <a:ext uri="{FF2B5EF4-FFF2-40B4-BE49-F238E27FC236}">
                <a16:creationId xmlns:a16="http://schemas.microsoft.com/office/drawing/2014/main" id="{9433A93D-30C0-270C-5730-19B9037387BB}"/>
              </a:ext>
            </a:extLst>
          </p:cNvPr>
          <p:cNvSpPr/>
          <p:nvPr/>
        </p:nvSpPr>
        <p:spPr>
          <a:xfrm>
            <a:off x="4137564" y="3240380"/>
            <a:ext cx="978742" cy="484632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2EC6A91-E8DB-56B6-90D7-E818BB75C82D}"/>
                  </a:ext>
                </a:extLst>
              </p:cNvPr>
              <p:cNvSpPr txBox="1"/>
              <p:nvPr/>
            </p:nvSpPr>
            <p:spPr>
              <a:xfrm>
                <a:off x="508416" y="1921335"/>
                <a:ext cx="324672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Error bound for small time </a:t>
                </a:r>
                <a14:m>
                  <m:oMath xmlns:m="http://schemas.openxmlformats.org/officeDocument/2006/math">
                    <m:r>
                      <a:rPr kumimoji="1" lang="en-US" altLang="ja-JP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endParaRPr kumimoji="1" lang="ja-JP" altLang="en-US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32EC6A91-E8DB-56B6-90D7-E818BB75C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416" y="1921335"/>
                <a:ext cx="3246721" cy="369332"/>
              </a:xfrm>
              <a:prstGeom prst="rect">
                <a:avLst/>
              </a:prstGeom>
              <a:blipFill>
                <a:blip r:embed="rId11"/>
                <a:stretch>
                  <a:fillRect l="-1167"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57A9F444-8652-0731-1204-FE787D937439}"/>
              </a:ext>
            </a:extLst>
          </p:cNvPr>
          <p:cNvSpPr txBox="1"/>
          <p:nvPr/>
        </p:nvSpPr>
        <p:spPr>
          <a:xfrm>
            <a:off x="2018262" y="1352225"/>
            <a:ext cx="316011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Phys. Rev. 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918EEF8E-BB8A-36F2-7B6A-BA7FD677695D}"/>
              </a:ext>
            </a:extLst>
          </p:cNvPr>
          <p:cNvGrpSpPr/>
          <p:nvPr/>
        </p:nvGrpSpPr>
        <p:grpSpPr>
          <a:xfrm>
            <a:off x="3524115" y="1980699"/>
            <a:ext cx="4131744" cy="399205"/>
            <a:chOff x="3524115" y="1980699"/>
            <a:chExt cx="4131744" cy="399205"/>
          </a:xfrm>
        </p:grpSpPr>
        <p:pic>
          <p:nvPicPr>
            <p:cNvPr id="11" name="Picture 2" descr="\begin{align*}&#10;  \| e^{-iH\tau} -  T_p(\tau) \| = \max_{\ket{\psi} \in \mathcal{H}} \left( \| (e^{-iH\tau} -  T_p(\tau) ) \ket{\psi}\right)&#10;\end{align*}">
              <a:extLst>
                <a:ext uri="{FF2B5EF4-FFF2-40B4-BE49-F238E27FC236}">
                  <a16:creationId xmlns:a16="http://schemas.microsoft.com/office/drawing/2014/main" id="{54D85C8D-9515-2334-9520-5AE22CBC7869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00" b="7640"/>
            <a:stretch/>
          </p:blipFill>
          <p:spPr bwMode="auto">
            <a:xfrm>
              <a:off x="3524115" y="1989618"/>
              <a:ext cx="1730081" cy="390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\begin{align*}&#10;  \leq \text{Const.} \times \sum_{\gamma_0,\cdots,\gamma_p} \| [H_{\gamma_p},\cdots,[H_{\gamma_1},H_{\gamma_0}]] \| \tau^{p+1}&#10;\end{align*}">
              <a:extLst>
                <a:ext uri="{FF2B5EF4-FFF2-40B4-BE49-F238E27FC236}">
                  <a16:creationId xmlns:a16="http://schemas.microsoft.com/office/drawing/2014/main" id="{3BE01F0A-4914-F733-9D0B-FB48F8A51B9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43" b="26061"/>
            <a:stretch>
              <a:fillRect/>
            </a:stretch>
          </p:blipFill>
          <p:spPr bwMode="auto">
            <a:xfrm>
              <a:off x="5454739" y="1982880"/>
              <a:ext cx="1170179" cy="397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\begin{align*}&#10;  = \mathcal{O}((g\tau)^{p+1}N)&#10;\end{align*}">
              <a:extLst>
                <a:ext uri="{FF2B5EF4-FFF2-40B4-BE49-F238E27FC236}">
                  <a16:creationId xmlns:a16="http://schemas.microsoft.com/office/drawing/2014/main" id="{CD0F4E7B-0215-5171-75A7-284594CF472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14" t="-9920" r="3898" b="-23562"/>
            <a:stretch>
              <a:fillRect/>
            </a:stretch>
          </p:blipFill>
          <p:spPr bwMode="auto">
            <a:xfrm>
              <a:off x="6754254" y="1980699"/>
              <a:ext cx="901605" cy="320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60AE295B-D77D-2DFB-7341-3B2A35ADBB5A}"/>
              </a:ext>
            </a:extLst>
          </p:cNvPr>
          <p:cNvGrpSpPr/>
          <p:nvPr/>
        </p:nvGrpSpPr>
        <p:grpSpPr>
          <a:xfrm>
            <a:off x="423352" y="4367262"/>
            <a:ext cx="8521012" cy="1993678"/>
            <a:chOff x="423352" y="4367262"/>
            <a:chExt cx="8521012" cy="1993678"/>
          </a:xfrm>
        </p:grpSpPr>
        <p:grpSp>
          <p:nvGrpSpPr>
            <p:cNvPr id="12" name="グループ化 11">
              <a:extLst>
                <a:ext uri="{FF2B5EF4-FFF2-40B4-BE49-F238E27FC236}">
                  <a16:creationId xmlns:a16="http://schemas.microsoft.com/office/drawing/2014/main" id="{1335CDC9-C35D-5016-D7FC-D2C74A597671}"/>
                </a:ext>
              </a:extLst>
            </p:cNvPr>
            <p:cNvGrpSpPr/>
            <p:nvPr/>
          </p:nvGrpSpPr>
          <p:grpSpPr>
            <a:xfrm>
              <a:off x="6443798" y="4367262"/>
              <a:ext cx="2424121" cy="1518119"/>
              <a:chOff x="6211265" y="1216625"/>
              <a:chExt cx="2675037" cy="1709928"/>
            </a:xfrm>
          </p:grpSpPr>
          <p:pic>
            <p:nvPicPr>
              <p:cNvPr id="6" name="図 5">
                <a:extLst>
                  <a:ext uri="{FF2B5EF4-FFF2-40B4-BE49-F238E27FC236}">
                    <a16:creationId xmlns:a16="http://schemas.microsoft.com/office/drawing/2014/main" id="{E83E9F04-8C3F-F78B-019C-5EE3B8D8C6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211265" y="1216625"/>
                <a:ext cx="2675037" cy="1423322"/>
              </a:xfrm>
              <a:prstGeom prst="rect">
                <a:avLst/>
              </a:prstGeom>
            </p:spPr>
          </p:pic>
          <p:pic>
            <p:nvPicPr>
              <p:cNvPr id="5122" name="Picture 2" descr="\begin{align*}&#10;  T_p(t/r)&#10;\end{align*}">
                <a:extLst>
                  <a:ext uri="{FF2B5EF4-FFF2-40B4-BE49-F238E27FC236}">
                    <a16:creationId xmlns:a16="http://schemas.microsoft.com/office/drawing/2014/main" id="{6C9C7626-7F1F-7B3C-49A1-B569F942B52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14133" y="2718682"/>
                <a:ext cx="613944" cy="20787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70473CA-D604-4AE5-E69E-C49A4E2C6E51}"/>
                    </a:ext>
                  </a:extLst>
                </p:cNvPr>
                <p:cNvSpPr txBox="1"/>
                <p:nvPr/>
              </p:nvSpPr>
              <p:spPr>
                <a:xfrm>
                  <a:off x="423393" y="4554405"/>
                  <a:ext cx="542876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✅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 Ensures the error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&lt;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𝜀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for all the possible initial states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7" name="テキスト ボックス 6">
                  <a:extLst>
                    <a:ext uri="{FF2B5EF4-FFF2-40B4-BE49-F238E27FC236}">
                      <a16:creationId xmlns:a16="http://schemas.microsoft.com/office/drawing/2014/main" id="{F70473CA-D604-4AE5-E69E-C49A4E2C6E5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393" y="4554405"/>
                  <a:ext cx="5428768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935" t="-6667" r="-467" b="-2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058743AD-973E-D438-7F3B-C1206550384A}"/>
                    </a:ext>
                  </a:extLst>
                </p:cNvPr>
                <p:cNvSpPr txBox="1"/>
                <p:nvPr/>
              </p:nvSpPr>
              <p:spPr>
                <a:xfrm>
                  <a:off x="423352" y="5128393"/>
                  <a:ext cx="620152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✅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 Better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-scaling than post-Trotter algorithms </a:t>
                  </a:r>
                  <a:r>
                    <a:rPr kumimoji="1" lang="en-US" altLang="ja-JP" sz="16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(LCU,QSVT)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058743AD-973E-D438-7F3B-C1206550384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352" y="5128393"/>
                  <a:ext cx="6201525" cy="369332"/>
                </a:xfrm>
                <a:prstGeom prst="rect">
                  <a:avLst/>
                </a:prstGeom>
                <a:blipFill>
                  <a:blip r:embed="rId18"/>
                  <a:stretch>
                    <a:fillRect l="-818" t="-6667" b="-2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830EA6A1-A3B7-10A5-B121-BA7A03AC9459}"/>
                </a:ext>
              </a:extLst>
            </p:cNvPr>
            <p:cNvSpPr txBox="1"/>
            <p:nvPr/>
          </p:nvSpPr>
          <p:spPr>
            <a:xfrm>
              <a:off x="3755137" y="5594921"/>
              <a:ext cx="2097024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A. </a:t>
              </a:r>
              <a:r>
                <a:rPr lang="en-US" altLang="ja-JP" sz="12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Gilyen</a:t>
              </a:r>
              <a:r>
                <a:rPr lang="en-US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al., STOC (2019)</a:t>
              </a:r>
              <a:endParaRPr lang="ja-JP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88463D06-9EE2-B14D-7C56-B93632F65693}"/>
                </a:ext>
              </a:extLst>
            </p:cNvPr>
            <p:cNvSpPr txBox="1"/>
            <p:nvPr/>
          </p:nvSpPr>
          <p:spPr>
            <a:xfrm>
              <a:off x="862569" y="5594921"/>
              <a:ext cx="4592170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2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D. W. Berry, et al., PRL 114, 090502 (2015).</a:t>
              </a:r>
              <a:endParaRPr lang="ja-JP" altLang="en-US" sz="12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F57D2211-3044-0F2F-4F7E-A70A460ADFB7}"/>
                </a:ext>
              </a:extLst>
            </p:cNvPr>
            <p:cNvSpPr txBox="1"/>
            <p:nvPr/>
          </p:nvSpPr>
          <p:spPr>
            <a:xfrm>
              <a:off x="662933" y="5991608"/>
              <a:ext cx="8281431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←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Trotterization reflects the locality of Hamiltonian via its “commutator-scaling” error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pic>
        <p:nvPicPr>
          <p:cNvPr id="24" name="Picture 2" descr="\begin{align*}&#10;  = \mathcal{O}((g\tau)^{p+1}N)&#10;\end{align*}">
            <a:extLst>
              <a:ext uri="{FF2B5EF4-FFF2-40B4-BE49-F238E27FC236}">
                <a16:creationId xmlns:a16="http://schemas.microsoft.com/office/drawing/2014/main" id="{44ACB7EA-B9E7-17C1-A70E-544EA2AB480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79" t="-47481" r="3322" b="-57504"/>
          <a:stretch>
            <a:fillRect/>
          </a:stretch>
        </p:blipFill>
        <p:spPr bwMode="auto">
          <a:xfrm>
            <a:off x="6680742" y="1860623"/>
            <a:ext cx="975117" cy="5346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1320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2784D8-99E1-11E3-0C58-DDBA47F0E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DC37B39D-9A62-EC43-D322-05916CF1C299}"/>
              </a:ext>
            </a:extLst>
          </p:cNvPr>
          <p:cNvSpPr/>
          <p:nvPr/>
        </p:nvSpPr>
        <p:spPr>
          <a:xfrm>
            <a:off x="-1" y="3405313"/>
            <a:ext cx="9144000" cy="186108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A90EEDF-7BB5-53C1-153F-9A3F4F7E23CA}"/>
              </a:ext>
            </a:extLst>
          </p:cNvPr>
          <p:cNvSpPr txBox="1"/>
          <p:nvPr/>
        </p:nvSpPr>
        <p:spPr>
          <a:xfrm>
            <a:off x="3569962" y="403085"/>
            <a:ext cx="2004075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Outline</a:t>
            </a:r>
            <a:endParaRPr kumimoji="1" lang="ja-JP" altLang="en-US" sz="44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9E5DC9D-C11F-47B1-C62C-69FBC8261478}"/>
              </a:ext>
            </a:extLst>
          </p:cNvPr>
          <p:cNvSpPr txBox="1"/>
          <p:nvPr/>
        </p:nvSpPr>
        <p:spPr>
          <a:xfrm>
            <a:off x="605738" y="1510421"/>
            <a:ext cx="2258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I. Introduction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7729823-5BA8-6FBC-C3C2-6441A8E6D9A5}"/>
                  </a:ext>
                </a:extLst>
              </p:cNvPr>
              <p:cNvSpPr txBox="1"/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9</m:t>
                      </m:r>
                    </m:oMath>
                  </m:oMathPara>
                </a14:m>
                <a:endParaRPr kumimoji="1" lang="ja-JP" altLang="en-US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7729823-5BA8-6FBC-C3C2-6441A8E6D9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97256" y="50605"/>
                <a:ext cx="185948" cy="276999"/>
              </a:xfrm>
              <a:prstGeom prst="rect">
                <a:avLst/>
              </a:prstGeom>
              <a:blipFill>
                <a:blip r:embed="rId2"/>
                <a:stretch>
                  <a:fillRect l="-25000" r="-25000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01EC79D-0A6C-3EA9-B6F6-DBB014FD2EBB}"/>
              </a:ext>
            </a:extLst>
          </p:cNvPr>
          <p:cNvSpPr txBox="1"/>
          <p:nvPr/>
        </p:nvSpPr>
        <p:spPr>
          <a:xfrm>
            <a:off x="605738" y="3486490"/>
            <a:ext cx="23871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II. Main results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D3D813A-0FC5-E473-C536-5792F506DA3A}"/>
              </a:ext>
            </a:extLst>
          </p:cNvPr>
          <p:cNvSpPr txBox="1"/>
          <p:nvPr/>
        </p:nvSpPr>
        <p:spPr>
          <a:xfrm>
            <a:off x="605738" y="5567938"/>
            <a:ext cx="21210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u="sng" dirty="0">
                <a:solidFill>
                  <a:srgbClr val="0070C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III. Summary</a:t>
            </a:r>
            <a:endParaRPr kumimoji="1" lang="ja-JP" altLang="en-US" sz="2800" u="sng">
              <a:solidFill>
                <a:srgbClr val="0070C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D5A14100-5061-CC91-E53E-1A9A4C49C0F7}"/>
              </a:ext>
            </a:extLst>
          </p:cNvPr>
          <p:cNvSpPr txBox="1"/>
          <p:nvPr/>
        </p:nvSpPr>
        <p:spPr>
          <a:xfrm>
            <a:off x="997782" y="2198538"/>
            <a:ext cx="36070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I-1. Hamiltonian simulation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C9585A3E-7D51-2C9E-12F6-F1D4FA2F3CAE}"/>
              </a:ext>
            </a:extLst>
          </p:cNvPr>
          <p:cNvSpPr txBox="1"/>
          <p:nvPr/>
        </p:nvSpPr>
        <p:spPr>
          <a:xfrm>
            <a:off x="997782" y="2828820"/>
            <a:ext cx="23691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I-2. Trotterization</a:t>
            </a:r>
            <a:endParaRPr kumimoji="1" lang="ja-JP" altLang="en-US" sz="2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7E8482F-CC82-C17C-1B43-16AD8D9B356A}"/>
              </a:ext>
            </a:extLst>
          </p:cNvPr>
          <p:cNvSpPr txBox="1"/>
          <p:nvPr/>
        </p:nvSpPr>
        <p:spPr>
          <a:xfrm>
            <a:off x="806342" y="4197798"/>
            <a:ext cx="78901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“Trotterization is substantially efficient for low-energy states”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5279CFF-EE74-7593-3129-EA42ACBFDF01}"/>
              </a:ext>
            </a:extLst>
          </p:cNvPr>
          <p:cNvSpPr txBox="1"/>
          <p:nvPr/>
        </p:nvSpPr>
        <p:spPr>
          <a:xfrm>
            <a:off x="4236076" y="4646487"/>
            <a:ext cx="4460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sz="1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 sz="1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36998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74B5A-5F12-7E61-62B3-5014C565A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57131AB-7206-67C3-11E1-50BA4457FFA1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II-1. Background 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DDDE87ED-8638-D038-0B69-83696701F332}"/>
                  </a:ext>
                </a:extLst>
              </p:cNvPr>
              <p:cNvSpPr txBox="1"/>
              <p:nvPr/>
            </p:nvSpPr>
            <p:spPr>
              <a:xfrm>
                <a:off x="8748171" y="50605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10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DDDE87ED-8638-D038-0B69-83696701F3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171" y="50605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5385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B71426D-A3E1-8411-B498-11589737CD78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7FAF678F-724F-103C-CBA6-EBC4EB1BC7CD}"/>
              </a:ext>
            </a:extLst>
          </p:cNvPr>
          <p:cNvGrpSpPr/>
          <p:nvPr/>
        </p:nvGrpSpPr>
        <p:grpSpPr>
          <a:xfrm>
            <a:off x="227162" y="2809976"/>
            <a:ext cx="8670093" cy="2279375"/>
            <a:chOff x="227162" y="2809976"/>
            <a:chExt cx="8670093" cy="2279375"/>
          </a:xfrm>
        </p:grpSpPr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FBDAF898-5B4D-1C34-CF2F-2CDBF823448F}"/>
                </a:ext>
              </a:extLst>
            </p:cNvPr>
            <p:cNvSpPr txBox="1"/>
            <p:nvPr/>
          </p:nvSpPr>
          <p:spPr>
            <a:xfrm>
              <a:off x="227162" y="4689241"/>
              <a:ext cx="8670091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kumimoji="1" lang="en-US" altLang="ja-JP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Can we improve errors &amp; cost </a:t>
              </a:r>
              <a:r>
                <a:rPr kumimoji="1" lang="en-US" altLang="ja-JP" sz="20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some specific initial states ?</a:t>
              </a:r>
              <a:endParaRPr lang="ja-JP" altLang="en-US" sz="2000" b="1">
                <a:solidFill>
                  <a:schemeClr val="accent2"/>
                </a:solidFill>
              </a:endParaRPr>
            </a:p>
          </p:txBody>
        </p:sp>
        <p:grpSp>
          <p:nvGrpSpPr>
            <p:cNvPr id="3" name="グループ化 2">
              <a:extLst>
                <a:ext uri="{FF2B5EF4-FFF2-40B4-BE49-F238E27FC236}">
                  <a16:creationId xmlns:a16="http://schemas.microsoft.com/office/drawing/2014/main" id="{9641DCE6-435C-6D25-7D8E-0C5F828AA649}"/>
                </a:ext>
              </a:extLst>
            </p:cNvPr>
            <p:cNvGrpSpPr/>
            <p:nvPr/>
          </p:nvGrpSpPr>
          <p:grpSpPr>
            <a:xfrm>
              <a:off x="227164" y="2809976"/>
              <a:ext cx="8670091" cy="1676736"/>
              <a:chOff x="227164" y="2809976"/>
              <a:chExt cx="8670091" cy="1676736"/>
            </a:xfrm>
          </p:grpSpPr>
          <p:sp>
            <p:nvSpPr>
              <p:cNvPr id="11" name="正方形/長方形 10">
                <a:extLst>
                  <a:ext uri="{FF2B5EF4-FFF2-40B4-BE49-F238E27FC236}">
                    <a16:creationId xmlns:a16="http://schemas.microsoft.com/office/drawing/2014/main" id="{802A3346-CFBD-F20D-61F7-35ADD1C09DDD}"/>
                  </a:ext>
                </a:extLst>
              </p:cNvPr>
              <p:cNvSpPr/>
              <p:nvPr/>
            </p:nvSpPr>
            <p:spPr>
              <a:xfrm>
                <a:off x="227164" y="2809976"/>
                <a:ext cx="8670091" cy="1676736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12D44A8B-8EBD-AA08-D3E2-1363CF1778A9}"/>
                  </a:ext>
                </a:extLst>
              </p:cNvPr>
              <p:cNvSpPr txBox="1"/>
              <p:nvPr/>
            </p:nvSpPr>
            <p:spPr>
              <a:xfrm>
                <a:off x="227164" y="2846216"/>
                <a:ext cx="1327784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[Problem]</a:t>
                </a:r>
                <a:endParaRPr kumimoji="1" lang="ja-JP" altLang="en-US" sz="2000" b="1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8BEE90CB-3046-4BC2-86D1-4E9F237BF519}"/>
                  </a:ext>
                </a:extLst>
              </p:cNvPr>
              <p:cNvSpPr txBox="1"/>
              <p:nvPr/>
            </p:nvSpPr>
            <p:spPr>
              <a:xfrm>
                <a:off x="1501222" y="2864226"/>
                <a:ext cx="6141555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ja-JP" sz="2000" u="sng" dirty="0">
                    <a:latin typeface="Times New Roman" panose="02020603050405020304" pitchFamily="18" charset="0"/>
                    <a:ea typeface="UD Digi Kyokasho NK-R" panose="02020400000000000000" pitchFamily="18" charset="-128"/>
                    <a:cs typeface="Times New Roman" panose="02020603050405020304" pitchFamily="18" charset="0"/>
                  </a:rPr>
                  <a:t> Use the worst-case error for all the possible initial states</a:t>
                </a:r>
                <a:endParaRPr lang="ja-JP" altLang="en-US" sz="2000" u="sng">
                  <a:latin typeface="UD Digi Kyokasho NK-R" panose="02020400000000000000" pitchFamily="18" charset="-128"/>
                  <a:ea typeface="UD Digi Kyokasho NK-R" panose="02020400000000000000" pitchFamily="18" charset="-128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03AF73F7-E01D-6CDA-898F-ADDCAD23D13C}"/>
                  </a:ext>
                </a:extLst>
              </p:cNvPr>
              <p:cNvSpPr txBox="1"/>
              <p:nvPr/>
            </p:nvSpPr>
            <p:spPr>
              <a:xfrm>
                <a:off x="764764" y="3976312"/>
                <a:ext cx="635056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ja-JP" altLang="en-US">
                    <a:latin typeface="Times New Roman" panose="02020603050405020304" pitchFamily="18" charset="0"/>
                    <a:ea typeface="UD Digi Kyokasho NK-R" panose="02020400000000000000" pitchFamily="18" charset="-128"/>
                    <a:cs typeface="Times New Roman" panose="02020603050405020304" pitchFamily="18" charset="0"/>
                  </a:rPr>
                  <a:t>→</a:t>
                </a:r>
                <a:r>
                  <a:rPr lang="en-US" altLang="ja-JP" dirty="0">
                    <a:latin typeface="Times New Roman" panose="02020603050405020304" pitchFamily="18" charset="0"/>
                    <a:ea typeface="UD Digi Kyokasho NK-R" panose="02020400000000000000" pitchFamily="18" charset="-128"/>
                    <a:cs typeface="Times New Roman" panose="02020603050405020304" pitchFamily="18" charset="0"/>
                  </a:rPr>
                  <a:t> Often overestimates the error &amp; cost for specific initial states</a:t>
                </a:r>
              </a:p>
            </p:txBody>
          </p:sp>
          <p:pic>
            <p:nvPicPr>
              <p:cNvPr id="4098" name="Picture 2" descr="\begin{align*}&#10;  \| e^{-iH\tau} -  T_p(\tau) \| = \max_{\ket{\psi} \in \mathcal{H}} \left( \| (e^{-iH\tau} -  T_p(\tau) ) \ket{\psi} \|\right)&#10;\end{align*}">
                <a:extLst>
                  <a:ext uri="{FF2B5EF4-FFF2-40B4-BE49-F238E27FC236}">
                    <a16:creationId xmlns:a16="http://schemas.microsoft.com/office/drawing/2014/main" id="{B4A4B573-BC57-CD22-36FF-1273B727E43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91431" y="3376610"/>
                <a:ext cx="6141555" cy="5075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5E6137B3-608B-543D-07C1-42FD0E8996DC}"/>
              </a:ext>
            </a:extLst>
          </p:cNvPr>
          <p:cNvSpPr txBox="1"/>
          <p:nvPr/>
        </p:nvSpPr>
        <p:spPr>
          <a:xfrm>
            <a:off x="227164" y="1170020"/>
            <a:ext cx="1825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[Error bound]</a:t>
            </a:r>
            <a:endParaRPr kumimoji="1" lang="ja-JP" altLang="en-US" sz="20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D0266F12-A6D5-A5FA-7ECE-BA5C49950029}"/>
              </a:ext>
            </a:extLst>
          </p:cNvPr>
          <p:cNvSpPr txBox="1"/>
          <p:nvPr/>
        </p:nvSpPr>
        <p:spPr>
          <a:xfrm>
            <a:off x="4983548" y="1170020"/>
            <a:ext cx="182575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[Complexity]</a:t>
            </a:r>
            <a:endParaRPr kumimoji="1" lang="ja-JP" altLang="en-US" sz="20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24" name="グループ化 23">
            <a:extLst>
              <a:ext uri="{FF2B5EF4-FFF2-40B4-BE49-F238E27FC236}">
                <a16:creationId xmlns:a16="http://schemas.microsoft.com/office/drawing/2014/main" id="{32DB7E63-F0BE-B153-6982-D221E42E0010}"/>
              </a:ext>
            </a:extLst>
          </p:cNvPr>
          <p:cNvGrpSpPr/>
          <p:nvPr/>
        </p:nvGrpSpPr>
        <p:grpSpPr>
          <a:xfrm>
            <a:off x="547833" y="1791117"/>
            <a:ext cx="4131744" cy="399205"/>
            <a:chOff x="3524115" y="1980699"/>
            <a:chExt cx="4131744" cy="399205"/>
          </a:xfrm>
        </p:grpSpPr>
        <p:pic>
          <p:nvPicPr>
            <p:cNvPr id="25" name="Picture 2" descr="\begin{align*}&#10;  \| e^{-iH\tau} -  T_p(\tau) \| = \max_{\ket{\psi} \in \mathcal{H}} \left( \| (e^{-iH\tau} -  T_p(\tau) ) \ket{\psi}\right)&#10;\end{align*}">
              <a:extLst>
                <a:ext uri="{FF2B5EF4-FFF2-40B4-BE49-F238E27FC236}">
                  <a16:creationId xmlns:a16="http://schemas.microsoft.com/office/drawing/2014/main" id="{0CD85FDE-362B-3287-2F6D-4ACEDE58127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00" b="7640"/>
            <a:stretch/>
          </p:blipFill>
          <p:spPr bwMode="auto">
            <a:xfrm>
              <a:off x="3524115" y="1989618"/>
              <a:ext cx="1730081" cy="390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2" descr="\begin{align*}&#10;  \leq \text{Const.} \times \sum_{\gamma_0,\cdots,\gamma_p} \| [H_{\gamma_p},\cdots,[H_{\gamma_1},H_{\gamma_0}]] \| \tau^{p+1}&#10;\end{align*}">
              <a:extLst>
                <a:ext uri="{FF2B5EF4-FFF2-40B4-BE49-F238E27FC236}">
                  <a16:creationId xmlns:a16="http://schemas.microsoft.com/office/drawing/2014/main" id="{5F2B8D63-C6EB-FFAF-0FAE-ECA91155C41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5143" b="26061"/>
            <a:stretch>
              <a:fillRect/>
            </a:stretch>
          </p:blipFill>
          <p:spPr bwMode="auto">
            <a:xfrm>
              <a:off x="5454739" y="1982880"/>
              <a:ext cx="1170179" cy="3970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" descr="\begin{align*}&#10;  = \mathcal{O}((g\tau)^{p+1}N)&#10;\end{align*}">
              <a:extLst>
                <a:ext uri="{FF2B5EF4-FFF2-40B4-BE49-F238E27FC236}">
                  <a16:creationId xmlns:a16="http://schemas.microsoft.com/office/drawing/2014/main" id="{8294660F-DCC8-7841-CD78-B05C3C1FF32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2914" t="-9920" r="3898" b="-23562"/>
            <a:stretch>
              <a:fillRect/>
            </a:stretch>
          </p:blipFill>
          <p:spPr bwMode="auto">
            <a:xfrm>
              <a:off x="6754254" y="1980699"/>
              <a:ext cx="901605" cy="3204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28" name="Picture 6" descr="\begin{align*}&#10;  r \in \Theta \left( gt \left( \frac{Ngt}{\varepsilon}\right)^{\frac1p}\right)&#10;\end{align*}">
            <a:extLst>
              <a:ext uri="{FF2B5EF4-FFF2-40B4-BE49-F238E27FC236}">
                <a16:creationId xmlns:a16="http://schemas.microsoft.com/office/drawing/2014/main" id="{98C4C19F-93F7-A20E-37AD-80AC348C62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5795" y="1555889"/>
            <a:ext cx="2068705" cy="6895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2E48B8FE-2395-682F-64D8-30551047AF18}"/>
                  </a:ext>
                </a:extLst>
              </p:cNvPr>
              <p:cNvSpPr txBox="1"/>
              <p:nvPr/>
            </p:nvSpPr>
            <p:spPr>
              <a:xfrm>
                <a:off x="592334" y="2328028"/>
                <a:ext cx="439121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→</a:t>
                </a:r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Known to be optimal scaling in size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…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2E48B8FE-2395-682F-64D8-30551047AF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34" y="2328028"/>
                <a:ext cx="4391214" cy="369332"/>
              </a:xfrm>
              <a:prstGeom prst="rect">
                <a:avLst/>
              </a:prstGeom>
              <a:blipFill>
                <a:blip r:embed="rId9"/>
                <a:stretch>
                  <a:fillRect l="-1153" t="-10000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テキスト ボックス 30">
            <a:extLst>
              <a:ext uri="{FF2B5EF4-FFF2-40B4-BE49-F238E27FC236}">
                <a16:creationId xmlns:a16="http://schemas.microsoft.com/office/drawing/2014/main" id="{BD4E7A95-02A0-DA84-0A2A-7FF849D5697B}"/>
              </a:ext>
            </a:extLst>
          </p:cNvPr>
          <p:cNvSpPr txBox="1"/>
          <p:nvPr/>
        </p:nvSpPr>
        <p:spPr>
          <a:xfrm>
            <a:off x="4918973" y="2375742"/>
            <a:ext cx="281262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10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Q. Zhao, et al., Nat. Phys. 21, 1338 (2025)</a:t>
            </a:r>
            <a:endParaRPr lang="ja-JP" altLang="en-US" sz="11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E7F9F9D7-BA42-DDA7-3FA2-AE4F23D766C5}"/>
              </a:ext>
            </a:extLst>
          </p:cNvPr>
          <p:cNvGrpSpPr/>
          <p:nvPr/>
        </p:nvGrpSpPr>
        <p:grpSpPr>
          <a:xfrm>
            <a:off x="394651" y="5256217"/>
            <a:ext cx="7790125" cy="1026954"/>
            <a:chOff x="394651" y="5256217"/>
            <a:chExt cx="7790125" cy="1026954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18ADC835-8F22-188D-E8D3-AD755A99CEDF}"/>
                </a:ext>
              </a:extLst>
            </p:cNvPr>
            <p:cNvSpPr txBox="1"/>
            <p:nvPr/>
          </p:nvSpPr>
          <p:spPr>
            <a:xfrm>
              <a:off x="394651" y="5256217"/>
              <a:ext cx="3637418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b="1" u="sng" dirty="0">
                  <a:latin typeface="Times New Roman" panose="02020603050405020304" pitchFamily="18" charset="0"/>
                  <a:ea typeface="UD Digi Kyokasho NK-R" panose="02020400000000000000" pitchFamily="18" charset="-128"/>
                  <a:cs typeface="Times New Roman" panose="02020603050405020304" pitchFamily="18" charset="0"/>
                </a:rPr>
                <a:t>1) Physically meaningful states</a:t>
              </a: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E70637B-76C4-2BDF-E430-FB951F47AA39}"/>
                </a:ext>
              </a:extLst>
            </p:cNvPr>
            <p:cNvSpPr txBox="1"/>
            <p:nvPr/>
          </p:nvSpPr>
          <p:spPr>
            <a:xfrm>
              <a:off x="394651" y="5883061"/>
              <a:ext cx="4046720" cy="4001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2000" b="1" u="sng" dirty="0">
                  <a:latin typeface="Times New Roman" panose="02020603050405020304" pitchFamily="18" charset="0"/>
                  <a:ea typeface="UD Digi Kyokasho NK-R" panose="02020400000000000000" pitchFamily="18" charset="-128"/>
                  <a:cs typeface="Times New Roman" panose="02020603050405020304" pitchFamily="18" charset="0"/>
                </a:rPr>
                <a:t>2) States with minimal assumptions</a:t>
              </a:r>
            </a:p>
          </p:txBody>
        </p:sp>
        <p:sp>
          <p:nvSpPr>
            <p:cNvPr id="32" name="左中かっこ 31">
              <a:extLst>
                <a:ext uri="{FF2B5EF4-FFF2-40B4-BE49-F238E27FC236}">
                  <a16:creationId xmlns:a16="http://schemas.microsoft.com/office/drawing/2014/main" id="{972976B7-E53E-B565-DB22-8E948919DAD3}"/>
                </a:ext>
              </a:extLst>
            </p:cNvPr>
            <p:cNvSpPr/>
            <p:nvPr/>
          </p:nvSpPr>
          <p:spPr>
            <a:xfrm>
              <a:off x="4521370" y="5577155"/>
              <a:ext cx="316414" cy="671021"/>
            </a:xfrm>
            <a:prstGeom prst="leftBrace">
              <a:avLst>
                <a:gd name="adj1" fmla="val 8333"/>
                <a:gd name="adj2" fmla="val 7767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2A4CEFB8-EF52-2FA6-067B-B847D0D92940}"/>
                </a:ext>
              </a:extLst>
            </p:cNvPr>
            <p:cNvSpPr txBox="1"/>
            <p:nvPr/>
          </p:nvSpPr>
          <p:spPr>
            <a:xfrm>
              <a:off x="4983548" y="5534091"/>
              <a:ext cx="1614841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latin typeface="Times New Roman" panose="02020603050405020304" pitchFamily="18" charset="0"/>
                  <a:ea typeface="UD Digi Kyokasho NK-R" panose="02020400000000000000" pitchFamily="18" charset="-128"/>
                  <a:cs typeface="Times New Roman" panose="02020603050405020304" pitchFamily="18" charset="0"/>
                </a:rPr>
                <a:t>For versatility</a:t>
              </a:r>
            </a:p>
          </p:txBody>
        </p:sp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159BE623-8732-0926-6543-711D1FF8107A}"/>
                </a:ext>
              </a:extLst>
            </p:cNvPr>
            <p:cNvSpPr txBox="1"/>
            <p:nvPr/>
          </p:nvSpPr>
          <p:spPr>
            <a:xfrm>
              <a:off x="4983548" y="5961613"/>
              <a:ext cx="320122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latin typeface="Times New Roman" panose="02020603050405020304" pitchFamily="18" charset="0"/>
                  <a:ea typeface="UD Digi Kyokasho NK-R" panose="02020400000000000000" pitchFamily="18" charset="-128"/>
                  <a:cs typeface="Times New Roman" panose="02020603050405020304" pitchFamily="18" charset="0"/>
                </a:rPr>
                <a:t>For less cost to ensure the assumptions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6121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DB3B9-8189-CD04-3F91-6EA09EAE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FBC9B8D-1DE3-D5BE-746A-65B013A9965A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II-1. Background 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06CAA7E7-FBFD-CBE2-7167-C13C53F3187F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9ED7F010-C9F6-231E-85C9-649B58E51670}"/>
              </a:ext>
            </a:extLst>
          </p:cNvPr>
          <p:cNvSpPr txBox="1"/>
          <p:nvPr/>
        </p:nvSpPr>
        <p:spPr>
          <a:xfrm>
            <a:off x="140680" y="1234901"/>
            <a:ext cx="886263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Can we improve errors &amp; cost </a:t>
            </a:r>
            <a:r>
              <a:rPr kumimoji="1" lang="en-US" altLang="ja-JP" sz="20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physically-motivated classes of initial states ?</a:t>
            </a:r>
            <a:endParaRPr lang="ja-JP" altLang="en-US" sz="2000" b="1"/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A40F6F2B-7B97-702E-9F66-85F0D20D090D}"/>
              </a:ext>
            </a:extLst>
          </p:cNvPr>
          <p:cNvGrpSpPr/>
          <p:nvPr/>
        </p:nvGrpSpPr>
        <p:grpSpPr>
          <a:xfrm>
            <a:off x="308936" y="3963935"/>
            <a:ext cx="8392111" cy="2393573"/>
            <a:chOff x="308936" y="3963935"/>
            <a:chExt cx="8392111" cy="2393573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5B58530C-ACB5-3C0F-55D3-72FBF8E9B30A}"/>
                </a:ext>
              </a:extLst>
            </p:cNvPr>
            <p:cNvSpPr txBox="1"/>
            <p:nvPr/>
          </p:nvSpPr>
          <p:spPr>
            <a:xfrm>
              <a:off x="308936" y="3963935"/>
              <a:ext cx="4070753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ja-JP" altLang="en-US" sz="18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▶︎</a:t>
              </a:r>
              <a:r>
                <a:rPr kumimoji="1" lang="en-US" altLang="ja-JP" sz="18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</a:t>
              </a:r>
              <a:r>
                <a:rPr kumimoji="1" lang="en-US" altLang="ja-JP" sz="18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Low-energy initial states (</a:t>
              </a:r>
              <a:r>
                <a:rPr kumimoji="1" lang="en-US" altLang="ja-JP" sz="1800" b="1" u="sng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this talk</a:t>
              </a:r>
              <a:r>
                <a:rPr kumimoji="1" lang="en-US" altLang="ja-JP" sz="18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)</a:t>
              </a:r>
              <a:endParaRPr lang="ja-JP" altLang="en-US" b="1" u="sng"/>
            </a:p>
          </p:txBody>
        </p:sp>
        <p:sp>
          <p:nvSpPr>
            <p:cNvPr id="14" name="左中かっこ 13">
              <a:extLst>
                <a:ext uri="{FF2B5EF4-FFF2-40B4-BE49-F238E27FC236}">
                  <a16:creationId xmlns:a16="http://schemas.microsoft.com/office/drawing/2014/main" id="{238F90D0-7ADD-36CC-C2F0-FBBA8F536E75}"/>
                </a:ext>
              </a:extLst>
            </p:cNvPr>
            <p:cNvSpPr/>
            <p:nvPr/>
          </p:nvSpPr>
          <p:spPr>
            <a:xfrm>
              <a:off x="878541" y="4882386"/>
              <a:ext cx="173990" cy="695025"/>
            </a:xfrm>
            <a:prstGeom prst="leftBrace">
              <a:avLst>
                <a:gd name="adj1" fmla="val 8333"/>
                <a:gd name="adj2" fmla="val 10000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accent2"/>
                </a:solidFill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9E455EE6-0C4D-24DE-304A-A794F347D4C4}"/>
                </a:ext>
              </a:extLst>
            </p:cNvPr>
            <p:cNvSpPr txBox="1"/>
            <p:nvPr/>
          </p:nvSpPr>
          <p:spPr>
            <a:xfrm>
              <a:off x="4379689" y="6080509"/>
              <a:ext cx="2884837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altLang="ja-JP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Best result, achieving the optimal scaling</a:t>
              </a:r>
              <a:endParaRPr lang="ja-JP" altLang="en-US" sz="12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840843F4-B590-0BA8-6590-391DA2074027}"/>
                </a:ext>
              </a:extLst>
            </p:cNvPr>
            <p:cNvSpPr txBox="1"/>
            <p:nvPr/>
          </p:nvSpPr>
          <p:spPr>
            <a:xfrm>
              <a:off x="1174375" y="4854531"/>
              <a:ext cx="5242382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" altLang="ja-JP" sz="14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Şahinoğlu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and R. D. Somma, </a:t>
              </a:r>
              <a:r>
                <a:rPr lang="en" altLang="ja-JP" sz="14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Npj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Quantum Information </a:t>
              </a:r>
              <a:r>
                <a:rPr lang="en" altLang="ja-JP" sz="1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1 (2021)</a:t>
              </a:r>
            </a:p>
            <a:p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W. Gong, et al., Quantum </a:t>
              </a:r>
              <a:r>
                <a:rPr lang="en" altLang="ja-JP" sz="1400" b="1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1409 (2024)</a:t>
              </a:r>
              <a:b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</a:b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34" name="図 33">
              <a:extLst>
                <a:ext uri="{FF2B5EF4-FFF2-40B4-BE49-F238E27FC236}">
                  <a16:creationId xmlns:a16="http://schemas.microsoft.com/office/drawing/2014/main" id="{75D46323-4BB8-1222-3B7B-46CAAA794B9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73601" y="4534874"/>
              <a:ext cx="1227446" cy="1794753"/>
            </a:xfrm>
            <a:prstGeom prst="rect">
              <a:avLst/>
            </a:prstGeom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484D3465-2072-8ECE-7DCB-C99AAFF08C14}"/>
                </a:ext>
              </a:extLst>
            </p:cNvPr>
            <p:cNvSpPr txBox="1"/>
            <p:nvPr/>
          </p:nvSpPr>
          <p:spPr>
            <a:xfrm>
              <a:off x="519217" y="4465461"/>
              <a:ext cx="3945207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A series of developments since 2021</a:t>
              </a:r>
              <a:endParaRPr lang="ja-JP" altLang="en-US" sz="1600" u="sng"/>
            </a:p>
          </p:txBody>
        </p:sp>
        <p:sp>
          <p:nvSpPr>
            <p:cNvPr id="22" name="テキスト ボックス 21">
              <a:extLst>
                <a:ext uri="{FF2B5EF4-FFF2-40B4-BE49-F238E27FC236}">
                  <a16:creationId xmlns:a16="http://schemas.microsoft.com/office/drawing/2014/main" id="{7B3E90C9-2C2F-8069-F050-C501A84E2B38}"/>
                </a:ext>
              </a:extLst>
            </p:cNvPr>
            <p:cNvSpPr txBox="1"/>
            <p:nvPr/>
          </p:nvSpPr>
          <p:spPr>
            <a:xfrm>
              <a:off x="519217" y="5697783"/>
              <a:ext cx="4460452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ja-JP" sz="1400" b="1" u="sng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KM</a:t>
              </a:r>
              <a:r>
                <a:rPr kumimoji="1" lang="en-US" altLang="ja-JP" sz="14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and T. Kuwahara, Phys. Rev. Lett. 135, 130602 (2025)</a:t>
              </a:r>
              <a:endParaRPr kumimoji="1" lang="ja-JP" altLang="en-US" sz="14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3004D87-AA1A-FE51-205E-D159E10FC90D}"/>
                  </a:ext>
                </a:extLst>
              </p:cNvPr>
              <p:cNvSpPr txBox="1"/>
              <p:nvPr/>
            </p:nvSpPr>
            <p:spPr>
              <a:xfrm>
                <a:off x="8748171" y="50605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11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03004D87-AA1A-FE51-205E-D159E10FC9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48171" y="50605"/>
                <a:ext cx="314189" cy="276999"/>
              </a:xfrm>
              <a:prstGeom prst="rect">
                <a:avLst/>
              </a:prstGeom>
              <a:blipFill>
                <a:blip r:embed="rId7"/>
                <a:stretch>
                  <a:fillRect l="-15385" r="-15385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8F9AF477-BD76-F7B3-FD41-6D4F0D08D363}"/>
              </a:ext>
            </a:extLst>
          </p:cNvPr>
          <p:cNvGrpSpPr/>
          <p:nvPr/>
        </p:nvGrpSpPr>
        <p:grpSpPr>
          <a:xfrm>
            <a:off x="227164" y="1871247"/>
            <a:ext cx="8856040" cy="1820818"/>
            <a:chOff x="227164" y="1871247"/>
            <a:chExt cx="8856040" cy="1820818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7F843586-BA29-E4E3-BA55-B3B4D1B24543}"/>
                </a:ext>
              </a:extLst>
            </p:cNvPr>
            <p:cNvGrpSpPr/>
            <p:nvPr/>
          </p:nvGrpSpPr>
          <p:grpSpPr>
            <a:xfrm>
              <a:off x="227164" y="1871247"/>
              <a:ext cx="8856040" cy="1820818"/>
              <a:chOff x="227164" y="1871247"/>
              <a:chExt cx="8856040" cy="1820818"/>
            </a:xfrm>
          </p:grpSpPr>
          <p:grpSp>
            <p:nvGrpSpPr>
              <p:cNvPr id="6" name="グループ化 5">
                <a:extLst>
                  <a:ext uri="{FF2B5EF4-FFF2-40B4-BE49-F238E27FC236}">
                    <a16:creationId xmlns:a16="http://schemas.microsoft.com/office/drawing/2014/main" id="{E0728F5E-B08B-39E6-AF8D-79D51B6F066B}"/>
                  </a:ext>
                </a:extLst>
              </p:cNvPr>
              <p:cNvGrpSpPr/>
              <p:nvPr/>
            </p:nvGrpSpPr>
            <p:grpSpPr>
              <a:xfrm>
                <a:off x="227164" y="1871247"/>
                <a:ext cx="8856040" cy="675619"/>
                <a:chOff x="227164" y="3628856"/>
                <a:chExt cx="8856040" cy="675619"/>
              </a:xfrm>
            </p:grpSpPr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237723EC-6418-A9B5-7C1C-14D4034398F5}"/>
                    </a:ext>
                  </a:extLst>
                </p:cNvPr>
                <p:cNvSpPr txBox="1"/>
                <p:nvPr/>
              </p:nvSpPr>
              <p:spPr>
                <a:xfrm>
                  <a:off x="227164" y="3628856"/>
                  <a:ext cx="629914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kumimoji="1" lang="ja-JP" altLang="en-US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▶︎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:r>
                    <a:rPr kumimoji="1" lang="en-US" altLang="ja-JP" sz="1800" b="1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Haar random initial states / Highly-entangled initial states</a:t>
                  </a:r>
                  <a:endParaRPr lang="ja-JP" altLang="en-US" b="1" u="sng"/>
                </a:p>
              </p:txBody>
            </p:sp>
            <p:sp>
              <p:nvSpPr>
                <p:cNvPr id="21" name="テキスト ボックス 20">
                  <a:extLst>
                    <a:ext uri="{FF2B5EF4-FFF2-40B4-BE49-F238E27FC236}">
                      <a16:creationId xmlns:a16="http://schemas.microsoft.com/office/drawing/2014/main" id="{37F452C1-3EB8-BE68-DD7F-4D75FFC3E765}"/>
                    </a:ext>
                  </a:extLst>
                </p:cNvPr>
                <p:cNvSpPr txBox="1"/>
                <p:nvPr/>
              </p:nvSpPr>
              <p:spPr>
                <a:xfrm>
                  <a:off x="2344313" y="4027476"/>
                  <a:ext cx="6738891" cy="276999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" altLang="ja-JP" sz="1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Q. Zhao, et al., Phys. Rev. Lett. </a:t>
                  </a:r>
                  <a:r>
                    <a:rPr lang="en" altLang="ja-JP" sz="1200" b="1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129</a:t>
                  </a:r>
                  <a:r>
                    <a:rPr lang="en" altLang="ja-JP" sz="1200" dirty="0">
                      <a:solidFill>
                        <a:srgbClr val="00206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, 270502 (2022) / Q. Zhao, et al., Nat. Phys. 21, 1338 (2025) </a:t>
                  </a:r>
                  <a:endParaRPr lang="ja-JP" altLang="en-US" sz="120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p:grpSp>
          <p:pic>
            <p:nvPicPr>
              <p:cNvPr id="7172" name="Picture 4" descr="\begin{align*}&#10;  \left\| (e^{-iH\tau} - T_p(\tau)) \ket{\psi_{\text{Maximally-entangled}}} \right\| \leq \mathcal{O} ((g\tau)^{p+1}\sqrt{N})&#10;\end{align*}">
                <a:extLst>
                  <a:ext uri="{FF2B5EF4-FFF2-40B4-BE49-F238E27FC236}">
                    <a16:creationId xmlns:a16="http://schemas.microsoft.com/office/drawing/2014/main" id="{E8FBEC6C-23C5-8934-77CB-16BB0A9FBD0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72662" t="-1231"/>
              <a:stretch>
                <a:fillRect/>
              </a:stretch>
            </p:blipFill>
            <p:spPr bwMode="auto">
              <a:xfrm>
                <a:off x="5081289" y="2705623"/>
                <a:ext cx="1883619" cy="36933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42F8F13E-162D-3320-FB16-6B7CC7622EBD}"/>
                      </a:ext>
                    </a:extLst>
                  </p:cNvPr>
                  <p:cNvSpPr txBox="1"/>
                  <p:nvPr/>
                </p:nvSpPr>
                <p:spPr>
                  <a:xfrm>
                    <a:off x="1052531" y="3322733"/>
                    <a:ext cx="764851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r>
                      <a:rPr kumimoji="1" lang="ja-JP" altLang="en-US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→</a:t>
                    </a:r>
                    <a:r>
                      <a:rPr kumimoji="1" lang="en-US" altLang="ja-JP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 </a:t>
                    </a:r>
                    <a:r>
                      <a:rPr kumimoji="1" lang="en-US" altLang="ja-JP" sz="1800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Quadratic improvement in size </a:t>
                    </a:r>
                    <a14:m>
                      <m:oMath xmlns:m="http://schemas.openxmlformats.org/officeDocument/2006/math">
                        <m:r>
                          <a:rPr kumimoji="1" lang="en-US" altLang="ja-JP" sz="18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𝑁</m:t>
                        </m:r>
                        <m:r>
                          <a:rPr kumimoji="1" lang="en-US" altLang="ja-JP" sz="1800" b="0" i="0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 </m:t>
                        </m:r>
                      </m:oMath>
                    </a14:m>
                    <a:r>
                      <a:rPr lang="en-US" altLang="ja-JP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compared to the worst-case error</a:t>
                    </a:r>
                    <a:endParaRPr lang="ja-JP" altLang="en-US" u="sng"/>
                  </a:p>
                </p:txBody>
              </p:sp>
            </mc:Choice>
            <mc:Fallback xmlns="">
              <p:sp>
                <p:nvSpPr>
                  <p:cNvPr id="8" name="テキスト ボックス 7">
                    <a:extLst>
                      <a:ext uri="{FF2B5EF4-FFF2-40B4-BE49-F238E27FC236}">
                        <a16:creationId xmlns:a16="http://schemas.microsoft.com/office/drawing/2014/main" id="{42F8F13E-162D-3320-FB16-6B7CC7622E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2531" y="3322733"/>
                    <a:ext cx="7648516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831" t="-6667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pic>
          <p:nvPicPr>
            <p:cNvPr id="1026" name="Picture 2" descr="\begin{align*}&#10;  \| (e^{-iH\tau} - T_p(\tau)) \ket{\psi_\text{Haar}} \| \sim&#10;\end{align*}">
              <a:extLst>
                <a:ext uri="{FF2B5EF4-FFF2-40B4-BE49-F238E27FC236}">
                  <a16:creationId xmlns:a16="http://schemas.microsoft.com/office/drawing/2014/main" id="{38F0FC50-AE56-83D6-F09E-935F12C5B4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63006" y="2737371"/>
              <a:ext cx="3116663" cy="30084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384827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CF846-93E8-640E-5DD3-FDBDD51BA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正方形/長方形 53">
            <a:extLst>
              <a:ext uri="{FF2B5EF4-FFF2-40B4-BE49-F238E27FC236}">
                <a16:creationId xmlns:a16="http://schemas.microsoft.com/office/drawing/2014/main" id="{BE0F2457-48C9-F4F0-3390-0A2615F17F90}"/>
              </a:ext>
            </a:extLst>
          </p:cNvPr>
          <p:cNvSpPr/>
          <p:nvPr/>
        </p:nvSpPr>
        <p:spPr>
          <a:xfrm>
            <a:off x="237111" y="1431123"/>
            <a:ext cx="7166701" cy="14439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741B942E-1D92-2A6A-5D91-BDAA8D59DD4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II-2.  Our results: Summary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37F2D33-F2EE-630D-DB0A-B8EB7886E2B5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12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137F2D33-F2EE-630D-DB0A-B8EB7886E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9526CBC-0256-23C6-553B-19F3E408C249}"/>
              </a:ext>
            </a:extLst>
          </p:cNvPr>
          <p:cNvSpPr txBox="1"/>
          <p:nvPr/>
        </p:nvSpPr>
        <p:spPr>
          <a:xfrm>
            <a:off x="323429" y="1221106"/>
            <a:ext cx="21451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Take-home message</a:t>
            </a:r>
            <a:endParaRPr kumimoji="1" lang="ja-JP" altLang="en-US" b="1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C0DC3F5F-FE4E-BA9C-B761-26F7AF7A20CB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FE1081D2-03B3-30BC-FC32-3CEBBF763BDA}"/>
              </a:ext>
            </a:extLst>
          </p:cNvPr>
          <p:cNvSpPr txBox="1"/>
          <p:nvPr/>
        </p:nvSpPr>
        <p:spPr>
          <a:xfrm>
            <a:off x="368808" y="1770227"/>
            <a:ext cx="71667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The error bound &amp; complexity substantially reduce when</a:t>
            </a:r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8194" name="Picture 2" descr="\begin{align*}&#10;  (\text{Initial-state energy $\Delta$}) \in o(\text{Energy scale of whole system $Ng$})&#10;\end{align*}">
            <a:extLst>
              <a:ext uri="{FF2B5EF4-FFF2-40B4-BE49-F238E27FC236}">
                <a16:creationId xmlns:a16="http://schemas.microsoft.com/office/drawing/2014/main" id="{7C439B25-AA40-0B04-55EE-4ECB8EFB98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40" y="2360480"/>
            <a:ext cx="6439642" cy="2392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2" name="テキスト ボックス 51">
            <a:extLst>
              <a:ext uri="{FF2B5EF4-FFF2-40B4-BE49-F238E27FC236}">
                <a16:creationId xmlns:a16="http://schemas.microsoft.com/office/drawing/2014/main" id="{29C24301-5C94-B390-B2AD-F03F2D7F3D4D}"/>
              </a:ext>
            </a:extLst>
          </p:cNvPr>
          <p:cNvSpPr txBox="1"/>
          <p:nvPr/>
        </p:nvSpPr>
        <p:spPr>
          <a:xfrm>
            <a:off x="3995507" y="1473717"/>
            <a:ext cx="34083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u="sng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sz="105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 sz="1050">
              <a:solidFill>
                <a:srgbClr val="00206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56A738B7-FF37-D612-44B7-9A5895993787}"/>
              </a:ext>
            </a:extLst>
          </p:cNvPr>
          <p:cNvGrpSpPr/>
          <p:nvPr/>
        </p:nvGrpSpPr>
        <p:grpSpPr>
          <a:xfrm>
            <a:off x="511053" y="3007795"/>
            <a:ext cx="8272585" cy="1721259"/>
            <a:chOff x="511053" y="3007795"/>
            <a:chExt cx="8272585" cy="17212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A2D56A14-A58F-687C-6741-03D86D70FF57}"/>
                    </a:ext>
                  </a:extLst>
                </p:cNvPr>
                <p:cNvSpPr txBox="1"/>
                <p:nvPr/>
              </p:nvSpPr>
              <p:spPr>
                <a:xfrm>
                  <a:off x="511053" y="3787399"/>
                  <a:ext cx="5880572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ja-JP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✔︎</a:t>
                  </a:r>
                  <a:r>
                    <a:rPr lang="en-US" altLang="ja-JP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Achieve theoretically-best scaling in initial-state energy </a:t>
                  </a:r>
                  <a14:m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</m:oMath>
                  </a14:m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ja-JP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0" name="テキスト ボックス 49">
                  <a:extLst>
                    <a:ext uri="{FF2B5EF4-FFF2-40B4-BE49-F238E27FC236}">
                      <a16:creationId xmlns:a16="http://schemas.microsoft.com/office/drawing/2014/main" id="{A2D56A14-A58F-687C-6741-03D86D70FF5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053" y="3787399"/>
                  <a:ext cx="5880572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431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63441F5A-B6D9-92AA-AF3F-EF7D59CC7B4C}"/>
                    </a:ext>
                  </a:extLst>
                </p:cNvPr>
                <p:cNvSpPr txBox="1"/>
                <p:nvPr/>
              </p:nvSpPr>
              <p:spPr>
                <a:xfrm>
                  <a:off x="511053" y="3007795"/>
                  <a:ext cx="8272585" cy="64633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ja-JP" altLang="en-US" sz="140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✔︎</a:t>
                  </a:r>
                  <a:r>
                    <a:rPr lang="en-US" altLang="ja-JP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Exponential improvement in system size </a:t>
                  </a:r>
                  <a14:m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</a:p>
                <a:p>
                  <a:pPr algn="r"/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&amp; Polynomial improvement in initial-state energy </a:t>
                  </a:r>
                  <a14:m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compared to previous studies </a:t>
                  </a:r>
                  <a:endParaRPr lang="ja-JP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1" name="テキスト ボックス 50">
                  <a:extLst>
                    <a:ext uri="{FF2B5EF4-FFF2-40B4-BE49-F238E27FC236}">
                      <a16:creationId xmlns:a16="http://schemas.microsoft.com/office/drawing/2014/main" id="{63441F5A-B6D9-92AA-AF3F-EF7D59CC7B4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053" y="3007795"/>
                  <a:ext cx="8272585" cy="646331"/>
                </a:xfrm>
                <a:prstGeom prst="rect">
                  <a:avLst/>
                </a:prstGeom>
                <a:blipFill>
                  <a:blip r:embed="rId7"/>
                  <a:stretch>
                    <a:fillRect l="-307" t="-3846" r="-1227" b="-1346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3" name="テキスト ボックス 52">
              <a:extLst>
                <a:ext uri="{FF2B5EF4-FFF2-40B4-BE49-F238E27FC236}">
                  <a16:creationId xmlns:a16="http://schemas.microsoft.com/office/drawing/2014/main" id="{E198885F-7E1B-FB8D-578B-74EB8482BAEF}"/>
                </a:ext>
              </a:extLst>
            </p:cNvPr>
            <p:cNvSpPr txBox="1"/>
            <p:nvPr/>
          </p:nvSpPr>
          <p:spPr>
            <a:xfrm>
              <a:off x="511053" y="4359722"/>
              <a:ext cx="8032312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400">
                  <a:latin typeface="Times New Roman" panose="02020603050405020304" pitchFamily="18" charset="0"/>
                  <a:cs typeface="Times New Roman" panose="02020603050405020304" pitchFamily="18" charset="0"/>
                </a:rPr>
                <a:t>✔︎</a:t>
              </a:r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ja-JP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Applies to generic local Hamiltonians with finite-/short-/long-range interactions</a:t>
              </a:r>
              <a:endParaRPr lang="ja-JP" altLang="en-US" sz="160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55" name="テキスト ボックス 54">
            <a:extLst>
              <a:ext uri="{FF2B5EF4-FFF2-40B4-BE49-F238E27FC236}">
                <a16:creationId xmlns:a16="http://schemas.microsoft.com/office/drawing/2014/main" id="{62B80F02-BECC-A148-3E9F-6B6FCA7552D8}"/>
              </a:ext>
            </a:extLst>
          </p:cNvPr>
          <p:cNvSpPr txBox="1"/>
          <p:nvPr/>
        </p:nvSpPr>
        <p:spPr>
          <a:xfrm>
            <a:off x="341943" y="4911171"/>
            <a:ext cx="3653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b="1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Remark: </a:t>
            </a:r>
            <a:r>
              <a:rPr kumimoji="1" lang="en-US" altLang="ja-JP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Is our result always useful?</a:t>
            </a:r>
            <a:endParaRPr kumimoji="1" lang="ja-JP" altLang="en-US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26A2D919-9CF4-FA22-4409-2C7EACB0A5F3}"/>
              </a:ext>
            </a:extLst>
          </p:cNvPr>
          <p:cNvGrpSpPr/>
          <p:nvPr/>
        </p:nvGrpSpPr>
        <p:grpSpPr>
          <a:xfrm>
            <a:off x="368808" y="5413776"/>
            <a:ext cx="8775192" cy="841159"/>
            <a:chOff x="368808" y="5413776"/>
            <a:chExt cx="8775192" cy="84115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227CFA33-E72D-5DD4-24B6-E560BF99DF3B}"/>
                    </a:ext>
                  </a:extLst>
                </p:cNvPr>
                <p:cNvSpPr txBox="1"/>
                <p:nvPr/>
              </p:nvSpPr>
              <p:spPr>
                <a:xfrm>
                  <a:off x="1792436" y="5413776"/>
                  <a:ext cx="570981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altLang="ja-JP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The existence of states satisfying </a:t>
                  </a:r>
                  <a14:m>
                    <m:oMath xmlns:m="http://schemas.openxmlformats.org/officeDocument/2006/math"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a:rPr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𝑜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𝑁𝑔</m:t>
                      </m:r>
                      <m:r>
                        <a:rPr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)</m:t>
                      </m:r>
                    </m:oMath>
                  </a14:m>
                  <a:r>
                    <a:rPr lang="en-US" altLang="ja-JP" sz="16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is NOT ensured</a:t>
                  </a:r>
                  <a:endParaRPr lang="ja-JP" altLang="en-US" sz="160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56" name="テキスト ボックス 55">
                  <a:extLst>
                    <a:ext uri="{FF2B5EF4-FFF2-40B4-BE49-F238E27FC236}">
                      <a16:creationId xmlns:a16="http://schemas.microsoft.com/office/drawing/2014/main" id="{227CFA33-E72D-5DD4-24B6-E560BF99DF3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792436" y="5413776"/>
                  <a:ext cx="5709818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89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7" name="テキスト ボックス 56">
              <a:extLst>
                <a:ext uri="{FF2B5EF4-FFF2-40B4-BE49-F238E27FC236}">
                  <a16:creationId xmlns:a16="http://schemas.microsoft.com/office/drawing/2014/main" id="{1766977E-C98A-1790-D54D-13CC93E7F676}"/>
                </a:ext>
              </a:extLst>
            </p:cNvPr>
            <p:cNvSpPr txBox="1"/>
            <p:nvPr/>
          </p:nvSpPr>
          <p:spPr>
            <a:xfrm>
              <a:off x="368808" y="5916381"/>
              <a:ext cx="8775192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ja-JP" altLang="en-US" sz="1600">
                  <a:latin typeface="Times New Roman" panose="02020603050405020304" pitchFamily="18" charset="0"/>
                  <a:cs typeface="Times New Roman" panose="02020603050405020304" pitchFamily="18" charset="0"/>
                </a:rPr>
                <a:t>→</a:t>
              </a:r>
              <a:r>
                <a:rPr lang="en-US" altLang="ja-JP" sz="16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At most constant speedup for generic systems / Substantial speedup for </a:t>
              </a:r>
              <a:r>
                <a:rPr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near frustration-free systems</a:t>
              </a:r>
              <a:endParaRPr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1790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AAF55-1360-BC52-9DB1-31DC06CEFA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16826FD-A542-52C7-A756-BE8100C4B87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II-2.  Our results: Setup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AC224F04-0201-B766-4400-4BF515644999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13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AC224F04-0201-B766-4400-4BF5156449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26" name="Picture 2" descr="\begin{align*}&#10;  H = \sum_X h_X, \quad h_X \geq 0&#10;\end{align*}">
            <a:extLst>
              <a:ext uri="{FF2B5EF4-FFF2-40B4-BE49-F238E27FC236}">
                <a16:creationId xmlns:a16="http://schemas.microsoft.com/office/drawing/2014/main" id="{098A5F72-8998-533A-511B-F9B15892F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9283" y="1936961"/>
            <a:ext cx="2364155" cy="519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8F1BE074-98D8-90A4-EE4C-34BF97DA53E1}"/>
                  </a:ext>
                </a:extLst>
              </p:cNvPr>
              <p:cNvSpPr txBox="1"/>
              <p:nvPr/>
            </p:nvSpPr>
            <p:spPr>
              <a:xfrm>
                <a:off x="1278941" y="1301747"/>
                <a:ext cx="593175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-qubit local Hamiltonians with positive-semidefinite terms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D7B09DFE-BF53-8000-6F08-984952ADB7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8941" y="1301747"/>
                <a:ext cx="5931756" cy="369332"/>
              </a:xfrm>
              <a:prstGeom prst="rect">
                <a:avLst/>
              </a:prstGeom>
              <a:blipFill>
                <a:blip r:embed="rId5"/>
                <a:stretch>
                  <a:fillRect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DE388B8-BC83-7D9C-B77E-8A6F916EEC77}"/>
              </a:ext>
            </a:extLst>
          </p:cNvPr>
          <p:cNvSpPr txBox="1"/>
          <p:nvPr/>
        </p:nvSpPr>
        <p:spPr>
          <a:xfrm>
            <a:off x="298629" y="1270831"/>
            <a:ext cx="76815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Setup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5D45D8D3-89A5-2AE7-99B1-1122546C1454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9" name="グループ化 8">
            <a:extLst>
              <a:ext uri="{FF2B5EF4-FFF2-40B4-BE49-F238E27FC236}">
                <a16:creationId xmlns:a16="http://schemas.microsoft.com/office/drawing/2014/main" id="{BCE33C3B-8992-A62D-0D91-69684D4EB478}"/>
              </a:ext>
            </a:extLst>
          </p:cNvPr>
          <p:cNvGrpSpPr/>
          <p:nvPr/>
        </p:nvGrpSpPr>
        <p:grpSpPr>
          <a:xfrm>
            <a:off x="7417843" y="1486413"/>
            <a:ext cx="1365795" cy="1377637"/>
            <a:chOff x="7452722" y="4938760"/>
            <a:chExt cx="1365795" cy="1377637"/>
          </a:xfrm>
        </p:grpSpPr>
        <p:cxnSp>
          <p:nvCxnSpPr>
            <p:cNvPr id="11" name="直線コネクタ 10">
              <a:extLst>
                <a:ext uri="{FF2B5EF4-FFF2-40B4-BE49-F238E27FC236}">
                  <a16:creationId xmlns:a16="http://schemas.microsoft.com/office/drawing/2014/main" id="{68E689B8-0401-8FE4-FB93-29A96A2321C6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60133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線コネクタ 14">
              <a:extLst>
                <a:ext uri="{FF2B5EF4-FFF2-40B4-BE49-F238E27FC236}">
                  <a16:creationId xmlns:a16="http://schemas.microsoft.com/office/drawing/2014/main" id="{F1AA3649-3C04-DA0A-D311-D3620637EE76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75373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線コネクタ 15">
              <a:extLst>
                <a:ext uri="{FF2B5EF4-FFF2-40B4-BE49-F238E27FC236}">
                  <a16:creationId xmlns:a16="http://schemas.microsoft.com/office/drawing/2014/main" id="{C708C016-9258-D898-AAAF-502E49A0B6B7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90613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線コネクタ 16">
              <a:extLst>
                <a:ext uri="{FF2B5EF4-FFF2-40B4-BE49-F238E27FC236}">
                  <a16:creationId xmlns:a16="http://schemas.microsoft.com/office/drawing/2014/main" id="{E6BC9C13-7369-5E51-2DED-2DF39B06CD63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605853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線コネクタ 17">
              <a:extLst>
                <a:ext uri="{FF2B5EF4-FFF2-40B4-BE49-F238E27FC236}">
                  <a16:creationId xmlns:a16="http://schemas.microsoft.com/office/drawing/2014/main" id="{AA7EA558-98BB-C116-37E1-C5CE2F12A513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621093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直線コネクタ 18">
              <a:extLst>
                <a:ext uri="{FF2B5EF4-FFF2-40B4-BE49-F238E27FC236}">
                  <a16:creationId xmlns:a16="http://schemas.microsoft.com/office/drawing/2014/main" id="{A7413D9E-3CE2-BCDF-E12E-4DECDBBC7C04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450908" y="562165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線コネクタ 19">
              <a:extLst>
                <a:ext uri="{FF2B5EF4-FFF2-40B4-BE49-F238E27FC236}">
                  <a16:creationId xmlns:a16="http://schemas.microsoft.com/office/drawing/2014/main" id="{2DA59688-4626-299A-43DE-F164E4DA0CEC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298508" y="562165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直線コネクタ 20">
              <a:extLst>
                <a:ext uri="{FF2B5EF4-FFF2-40B4-BE49-F238E27FC236}">
                  <a16:creationId xmlns:a16="http://schemas.microsoft.com/office/drawing/2014/main" id="{EE6E163F-0B08-0F4F-BEFF-70FB2A8B7963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146108" y="562165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線コネクタ 21">
              <a:extLst>
                <a:ext uri="{FF2B5EF4-FFF2-40B4-BE49-F238E27FC236}">
                  <a16:creationId xmlns:a16="http://schemas.microsoft.com/office/drawing/2014/main" id="{C5395C92-49EB-D2E5-B918-4A0E12396FAA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993708" y="562165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直線コネクタ 22">
              <a:extLst>
                <a:ext uri="{FF2B5EF4-FFF2-40B4-BE49-F238E27FC236}">
                  <a16:creationId xmlns:a16="http://schemas.microsoft.com/office/drawing/2014/main" id="{C79BE478-FCAA-B369-9A91-AF2475BAA0DD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6841308" y="562165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直線コネクタ 23">
              <a:extLst>
                <a:ext uri="{FF2B5EF4-FFF2-40B4-BE49-F238E27FC236}">
                  <a16:creationId xmlns:a16="http://schemas.microsoft.com/office/drawing/2014/main" id="{5D02AC7C-410E-3A87-42AF-6111BD1777C0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8064499" y="5633500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線コネクタ 24">
              <a:extLst>
                <a:ext uri="{FF2B5EF4-FFF2-40B4-BE49-F238E27FC236}">
                  <a16:creationId xmlns:a16="http://schemas.microsoft.com/office/drawing/2014/main" id="{DE56084E-2E8F-7879-A624-472AAE423E2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912099" y="5633500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線コネクタ 25">
              <a:extLst>
                <a:ext uri="{FF2B5EF4-FFF2-40B4-BE49-F238E27FC236}">
                  <a16:creationId xmlns:a16="http://schemas.microsoft.com/office/drawing/2014/main" id="{E4CD2B8F-10A0-6D13-F5AA-DAE4F6FED6DF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759699" y="5633500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線コネクタ 26">
              <a:extLst>
                <a:ext uri="{FF2B5EF4-FFF2-40B4-BE49-F238E27FC236}">
                  <a16:creationId xmlns:a16="http://schemas.microsoft.com/office/drawing/2014/main" id="{6AD5CCD9-4567-365C-9BF1-49FF7A8C0197}"/>
                </a:ext>
              </a:extLst>
            </p:cNvPr>
            <p:cNvCxnSpPr>
              <a:cxnSpLocks/>
            </p:cNvCxnSpPr>
            <p:nvPr/>
          </p:nvCxnSpPr>
          <p:spPr>
            <a:xfrm rot="5400000">
              <a:off x="7607299" y="5633500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線コネクタ 27">
              <a:extLst>
                <a:ext uri="{FF2B5EF4-FFF2-40B4-BE49-F238E27FC236}">
                  <a16:creationId xmlns:a16="http://schemas.microsoft.com/office/drawing/2014/main" id="{2B21CDF4-8CC7-C4DD-0FA6-632F7D13F808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15091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線コネクタ 28">
              <a:extLst>
                <a:ext uri="{FF2B5EF4-FFF2-40B4-BE49-F238E27FC236}">
                  <a16:creationId xmlns:a16="http://schemas.microsoft.com/office/drawing/2014/main" id="{E99BF80F-E68C-790C-0F4C-3514A9BFED45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30331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線コネクタ 29">
              <a:extLst>
                <a:ext uri="{FF2B5EF4-FFF2-40B4-BE49-F238E27FC236}">
                  <a16:creationId xmlns:a16="http://schemas.microsoft.com/office/drawing/2014/main" id="{309411DF-8432-1083-57F3-5111EF2BA17F}"/>
                </a:ext>
              </a:extLst>
            </p:cNvPr>
            <p:cNvCxnSpPr>
              <a:cxnSpLocks/>
            </p:cNvCxnSpPr>
            <p:nvPr/>
          </p:nvCxnSpPr>
          <p:spPr>
            <a:xfrm>
              <a:off x="7452722" y="5455718"/>
              <a:ext cx="1365795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角丸四角形 38">
              <a:extLst>
                <a:ext uri="{FF2B5EF4-FFF2-40B4-BE49-F238E27FC236}">
                  <a16:creationId xmlns:a16="http://schemas.microsoft.com/office/drawing/2014/main" id="{63CFC497-AC4C-AA3D-D376-A1F54B6624A2}"/>
                </a:ext>
              </a:extLst>
            </p:cNvPr>
            <p:cNvSpPr/>
            <p:nvPr/>
          </p:nvSpPr>
          <p:spPr>
            <a:xfrm>
              <a:off x="7606614" y="5387638"/>
              <a:ext cx="299558" cy="577251"/>
            </a:xfrm>
            <a:prstGeom prst="roundRect">
              <a:avLst/>
            </a:prstGeom>
            <a:solidFill>
              <a:schemeClr val="accent6">
                <a:lumMod val="75000"/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0" name="角丸四角形 39">
              <a:extLst>
                <a:ext uri="{FF2B5EF4-FFF2-40B4-BE49-F238E27FC236}">
                  <a16:creationId xmlns:a16="http://schemas.microsoft.com/office/drawing/2014/main" id="{7BD8884D-CC5A-FF2C-97DE-B49C089FF95A}"/>
                </a:ext>
              </a:extLst>
            </p:cNvPr>
            <p:cNvSpPr/>
            <p:nvPr/>
          </p:nvSpPr>
          <p:spPr>
            <a:xfrm rot="5400000">
              <a:off x="8380112" y="5095546"/>
              <a:ext cx="299558" cy="577251"/>
            </a:xfrm>
            <a:prstGeom prst="roundRect">
              <a:avLst/>
            </a:prstGeom>
            <a:solidFill>
              <a:schemeClr val="accent5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1" name="角丸四角形 40">
              <a:extLst>
                <a:ext uri="{FF2B5EF4-FFF2-40B4-BE49-F238E27FC236}">
                  <a16:creationId xmlns:a16="http://schemas.microsoft.com/office/drawing/2014/main" id="{3C241A30-01F4-38A9-70A2-7D9D3F52CA8D}"/>
                </a:ext>
              </a:extLst>
            </p:cNvPr>
            <p:cNvSpPr/>
            <p:nvPr/>
          </p:nvSpPr>
          <p:spPr>
            <a:xfrm>
              <a:off x="8203114" y="5840587"/>
              <a:ext cx="172401" cy="413040"/>
            </a:xfrm>
            <a:prstGeom prst="roundRect">
              <a:avLst/>
            </a:prstGeom>
            <a:solidFill>
              <a:schemeClr val="accent2">
                <a:alpha val="68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04435E6E-5F0B-468B-ACEB-857CF6E24390}"/>
                  </a:ext>
                </a:extLst>
              </p:cNvPr>
              <p:cNvSpPr txBox="1"/>
              <p:nvPr/>
            </p:nvSpPr>
            <p:spPr>
              <a:xfrm>
                <a:off x="368808" y="2573925"/>
                <a:ext cx="215923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u="sng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Locality </a:t>
                </a:r>
                <a14:m>
                  <m:oMath xmlns:m="http://schemas.openxmlformats.org/officeDocument/2006/math">
                    <m:r>
                      <a:rPr kumimoji="1" lang="en-US" altLang="ja-JP" b="0" i="1" u="sng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𝑘</m:t>
                    </m:r>
                    <m:r>
                      <a:rPr kumimoji="1" lang="en-US" altLang="ja-JP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kumimoji="1" lang="en-US" altLang="ja-JP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𝑂</m:t>
                    </m:r>
                    <m:r>
                      <a:rPr kumimoji="1" lang="en-US" altLang="ja-JP" b="0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(1)</m:t>
                    </m:r>
                  </m:oMath>
                </a14:m>
                <a:endParaRPr kumimoji="1" lang="ja-JP" altLang="en-US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2" name="テキスト ボックス 41">
                <a:extLst>
                  <a:ext uri="{FF2B5EF4-FFF2-40B4-BE49-F238E27FC236}">
                    <a16:creationId xmlns:a16="http://schemas.microsoft.com/office/drawing/2014/main" id="{04435E6E-5F0B-468B-ACEB-857CF6E243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8808" y="2573925"/>
                <a:ext cx="2159238" cy="369332"/>
              </a:xfrm>
              <a:prstGeom prst="rect">
                <a:avLst/>
              </a:prstGeom>
              <a:blipFill>
                <a:blip r:embed="rId10"/>
                <a:stretch>
                  <a:fillRect l="-2924" t="-10000" b="-2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3FBE25D5-B7F7-A870-9D71-F28C3E88752F}"/>
                  </a:ext>
                </a:extLst>
              </p:cNvPr>
              <p:cNvSpPr txBox="1"/>
              <p:nvPr/>
            </p:nvSpPr>
            <p:spPr>
              <a:xfrm>
                <a:off x="1358735" y="3042676"/>
                <a:ext cx="63627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acts on at most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-site domain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𝑋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(i.e.,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𝑘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-body interactions)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3FBE25D5-B7F7-A870-9D71-F28C3E8875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58735" y="3042676"/>
                <a:ext cx="6362779" cy="369332"/>
              </a:xfrm>
              <a:prstGeom prst="rect">
                <a:avLst/>
              </a:prstGeom>
              <a:blipFill>
                <a:blip r:embed="rId11"/>
                <a:stretch>
                  <a:fillRect l="-996"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6890C042-5E5B-7249-F124-598B8356BF02}"/>
                  </a:ext>
                </a:extLst>
              </p:cNvPr>
              <p:cNvSpPr txBox="1"/>
              <p:nvPr/>
            </p:nvSpPr>
            <p:spPr>
              <a:xfrm>
                <a:off x="8286319" y="1734824"/>
                <a:ext cx="39444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h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𝑋</m:t>
                        </m:r>
                      </m:sub>
                    </m:sSub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endParaRPr lang="ja-JP" altLang="en-US"/>
              </a:p>
            </p:txBody>
          </p:sp>
        </mc:Choice>
        <mc:Fallback xmlns="">
          <p:sp>
            <p:nvSpPr>
              <p:cNvPr id="45" name="テキスト ボックス 44">
                <a:extLst>
                  <a:ext uri="{FF2B5EF4-FFF2-40B4-BE49-F238E27FC236}">
                    <a16:creationId xmlns:a16="http://schemas.microsoft.com/office/drawing/2014/main" id="{6890C042-5E5B-7249-F124-598B8356BF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86319" y="1734824"/>
                <a:ext cx="394447" cy="369332"/>
              </a:xfrm>
              <a:prstGeom prst="rect">
                <a:avLst/>
              </a:prstGeom>
              <a:blipFill>
                <a:blip r:embed="rId12"/>
                <a:stretch>
                  <a:fillRect t="-6667" r="-37500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12AB509D-0A19-CE1D-CB82-607BBE363BC3}"/>
              </a:ext>
            </a:extLst>
          </p:cNvPr>
          <p:cNvGrpSpPr/>
          <p:nvPr/>
        </p:nvGrpSpPr>
        <p:grpSpPr>
          <a:xfrm>
            <a:off x="368808" y="3499875"/>
            <a:ext cx="7272918" cy="2047326"/>
            <a:chOff x="368808" y="3499875"/>
            <a:chExt cx="7272918" cy="20473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46D80E16-151C-7F43-283C-F6705BE02C94}"/>
                    </a:ext>
                  </a:extLst>
                </p:cNvPr>
                <p:cNvSpPr txBox="1"/>
                <p:nvPr/>
              </p:nvSpPr>
              <p:spPr>
                <a:xfrm>
                  <a:off x="368808" y="3499875"/>
                  <a:ext cx="206498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u="sng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・</a:t>
                  </a:r>
                  <a:r>
                    <a:rPr kumimoji="1" lang="en-US" altLang="ja-JP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Extensiveness </a:t>
                  </a:r>
                  <a14:m>
                    <m:oMath xmlns:m="http://schemas.openxmlformats.org/officeDocument/2006/math">
                      <m:r>
                        <a:rPr kumimoji="1" lang="en-US" altLang="ja-JP" b="0" i="1" u="sng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𝑔</m:t>
                      </m:r>
                    </m:oMath>
                  </a14:m>
                  <a:endParaRPr kumimoji="1" lang="ja-JP" altLang="en-US" u="sng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0" name="テキスト ボックス 9">
                  <a:extLst>
                    <a:ext uri="{FF2B5EF4-FFF2-40B4-BE49-F238E27FC236}">
                      <a16:creationId xmlns:a16="http://schemas.microsoft.com/office/drawing/2014/main" id="{46D80E16-151C-7F43-283C-F6705BE02C9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808" y="3499875"/>
                  <a:ext cx="2064989" cy="369332"/>
                </a:xfrm>
                <a:prstGeom prst="rect">
                  <a:avLst/>
                </a:prstGeom>
                <a:blipFill>
                  <a:blip r:embed="rId13"/>
                  <a:stretch>
                    <a:fillRect l="-3067" t="-10000" b="-2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028" name="Picture 4" descr="\begin{align*}&#10;  g = \max_{i=1,\cdots, N} \left( \sum_{X \ni i} \| h_X \|\right)&#10;\end{align*}">
              <a:extLst>
                <a:ext uri="{FF2B5EF4-FFF2-40B4-BE49-F238E27FC236}">
                  <a16:creationId xmlns:a16="http://schemas.microsoft.com/office/drawing/2014/main" id="{583E8091-DA41-D1AB-26D8-785A420A05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70093" y="3541456"/>
              <a:ext cx="2422375" cy="6789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1BAEB6ED-63C7-5D55-7EF7-FE660843469F}"/>
                    </a:ext>
                  </a:extLst>
                </p:cNvPr>
                <p:cNvSpPr txBox="1"/>
                <p:nvPr/>
              </p:nvSpPr>
              <p:spPr>
                <a:xfrm>
                  <a:off x="368808" y="5177869"/>
                  <a:ext cx="4883935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u="sng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・</a:t>
                  </a:r>
                  <a:r>
                    <a:rPr kumimoji="1" lang="en-US" altLang="ja-JP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Energy scale of the whole system: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𝑁𝑔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(</a:t>
                  </a:r>
                  <a14:m>
                    <m:oMath xmlns:m="http://schemas.openxmlformats.org/officeDocument/2006/math">
                      <m:r>
                        <a:rPr kumimoji="1" lang="en-US" altLang="ja-JP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ja-JP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e>
                      </m:d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) 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1BAEB6ED-63C7-5D55-7EF7-FE660843469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808" y="5177869"/>
                  <a:ext cx="4883935" cy="369332"/>
                </a:xfrm>
                <a:prstGeom prst="rect">
                  <a:avLst/>
                </a:prstGeom>
                <a:blipFill>
                  <a:blip r:embed="rId15"/>
                  <a:stretch>
                    <a:fillRect l="-1299" t="-10000" r="-779" b="-2666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05B7A001-1DEA-7333-E580-D880003200C9}"/>
                    </a:ext>
                  </a:extLst>
                </p:cNvPr>
                <p:cNvSpPr txBox="1"/>
                <p:nvPr/>
              </p:nvSpPr>
              <p:spPr>
                <a:xfrm>
                  <a:off x="1181539" y="4251919"/>
                  <a:ext cx="643964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kumimoji="1" lang="en-US" altLang="ja-JP" sz="16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𝑔</m:t>
                      </m:r>
                      <m:r>
                        <a:rPr kumimoji="1" lang="en-US" altLang="ja-JP" sz="16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∈</m:t>
                      </m:r>
                      <m:r>
                        <a:rPr kumimoji="1" lang="en-US" altLang="ja-JP" sz="16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𝒪</m:t>
                      </m:r>
                      <m:r>
                        <a:rPr kumimoji="1" lang="en-US" altLang="ja-JP" sz="1600" b="0" i="1" smtClean="0">
                          <a:solidFill>
                            <a:schemeClr val="tx1">
                              <a:lumMod val="50000"/>
                              <a:lumOff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(1)</m:t>
                      </m:r>
                    </m:oMath>
                  </a14:m>
                  <a:r>
                    <a:rPr kumimoji="1" lang="en-US" altLang="ja-JP" sz="1600" dirty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for finite-range interactions [See our paper for long-range cases]</a:t>
                  </a:r>
                  <a:endParaRPr kumimoji="1" lang="ja-JP" altLang="en-US" sz="16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3" name="テキスト ボックス 32">
                  <a:extLst>
                    <a:ext uri="{FF2B5EF4-FFF2-40B4-BE49-F238E27FC236}">
                      <a16:creationId xmlns:a16="http://schemas.microsoft.com/office/drawing/2014/main" id="{05B7A001-1DEA-7333-E580-D880003200C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81539" y="4251919"/>
                  <a:ext cx="6439641" cy="338554"/>
                </a:xfrm>
                <a:prstGeom prst="rect">
                  <a:avLst/>
                </a:prstGeom>
                <a:blipFill>
                  <a:blip r:embed="rId16"/>
                  <a:stretch>
                    <a:fillRect t="-3571" b="-21429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FD6F667B-FBC6-528F-498F-038F93844A37}"/>
                </a:ext>
              </a:extLst>
            </p:cNvPr>
            <p:cNvSpPr txBox="1"/>
            <p:nvPr/>
          </p:nvSpPr>
          <p:spPr>
            <a:xfrm>
              <a:off x="5374606" y="3705412"/>
              <a:ext cx="226712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: Energy scale per site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CB6BBCA2-F922-F631-9520-8752C00278C3}"/>
              </a:ext>
            </a:extLst>
          </p:cNvPr>
          <p:cNvGrpSpPr/>
          <p:nvPr/>
        </p:nvGrpSpPr>
        <p:grpSpPr>
          <a:xfrm>
            <a:off x="368808" y="5842814"/>
            <a:ext cx="7119191" cy="369332"/>
            <a:chOff x="368808" y="5842814"/>
            <a:chExt cx="7119191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1E662E48-1F94-2815-2E6F-26784289C81B}"/>
                    </a:ext>
                  </a:extLst>
                </p:cNvPr>
                <p:cNvSpPr txBox="1"/>
                <p:nvPr/>
              </p:nvSpPr>
              <p:spPr>
                <a:xfrm>
                  <a:off x="368808" y="5842814"/>
                  <a:ext cx="3871498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u="sng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・</a:t>
                  </a:r>
                  <a:r>
                    <a:rPr kumimoji="1" lang="en-US" altLang="ja-JP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Positive </a:t>
                  </a:r>
                  <a:r>
                    <a:rPr kumimoji="1" lang="en-US" altLang="ja-JP" u="sng" dirty="0" err="1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semidefiniteness</a:t>
                  </a:r>
                  <a:r>
                    <a:rPr kumimoji="1" lang="en-US" altLang="ja-JP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≥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0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: 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7" name="テキスト ボックス 46">
                  <a:extLst>
                    <a:ext uri="{FF2B5EF4-FFF2-40B4-BE49-F238E27FC236}">
                      <a16:creationId xmlns:a16="http://schemas.microsoft.com/office/drawing/2014/main" id="{1E662E48-1F94-2815-2E6F-26784289C81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8808" y="5842814"/>
                  <a:ext cx="3871498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1634" t="-9677" b="-2258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C72EEB87-7EB1-7678-AD0C-FD466690DF2A}"/>
                    </a:ext>
                  </a:extLst>
                </p:cNvPr>
                <p:cNvSpPr txBox="1"/>
                <p:nvPr/>
              </p:nvSpPr>
              <p:spPr>
                <a:xfrm>
                  <a:off x="3981280" y="5887077"/>
                  <a:ext cx="3506719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14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Always satisfied by shifting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kumimoji="1" lang="en-US" altLang="ja-JP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→</m:t>
                      </m:r>
                      <m:sSub>
                        <m:sSubPr>
                          <m:ctrlPr>
                            <a:rPr kumimoji="1" lang="en-US" altLang="ja-JP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h</m:t>
                          </m:r>
                        </m:e>
                        <m:sub>
                          <m: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𝑋</m:t>
                          </m:r>
                        </m:sub>
                      </m:sSub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+|</m:t>
                      </m:r>
                      <m:d>
                        <m:dPr>
                          <m:begChr m:val="|"/>
                          <m:endChr m:val="|"/>
                          <m:ctrlPr>
                            <a:rPr kumimoji="1" lang="en-US" altLang="ja-JP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𝑋</m:t>
                              </m:r>
                            </m:sub>
                          </m:sSub>
                        </m:e>
                      </m:d>
                      <m:r>
                        <a:rPr kumimoji="1" lang="en-US" altLang="ja-JP" sz="1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|</m:t>
                      </m:r>
                    </m:oMath>
                  </a14:m>
                  <a:endParaRPr kumimoji="1" lang="ja-JP" altLang="en-US" sz="14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8" name="テキスト ボックス 47">
                  <a:extLst>
                    <a:ext uri="{FF2B5EF4-FFF2-40B4-BE49-F238E27FC236}">
                      <a16:creationId xmlns:a16="http://schemas.microsoft.com/office/drawing/2014/main" id="{C72EEB87-7EB1-7678-AD0C-FD466690DF2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1280" y="5887077"/>
                  <a:ext cx="3506719" cy="307777"/>
                </a:xfrm>
                <a:prstGeom prst="rect">
                  <a:avLst/>
                </a:prstGeom>
                <a:blipFill>
                  <a:blip r:embed="rId18"/>
                  <a:stretch>
                    <a:fillRect l="-361" t="-4000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4" name="グループ化 13">
            <a:extLst>
              <a:ext uri="{FF2B5EF4-FFF2-40B4-BE49-F238E27FC236}">
                <a16:creationId xmlns:a16="http://schemas.microsoft.com/office/drawing/2014/main" id="{09D67049-85A8-868B-FE8A-C5373E7FB414}"/>
              </a:ext>
            </a:extLst>
          </p:cNvPr>
          <p:cNvGrpSpPr/>
          <p:nvPr/>
        </p:nvGrpSpPr>
        <p:grpSpPr>
          <a:xfrm>
            <a:off x="847918" y="4641705"/>
            <a:ext cx="6243547" cy="438794"/>
            <a:chOff x="847918" y="4641705"/>
            <a:chExt cx="6243547" cy="438794"/>
          </a:xfrm>
        </p:grpSpPr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723FD2D-56F1-CF6C-966F-65855071A1C7}"/>
                </a:ext>
              </a:extLst>
            </p:cNvPr>
            <p:cNvSpPr txBox="1"/>
            <p:nvPr/>
          </p:nvSpPr>
          <p:spPr>
            <a:xfrm>
              <a:off x="847918" y="4684010"/>
              <a:ext cx="511513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Example) N. N. interactions                                </a:t>
              </a:r>
              <a:r>
                <a:rPr kumimoji="1" lang="ja-JP" altLang="en-US" sz="1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   </a:t>
              </a:r>
              <a:endParaRPr kumimoji="1" lang="ja-JP" altLang="en-US" sz="1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2" name="Picture 2" descr="\begin{align*}&#10;  H = \sum_{i=1}^N h_{i,i+1}&#10;\end{align*}">
              <a:extLst>
                <a:ext uri="{FF2B5EF4-FFF2-40B4-BE49-F238E27FC236}">
                  <a16:creationId xmlns:a16="http://schemas.microsoft.com/office/drawing/2014/main" id="{1E77B1AA-092B-F521-44E4-3330213233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83040" y="4641705"/>
              <a:ext cx="924791" cy="43879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" name="Picture 2" descr="\begin{align*}&#10;  g = \max_i \left(\|h_{i-1,i} \| + \| h_{i,i+1} \| \right)&#10;\end{align*}">
              <a:extLst>
                <a:ext uri="{FF2B5EF4-FFF2-40B4-BE49-F238E27FC236}">
                  <a16:creationId xmlns:a16="http://schemas.microsoft.com/office/drawing/2014/main" id="{46B1AF36-7A65-5230-515F-1F5CEFC4379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24743" y="4747955"/>
              <a:ext cx="2266722" cy="2491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259268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5164F-6EC5-8893-9310-67D008CFA5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120F6A7-A7CA-5473-4FCA-4AA8770474C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II-2.  Our results: Definition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68E4B6A-401F-D8DC-ADCF-8AC80D4E9987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14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468E4B6A-401F-D8DC-ADCF-8AC80D4E99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正方形/長方形 30">
            <a:extLst>
              <a:ext uri="{FF2B5EF4-FFF2-40B4-BE49-F238E27FC236}">
                <a16:creationId xmlns:a16="http://schemas.microsoft.com/office/drawing/2014/main" id="{7039E15D-BA71-854F-B708-8028F0B72041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正方形/長方形 13">
            <a:extLst>
              <a:ext uri="{FF2B5EF4-FFF2-40B4-BE49-F238E27FC236}">
                <a16:creationId xmlns:a16="http://schemas.microsoft.com/office/drawing/2014/main" id="{A2D856DE-ECF1-C304-6386-993A203444F3}"/>
              </a:ext>
            </a:extLst>
          </p:cNvPr>
          <p:cNvSpPr/>
          <p:nvPr/>
        </p:nvSpPr>
        <p:spPr>
          <a:xfrm>
            <a:off x="5340915" y="2061123"/>
            <a:ext cx="832054" cy="18339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421A150-16CC-1A5A-41B8-DE8F32C48BCD}"/>
                  </a:ext>
                </a:extLst>
              </p:cNvPr>
              <p:cNvSpPr txBox="1"/>
              <p:nvPr/>
            </p:nvSpPr>
            <p:spPr>
              <a:xfrm>
                <a:off x="2460107" y="1307418"/>
                <a:ext cx="421252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States </a:t>
                </a:r>
                <a:r>
                  <a:rPr kumimoji="1" lang="en-US" altLang="ja-JP" u="sng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closed in</a:t>
                </a:r>
                <a:r>
                  <a:rPr kumimoji="1" lang="en-US" altLang="ja-JP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the subspace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𝐸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kumimoji="1" lang="en-US" altLang="ja-JP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kumimoji="1" lang="el-GR" altLang="ja-JP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endParaRPr kumimoji="1" lang="ja-JP" altLang="en-US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2421A150-16CC-1A5A-41B8-DE8F32C48B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107" y="1307418"/>
                <a:ext cx="4212520" cy="369332"/>
              </a:xfrm>
              <a:prstGeom prst="rect">
                <a:avLst/>
              </a:prstGeom>
              <a:blipFill>
                <a:blip r:embed="rId4"/>
                <a:stretch>
                  <a:fillRect l="-1201" t="-6667" b="-2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正方形/長方形 12">
            <a:extLst>
              <a:ext uri="{FF2B5EF4-FFF2-40B4-BE49-F238E27FC236}">
                <a16:creationId xmlns:a16="http://schemas.microsoft.com/office/drawing/2014/main" id="{10B4BD69-4A74-41A2-7925-FD4466DD819F}"/>
              </a:ext>
            </a:extLst>
          </p:cNvPr>
          <p:cNvSpPr/>
          <p:nvPr/>
        </p:nvSpPr>
        <p:spPr>
          <a:xfrm>
            <a:off x="3115875" y="2346905"/>
            <a:ext cx="786351" cy="16054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32" name="Picture 8" descr="\begin{align*}&#10;  \ket{\psi_{\leq \Delta}} = \sum_{n; E_n \leq \Delta} c_n \ket{E_n}, \quad 0 \leq \Delta \ll Ng&#10;\end{align*}">
            <a:extLst>
              <a:ext uri="{FF2B5EF4-FFF2-40B4-BE49-F238E27FC236}">
                <a16:creationId xmlns:a16="http://schemas.microsoft.com/office/drawing/2014/main" id="{3F77C8EE-DCC4-0678-957C-4D0FE21E38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2042" y="1904510"/>
            <a:ext cx="3870927" cy="5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A56F9B9-D83D-9EC7-6BB6-D275EA960B5B}"/>
              </a:ext>
            </a:extLst>
          </p:cNvPr>
          <p:cNvSpPr txBox="1"/>
          <p:nvPr/>
        </p:nvSpPr>
        <p:spPr>
          <a:xfrm>
            <a:off x="298629" y="1292029"/>
            <a:ext cx="206498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Low-energy states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6" name="図 35">
            <a:extLst>
              <a:ext uri="{FF2B5EF4-FFF2-40B4-BE49-F238E27FC236}">
                <a16:creationId xmlns:a16="http://schemas.microsoft.com/office/drawing/2014/main" id="{87FCE087-3161-77FF-C72B-9182279E26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82694" y="1307418"/>
            <a:ext cx="1462677" cy="2138703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4D0B446-06EB-55E3-629F-A014A6B62220}"/>
              </a:ext>
            </a:extLst>
          </p:cNvPr>
          <p:cNvSpPr txBox="1"/>
          <p:nvPr/>
        </p:nvSpPr>
        <p:spPr>
          <a:xfrm>
            <a:off x="794887" y="2891256"/>
            <a:ext cx="638408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Good approximation for low-temperature states / inputs of QPE, etc.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9BAE8DE2-BCD7-FD42-050D-EC2312E17B92}"/>
              </a:ext>
            </a:extLst>
          </p:cNvPr>
          <p:cNvGrpSpPr/>
          <p:nvPr/>
        </p:nvGrpSpPr>
        <p:grpSpPr>
          <a:xfrm>
            <a:off x="366212" y="5292392"/>
            <a:ext cx="8221975" cy="1027726"/>
            <a:chOff x="366212" y="5292392"/>
            <a:chExt cx="8221975" cy="1027726"/>
          </a:xfrm>
        </p:grpSpPr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7BE552C0-2AEA-79F7-143B-083328C8F7E7}"/>
                </a:ext>
              </a:extLst>
            </p:cNvPr>
            <p:cNvSpPr/>
            <p:nvPr/>
          </p:nvSpPr>
          <p:spPr>
            <a:xfrm>
              <a:off x="366212" y="5510066"/>
              <a:ext cx="8221975" cy="810052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99960140-A48E-253B-D675-009DA5905733}"/>
                </a:ext>
              </a:extLst>
            </p:cNvPr>
            <p:cNvSpPr txBox="1"/>
            <p:nvPr/>
          </p:nvSpPr>
          <p:spPr>
            <a:xfrm>
              <a:off x="450919" y="5292392"/>
              <a:ext cx="20091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Nontrivial question</a:t>
              </a:r>
              <a:endParaRPr kumimoji="1" lang="ja-JP" altLang="en-US" sz="16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768CF19-1DD0-61A6-45D4-E0EBAECE31BE}"/>
                </a:ext>
              </a:extLst>
            </p:cNvPr>
            <p:cNvSpPr txBox="1"/>
            <p:nvPr/>
          </p:nvSpPr>
          <p:spPr>
            <a:xfrm>
              <a:off x="555813" y="5610083"/>
              <a:ext cx="351867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Can we find a </a:t>
              </a:r>
              <a:r>
                <a:rPr kumimoji="1" lang="en-US" altLang="ja-JP" sz="16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universal </a:t>
              </a:r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upper bound on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9" name="Picture 4" descr="\begin{align*}&#10;  \| (e^{-iH\tau} -  T_p(\tau)) \Pi_{\leq \Delta} \| = \max_{\ket{\psi_{\leq \Delta}}} \left( \| (e^{-iH\tau} -  T_p(\tau) ) \ket{\psi_{\leq \Delta}} \|\right)&#10;\end{align*}">
              <a:extLst>
                <a:ext uri="{FF2B5EF4-FFF2-40B4-BE49-F238E27FC236}">
                  <a16:creationId xmlns:a16="http://schemas.microsoft.com/office/drawing/2014/main" id="{E6CC171D-3B59-43E2-9471-DA4BC722C77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t="-1" r="60662" b="-20297"/>
            <a:stretch>
              <a:fillRect/>
            </a:stretch>
          </p:blipFill>
          <p:spPr bwMode="auto">
            <a:xfrm>
              <a:off x="4040593" y="5645967"/>
              <a:ext cx="1863167" cy="40655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1F452F75-E9AE-620A-78E8-9745F1B82687}"/>
                </a:ext>
              </a:extLst>
            </p:cNvPr>
            <p:cNvSpPr txBox="1"/>
            <p:nvPr/>
          </p:nvSpPr>
          <p:spPr>
            <a:xfrm>
              <a:off x="4040593" y="5954747"/>
              <a:ext cx="454759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better than the worst-case error </a:t>
              </a:r>
              <a:r>
                <a:rPr kumimoji="1" lang="en-US" altLang="ja-JP" sz="16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in the scaling level </a:t>
              </a:r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?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7" name="グループ化 6">
            <a:extLst>
              <a:ext uri="{FF2B5EF4-FFF2-40B4-BE49-F238E27FC236}">
                <a16:creationId xmlns:a16="http://schemas.microsoft.com/office/drawing/2014/main" id="{CB1AE256-DA01-3B9D-525E-005865498A47}"/>
              </a:ext>
            </a:extLst>
          </p:cNvPr>
          <p:cNvGrpSpPr/>
          <p:nvPr/>
        </p:nvGrpSpPr>
        <p:grpSpPr>
          <a:xfrm>
            <a:off x="450919" y="3416962"/>
            <a:ext cx="8103536" cy="1821640"/>
            <a:chOff x="450919" y="3416962"/>
            <a:chExt cx="8103536" cy="1821640"/>
          </a:xfrm>
        </p:grpSpPr>
        <p:sp>
          <p:nvSpPr>
            <p:cNvPr id="38" name="正方形/長方形 37">
              <a:extLst>
                <a:ext uri="{FF2B5EF4-FFF2-40B4-BE49-F238E27FC236}">
                  <a16:creationId xmlns:a16="http://schemas.microsoft.com/office/drawing/2014/main" id="{72FB4E02-37E5-52D3-97C9-0D2DDB09B892}"/>
                </a:ext>
              </a:extLst>
            </p:cNvPr>
            <p:cNvSpPr/>
            <p:nvPr/>
          </p:nvSpPr>
          <p:spPr>
            <a:xfrm>
              <a:off x="5150562" y="4276655"/>
              <a:ext cx="546856" cy="1870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正方形/長方形 36">
              <a:extLst>
                <a:ext uri="{FF2B5EF4-FFF2-40B4-BE49-F238E27FC236}">
                  <a16:creationId xmlns:a16="http://schemas.microsoft.com/office/drawing/2014/main" id="{2DA50C5E-819B-F1F4-3EA6-06765BD4679D}"/>
                </a:ext>
              </a:extLst>
            </p:cNvPr>
            <p:cNvSpPr/>
            <p:nvPr/>
          </p:nvSpPr>
          <p:spPr>
            <a:xfrm>
              <a:off x="2909291" y="4415375"/>
              <a:ext cx="546856" cy="18709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4" name="テキスト ボックス 33">
              <a:extLst>
                <a:ext uri="{FF2B5EF4-FFF2-40B4-BE49-F238E27FC236}">
                  <a16:creationId xmlns:a16="http://schemas.microsoft.com/office/drawing/2014/main" id="{D0AECB66-5C3C-A871-44A9-30DE74A435DF}"/>
                </a:ext>
              </a:extLst>
            </p:cNvPr>
            <p:cNvSpPr txBox="1"/>
            <p:nvPr/>
          </p:nvSpPr>
          <p:spPr>
            <a:xfrm>
              <a:off x="450919" y="3416962"/>
              <a:ext cx="370827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Error for low-energy initial states</a:t>
              </a:r>
              <a:endParaRPr kumimoji="1" lang="ja-JP" altLang="en-US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5" name="Picture 4" descr="\begin{align*}&#10;  \| (e^{-iH\tau} -  T_p(\tau)) \Pi_{\leq \Delta} \| = \max_{\ket{\psi_{\leq \Delta}}} \left( \| (e^{-iH\tau} -  T_p(\tau) ) \ket{\psi_{\leq \Delta}} \|\right)&#10;\end{align*}">
              <a:extLst>
                <a:ext uri="{FF2B5EF4-FFF2-40B4-BE49-F238E27FC236}">
                  <a16:creationId xmlns:a16="http://schemas.microsoft.com/office/drawing/2014/main" id="{5E0AFE66-45AD-627A-312A-0B28BCAE7CC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" t="-1" r="-1809" b="-30809"/>
            <a:stretch/>
          </p:blipFill>
          <p:spPr bwMode="auto">
            <a:xfrm>
              <a:off x="589545" y="4122445"/>
              <a:ext cx="5425843" cy="4974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813C6EF7-A988-2A9D-5B8C-3E3E9D8D12E0}"/>
                </a:ext>
              </a:extLst>
            </p:cNvPr>
            <p:cNvSpPr txBox="1"/>
            <p:nvPr/>
          </p:nvSpPr>
          <p:spPr>
            <a:xfrm>
              <a:off x="794888" y="4851651"/>
              <a:ext cx="638408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It is trivial that this error becomes smaller than the worst-case error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5" name="Picture 2" descr="\begin{align*}&#10;  \| e^{-iH\tau} -  T_p(\tau) \| = \max_{\ket{\psi} \in \mathcal{H}} \left( \| (e^{-iH\tau} -  T_p(\tau) ) \ket{\psi}\right)&#10;\end{align*}">
              <a:extLst>
                <a:ext uri="{FF2B5EF4-FFF2-40B4-BE49-F238E27FC236}">
                  <a16:creationId xmlns:a16="http://schemas.microsoft.com/office/drawing/2014/main" id="{5E793A22-A043-1340-EDCE-D46B77E81B58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65100" b="7640"/>
            <a:stretch/>
          </p:blipFill>
          <p:spPr bwMode="auto">
            <a:xfrm>
              <a:off x="6936627" y="4908639"/>
              <a:ext cx="1462677" cy="32996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 descr="\begin{align*}&#10;  \Pi_{\leq \Delta} = \sum_{E_n \leq \Delta} \ket{E_n}\bra{E_n}&#10;\end{align*}">
              <a:extLst>
                <a:ext uri="{FF2B5EF4-FFF2-40B4-BE49-F238E27FC236}">
                  <a16:creationId xmlns:a16="http://schemas.microsoft.com/office/drawing/2014/main" id="{8CE9B853-1B6D-0600-4B8B-8346768AE3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1128" y="4106958"/>
              <a:ext cx="2043327" cy="4732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55089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ABDE20-B185-CCF5-4643-37D7EBD66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正方形/長方形 16">
            <a:extLst>
              <a:ext uri="{FF2B5EF4-FFF2-40B4-BE49-F238E27FC236}">
                <a16:creationId xmlns:a16="http://schemas.microsoft.com/office/drawing/2014/main" id="{82D52A19-7D2F-DF61-EC7C-9E817AFE72D1}"/>
              </a:ext>
            </a:extLst>
          </p:cNvPr>
          <p:cNvSpPr/>
          <p:nvPr/>
        </p:nvSpPr>
        <p:spPr>
          <a:xfrm>
            <a:off x="7515036" y="2204548"/>
            <a:ext cx="356235" cy="143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A3C2242D-53D3-E861-EEDE-2B52B9E1D706}"/>
              </a:ext>
            </a:extLst>
          </p:cNvPr>
          <p:cNvSpPr/>
          <p:nvPr/>
        </p:nvSpPr>
        <p:spPr>
          <a:xfrm>
            <a:off x="5063114" y="2396351"/>
            <a:ext cx="356235" cy="143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F74A5C9-8A0F-D194-17E1-DFC48C749558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II-3.  Known results for low-energy states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854457D5-A4B8-091A-1C25-AA7F7705440E}"/>
                  </a:ext>
                </a:extLst>
              </p:cNvPr>
              <p:cNvSpPr txBox="1"/>
              <p:nvPr/>
            </p:nvSpPr>
            <p:spPr>
              <a:xfrm>
                <a:off x="8769479" y="71445"/>
                <a:ext cx="3141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</m:t>
                      </m:r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5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854457D5-A4B8-091A-1C25-AA7F7705440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479" y="71445"/>
                <a:ext cx="314189" cy="276999"/>
              </a:xfrm>
              <a:prstGeom prst="rect">
                <a:avLst/>
              </a:prstGeom>
              <a:blipFill>
                <a:blip r:embed="rId6"/>
                <a:stretch>
                  <a:fillRect l="-15385" r="-15385" b="-86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70192EA9-EFAD-82AE-DFE3-CD09B4231565}"/>
              </a:ext>
            </a:extLst>
          </p:cNvPr>
          <p:cNvSpPr txBox="1"/>
          <p:nvPr/>
        </p:nvSpPr>
        <p:spPr>
          <a:xfrm>
            <a:off x="123533" y="1199350"/>
            <a:ext cx="3114955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Progress from 2021 to 2024: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AA812BDD-16EF-0417-23EE-4752283ADB07}"/>
              </a:ext>
            </a:extLst>
          </p:cNvPr>
          <p:cNvSpPr txBox="1"/>
          <p:nvPr/>
        </p:nvSpPr>
        <p:spPr>
          <a:xfrm>
            <a:off x="239966" y="2141849"/>
            <a:ext cx="232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arbitrary initial state</a:t>
            </a:r>
            <a:endParaRPr kumimoji="1" lang="ja-JP" altLang="en-US" sz="1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4098" name="Picture 2" descr="\begin{align*}&#10;  gt \left( \frac{Ngt}{\varepsilon}\right)^{\frac1p}&#10;\end{align*}">
            <a:extLst>
              <a:ext uri="{FF2B5EF4-FFF2-40B4-BE49-F238E27FC236}">
                <a16:creationId xmlns:a16="http://schemas.microsoft.com/office/drawing/2014/main" id="{42C30939-F03F-05B5-A2C9-8D18F25C3F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46290" y="2056571"/>
            <a:ext cx="1040638" cy="56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4340EEE7-3CDB-259D-D4A8-A0ECEF094AF8}"/>
              </a:ext>
            </a:extLst>
          </p:cNvPr>
          <p:cNvCxnSpPr>
            <a:cxnSpLocks/>
          </p:cNvCxnSpPr>
          <p:nvPr/>
        </p:nvCxnSpPr>
        <p:spPr>
          <a:xfrm>
            <a:off x="3104880" y="2051212"/>
            <a:ext cx="0" cy="2285657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C455921B-E808-D4EE-6821-7B9E0A22DA34}"/>
              </a:ext>
            </a:extLst>
          </p:cNvPr>
          <p:cNvSpPr txBox="1"/>
          <p:nvPr/>
        </p:nvSpPr>
        <p:spPr>
          <a:xfrm>
            <a:off x="239966" y="2413869"/>
            <a:ext cx="26007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PRX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707130D3-76B1-DE1D-D0BF-011765986E74}"/>
              </a:ext>
            </a:extLst>
          </p:cNvPr>
          <p:cNvSpPr txBox="1"/>
          <p:nvPr/>
        </p:nvSpPr>
        <p:spPr>
          <a:xfrm>
            <a:off x="5620967" y="2180976"/>
            <a:ext cx="132370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Energy of </a:t>
            </a:r>
          </a:p>
          <a:p>
            <a:pPr algn="ctr"/>
            <a:r>
              <a:rPr kumimoji="1" lang="en-US" altLang="ja-JP" sz="110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whole system</a:t>
            </a:r>
            <a:endParaRPr kumimoji="1" lang="ja-JP" altLang="en-US" sz="110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457BC23-1E0D-3E8C-1F5E-260B07CEB834}"/>
                  </a:ext>
                </a:extLst>
              </p:cNvPr>
              <p:cNvSpPr txBox="1"/>
              <p:nvPr/>
            </p:nvSpPr>
            <p:spPr>
              <a:xfrm>
                <a:off x="3187102" y="1250707"/>
                <a:ext cx="232645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1400" b="0" i="1" dirty="0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𝑝</m:t>
                    </m:r>
                    <m:r>
                      <a:rPr kumimoji="1" lang="en-US" altLang="ja-JP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∈</m:t>
                    </m:r>
                    <m:r>
                      <a:rPr kumimoji="1" lang="en-US" altLang="ja-JP" sz="14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ℕ</m:t>
                    </m:r>
                  </m:oMath>
                </a14:m>
                <a:r>
                  <a:rPr kumimoji="1" lang="en-US" altLang="ja-JP" sz="1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: Trotter order</a:t>
                </a:r>
                <a:endParaRPr kumimoji="1" lang="ja-JP" altLang="en-US" sz="1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7" name="テキスト ボックス 36">
                <a:extLst>
                  <a:ext uri="{FF2B5EF4-FFF2-40B4-BE49-F238E27FC236}">
                    <a16:creationId xmlns:a16="http://schemas.microsoft.com/office/drawing/2014/main" id="{8457BC23-1E0D-3E8C-1F5E-260B07CEB8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102" y="1250707"/>
                <a:ext cx="2326450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5B57464-29CC-8968-F993-2D3E71DA6E64}"/>
                  </a:ext>
                </a:extLst>
              </p:cNvPr>
              <p:cNvSpPr txBox="1"/>
              <p:nvPr/>
            </p:nvSpPr>
            <p:spPr>
              <a:xfrm>
                <a:off x="3309067" y="1615413"/>
                <a:ext cx="2953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Error bound for small time </a:t>
                </a:r>
                <a14:m>
                  <m:oMath xmlns:m="http://schemas.openxmlformats.org/officeDocument/2006/math"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kumimoji="1" lang="ja-JP" altLang="en-US" sz="1400" b="1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C5B57464-29CC-8968-F993-2D3E71DA6E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9067" y="1615413"/>
                <a:ext cx="2953168" cy="307777"/>
              </a:xfrm>
              <a:prstGeom prst="rect">
                <a:avLst/>
              </a:prstGeom>
              <a:blipFill>
                <a:blip r:embed="rId11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8EE8666-1209-2153-B432-C6B7A5C97D5D}"/>
                  </a:ext>
                </a:extLst>
              </p:cNvPr>
              <p:cNvSpPr txBox="1"/>
              <p:nvPr/>
            </p:nvSpPr>
            <p:spPr>
              <a:xfrm>
                <a:off x="6454321" y="1396385"/>
                <a:ext cx="23264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 number </a:t>
                </a:r>
                <a14:m>
                  <m:oMath xmlns:m="http://schemas.openxmlformats.org/officeDocument/2006/math"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(complexity)</a:t>
                </a:r>
                <a:endParaRPr kumimoji="1" lang="ja-JP" altLang="en-US" sz="1400" b="1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58EE8666-1209-2153-B432-C6B7A5C97D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321" y="1396385"/>
                <a:ext cx="2326450" cy="523220"/>
              </a:xfrm>
              <a:prstGeom prst="rect">
                <a:avLst/>
              </a:prstGeom>
              <a:blipFill>
                <a:blip r:embed="rId12"/>
                <a:stretch>
                  <a:fillRect t="-2326" b="-930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EB28CEC4-57C9-64A0-6C09-E13F65EABA7D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7170" name="Picture 2" descr="\begin{align*}&#10;  \leq \mathcal{O} \left( (g\tau)^p Ng \tau \right)&#10;\end{align*}">
            <a:extLst>
              <a:ext uri="{FF2B5EF4-FFF2-40B4-BE49-F238E27FC236}">
                <a16:creationId xmlns:a16="http://schemas.microsoft.com/office/drawing/2014/main" id="{5CECC9BB-1F70-7B60-042A-D861A8E3CF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2400" y="2273123"/>
            <a:ext cx="1512841" cy="215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0" name="グループ化 39">
            <a:extLst>
              <a:ext uri="{FF2B5EF4-FFF2-40B4-BE49-F238E27FC236}">
                <a16:creationId xmlns:a16="http://schemas.microsoft.com/office/drawing/2014/main" id="{0D2B0146-FFBF-9987-B355-6949251D4F40}"/>
              </a:ext>
            </a:extLst>
          </p:cNvPr>
          <p:cNvGrpSpPr/>
          <p:nvPr/>
        </p:nvGrpSpPr>
        <p:grpSpPr>
          <a:xfrm>
            <a:off x="200452" y="4419289"/>
            <a:ext cx="8743095" cy="1908874"/>
            <a:chOff x="200452" y="4419289"/>
            <a:chExt cx="8743095" cy="19088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D9446F9E-6C14-93A6-4CC5-758A26704F3C}"/>
                    </a:ext>
                  </a:extLst>
                </p:cNvPr>
                <p:cNvSpPr txBox="1"/>
                <p:nvPr/>
              </p:nvSpPr>
              <p:spPr>
                <a:xfrm>
                  <a:off x="282171" y="4996618"/>
                  <a:ext cx="12971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[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ja-JP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r>
                    <a:rPr kumimoji="1" lang="en-US" altLang="ja-JP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-scaling]</a:t>
                  </a:r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D9446F9E-6C14-93A6-4CC5-758A26704F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71" y="4996618"/>
                  <a:ext cx="1297182" cy="369332"/>
                </a:xfrm>
                <a:prstGeom prst="rect">
                  <a:avLst/>
                </a:prstGeom>
                <a:blipFill>
                  <a:blip r:embed="rId14"/>
                  <a:stretch>
                    <a:fillRect l="-3883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2" name="テキスト ボックス 51">
              <a:extLst>
                <a:ext uri="{FF2B5EF4-FFF2-40B4-BE49-F238E27FC236}">
                  <a16:creationId xmlns:a16="http://schemas.microsoft.com/office/drawing/2014/main" id="{81638543-C90C-AA62-95B8-24B4CF5665C4}"/>
                </a:ext>
              </a:extLst>
            </p:cNvPr>
            <p:cNvSpPr txBox="1"/>
            <p:nvPr/>
          </p:nvSpPr>
          <p:spPr>
            <a:xfrm>
              <a:off x="200452" y="4419289"/>
              <a:ext cx="6183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Known results in comparison with the arbitrary-state case</a:t>
              </a:r>
              <a:endParaRPr kumimoji="1" lang="ja-JP" altLang="en-US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55" name="テキスト ボックス 54">
              <a:extLst>
                <a:ext uri="{FF2B5EF4-FFF2-40B4-BE49-F238E27FC236}">
                  <a16:creationId xmlns:a16="http://schemas.microsoft.com/office/drawing/2014/main" id="{6BC9012E-1AF3-CF64-8A75-2A63BFE75CED}"/>
                </a:ext>
              </a:extLst>
            </p:cNvPr>
            <p:cNvSpPr txBox="1"/>
            <p:nvPr/>
          </p:nvSpPr>
          <p:spPr>
            <a:xfrm>
              <a:off x="1525738" y="4829953"/>
              <a:ext cx="43240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Better scaling in the extremely low-energy regime</a:t>
              </a:r>
            </a:p>
          </p:txBody>
        </p:sp>
        <p:pic>
          <p:nvPicPr>
            <p:cNvPr id="7178" name="Picture 10" descr="\begin{align*}&#10;  \Delta \lesssim N^{\frac1{p+1}} g&#10;\end{align*}">
              <a:extLst>
                <a:ext uri="{FF2B5EF4-FFF2-40B4-BE49-F238E27FC236}">
                  <a16:creationId xmlns:a16="http://schemas.microsoft.com/office/drawing/2014/main" id="{3F900D28-1980-F3CF-F398-6ACF35E44C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47577" y="4864214"/>
              <a:ext cx="1001458" cy="2575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80" name="Picture 12" descr="\begin{align*}&#10;  N^{\frac1{p+1}} g \lesssim \Delta \in o(Ng)&#10;\end{align*}">
              <a:extLst>
                <a:ext uri="{FF2B5EF4-FFF2-40B4-BE49-F238E27FC236}">
                  <a16:creationId xmlns:a16="http://schemas.microsoft.com/office/drawing/2014/main" id="{4A3FBE8A-7F22-4437-1B50-A48F871C3C2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32359" y="5284558"/>
              <a:ext cx="1732503" cy="25353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A6B51101-9AB3-0984-8E9A-BD1B225D7E88}"/>
                    </a:ext>
                  </a:extLst>
                </p:cNvPr>
                <p:cNvSpPr txBox="1"/>
                <p:nvPr/>
              </p:nvSpPr>
              <p:spPr>
                <a:xfrm>
                  <a:off x="282171" y="5795093"/>
                  <a:ext cx="129718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[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kumimoji="1" lang="en-US" altLang="ja-JP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-scaling]</a:t>
                  </a:r>
                </a:p>
              </p:txBody>
            </p:sp>
          </mc:Choice>
          <mc:Fallback xmlns="">
            <p:sp>
              <p:nvSpPr>
                <p:cNvPr id="15" name="テキスト ボックス 14">
                  <a:extLst>
                    <a:ext uri="{FF2B5EF4-FFF2-40B4-BE49-F238E27FC236}">
                      <a16:creationId xmlns:a16="http://schemas.microsoft.com/office/drawing/2014/main" id="{A6B51101-9AB3-0984-8E9A-BD1B225D7E8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171" y="5795093"/>
                  <a:ext cx="1297182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3883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E4F305D4-E060-6C19-931A-E9C40C00D492}"/>
                </a:ext>
              </a:extLst>
            </p:cNvPr>
            <p:cNvSpPr txBox="1"/>
            <p:nvPr/>
          </p:nvSpPr>
          <p:spPr>
            <a:xfrm>
              <a:off x="1523510" y="5242587"/>
              <a:ext cx="43240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Worse scaling in the rest of the low-energy regime</a:t>
              </a:r>
            </a:p>
          </p:txBody>
        </p:sp>
        <p:grpSp>
          <p:nvGrpSpPr>
            <p:cNvPr id="4" name="グループ化 3">
              <a:extLst>
                <a:ext uri="{FF2B5EF4-FFF2-40B4-BE49-F238E27FC236}">
                  <a16:creationId xmlns:a16="http://schemas.microsoft.com/office/drawing/2014/main" id="{22E48631-6730-1DA0-1141-5EBECA47B2E1}"/>
                </a:ext>
              </a:extLst>
            </p:cNvPr>
            <p:cNvGrpSpPr/>
            <p:nvPr/>
          </p:nvGrpSpPr>
          <p:grpSpPr>
            <a:xfrm>
              <a:off x="7736991" y="4595067"/>
              <a:ext cx="1206556" cy="1733096"/>
              <a:chOff x="7736991" y="4595067"/>
              <a:chExt cx="1206556" cy="1733096"/>
            </a:xfrm>
          </p:grpSpPr>
          <p:pic>
            <p:nvPicPr>
              <p:cNvPr id="33" name="図 32">
                <a:extLst>
                  <a:ext uri="{FF2B5EF4-FFF2-40B4-BE49-F238E27FC236}">
                    <a16:creationId xmlns:a16="http://schemas.microsoft.com/office/drawing/2014/main" id="{C1D627D8-E542-42B3-F0D6-C9CDFB3B4D9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7758268" y="4595067"/>
                <a:ext cx="1185279" cy="1733096"/>
              </a:xfrm>
              <a:prstGeom prst="rect">
                <a:avLst/>
              </a:prstGeom>
            </p:spPr>
          </p:pic>
          <p:pic>
            <p:nvPicPr>
              <p:cNvPr id="36" name="Picture 10" descr="\begin{align*}&#10;  \Delta \lesssim N^{\frac1{p+1}} g&#10;\end{align*}">
                <a:extLst>
                  <a:ext uri="{FF2B5EF4-FFF2-40B4-BE49-F238E27FC236}">
                    <a16:creationId xmlns:a16="http://schemas.microsoft.com/office/drawing/2014/main" id="{384E41E7-4DA2-EE67-541B-E8B994394C5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769" b="1546"/>
              <a:stretch>
                <a:fillRect/>
              </a:stretch>
            </p:blipFill>
            <p:spPr bwMode="auto">
              <a:xfrm>
                <a:off x="7736991" y="5461616"/>
                <a:ext cx="278753" cy="1152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E537FD23-278F-13E1-C900-3CC9A127865F}"/>
                </a:ext>
              </a:extLst>
            </p:cNvPr>
            <p:cNvSpPr txBox="1"/>
            <p:nvPr/>
          </p:nvSpPr>
          <p:spPr>
            <a:xfrm>
              <a:off x="1534613" y="5797867"/>
              <a:ext cx="586449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Polynomially large &amp; Worse than </a:t>
              </a:r>
              <a:r>
                <a:rPr kumimoji="1" lang="en-US" altLang="ja-JP" sz="11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(or as large as) </a:t>
              </a:r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the arbitrary-state case</a:t>
              </a:r>
            </a:p>
          </p:txBody>
        </p:sp>
      </p:grpSp>
      <p:grpSp>
        <p:nvGrpSpPr>
          <p:cNvPr id="39" name="グループ化 38">
            <a:extLst>
              <a:ext uri="{FF2B5EF4-FFF2-40B4-BE49-F238E27FC236}">
                <a16:creationId xmlns:a16="http://schemas.microsoft.com/office/drawing/2014/main" id="{13B077A6-9996-BD13-F366-AEE924272B98}"/>
              </a:ext>
            </a:extLst>
          </p:cNvPr>
          <p:cNvGrpSpPr/>
          <p:nvPr/>
        </p:nvGrpSpPr>
        <p:grpSpPr>
          <a:xfrm>
            <a:off x="157795" y="2796207"/>
            <a:ext cx="8768778" cy="1490602"/>
            <a:chOff x="157795" y="2796207"/>
            <a:chExt cx="8768778" cy="1490602"/>
          </a:xfrm>
        </p:grpSpPr>
        <p:sp>
          <p:nvSpPr>
            <p:cNvPr id="24" name="正方形/長方形 23">
              <a:extLst>
                <a:ext uri="{FF2B5EF4-FFF2-40B4-BE49-F238E27FC236}">
                  <a16:creationId xmlns:a16="http://schemas.microsoft.com/office/drawing/2014/main" id="{F032772E-F778-B0DE-2310-4FD58DCD76CB}"/>
                </a:ext>
              </a:extLst>
            </p:cNvPr>
            <p:cNvSpPr/>
            <p:nvPr/>
          </p:nvSpPr>
          <p:spPr>
            <a:xfrm>
              <a:off x="7758268" y="4033931"/>
              <a:ext cx="1045402" cy="1152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5" name="正方形/長方形 24">
              <a:extLst>
                <a:ext uri="{FF2B5EF4-FFF2-40B4-BE49-F238E27FC236}">
                  <a16:creationId xmlns:a16="http://schemas.microsoft.com/office/drawing/2014/main" id="{9E132AAC-3238-3CB6-5C00-2BDE278B4578}"/>
                </a:ext>
              </a:extLst>
            </p:cNvPr>
            <p:cNvSpPr/>
            <p:nvPr/>
          </p:nvSpPr>
          <p:spPr>
            <a:xfrm>
              <a:off x="8174361" y="3301379"/>
              <a:ext cx="696685" cy="1152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9" name="正方形/長方形 18">
              <a:extLst>
                <a:ext uri="{FF2B5EF4-FFF2-40B4-BE49-F238E27FC236}">
                  <a16:creationId xmlns:a16="http://schemas.microsoft.com/office/drawing/2014/main" id="{01C0E3B0-50B5-1184-09E6-34072BE6538E}"/>
                </a:ext>
              </a:extLst>
            </p:cNvPr>
            <p:cNvSpPr/>
            <p:nvPr/>
          </p:nvSpPr>
          <p:spPr>
            <a:xfrm>
              <a:off x="6698611" y="4027662"/>
              <a:ext cx="706235" cy="13325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2" name="正方形/長方形 21">
              <a:extLst>
                <a:ext uri="{FF2B5EF4-FFF2-40B4-BE49-F238E27FC236}">
                  <a16:creationId xmlns:a16="http://schemas.microsoft.com/office/drawing/2014/main" id="{16494B78-A31B-FBC1-8B1E-9697E2DC6456}"/>
                </a:ext>
              </a:extLst>
            </p:cNvPr>
            <p:cNvSpPr/>
            <p:nvPr/>
          </p:nvSpPr>
          <p:spPr>
            <a:xfrm>
              <a:off x="6749149" y="3299230"/>
              <a:ext cx="588236" cy="133303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3" name="正方形/長方形 22">
              <a:extLst>
                <a:ext uri="{FF2B5EF4-FFF2-40B4-BE49-F238E27FC236}">
                  <a16:creationId xmlns:a16="http://schemas.microsoft.com/office/drawing/2014/main" id="{AB92B78B-D491-5D08-A528-C091E77F4A51}"/>
                </a:ext>
              </a:extLst>
            </p:cNvPr>
            <p:cNvSpPr/>
            <p:nvPr/>
          </p:nvSpPr>
          <p:spPr>
            <a:xfrm>
              <a:off x="4763215" y="3897838"/>
              <a:ext cx="1045402" cy="1152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1D505B97-C877-3638-9332-6C85E9228C14}"/>
                </a:ext>
              </a:extLst>
            </p:cNvPr>
            <p:cNvSpPr/>
            <p:nvPr/>
          </p:nvSpPr>
          <p:spPr>
            <a:xfrm>
              <a:off x="4833258" y="3239718"/>
              <a:ext cx="696685" cy="115254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C78C9910-D07E-E1BE-736E-3909CC706B62}"/>
                </a:ext>
              </a:extLst>
            </p:cNvPr>
            <p:cNvSpPr/>
            <p:nvPr/>
          </p:nvSpPr>
          <p:spPr>
            <a:xfrm>
              <a:off x="4302428" y="3902063"/>
              <a:ext cx="233069" cy="1152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BCA4658-1F23-CE73-B4ED-94D195B7DB24}"/>
                </a:ext>
              </a:extLst>
            </p:cNvPr>
            <p:cNvSpPr/>
            <p:nvPr/>
          </p:nvSpPr>
          <p:spPr>
            <a:xfrm>
              <a:off x="4350327" y="3227144"/>
              <a:ext cx="233069" cy="11525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806F35A3-6D69-451F-8707-F2D9C2778682}"/>
                    </a:ext>
                  </a:extLst>
                </p:cNvPr>
                <p:cNvSpPr txBox="1"/>
                <p:nvPr/>
              </p:nvSpPr>
              <p:spPr>
                <a:xfrm>
                  <a:off x="167779" y="2874474"/>
                  <a:ext cx="26334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14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For low-energy state (</a:t>
                  </a:r>
                  <a14:m>
                    <m:oMath xmlns:m="http://schemas.openxmlformats.org/officeDocument/2006/math">
                      <m:r>
                        <a:rPr kumimoji="1" lang="en-US" altLang="ja-JP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1" lang="el-GR" altLang="ja-JP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r>
                    <a:rPr kumimoji="1" lang="en-US" altLang="ja-JP" sz="14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12" name="テキスト ボックス 11">
                  <a:extLst>
                    <a:ext uri="{FF2B5EF4-FFF2-40B4-BE49-F238E27FC236}">
                      <a16:creationId xmlns:a16="http://schemas.microsoft.com/office/drawing/2014/main" id="{806F35A3-6D69-451F-8707-F2D9C277868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67779" y="2874474"/>
                  <a:ext cx="2633453" cy="307777"/>
                </a:xfrm>
                <a:prstGeom prst="rect">
                  <a:avLst/>
                </a:prstGeom>
                <a:blipFill>
                  <a:blip r:embed="rId19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テキスト ボックス 7">
              <a:extLst>
                <a:ext uri="{FF2B5EF4-FFF2-40B4-BE49-F238E27FC236}">
                  <a16:creationId xmlns:a16="http://schemas.microsoft.com/office/drawing/2014/main" id="{61199AB7-814E-2074-9FE7-4C066F1F93AE}"/>
                </a:ext>
              </a:extLst>
            </p:cNvPr>
            <p:cNvSpPr txBox="1"/>
            <p:nvPr/>
          </p:nvSpPr>
          <p:spPr>
            <a:xfrm>
              <a:off x="178054" y="3171663"/>
              <a:ext cx="26953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" altLang="ja-JP" sz="10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Şahinoğlu</a:t>
              </a:r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al., </a:t>
              </a:r>
              <a:r>
                <a:rPr lang="en" altLang="ja-JP" sz="10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Npj</a:t>
              </a:r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Quantum Info. (2021)</a:t>
              </a:r>
            </a:p>
          </p:txBody>
        </p:sp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C2FACD9E-C5D6-FE22-6E53-D4AE2619D243}"/>
                </a:ext>
              </a:extLst>
            </p:cNvPr>
            <p:cNvSpPr txBox="1"/>
            <p:nvPr/>
          </p:nvSpPr>
          <p:spPr>
            <a:xfrm>
              <a:off x="282171" y="3875122"/>
              <a:ext cx="24274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28" name="Picture 4" descr="\begin{align*}&#10;    \Delta t \left(\frac{\Delta t}{\varepsilon}\right)^{\frac1p}+ gt \left( \frac{N^{p+1}gt}{\varepsilon}\right)^{\frac1{(p+1)^2+p}}&#10;\end{align*}">
              <a:extLst>
                <a:ext uri="{FF2B5EF4-FFF2-40B4-BE49-F238E27FC236}">
                  <a16:creationId xmlns:a16="http://schemas.microsoft.com/office/drawing/2014/main" id="{6C4E3C18-E170-6AE3-6B53-7B8396B456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79553" y="3710608"/>
              <a:ext cx="2001217" cy="36500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\begin{align*}&#10;   \Delta t \left(\frac{\Delta t}{\varepsilon}\right)^{\frac1p}+ gt \left(\frac{gt}{\varepsilon}\right)^{\frac1{2p+1}} N^{\frac12+\frac1{4p+2}}&#10;\end{align*}">
              <a:extLst>
                <a:ext uri="{FF2B5EF4-FFF2-40B4-BE49-F238E27FC236}">
                  <a16:creationId xmlns:a16="http://schemas.microsoft.com/office/drawing/2014/main" id="{158E7336-E550-0E65-24F1-D85BA14EB8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0786" y="3023537"/>
              <a:ext cx="2069047" cy="3651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DFCBD384-F2CC-D852-5E70-8E903BDAACD1}"/>
                    </a:ext>
                  </a:extLst>
                </p:cNvPr>
                <p:cNvSpPr txBox="1"/>
                <p:nvPr/>
              </p:nvSpPr>
              <p:spPr>
                <a:xfrm>
                  <a:off x="157795" y="3556719"/>
                  <a:ext cx="2633453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14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For low-energy state (</a:t>
                  </a:r>
                  <a14:m>
                    <m:oMath xmlns:m="http://schemas.openxmlformats.org/officeDocument/2006/math">
                      <m:r>
                        <a:rPr kumimoji="1" lang="en-US" altLang="ja-JP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m:rPr>
                          <m:sty m:val="p"/>
                        </m:rPr>
                        <a:rPr kumimoji="1" lang="el-GR" altLang="ja-JP" sz="14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</m:oMath>
                  </a14:m>
                  <a:r>
                    <a:rPr kumimoji="1" lang="en-US" altLang="ja-JP" sz="14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)</a:t>
                  </a:r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DFCBD384-F2CC-D852-5E70-8E903BDAACD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7795" y="3556719"/>
                  <a:ext cx="2633453" cy="307777"/>
                </a:xfrm>
                <a:prstGeom prst="rect">
                  <a:avLst/>
                </a:prstGeom>
                <a:blipFill>
                  <a:blip r:embed="rId22"/>
                  <a:stretch>
                    <a:fillRect b="-19231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172" name="Picture 4" descr="\begin{align*}&#10;  \leq \mathcal{O} \left(\{ (\Delta + (g\tau) Ng) \tau \}^{p+1}\right)&#10;\end{align*}">
              <a:extLst>
                <a:ext uri="{FF2B5EF4-FFF2-40B4-BE49-F238E27FC236}">
                  <a16:creationId xmlns:a16="http://schemas.microsoft.com/office/drawing/2014/main" id="{9D4208C4-4FB5-6433-700A-4A24810F6F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11618" y="3096053"/>
              <a:ext cx="2437038" cy="2427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174" name="Picture 6" descr="\begin{align*}&#10;  \leq \mathcal{O} \left(\{ (\Delta + (g\tau)^{p+1} Ng) \tau \}^{p+1}\right)&#10;\end{align*}">
              <a:extLst>
                <a:ext uri="{FF2B5EF4-FFF2-40B4-BE49-F238E27FC236}">
                  <a16:creationId xmlns:a16="http://schemas.microsoft.com/office/drawing/2014/main" id="{EA47B200-B200-588B-8060-BB1A27157B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40152" y="3742338"/>
              <a:ext cx="2744152" cy="24271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47" name="直線コネクタ 46">
              <a:extLst>
                <a:ext uri="{FF2B5EF4-FFF2-40B4-BE49-F238E27FC236}">
                  <a16:creationId xmlns:a16="http://schemas.microsoft.com/office/drawing/2014/main" id="{D98FD9C4-B2EF-F61F-CA2B-68381F0B23B5}"/>
                </a:ext>
              </a:extLst>
            </p:cNvPr>
            <p:cNvCxnSpPr>
              <a:cxnSpLocks/>
            </p:cNvCxnSpPr>
            <p:nvPr/>
          </p:nvCxnSpPr>
          <p:spPr>
            <a:xfrm>
              <a:off x="204718" y="2796207"/>
              <a:ext cx="8721855" cy="0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182B10-44C4-C0AB-1A70-6E3EE95C7385}"/>
                    </a:ext>
                  </a:extLst>
                </p:cNvPr>
                <p:cNvSpPr txBox="1"/>
                <p:nvPr/>
              </p:nvSpPr>
              <p:spPr>
                <a:xfrm>
                  <a:off x="4593370" y="3421008"/>
                  <a:ext cx="4598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kumimoji="1" lang="en-US" altLang="ja-JP" sz="11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l-GR" altLang="ja-JP" sz="11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kumimoji="1" lang="en-US" altLang="ja-JP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ja-JP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10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61182B10-44C4-C0AB-1A70-6E3EE95C73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93370" y="3421008"/>
                  <a:ext cx="459869" cy="169277"/>
                </a:xfrm>
                <a:prstGeom prst="rect">
                  <a:avLst/>
                </a:prstGeom>
                <a:blipFill>
                  <a:blip r:embed="rId25"/>
                  <a:stretch>
                    <a:fillRect l="-2703" t="-7143" r="-2703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1F26F1-CA0A-697F-9C7B-801DDB499F2B}"/>
                    </a:ext>
                  </a:extLst>
                </p:cNvPr>
                <p:cNvSpPr txBox="1"/>
                <p:nvPr/>
              </p:nvSpPr>
              <p:spPr>
                <a:xfrm>
                  <a:off x="4583396" y="4117532"/>
                  <a:ext cx="459869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110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kumimoji="1" lang="en-US" altLang="ja-JP" sz="11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m:rPr>
                                <m:sty m:val="p"/>
                              </m:rPr>
                              <a:rPr kumimoji="1" lang="el-GR" altLang="ja-JP" sz="110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Δ</m:t>
                            </m:r>
                          </m:e>
                          <m:sup>
                            <m:r>
                              <a:rPr kumimoji="1" lang="en-US" altLang="ja-JP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ja-JP" sz="1100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100">
                    <a:solidFill>
                      <a:schemeClr val="accent2"/>
                    </a:solidFill>
                  </a:endParaRPr>
                </a:p>
              </p:txBody>
            </p:sp>
          </mc:Choice>
          <mc:Fallback xmlns="">
            <p:sp>
              <p:nvSpPr>
                <p:cNvPr id="26" name="テキスト ボックス 25">
                  <a:extLst>
                    <a:ext uri="{FF2B5EF4-FFF2-40B4-BE49-F238E27FC236}">
                      <a16:creationId xmlns:a16="http://schemas.microsoft.com/office/drawing/2014/main" id="{B21F26F1-CA0A-697F-9C7B-801DDB499F2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83396" y="4117532"/>
                  <a:ext cx="459869" cy="169277"/>
                </a:xfrm>
                <a:prstGeom prst="rect">
                  <a:avLst/>
                </a:prstGeom>
                <a:blipFill>
                  <a:blip r:embed="rId26"/>
                  <a:stretch>
                    <a:fillRect l="-2703" t="-7143" r="-270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C107297-96D0-AD57-7C89-6AB1D453D026}"/>
                    </a:ext>
                  </a:extLst>
                </p:cNvPr>
                <p:cNvSpPr txBox="1"/>
                <p:nvPr/>
              </p:nvSpPr>
              <p:spPr>
                <a:xfrm>
                  <a:off x="5118813" y="3420319"/>
                  <a:ext cx="4868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11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kumimoji="1" lang="en-US" altLang="ja-JP" sz="11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10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2" name="テキスト ボックス 31">
                  <a:extLst>
                    <a:ext uri="{FF2B5EF4-FFF2-40B4-BE49-F238E27FC236}">
                      <a16:creationId xmlns:a16="http://schemas.microsoft.com/office/drawing/2014/main" id="{CC107297-96D0-AD57-7C89-6AB1D453D02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18813" y="3420319"/>
                  <a:ext cx="486865" cy="169277"/>
                </a:xfrm>
                <a:prstGeom prst="rect">
                  <a:avLst/>
                </a:prstGeom>
                <a:blipFill>
                  <a:blip r:embed="rId27"/>
                  <a:stretch>
                    <a:fillRect l="-5128" t="-7143" r="-2564" b="-714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BCFD39BF-9AB5-654D-49BA-C52069466B6A}"/>
                    </a:ext>
                  </a:extLst>
                </p:cNvPr>
                <p:cNvSpPr txBox="1"/>
                <p:nvPr/>
              </p:nvSpPr>
              <p:spPr>
                <a:xfrm>
                  <a:off x="5181600" y="4117139"/>
                  <a:ext cx="486865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kumimoji="1" lang="ja-JP" altLang="en-US" sz="110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∝</m:t>
                        </m:r>
                        <m:sSup>
                          <m:sSupPr>
                            <m:ctrlPr>
                              <a:rPr kumimoji="1" lang="en-US" altLang="ja-JP" sz="11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e>
                          <m:sup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kumimoji="1" lang="en-US" altLang="ja-JP" sz="1100" b="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sup>
                        </m:sSup>
                      </m:oMath>
                    </m:oMathPara>
                  </a14:m>
                  <a:endParaRPr kumimoji="1" lang="ja-JP" altLang="en-US" sz="1100">
                    <a:solidFill>
                      <a:schemeClr val="accent1"/>
                    </a:solidFill>
                  </a:endParaRPr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BCFD39BF-9AB5-654D-49BA-C52069466B6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81600" y="4117139"/>
                  <a:ext cx="486865" cy="169277"/>
                </a:xfrm>
                <a:prstGeom prst="rect">
                  <a:avLst/>
                </a:prstGeom>
                <a:blipFill>
                  <a:blip r:embed="rId28"/>
                  <a:stretch>
                    <a:fillRect l="-5128" t="-7143" r="-256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8187641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F1F4A8-D326-D0C8-22D3-F7FE17DCA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正方形/長方形 37">
            <a:extLst>
              <a:ext uri="{FF2B5EF4-FFF2-40B4-BE49-F238E27FC236}">
                <a16:creationId xmlns:a16="http://schemas.microsoft.com/office/drawing/2014/main" id="{02395408-354A-04CE-5A6A-58333E89B9CC}"/>
              </a:ext>
            </a:extLst>
          </p:cNvPr>
          <p:cNvSpPr/>
          <p:nvPr/>
        </p:nvSpPr>
        <p:spPr>
          <a:xfrm>
            <a:off x="5576979" y="3368119"/>
            <a:ext cx="1157695" cy="1844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accent5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7" name="正方形/長方形 26">
            <a:extLst>
              <a:ext uri="{FF2B5EF4-FFF2-40B4-BE49-F238E27FC236}">
                <a16:creationId xmlns:a16="http://schemas.microsoft.com/office/drawing/2014/main" id="{AC555428-A03B-CEA6-047E-2E38D254B503}"/>
              </a:ext>
            </a:extLst>
          </p:cNvPr>
          <p:cNvSpPr/>
          <p:nvPr/>
        </p:nvSpPr>
        <p:spPr>
          <a:xfrm>
            <a:off x="5080550" y="3362365"/>
            <a:ext cx="286879" cy="1902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4" name="正方形/長方形 23">
            <a:extLst>
              <a:ext uri="{FF2B5EF4-FFF2-40B4-BE49-F238E27FC236}">
                <a16:creationId xmlns:a16="http://schemas.microsoft.com/office/drawing/2014/main" id="{8AAD8F7D-E2CF-CC6E-D006-CA9A5E5A17B8}"/>
              </a:ext>
            </a:extLst>
          </p:cNvPr>
          <p:cNvSpPr/>
          <p:nvPr/>
        </p:nvSpPr>
        <p:spPr>
          <a:xfrm>
            <a:off x="132937" y="1393299"/>
            <a:ext cx="8878126" cy="256236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8F5C8B2-E1D1-3F5A-CFBB-BB69BAF4F1EF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II-4.  Our results: Main theorem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E66FE338-097E-726E-C0B4-A0CDCE101056}"/>
                  </a:ext>
                </a:extLst>
              </p:cNvPr>
              <p:cNvSpPr txBox="1"/>
              <p:nvPr/>
            </p:nvSpPr>
            <p:spPr>
              <a:xfrm>
                <a:off x="8769479" y="71445"/>
                <a:ext cx="314189" cy="27699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16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テキスト ボックス 1">
                <a:extLst>
                  <a:ext uri="{FF2B5EF4-FFF2-40B4-BE49-F238E27FC236}">
                    <a16:creationId xmlns:a16="http://schemas.microsoft.com/office/drawing/2014/main" id="{E66FE338-097E-726E-C0B4-A0CDCE1010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69479" y="71445"/>
                <a:ext cx="314189" cy="276999"/>
              </a:xfrm>
              <a:prstGeom prst="rect">
                <a:avLst/>
              </a:prstGeom>
              <a:blipFill>
                <a:blip r:embed="rId6"/>
                <a:stretch>
                  <a:fillRect l="-15385" r="-15385" b="-434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37EBA1-0CFA-7782-7557-699950FE85D0}"/>
              </a:ext>
            </a:extLst>
          </p:cNvPr>
          <p:cNvSpPr txBox="1"/>
          <p:nvPr/>
        </p:nvSpPr>
        <p:spPr>
          <a:xfrm>
            <a:off x="229001" y="1167015"/>
            <a:ext cx="5226880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Theorem (Error bound for low-energy states):</a:t>
            </a:r>
            <a:endParaRPr kumimoji="1" lang="ja-JP" altLang="en-US" sz="20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0" name="正方形/長方形 19">
            <a:extLst>
              <a:ext uri="{FF2B5EF4-FFF2-40B4-BE49-F238E27FC236}">
                <a16:creationId xmlns:a16="http://schemas.microsoft.com/office/drawing/2014/main" id="{09164ED5-C8E6-EBD2-6F5E-529E898889FC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E709D7C-81E0-BE49-0EF1-B6E8BD550D4A}"/>
                  </a:ext>
                </a:extLst>
              </p:cNvPr>
              <p:cNvSpPr txBox="1"/>
              <p:nvPr/>
            </p:nvSpPr>
            <p:spPr>
              <a:xfrm>
                <a:off x="327051" y="1813854"/>
                <a:ext cx="441041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Suppose that the time </a:t>
                </a:r>
                <a14:m>
                  <m:oMath xmlns:m="http://schemas.openxmlformats.org/officeDocument/2006/math">
                    <m:r>
                      <a:rPr kumimoji="1" lang="en-US" altLang="ja-JP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</m:oMath>
                </a14:m>
                <a:r>
                  <a:rPr kumimoji="1" lang="en-US" altLang="ja-JP" sz="16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is small enough to satisfy</a:t>
                </a:r>
                <a:endParaRPr kumimoji="1" lang="ja-JP" altLang="en-US" sz="16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0E709D7C-81E0-BE49-0EF1-B6E8BD550D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051" y="1813854"/>
                <a:ext cx="4410411" cy="338554"/>
              </a:xfrm>
              <a:prstGeom prst="rect">
                <a:avLst/>
              </a:prstGeom>
              <a:blipFill>
                <a:blip r:embed="rId7"/>
                <a:stretch>
                  <a:fillRect l="-575" t="-7407" b="-2222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D65CDB9-2701-E5F8-E58D-C504962DE753}"/>
              </a:ext>
            </a:extLst>
          </p:cNvPr>
          <p:cNvSpPr txBox="1"/>
          <p:nvPr/>
        </p:nvSpPr>
        <p:spPr>
          <a:xfrm>
            <a:off x="4810066" y="1536825"/>
            <a:ext cx="42736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finite-range interactions [See our paper for long-range cases]</a:t>
            </a:r>
            <a:endParaRPr kumimoji="1" lang="ja-JP" altLang="en-US" sz="1200">
              <a:solidFill>
                <a:schemeClr val="tx1">
                  <a:lumMod val="50000"/>
                  <a:lumOff val="50000"/>
                </a:schemeClr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8196" name="Picture 4" descr="\begin{align*}&#10;  \tau \in \mathcal{O}(g^{-1}).&#10;\end{align*}">
            <a:extLst>
              <a:ext uri="{FF2B5EF4-FFF2-40B4-BE49-F238E27FC236}">
                <a16:creationId xmlns:a16="http://schemas.microsoft.com/office/drawing/2014/main" id="{6322F600-728D-7B27-0CD2-68476F694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0788" y="2246695"/>
            <a:ext cx="1292823" cy="2805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CEC154B1-2577-1E4B-162B-05DB71BC6A66}"/>
              </a:ext>
            </a:extLst>
          </p:cNvPr>
          <p:cNvSpPr txBox="1"/>
          <p:nvPr/>
        </p:nvSpPr>
        <p:spPr>
          <a:xfrm>
            <a:off x="327050" y="2659143"/>
            <a:ext cx="441041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The error for low-energy states is bounded by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EFA1A91-BA9B-5E71-0527-7156F9ABC976}"/>
                  </a:ext>
                </a:extLst>
              </p:cNvPr>
              <p:cNvSpPr txBox="1"/>
              <p:nvPr/>
            </p:nvSpPr>
            <p:spPr>
              <a:xfrm>
                <a:off x="5725258" y="2250214"/>
                <a:ext cx="3250343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←</a:t>
                </a:r>
                <a:r>
                  <a:rPr kumimoji="1" lang="en-US" altLang="ja-JP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Always satisfied for each Trotter step </a:t>
                </a:r>
                <a14:m>
                  <m:oMath xmlns:m="http://schemas.openxmlformats.org/officeDocument/2006/math">
                    <m:r>
                      <a:rPr kumimoji="1" lang="en-US" altLang="ja-JP" sz="12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𝜏</m:t>
                    </m:r>
                    <m:r>
                      <a:rPr kumimoji="1" lang="en-US" altLang="ja-JP" sz="1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1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𝑡</m:t>
                    </m:r>
                    <m:r>
                      <a:rPr kumimoji="1" lang="en-US" altLang="ja-JP" sz="1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1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𝑟</m:t>
                    </m:r>
                  </m:oMath>
                </a14:m>
                <a:endParaRPr kumimoji="1" lang="ja-JP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BEFA1A91-BA9B-5E71-0527-7156F9ABC9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25258" y="2250214"/>
                <a:ext cx="3250343" cy="276999"/>
              </a:xfrm>
              <a:prstGeom prst="rect">
                <a:avLst/>
              </a:prstGeom>
              <a:blipFill>
                <a:blip r:embed="rId9"/>
                <a:stretch>
                  <a:fillRect b="-173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4D5ED52C-4DB2-B7A7-D467-B04D5E917A8D}"/>
                  </a:ext>
                </a:extLst>
              </p:cNvPr>
              <p:cNvSpPr txBox="1"/>
              <p:nvPr/>
            </p:nvSpPr>
            <p:spPr>
              <a:xfrm>
                <a:off x="6648204" y="3569362"/>
                <a:ext cx="2435464" cy="27699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120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←</a:t>
                </a:r>
                <a:r>
                  <a:rPr kumimoji="1" lang="en-US" altLang="ja-JP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120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𝜖</m:t>
                    </m:r>
                    <m:r>
                      <a:rPr kumimoji="1" lang="en-US" altLang="ja-JP" sz="1200" b="0" i="1" smtClean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∈(0,1)</m:t>
                    </m:r>
                  </m:oMath>
                </a14:m>
                <a:r>
                  <a:rPr kumimoji="1" lang="en-US" altLang="ja-JP" sz="1200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: arbitrary small value</a:t>
                </a:r>
                <a:endParaRPr kumimoji="1" lang="ja-JP" alt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4D5ED52C-4DB2-B7A7-D467-B04D5E917A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8204" y="3569362"/>
                <a:ext cx="2435464" cy="276999"/>
              </a:xfrm>
              <a:prstGeom prst="rect">
                <a:avLst/>
              </a:prstGeom>
              <a:blipFill>
                <a:blip r:embed="rId10"/>
                <a:stretch>
                  <a:fillRect t="-4545" b="-181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A4963B1-C524-E957-2A17-F0F1D3A8B915}"/>
              </a:ext>
            </a:extLst>
          </p:cNvPr>
          <p:cNvSpPr txBox="1"/>
          <p:nvPr/>
        </p:nvSpPr>
        <p:spPr>
          <a:xfrm>
            <a:off x="267161" y="1509568"/>
            <a:ext cx="3408305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050" b="1" u="sng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sz="1050" dirty="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 sz="1050">
              <a:solidFill>
                <a:srgbClr val="002060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C908DDD-9909-3045-37CF-F60A644DFB42}"/>
              </a:ext>
            </a:extLst>
          </p:cNvPr>
          <p:cNvGrpSpPr/>
          <p:nvPr/>
        </p:nvGrpSpPr>
        <p:grpSpPr>
          <a:xfrm>
            <a:off x="713598" y="3230100"/>
            <a:ext cx="6766126" cy="336877"/>
            <a:chOff x="713598" y="3230100"/>
            <a:chExt cx="6766126" cy="336877"/>
          </a:xfrm>
        </p:grpSpPr>
        <p:pic>
          <p:nvPicPr>
            <p:cNvPr id="8198" name="Picture 6" descr="\begin{align*}&#10;  \| (e^{-iH\tau} - T_p(\tau)) \Pi_{\leq \Delta} \| \leq \mathcal{O} \left( (g\tau)^p \{\Delta+g \log (N/\epsilon)\} \tau \right) + \epsilon&#10;\end{align*}">
              <a:extLst>
                <a:ext uri="{FF2B5EF4-FFF2-40B4-BE49-F238E27FC236}">
                  <a16:creationId xmlns:a16="http://schemas.microsoft.com/office/drawing/2014/main" id="{6B1D4414-9223-72AC-DEDE-107B14DE388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" r="55507" b="-24495"/>
            <a:stretch>
              <a:fillRect/>
            </a:stretch>
          </p:blipFill>
          <p:spPr bwMode="auto">
            <a:xfrm>
              <a:off x="713598" y="3230100"/>
              <a:ext cx="2549555" cy="33687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3316" name="Picture 4" descr="\begin{align*}&#10;  \text{Const.} \times (g\tau)^p \{\Delta +g\log(N/\epsilon) \}\tau + \epsilon&#10;\end{align*}">
              <a:extLst>
                <a:ext uri="{FF2B5EF4-FFF2-40B4-BE49-F238E27FC236}">
                  <a16:creationId xmlns:a16="http://schemas.microsoft.com/office/drawing/2014/main" id="{4DAD6BCE-DE5B-2D48-EF4E-32010864F6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59185" y="3250214"/>
              <a:ext cx="4120539" cy="2589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60AC17E5-F6D9-9136-DA3C-2D4F767731F9}"/>
              </a:ext>
            </a:extLst>
          </p:cNvPr>
          <p:cNvGrpSpPr/>
          <p:nvPr/>
        </p:nvGrpSpPr>
        <p:grpSpPr>
          <a:xfrm>
            <a:off x="177800" y="4096285"/>
            <a:ext cx="8947766" cy="2183399"/>
            <a:chOff x="177800" y="4096285"/>
            <a:chExt cx="8947766" cy="2183399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C7F56E2A-8ADB-9199-A2A8-47F602646360}"/>
                    </a:ext>
                  </a:extLst>
                </p:cNvPr>
                <p:cNvSpPr txBox="1"/>
                <p:nvPr/>
              </p:nvSpPr>
              <p:spPr>
                <a:xfrm>
                  <a:off x="1870078" y="5020029"/>
                  <a:ext cx="2352331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16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Our results: Linear in </a:t>
                  </a:r>
                  <a14:m>
                    <m:oMath xmlns:m="http://schemas.openxmlformats.org/officeDocument/2006/math">
                      <m:r>
                        <a:rPr kumimoji="1" lang="en-US" altLang="ja-JP" sz="160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endParaRPr kumimoji="1" lang="ja-JP" altLang="en-US" sz="16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9" name="テキスト ボックス 38">
                  <a:extLst>
                    <a:ext uri="{FF2B5EF4-FFF2-40B4-BE49-F238E27FC236}">
                      <a16:creationId xmlns:a16="http://schemas.microsoft.com/office/drawing/2014/main" id="{C7F56E2A-8ADB-9199-A2A8-47F60264636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078" y="5020029"/>
                  <a:ext cx="2352331" cy="338554"/>
                </a:xfrm>
                <a:prstGeom prst="rect">
                  <a:avLst/>
                </a:prstGeom>
                <a:blipFill>
                  <a:blip r:embed="rId13"/>
                  <a:stretch>
                    <a:fillRect l="-1613" t="-3704" b="-2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42" name="Picture 8" descr="\begin{align*}&#10;  \propto \Delta^{p+1}&#10;\end{align*}">
              <a:extLst>
                <a:ext uri="{FF2B5EF4-FFF2-40B4-BE49-F238E27FC236}">
                  <a16:creationId xmlns:a16="http://schemas.microsoft.com/office/drawing/2014/main" id="{3055CAC2-4D77-47D6-A489-150E4F0D8AE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8386" y="5089486"/>
              <a:ext cx="700512" cy="1910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A6D9F4B-792C-FA21-19EA-932879B3E5E9}"/>
                    </a:ext>
                  </a:extLst>
                </p:cNvPr>
                <p:cNvSpPr txBox="1"/>
                <p:nvPr/>
              </p:nvSpPr>
              <p:spPr>
                <a:xfrm>
                  <a:off x="1870078" y="5941130"/>
                  <a:ext cx="2718133" cy="33855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16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Our results: Logarithmic in </a:t>
                  </a:r>
                  <a14:m>
                    <m:oMath xmlns:m="http://schemas.openxmlformats.org/officeDocument/2006/math">
                      <m:r>
                        <a:rPr kumimoji="1" lang="en-US" altLang="ja-JP" sz="1600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endParaRPr kumimoji="1" lang="ja-JP" altLang="en-US" sz="16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4" name="テキスト ボックス 43">
                  <a:extLst>
                    <a:ext uri="{FF2B5EF4-FFF2-40B4-BE49-F238E27FC236}">
                      <a16:creationId xmlns:a16="http://schemas.microsoft.com/office/drawing/2014/main" id="{AA6D9F4B-792C-FA21-19EA-932879B3E5E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70078" y="5941130"/>
                  <a:ext cx="2718133" cy="338554"/>
                </a:xfrm>
                <a:prstGeom prst="rect">
                  <a:avLst/>
                </a:prstGeom>
                <a:blipFill>
                  <a:blip r:embed="rId15"/>
                  <a:stretch>
                    <a:fillRect l="-1395" t="-7407" b="-22222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B494090-3D89-0E1A-8ECD-EB633DD0AB5C}"/>
                    </a:ext>
                  </a:extLst>
                </p:cNvPr>
                <p:cNvSpPr txBox="1"/>
                <p:nvPr/>
              </p:nvSpPr>
              <p:spPr>
                <a:xfrm>
                  <a:off x="267161" y="5488422"/>
                  <a:ext cx="4410411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ja-JP" altLang="en-US" sz="1400" u="sng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✔︎</a:t>
                  </a:r>
                  <a:r>
                    <a:rPr lang="en-US" altLang="ja-JP" sz="1600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r>
                    <a:rPr lang="en-US" altLang="ja-JP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Exponential improvement in </a:t>
                  </a:r>
                  <a:r>
                    <a:rPr lang="en-US" altLang="ja-JP" u="sng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system size </a:t>
                  </a:r>
                  <a14:m>
                    <m:oMath xmlns:m="http://schemas.openxmlformats.org/officeDocument/2006/math">
                      <m:r>
                        <a:rPr lang="en-US" altLang="ja-JP" b="0" i="1" u="sng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r>
                    <a:rPr lang="en-US" altLang="ja-JP" u="sng" dirty="0">
                      <a:solidFill>
                        <a:schemeClr val="accent1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</a:t>
                  </a:r>
                  <a:endParaRPr lang="en-US" altLang="ja-JP" u="sng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8B494090-3D89-0E1A-8ECD-EB633DD0AB5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67161" y="5488422"/>
                  <a:ext cx="4410411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575" t="-6667" r="-1149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8E41BE23-9848-DD78-7971-EDF119E2DABE}"/>
                    </a:ext>
                  </a:extLst>
                </p:cNvPr>
                <p:cNvSpPr txBox="1"/>
                <p:nvPr/>
              </p:nvSpPr>
              <p:spPr>
                <a:xfrm>
                  <a:off x="229001" y="4529333"/>
                  <a:ext cx="5093488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ja-JP" altLang="en-US" sz="1400" u="sng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✔︎</a:t>
                  </a:r>
                  <a:r>
                    <a:rPr lang="en-US" altLang="ja-JP" u="sng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 Polynomial improvement in </a:t>
                  </a:r>
                  <a:r>
                    <a:rPr lang="en-US" altLang="ja-JP" u="sng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initial-state energy </a:t>
                  </a:r>
                  <a14:m>
                    <m:oMath xmlns:m="http://schemas.openxmlformats.org/officeDocument/2006/math">
                      <m:r>
                        <a:rPr lang="en-US" altLang="ja-JP" i="1" u="sng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endParaRPr lang="ja-JP" altLang="en-US" sz="1600" u="sng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8E41BE23-9848-DD78-7971-EDF119E2DAB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9001" y="4529333"/>
                  <a:ext cx="5093488" cy="369332"/>
                </a:xfrm>
                <a:prstGeom prst="rect">
                  <a:avLst/>
                </a:prstGeom>
                <a:blipFill>
                  <a:blip r:embed="rId17"/>
                  <a:stretch>
                    <a:fillRect l="-498"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テキスト ボックス 15">
              <a:extLst>
                <a:ext uri="{FF2B5EF4-FFF2-40B4-BE49-F238E27FC236}">
                  <a16:creationId xmlns:a16="http://schemas.microsoft.com/office/drawing/2014/main" id="{1A95F325-0F03-2675-E08B-768FE2F38A87}"/>
                </a:ext>
              </a:extLst>
            </p:cNvPr>
            <p:cNvSpPr txBox="1"/>
            <p:nvPr/>
          </p:nvSpPr>
          <p:spPr>
            <a:xfrm>
              <a:off x="177800" y="4096285"/>
              <a:ext cx="441041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bg1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Compared to the previous low-energy results…</a:t>
              </a:r>
              <a:endParaRPr kumimoji="1" lang="ja-JP" altLang="en-US" sz="160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78F8F52F-6D48-EA44-6B61-A17E13E6F0B6}"/>
                </a:ext>
              </a:extLst>
            </p:cNvPr>
            <p:cNvSpPr txBox="1"/>
            <p:nvPr/>
          </p:nvSpPr>
          <p:spPr>
            <a:xfrm>
              <a:off x="4229295" y="4191261"/>
              <a:ext cx="2695368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" altLang="ja-JP" sz="10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Şahinoğlu</a:t>
              </a:r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al., </a:t>
              </a:r>
              <a:r>
                <a:rPr lang="en" altLang="ja-JP" sz="10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Npj</a:t>
              </a:r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Quantum Info. (2021)</a:t>
              </a:r>
            </a:p>
          </p:txBody>
        </p:sp>
        <p:sp>
          <p:nvSpPr>
            <p:cNvPr id="18" name="テキスト ボックス 17">
              <a:extLst>
                <a:ext uri="{FF2B5EF4-FFF2-40B4-BE49-F238E27FC236}">
                  <a16:creationId xmlns:a16="http://schemas.microsoft.com/office/drawing/2014/main" id="{D49C065E-1FAB-14A8-9D0B-4B6307E57119}"/>
                </a:ext>
              </a:extLst>
            </p:cNvPr>
            <p:cNvSpPr txBox="1"/>
            <p:nvPr/>
          </p:nvSpPr>
          <p:spPr>
            <a:xfrm>
              <a:off x="6698105" y="4187716"/>
              <a:ext cx="24274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07BA9043-FA6C-9CC3-E43B-7F2CC9166F8D}"/>
                </a:ext>
              </a:extLst>
            </p:cNvPr>
            <p:cNvSpPr txBox="1"/>
            <p:nvPr/>
          </p:nvSpPr>
          <p:spPr>
            <a:xfrm>
              <a:off x="4677572" y="5020029"/>
              <a:ext cx="16683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Previous results: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5563FBD0-E9A0-C220-FFCE-D40936D21773}"/>
                </a:ext>
              </a:extLst>
            </p:cNvPr>
            <p:cNvSpPr txBox="1"/>
            <p:nvPr/>
          </p:nvSpPr>
          <p:spPr>
            <a:xfrm>
              <a:off x="4677572" y="5941130"/>
              <a:ext cx="166830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Previous results:</a:t>
              </a:r>
              <a:endParaRPr kumimoji="1" lang="ja-JP" altLang="en-US" sz="16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3318" name="Picture 6" descr="\begin{align*}&#10;  \propto N^{p+1}&#10;\end{align*}">
              <a:extLst>
                <a:ext uri="{FF2B5EF4-FFF2-40B4-BE49-F238E27FC236}">
                  <a16:creationId xmlns:a16="http://schemas.microsoft.com/office/drawing/2014/main" id="{75ECE09C-18EF-4C86-26A6-26A7828791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15334" y="6010587"/>
              <a:ext cx="700512" cy="1909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91589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0DCEC-819E-E2DA-A0D3-DC32878D9D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BE8B61-4929-CA26-901D-C9FF608152E4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II-5.  Our results: Derivation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FC7243C-0ABD-79C9-F77F-30175B049D98}"/>
              </a:ext>
            </a:extLst>
          </p:cNvPr>
          <p:cNvSpPr txBox="1"/>
          <p:nvPr/>
        </p:nvSpPr>
        <p:spPr>
          <a:xfrm>
            <a:off x="195250" y="1226476"/>
            <a:ext cx="1173719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Key idea: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9FD1F054-0326-7E6C-CE2E-7D4BE3A144CD}"/>
              </a:ext>
            </a:extLst>
          </p:cNvPr>
          <p:cNvSpPr txBox="1"/>
          <p:nvPr/>
        </p:nvSpPr>
        <p:spPr>
          <a:xfrm>
            <a:off x="1368969" y="1235973"/>
            <a:ext cx="7135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Error bound reflecting both </a:t>
            </a:r>
            <a:r>
              <a:rPr kumimoji="1" lang="en-US" altLang="ja-JP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low-energy property &amp; commutator scaling</a:t>
            </a:r>
            <a:endParaRPr kumimoji="1" lang="ja-JP" altLang="en-US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FDE4A42-61FA-90C3-9A4B-D17C991A7447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17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FDE4A42-61FA-90C3-9A4B-D17C991A74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9D016BE0-E7E7-765F-65C1-979C9055AFD1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C7BDA9DC-7E5B-8A11-CCD3-AECCD5D1449E}"/>
                  </a:ext>
                </a:extLst>
              </p:cNvPr>
              <p:cNvSpPr txBox="1"/>
              <p:nvPr/>
            </p:nvSpPr>
            <p:spPr>
              <a:xfrm>
                <a:off x="280421" y="1843493"/>
                <a:ext cx="3592333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(1) Origin of the improved </a:t>
                </a:r>
                <a14:m>
                  <m:oMath xmlns:m="http://schemas.openxmlformats.org/officeDocument/2006/math">
                    <m:r>
                      <a:rPr kumimoji="1" lang="en-US" altLang="ja-JP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テキスト ボックス 38">
                <a:extLst>
                  <a:ext uri="{FF2B5EF4-FFF2-40B4-BE49-F238E27FC236}">
                    <a16:creationId xmlns:a16="http://schemas.microsoft.com/office/drawing/2014/main" id="{C7BDA9DC-7E5B-8A11-CCD3-AECCD5D14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421" y="1843493"/>
                <a:ext cx="3592333" cy="369332"/>
              </a:xfrm>
              <a:prstGeom prst="rect">
                <a:avLst/>
              </a:prstGeom>
              <a:blipFill>
                <a:blip r:embed="rId6"/>
                <a:stretch>
                  <a:fillRect l="-1413" t="-3226" b="-193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0C6AB1C-86A5-9AF6-5650-1EFFCE588DAB}"/>
              </a:ext>
            </a:extLst>
          </p:cNvPr>
          <p:cNvGrpSpPr/>
          <p:nvPr/>
        </p:nvGrpSpPr>
        <p:grpSpPr>
          <a:xfrm>
            <a:off x="434302" y="2390133"/>
            <a:ext cx="8618933" cy="2051377"/>
            <a:chOff x="434302" y="2390133"/>
            <a:chExt cx="8618933" cy="2051377"/>
          </a:xfrm>
        </p:grpSpPr>
        <p:pic>
          <p:nvPicPr>
            <p:cNvPr id="9226" name="Picture 10" descr="\begin{align*}&#10; \sum_{\gamma_0,\cdots,\gamma_q} \| [H_{\gamma_q},\cdots,[H_{\gamma_1},H_{\gamma_0}]] \| \leq q! (2kg)^q Ng&#10;\end{align*}">
              <a:extLst>
                <a:ext uri="{FF2B5EF4-FFF2-40B4-BE49-F238E27FC236}">
                  <a16:creationId xmlns:a16="http://schemas.microsoft.com/office/drawing/2014/main" id="{BDAA72FA-4AD3-BFB2-6BF8-0DBFBBB9923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312" y="3875875"/>
              <a:ext cx="4004915" cy="47697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EB7D60E6-1D0E-2A53-325F-D9F18F2876BB}"/>
                </a:ext>
              </a:extLst>
            </p:cNvPr>
            <p:cNvSpPr txBox="1"/>
            <p:nvPr/>
          </p:nvSpPr>
          <p:spPr>
            <a:xfrm>
              <a:off x="500593" y="4210678"/>
              <a:ext cx="260077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900" b="0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A. M. Childs, et al., PRX </a:t>
              </a:r>
              <a:r>
                <a:rPr lang="en" altLang="ja-JP" sz="900" b="1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" altLang="ja-JP" sz="900" b="0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011020 (2021)</a:t>
              </a:r>
              <a:endParaRPr lang="ja-JP" altLang="en-US" sz="9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9A58AF82-FF59-3166-5A05-108423EF63BB}"/>
                </a:ext>
              </a:extLst>
            </p:cNvPr>
            <p:cNvSpPr txBox="1"/>
            <p:nvPr/>
          </p:nvSpPr>
          <p:spPr>
            <a:xfrm>
              <a:off x="1258225" y="2390133"/>
              <a:ext cx="662754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Nested commutators in the low-energy subspace in the Trotter error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9" name="Picture 4" descr="\begin{align*}&#10;  \sum_{\gamma_0,\cdots,\gamma_q} \| \Pi_{\leq \Delta}[H_{\gamma_q},[\cdots,[H_{\gamma_1},H_{\gamma_0}]]] \Pi_{\leq\Delta}\| \leq q! (2kg)^q \Delta&#10;\end{align*}">
              <a:extLst>
                <a:ext uri="{FF2B5EF4-FFF2-40B4-BE49-F238E27FC236}">
                  <a16:creationId xmlns:a16="http://schemas.microsoft.com/office/drawing/2014/main" id="{7890D06A-8D1A-5B7E-9384-58ED0DA820D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23013" b="-30304"/>
            <a:stretch>
              <a:fillRect/>
            </a:stretch>
          </p:blipFill>
          <p:spPr bwMode="auto">
            <a:xfrm>
              <a:off x="2575368" y="2972450"/>
              <a:ext cx="3736955" cy="62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テキスト ボックス 9">
              <a:extLst>
                <a:ext uri="{FF2B5EF4-FFF2-40B4-BE49-F238E27FC236}">
                  <a16:creationId xmlns:a16="http://schemas.microsoft.com/office/drawing/2014/main" id="{A1F2883D-9D23-B537-47B7-6A2C0CD112FC}"/>
                </a:ext>
              </a:extLst>
            </p:cNvPr>
            <p:cNvSpPr txBox="1"/>
            <p:nvPr/>
          </p:nvSpPr>
          <p:spPr>
            <a:xfrm>
              <a:off x="434302" y="3685291"/>
              <a:ext cx="2362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Known bound </a:t>
              </a:r>
            </a:p>
            <a:p>
              <a:pPr algn="r"/>
              <a:r>
                <a:rPr kumimoji="1" lang="en-US" altLang="ja-JP" sz="1600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arbitrary states</a:t>
              </a:r>
              <a:endParaRPr kumimoji="1" lang="ja-JP" altLang="en-US" sz="1600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1" name="テキスト ボックス 10">
              <a:extLst>
                <a:ext uri="{FF2B5EF4-FFF2-40B4-BE49-F238E27FC236}">
                  <a16:creationId xmlns:a16="http://schemas.microsoft.com/office/drawing/2014/main" id="{D859832E-917A-781A-F380-9890F06ADFCD}"/>
                </a:ext>
              </a:extLst>
            </p:cNvPr>
            <p:cNvSpPr txBox="1"/>
            <p:nvPr/>
          </p:nvSpPr>
          <p:spPr>
            <a:xfrm>
              <a:off x="6973342" y="3828113"/>
              <a:ext cx="207989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Reflect the locality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B8A2E71-75C5-7CF3-5536-ECEF500DE3E3}"/>
              </a:ext>
            </a:extLst>
          </p:cNvPr>
          <p:cNvGrpSpPr/>
          <p:nvPr/>
        </p:nvGrpSpPr>
        <p:grpSpPr>
          <a:xfrm>
            <a:off x="434302" y="4547316"/>
            <a:ext cx="8600093" cy="1865042"/>
            <a:chOff x="434302" y="4547316"/>
            <a:chExt cx="8600093" cy="1865042"/>
          </a:xfrm>
        </p:grpSpPr>
        <p:pic>
          <p:nvPicPr>
            <p:cNvPr id="3076" name="Picture 4" descr="\begin{align*}&#10;  \sum_{\gamma_0,\cdots,\gamma_q} \| \Pi_{\leq \Delta}[H_{\gamma_q},[\cdots,[H_{\gamma_1},H_{\gamma_0}]]] \Pi_{\leq\Delta}\| \leq q! (2kg)^q \Delta&#10;\end{align*}">
              <a:extLst>
                <a:ext uri="{FF2B5EF4-FFF2-40B4-BE49-F238E27FC236}">
                  <a16:creationId xmlns:a16="http://schemas.microsoft.com/office/drawing/2014/main" id="{3C4E60F2-79B5-3026-7E9B-F4B4DEAAB2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1313" y="5530589"/>
              <a:ext cx="5208562" cy="5118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18" name="Picture 2" descr="\begin{align*}&#10;  \lesssim \mathcal{O} (\Delta^{p+1})&#10;\end{align*}">
              <a:extLst>
                <a:ext uri="{FF2B5EF4-FFF2-40B4-BE49-F238E27FC236}">
                  <a16:creationId xmlns:a16="http://schemas.microsoft.com/office/drawing/2014/main" id="{825A3ED0-912F-AD70-DA0F-44FCF9D4FC6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8651" y="4696847"/>
              <a:ext cx="1019853" cy="23456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E46A8E33-94AE-ADE9-6687-913F20021FB7}"/>
                </a:ext>
              </a:extLst>
            </p:cNvPr>
            <p:cNvSpPr txBox="1"/>
            <p:nvPr/>
          </p:nvSpPr>
          <p:spPr>
            <a:xfrm>
              <a:off x="434302" y="4547316"/>
              <a:ext cx="2362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Known bound </a:t>
              </a:r>
            </a:p>
            <a:p>
              <a:pPr algn="r"/>
              <a:r>
                <a:rPr kumimoji="1" lang="en-US" altLang="ja-JP" sz="1600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low-energy states</a:t>
              </a:r>
              <a:endParaRPr kumimoji="1" lang="ja-JP" altLang="en-US" sz="1600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3" name="Picture 4" descr="\begin{align*}&#10;  \sum_{\gamma_0,\cdots,\gamma_q} \| \Pi_{\leq \Delta}[H_{\gamma_q},[\cdots,[H_{\gamma_1},H_{\gamma_0}]]] \Pi_{\leq\Delta}\| \leq q! (2kg)^q \Delta&#10;\end{align*}">
              <a:extLst>
                <a:ext uri="{FF2B5EF4-FFF2-40B4-BE49-F238E27FC236}">
                  <a16:creationId xmlns:a16="http://schemas.microsoft.com/office/drawing/2014/main" id="{F78F2012-A7F3-D13B-EFC4-62ABC54DC6F0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23013" b="-30304"/>
            <a:stretch>
              <a:fillRect/>
            </a:stretch>
          </p:blipFill>
          <p:spPr bwMode="auto">
            <a:xfrm>
              <a:off x="2861312" y="4656137"/>
              <a:ext cx="3736955" cy="62152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7B63D888-AA42-9E67-F4CB-9B614A8CCCDC}"/>
                </a:ext>
              </a:extLst>
            </p:cNvPr>
            <p:cNvSpPr txBox="1"/>
            <p:nvPr/>
          </p:nvSpPr>
          <p:spPr>
            <a:xfrm>
              <a:off x="4729789" y="5043330"/>
              <a:ext cx="43046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Reflect the low energy but neglect the locality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32BAFD2F-3B2B-59E0-4DA7-841129E098AE}"/>
                </a:ext>
              </a:extLst>
            </p:cNvPr>
            <p:cNvSpPr txBox="1"/>
            <p:nvPr/>
          </p:nvSpPr>
          <p:spPr>
            <a:xfrm>
              <a:off x="434302" y="5450144"/>
              <a:ext cx="2362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Our new bound </a:t>
              </a:r>
            </a:p>
            <a:p>
              <a:pPr algn="r"/>
              <a:r>
                <a:rPr kumimoji="1" lang="en-US" altLang="ja-JP" sz="16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low-energy states</a:t>
              </a:r>
              <a:endParaRPr kumimoji="1" lang="ja-JP" altLang="en-US" sz="16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4FCE187D-343B-3921-A5DC-0462AF672B38}"/>
                </a:ext>
              </a:extLst>
            </p:cNvPr>
            <p:cNvSpPr txBox="1"/>
            <p:nvPr/>
          </p:nvSpPr>
          <p:spPr>
            <a:xfrm>
              <a:off x="782109" y="6073804"/>
              <a:ext cx="356256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6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Reflect the low energy &amp; the locality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5C4091A-8A06-609D-999A-EBCADACFDA7C}"/>
                    </a:ext>
                  </a:extLst>
                </p:cNvPr>
                <p:cNvSpPr txBox="1"/>
                <p:nvPr/>
              </p:nvSpPr>
              <p:spPr>
                <a:xfrm>
                  <a:off x="5465594" y="6072365"/>
                  <a:ext cx="345736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1400" dirty="0">
                      <a:solidFill>
                        <a:schemeClr val="bg1">
                          <a:lumMod val="50000"/>
                        </a:schemeClr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Reproduce the arbitrary-state case at </a:t>
                  </a:r>
                  <a14:m>
                    <m:oMath xmlns:m="http://schemas.openxmlformats.org/officeDocument/2006/math">
                      <m:r>
                        <a:rPr kumimoji="1" lang="en-US" altLang="ja-JP" sz="140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  <m:r>
                        <a:rPr kumimoji="1" lang="en-US" altLang="ja-JP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ja-JP" sz="1400" b="0" i="1" smtClean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𝑁𝑔</m:t>
                      </m:r>
                    </m:oMath>
                  </a14:m>
                  <a:endParaRPr kumimoji="1" lang="ja-JP" altLang="en-US" sz="140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8" name="テキスト ボックス 27">
                  <a:extLst>
                    <a:ext uri="{FF2B5EF4-FFF2-40B4-BE49-F238E27FC236}">
                      <a16:creationId xmlns:a16="http://schemas.microsoft.com/office/drawing/2014/main" id="{15C4091A-8A06-609D-999A-EBCADACFDA7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5594" y="6072365"/>
                  <a:ext cx="3457361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733" t="-4000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D9D87B2F-8C19-5A16-DEF0-F16C68163C59}"/>
                </a:ext>
              </a:extLst>
            </p:cNvPr>
            <p:cNvSpPr txBox="1"/>
            <p:nvPr/>
          </p:nvSpPr>
          <p:spPr>
            <a:xfrm>
              <a:off x="500593" y="5098003"/>
              <a:ext cx="24274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81021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C704D-1FDC-DD3F-A801-38F3213B1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E6406767-8376-75E2-89FD-F5DB7441FDE5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II-5.  Our results: Derivation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3F7FEA0C-C1EC-F019-BA5A-534F150FBAAF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18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3F7FEA0C-C1EC-F019-BA5A-534F150FB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4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75BDE667-BE89-50D2-E8EE-2A8A3CCEA94A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E7A108-0B0A-B6BC-4506-F81D75B14141}"/>
                  </a:ext>
                </a:extLst>
              </p:cNvPr>
              <p:cNvSpPr txBox="1"/>
              <p:nvPr/>
            </p:nvSpPr>
            <p:spPr>
              <a:xfrm>
                <a:off x="256604" y="1223396"/>
                <a:ext cx="3592333" cy="3693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(2) Origin of the improved 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-scaling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80E7A108-0B0A-B6BC-4506-F81D75B141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604" y="1223396"/>
                <a:ext cx="3592333" cy="369332"/>
              </a:xfrm>
              <a:prstGeom prst="rect">
                <a:avLst/>
              </a:prstGeom>
              <a:blipFill>
                <a:blip r:embed="rId9"/>
                <a:stretch>
                  <a:fillRect l="-1413" t="-6667" r="-106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C19A573B-42F6-D23B-25E0-66B2A47010CA}"/>
              </a:ext>
            </a:extLst>
          </p:cNvPr>
          <p:cNvGrpSpPr/>
          <p:nvPr/>
        </p:nvGrpSpPr>
        <p:grpSpPr>
          <a:xfrm>
            <a:off x="317541" y="1797953"/>
            <a:ext cx="8599374" cy="2646084"/>
            <a:chOff x="317541" y="1797953"/>
            <a:chExt cx="8599374" cy="2646084"/>
          </a:xfrm>
        </p:grpSpPr>
        <p:sp>
          <p:nvSpPr>
            <p:cNvPr id="3" name="正方形/長方形 2">
              <a:extLst>
                <a:ext uri="{FF2B5EF4-FFF2-40B4-BE49-F238E27FC236}">
                  <a16:creationId xmlns:a16="http://schemas.microsoft.com/office/drawing/2014/main" id="{7FA87286-F952-E308-30F5-AE8E42BB6312}"/>
                </a:ext>
              </a:extLst>
            </p:cNvPr>
            <p:cNvSpPr/>
            <p:nvPr/>
          </p:nvSpPr>
          <p:spPr>
            <a:xfrm>
              <a:off x="4259755" y="3326099"/>
              <a:ext cx="2369147" cy="14502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5" name="テキスト ボックス 44">
              <a:extLst>
                <a:ext uri="{FF2B5EF4-FFF2-40B4-BE49-F238E27FC236}">
                  <a16:creationId xmlns:a16="http://schemas.microsoft.com/office/drawing/2014/main" id="{2B51FF9E-FC02-5B42-4672-5360B0932CBF}"/>
                </a:ext>
              </a:extLst>
            </p:cNvPr>
            <p:cNvSpPr txBox="1"/>
            <p:nvPr/>
          </p:nvSpPr>
          <p:spPr>
            <a:xfrm>
              <a:off x="372212" y="1823950"/>
              <a:ext cx="583106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Leakage from the low-energy subspace by the Trotter error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43A51F8A-7439-32CD-31BE-F5DCD0322713}"/>
                    </a:ext>
                  </a:extLst>
                </p:cNvPr>
                <p:cNvSpPr txBox="1"/>
                <p:nvPr/>
              </p:nvSpPr>
              <p:spPr>
                <a:xfrm>
                  <a:off x="473763" y="2751708"/>
                  <a:ext cx="3954801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Leakage by any </a:t>
                  </a:r>
                  <a:r>
                    <a:rPr kumimoji="1" lang="en-US" altLang="ja-JP" sz="1400" b="1" u="sng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local operator</a:t>
                  </a:r>
                  <a:r>
                    <a:rPr kumimoji="1" lang="en-US" altLang="ja-JP" sz="14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𝑶</m:t>
                          </m:r>
                        </m:e>
                        <m:sub>
                          <m:r>
                            <a:rPr kumimoji="1" lang="en-US" altLang="ja-JP" sz="1400" b="1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𝑿</m:t>
                          </m:r>
                        </m:sub>
                      </m:sSub>
                    </m:oMath>
                  </a14:m>
                  <a:r>
                    <a:rPr kumimoji="1" lang="en-US" altLang="ja-JP" sz="14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is suppressed:</a:t>
                  </a:r>
                  <a:endParaRPr kumimoji="1" lang="ja-JP" altLang="en-US" sz="1400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4" name="テキスト ボックス 13">
                  <a:extLst>
                    <a:ext uri="{FF2B5EF4-FFF2-40B4-BE49-F238E27FC236}">
                      <a16:creationId xmlns:a16="http://schemas.microsoft.com/office/drawing/2014/main" id="{43A51F8A-7439-32CD-31BE-F5DCD03227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3763" y="2751708"/>
                  <a:ext cx="3954801" cy="307777"/>
                </a:xfrm>
                <a:prstGeom prst="rect">
                  <a:avLst/>
                </a:prstGeom>
                <a:blipFill>
                  <a:blip r:embed="rId10"/>
                  <a:stretch>
                    <a:fillRect l="-321" b="-24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11" name="Picture 4" descr="\begin{align*}&#10;  \| \Pi_{&gt;\Delta'} (e^{-iH\tau}-T_p(\tau)) \Pi_{\leq \Delta} \| \lesssim \sum_{\gamma_0,\cdots,\gamma_q} \| \Pi_{&gt;\Delta'} [H_{\gamma_q},[\cdots,[H_{\gamma_1},H_{\gamma_0}]]] \Pi_{\leq \Delta} \| \tau^{p+1} \leq \mathcal{O} \left( (g\tau)^{p+1} N e^{\frac{\Delta'-\Delta}{g}}\right)&#10;\end{align*}">
              <a:extLst>
                <a:ext uri="{FF2B5EF4-FFF2-40B4-BE49-F238E27FC236}">
                  <a16:creationId xmlns:a16="http://schemas.microsoft.com/office/drawing/2014/main" id="{8235B37C-8F51-0F1B-3E24-63DE3496746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71664" b="-15293"/>
            <a:stretch>
              <a:fillRect/>
            </a:stretch>
          </p:blipFill>
          <p:spPr bwMode="auto">
            <a:xfrm>
              <a:off x="6113371" y="1797953"/>
              <a:ext cx="2665268" cy="6344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813335D5-86D2-5A10-9CBA-E64A2685CD23}"/>
                </a:ext>
              </a:extLst>
            </p:cNvPr>
            <p:cNvSpPr/>
            <p:nvPr/>
          </p:nvSpPr>
          <p:spPr>
            <a:xfrm>
              <a:off x="317541" y="2595438"/>
              <a:ext cx="6665084" cy="988437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テキスト ボックス 11">
              <a:extLst>
                <a:ext uri="{FF2B5EF4-FFF2-40B4-BE49-F238E27FC236}">
                  <a16:creationId xmlns:a16="http://schemas.microsoft.com/office/drawing/2014/main" id="{7498854E-0C3B-1CDF-3096-1198F1680259}"/>
                </a:ext>
              </a:extLst>
            </p:cNvPr>
            <p:cNvSpPr txBox="1"/>
            <p:nvPr/>
          </p:nvSpPr>
          <p:spPr>
            <a:xfrm>
              <a:off x="473764" y="2415781"/>
              <a:ext cx="2509232" cy="30777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b="1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Evaluation: Hastings’ theorem</a:t>
              </a:r>
              <a:endParaRPr kumimoji="1" lang="ja-JP" altLang="en-US" sz="14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" name="テキスト ボックス 1">
              <a:extLst>
                <a:ext uri="{FF2B5EF4-FFF2-40B4-BE49-F238E27FC236}">
                  <a16:creationId xmlns:a16="http://schemas.microsoft.com/office/drawing/2014/main" id="{8E387BCD-CBD8-303A-E8C7-E7AA5ECD902E}"/>
                </a:ext>
              </a:extLst>
            </p:cNvPr>
            <p:cNvSpPr txBox="1"/>
            <p:nvPr/>
          </p:nvSpPr>
          <p:spPr>
            <a:xfrm>
              <a:off x="2976989" y="2422349"/>
              <a:ext cx="3014462" cy="26161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>
              <a:spAutoFit/>
            </a:bodyPr>
            <a:lstStyle/>
            <a:p>
              <a:r>
                <a:rPr lang="en" altLang="ja-JP" sz="11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I. Arad, et al., J. Stat. Mech. 2016, 033301 (2016).</a:t>
              </a:r>
              <a:endParaRPr lang="ja-JP" altLang="en-US" sz="11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5366" name="Picture 6" descr="\begin{align*}&#10;  \| \Pi_{&gt; \Delta'} O_X \Pi_{\leq \Delta} \| \leq \epsilon \quad \text{if} \quad \Delta'-\Delta \in \Omega (g |X| + g\log (\|O_X\|/\epsilon))&#10;\end{align*}">
              <a:extLst>
                <a:ext uri="{FF2B5EF4-FFF2-40B4-BE49-F238E27FC236}">
                  <a16:creationId xmlns:a16="http://schemas.microsoft.com/office/drawing/2014/main" id="{4CA5A068-3E94-4F62-FE04-7EAA62BB06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7106" y="3177456"/>
              <a:ext cx="5761797" cy="23907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テキスト ボックス 6">
              <a:extLst>
                <a:ext uri="{FF2B5EF4-FFF2-40B4-BE49-F238E27FC236}">
                  <a16:creationId xmlns:a16="http://schemas.microsoft.com/office/drawing/2014/main" id="{F5AF5860-3C88-210D-F38B-6AFEAD1E0D8D}"/>
                </a:ext>
              </a:extLst>
            </p:cNvPr>
            <p:cNvSpPr txBox="1"/>
            <p:nvPr/>
          </p:nvSpPr>
          <p:spPr>
            <a:xfrm>
              <a:off x="5008340" y="3333445"/>
              <a:ext cx="73939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solidFill>
                    <a:schemeClr val="accent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Leakage</a:t>
              </a:r>
              <a:endParaRPr kumimoji="1" lang="ja-JP" altLang="en-US" sz="120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grpSp>
          <p:nvGrpSpPr>
            <p:cNvPr id="16" name="グループ化 15">
              <a:extLst>
                <a:ext uri="{FF2B5EF4-FFF2-40B4-BE49-F238E27FC236}">
                  <a16:creationId xmlns:a16="http://schemas.microsoft.com/office/drawing/2014/main" id="{EB7A3414-BA6E-EF20-7E72-CC3F86948DA3}"/>
                </a:ext>
              </a:extLst>
            </p:cNvPr>
            <p:cNvGrpSpPr/>
            <p:nvPr/>
          </p:nvGrpSpPr>
          <p:grpSpPr>
            <a:xfrm>
              <a:off x="7104545" y="2449289"/>
              <a:ext cx="1812370" cy="1994748"/>
              <a:chOff x="7104545" y="2449289"/>
              <a:chExt cx="1812370" cy="1994748"/>
            </a:xfrm>
          </p:grpSpPr>
          <p:pic>
            <p:nvPicPr>
              <p:cNvPr id="51" name="図 50">
                <a:extLst>
                  <a:ext uri="{FF2B5EF4-FFF2-40B4-BE49-F238E27FC236}">
                    <a16:creationId xmlns:a16="http://schemas.microsoft.com/office/drawing/2014/main" id="{465A6E80-0FA0-F0FA-96D2-26E25491E1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7104545" y="2449289"/>
                <a:ext cx="1812370" cy="1994748"/>
              </a:xfrm>
              <a:prstGeom prst="rect">
                <a:avLst/>
              </a:prstGeom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F2418FEF-7A72-EE00-A0D1-9D09C29DF145}"/>
                      </a:ext>
                    </a:extLst>
                  </p:cNvPr>
                  <p:cNvSpPr txBox="1"/>
                  <p:nvPr/>
                </p:nvSpPr>
                <p:spPr>
                  <a:xfrm>
                    <a:off x="7226047" y="3543604"/>
                    <a:ext cx="195246" cy="21544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kumimoji="1" lang="en-US" altLang="ja-JP" sz="140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kumimoji="1" lang="el-GR" altLang="ja-JP" sz="140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Δ</m:t>
                              </m:r>
                            </m:e>
                            <m:sup>
                              <m:r>
                                <a:rPr kumimoji="1" lang="en-US" altLang="ja-JP" sz="1400" b="0" i="1" smtClean="0">
                                  <a:latin typeface="Cambria Math" panose="02040503050406030204" pitchFamily="18" charset="0"/>
                                </a:rPr>
                                <m:t>′</m:t>
                              </m:r>
                            </m:sup>
                          </m:sSup>
                        </m:oMath>
                      </m:oMathPara>
                    </a14:m>
                    <a:endParaRPr kumimoji="1" lang="ja-JP" altLang="en-US" sz="1400"/>
                  </a:p>
                </p:txBody>
              </p:sp>
            </mc:Choice>
            <mc:Fallback xmlns="">
              <p:sp>
                <p:nvSpPr>
                  <p:cNvPr id="9" name="テキスト ボックス 8">
                    <a:extLst>
                      <a:ext uri="{FF2B5EF4-FFF2-40B4-BE49-F238E27FC236}">
                        <a16:creationId xmlns:a16="http://schemas.microsoft.com/office/drawing/2014/main" id="{F2418FEF-7A72-EE00-A0D1-9D09C29DF14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226047" y="3543604"/>
                    <a:ext cx="195246" cy="215444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l="-17647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0AE88864-6CDB-59C5-88FC-6C4AF3A55ADD}"/>
              </a:ext>
            </a:extLst>
          </p:cNvPr>
          <p:cNvGrpSpPr/>
          <p:nvPr/>
        </p:nvGrpSpPr>
        <p:grpSpPr>
          <a:xfrm>
            <a:off x="250928" y="3704247"/>
            <a:ext cx="8801455" cy="2595815"/>
            <a:chOff x="250928" y="3704247"/>
            <a:chExt cx="8801455" cy="2595815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1F93CA2D-D1C7-BA2C-7F0D-2FC4F06D0A32}"/>
                </a:ext>
              </a:extLst>
            </p:cNvPr>
            <p:cNvSpPr/>
            <p:nvPr/>
          </p:nvSpPr>
          <p:spPr>
            <a:xfrm>
              <a:off x="7039288" y="5386514"/>
              <a:ext cx="2013095" cy="1600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4" name="正方形/長方形 3">
              <a:extLst>
                <a:ext uri="{FF2B5EF4-FFF2-40B4-BE49-F238E27FC236}">
                  <a16:creationId xmlns:a16="http://schemas.microsoft.com/office/drawing/2014/main" id="{8FC7544A-631D-A12D-8962-C1F756FCE4A5}"/>
                </a:ext>
              </a:extLst>
            </p:cNvPr>
            <p:cNvSpPr/>
            <p:nvPr/>
          </p:nvSpPr>
          <p:spPr>
            <a:xfrm>
              <a:off x="5378036" y="4287848"/>
              <a:ext cx="1726509" cy="160097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66F56E6E-55BD-1299-5419-0B07F101F9FC}"/>
                </a:ext>
              </a:extLst>
            </p:cNvPr>
            <p:cNvSpPr/>
            <p:nvPr/>
          </p:nvSpPr>
          <p:spPr>
            <a:xfrm>
              <a:off x="3526980" y="4320246"/>
              <a:ext cx="480308" cy="1277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7" name="正方形/長方形 16">
              <a:extLst>
                <a:ext uri="{FF2B5EF4-FFF2-40B4-BE49-F238E27FC236}">
                  <a16:creationId xmlns:a16="http://schemas.microsoft.com/office/drawing/2014/main" id="{6166AFF8-30EC-CD41-130C-E496B4C2A015}"/>
                </a:ext>
              </a:extLst>
            </p:cNvPr>
            <p:cNvSpPr/>
            <p:nvPr/>
          </p:nvSpPr>
          <p:spPr>
            <a:xfrm>
              <a:off x="3912887" y="5412629"/>
              <a:ext cx="1759924" cy="154586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9220" name="Picture 4" descr="\begin{align*}&#10;  \| \Pi_{&gt;\Delta'} (e^{-iH\tau}-T_p(\tau)) \Pi_{\leq \Delta} \| \lesssim \sum_{\gamma_0,\cdots,\gamma_q} \| \Pi_{&gt;\Delta'} [H_{\gamma_q},[\cdots,[H_{\gamma_1},H_{\gamma_0}]]] \Pi_{\leq \Delta} \| \tau^{p+1} \leq \mathcal{O} \left( (g\tau)^{p+1} N e^{\frac{\Delta'-\Delta}{g}}\right)&#10;\end{align*}">
              <a:extLst>
                <a:ext uri="{FF2B5EF4-FFF2-40B4-BE49-F238E27FC236}">
                  <a16:creationId xmlns:a16="http://schemas.microsoft.com/office/drawing/2014/main" id="{9491D8F7-B920-AD22-8162-E54C2591E013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3091" b="-12796"/>
            <a:stretch/>
          </p:blipFill>
          <p:spPr bwMode="auto">
            <a:xfrm>
              <a:off x="366536" y="5198631"/>
              <a:ext cx="5836740" cy="5008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222" name="Picture 6" descr="\begin{align*}&#10;  \| \Pi_{&gt;\Delta'} (e^{-iH\tau}-T_p(\tau)) \Pi_{\leq \Delta} \| = \| \Pi_{&gt;\Delta'} T_p(\tau) \Pi_{\leq \Delta} \|  \leq \mathcal{O} \left( e^{-\frac{\Delta'-\Delta}{g} + (g\tau)^{p+1}N}\right)&#10;\end{align*}">
              <a:extLst>
                <a:ext uri="{FF2B5EF4-FFF2-40B4-BE49-F238E27FC236}">
                  <a16:creationId xmlns:a16="http://schemas.microsoft.com/office/drawing/2014/main" id="{7E7152C8-3E3B-2A2F-99FC-57AF33F73A1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33174" b="-37349"/>
            <a:stretch>
              <a:fillRect/>
            </a:stretch>
          </p:blipFill>
          <p:spPr bwMode="auto">
            <a:xfrm>
              <a:off x="474578" y="4097709"/>
              <a:ext cx="4065517" cy="4888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921925EE-56BC-2175-93AD-F73677CE6364}"/>
                </a:ext>
              </a:extLst>
            </p:cNvPr>
            <p:cNvSpPr txBox="1"/>
            <p:nvPr/>
          </p:nvSpPr>
          <p:spPr>
            <a:xfrm>
              <a:off x="4422880" y="5428715"/>
              <a:ext cx="78385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Local op.</a:t>
              </a:r>
              <a:endParaRPr kumimoji="1" lang="ja-JP" alt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0" name="テキスト ボックス 19">
              <a:extLst>
                <a:ext uri="{FF2B5EF4-FFF2-40B4-BE49-F238E27FC236}">
                  <a16:creationId xmlns:a16="http://schemas.microsoft.com/office/drawing/2014/main" id="{E9DE47CF-2EC9-4D5F-8915-18FFAD00AAC3}"/>
                </a:ext>
              </a:extLst>
            </p:cNvPr>
            <p:cNvSpPr txBox="1"/>
            <p:nvPr/>
          </p:nvSpPr>
          <p:spPr>
            <a:xfrm>
              <a:off x="3297032" y="4434317"/>
              <a:ext cx="124306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200" dirty="0">
                  <a:solidFill>
                    <a:schemeClr val="accent6">
                      <a:lumMod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Non-local op.</a:t>
              </a:r>
              <a:endParaRPr kumimoji="1" lang="ja-JP" altLang="en-US" sz="1200">
                <a:solidFill>
                  <a:schemeClr val="accent6">
                    <a:lumMod val="50000"/>
                  </a:schemeClr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B3B71018-CF4A-FD38-EBC3-95FF88057E5C}"/>
                </a:ext>
              </a:extLst>
            </p:cNvPr>
            <p:cNvSpPr txBox="1"/>
            <p:nvPr/>
          </p:nvSpPr>
          <p:spPr>
            <a:xfrm>
              <a:off x="256604" y="3704247"/>
              <a:ext cx="147970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Known bounds</a:t>
              </a:r>
              <a:endParaRPr kumimoji="1" lang="ja-JP" altLang="en-US" sz="1600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5" name="Picture 4" descr="\begin{align*}&#10;  \| \Pi_{&gt; \Delta'} O_X \Pi_{\leq \Delta} \| \leq \epsilon \quad \text{if} \quad \Delta'-\Delta \in \Omega (|X| g \log (\|O_X\|/\epsilon))&#10;\end{align*}">
              <a:extLst>
                <a:ext uri="{FF2B5EF4-FFF2-40B4-BE49-F238E27FC236}">
                  <a16:creationId xmlns:a16="http://schemas.microsoft.com/office/drawing/2014/main" id="{CEA72205-23B4-E94C-FAA4-9CF779B1ED1F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26" t="-68368" r="56060" b="-37022"/>
            <a:stretch>
              <a:fillRect/>
            </a:stretch>
          </p:blipFill>
          <p:spPr bwMode="auto">
            <a:xfrm>
              <a:off x="4558764" y="4022869"/>
              <a:ext cx="782088" cy="446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F404F6E5-6DD9-16FB-72CA-0607B97DBC1E}"/>
                </a:ext>
              </a:extLst>
            </p:cNvPr>
            <p:cNvSpPr txBox="1"/>
            <p:nvPr/>
          </p:nvSpPr>
          <p:spPr>
            <a:xfrm>
              <a:off x="250928" y="4692287"/>
              <a:ext cx="562028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Our new bound </a:t>
              </a:r>
              <a:r>
                <a:rPr kumimoji="1" lang="ja-JP" altLang="en-US" sz="16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→</a:t>
              </a:r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Reflect the locality from commutator scaling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8" name="Picture 4" descr="\begin{align*}&#10;  \| \Pi_{&gt; \Delta'} O_X \Pi_{\leq \Delta} \| \leq \epsilon \quad \text{if} \quad \Delta'-\Delta \in \Omega (|X| g \log (\|O_X\|/\epsilon))&#10;\end{align*}">
              <a:extLst>
                <a:ext uri="{FF2B5EF4-FFF2-40B4-BE49-F238E27FC236}">
                  <a16:creationId xmlns:a16="http://schemas.microsoft.com/office/drawing/2014/main" id="{6B089C76-70F8-4317-C8BA-57CC7745857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026" t="-68368" r="56060" b="-37022"/>
            <a:stretch>
              <a:fillRect/>
            </a:stretch>
          </p:blipFill>
          <p:spPr bwMode="auto">
            <a:xfrm>
              <a:off x="6269740" y="5143846"/>
              <a:ext cx="718325" cy="41044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368" name="Picture 8" descr="\begin{align*}&#10;  \Delta'-\Delta \in \Omega ((g\tau)^p Ng)&#10;\end{align*}">
              <a:extLst>
                <a:ext uri="{FF2B5EF4-FFF2-40B4-BE49-F238E27FC236}">
                  <a16:creationId xmlns:a16="http://schemas.microsoft.com/office/drawing/2014/main" id="{B89D280D-31A7-8D0C-259B-3104BD36643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8851" y="4189966"/>
              <a:ext cx="1668510" cy="1865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9" name="テキスト ボックス 28">
              <a:extLst>
                <a:ext uri="{FF2B5EF4-FFF2-40B4-BE49-F238E27FC236}">
                  <a16:creationId xmlns:a16="http://schemas.microsoft.com/office/drawing/2014/main" id="{25E57F51-0A09-795B-A05A-28BCCB314B79}"/>
                </a:ext>
              </a:extLst>
            </p:cNvPr>
            <p:cNvSpPr txBox="1"/>
            <p:nvPr/>
          </p:nvSpPr>
          <p:spPr>
            <a:xfrm>
              <a:off x="1635673" y="3763532"/>
              <a:ext cx="2427461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0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026" name="Picture 2" descr="\begin{align*}&#10;  \Delta' - \Delta \in \Omega (g \log (N/\epsilon)) &#10;\end{align*}">
              <a:extLst>
                <a:ext uri="{FF2B5EF4-FFF2-40B4-BE49-F238E27FC236}">
                  <a16:creationId xmlns:a16="http://schemas.microsoft.com/office/drawing/2014/main" id="{505172D4-4A52-9C5F-ADBD-DCDEC5C3262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04545" y="5286466"/>
              <a:ext cx="1882582" cy="1951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F9E35B17-0F66-4642-9431-684DA4B073C6}"/>
                </a:ext>
              </a:extLst>
            </p:cNvPr>
            <p:cNvSpPr txBox="1"/>
            <p:nvPr/>
          </p:nvSpPr>
          <p:spPr>
            <a:xfrm>
              <a:off x="1225053" y="5930730"/>
              <a:ext cx="6518333" cy="36933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Leakage by the Trotter error is exponentially suppressed by locality ! 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02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7C93B8-AE91-AB94-FE19-F6CB54F89B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78CCB86-5964-C647-EFE6-E5A77B158F7E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II-6.  Our results: Cost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010AABD2-CB47-4E54-F636-5C3EAFD76CA5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19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010AABD2-CB47-4E54-F636-5C3EAFD76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D7C27E05-ADB6-597F-6B64-74432B648CAF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22" name="グループ化 21">
            <a:extLst>
              <a:ext uri="{FF2B5EF4-FFF2-40B4-BE49-F238E27FC236}">
                <a16:creationId xmlns:a16="http://schemas.microsoft.com/office/drawing/2014/main" id="{CDB11BAC-5333-215F-C8D6-BBF2C70725D0}"/>
              </a:ext>
            </a:extLst>
          </p:cNvPr>
          <p:cNvGrpSpPr/>
          <p:nvPr/>
        </p:nvGrpSpPr>
        <p:grpSpPr>
          <a:xfrm>
            <a:off x="181350" y="2432093"/>
            <a:ext cx="8745223" cy="2110225"/>
            <a:chOff x="181350" y="2432093"/>
            <a:chExt cx="8745223" cy="2110225"/>
          </a:xfrm>
        </p:grpSpPr>
        <p:sp>
          <p:nvSpPr>
            <p:cNvPr id="10" name="正方形/長方形 9">
              <a:extLst>
                <a:ext uri="{FF2B5EF4-FFF2-40B4-BE49-F238E27FC236}">
                  <a16:creationId xmlns:a16="http://schemas.microsoft.com/office/drawing/2014/main" id="{114AF7A7-7671-4DF0-3D31-C692EF5FD0AD}"/>
                </a:ext>
              </a:extLst>
            </p:cNvPr>
            <p:cNvSpPr/>
            <p:nvPr/>
          </p:nvSpPr>
          <p:spPr>
            <a:xfrm>
              <a:off x="7380319" y="3956231"/>
              <a:ext cx="1151840" cy="11969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9" name="正方形/長方形 8">
              <a:extLst>
                <a:ext uri="{FF2B5EF4-FFF2-40B4-BE49-F238E27FC236}">
                  <a16:creationId xmlns:a16="http://schemas.microsoft.com/office/drawing/2014/main" id="{E359F3C2-6B88-242D-26F5-0F1DE5054363}"/>
                </a:ext>
              </a:extLst>
            </p:cNvPr>
            <p:cNvSpPr/>
            <p:nvPr/>
          </p:nvSpPr>
          <p:spPr>
            <a:xfrm>
              <a:off x="4886174" y="4108421"/>
              <a:ext cx="1192712" cy="18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" name="正方形/長方形 11">
              <a:extLst>
                <a:ext uri="{FF2B5EF4-FFF2-40B4-BE49-F238E27FC236}">
                  <a16:creationId xmlns:a16="http://schemas.microsoft.com/office/drawing/2014/main" id="{68DB0FB3-26B6-B135-1773-24108BB791F4}"/>
                </a:ext>
              </a:extLst>
            </p:cNvPr>
            <p:cNvSpPr/>
            <p:nvPr/>
          </p:nvSpPr>
          <p:spPr>
            <a:xfrm>
              <a:off x="4942909" y="3359638"/>
              <a:ext cx="356235" cy="1437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1" name="正方形/長方形 10">
              <a:extLst>
                <a:ext uri="{FF2B5EF4-FFF2-40B4-BE49-F238E27FC236}">
                  <a16:creationId xmlns:a16="http://schemas.microsoft.com/office/drawing/2014/main" id="{07CCF02C-102B-AA01-B886-7AE7B9903805}"/>
                </a:ext>
              </a:extLst>
            </p:cNvPr>
            <p:cNvSpPr/>
            <p:nvPr/>
          </p:nvSpPr>
          <p:spPr>
            <a:xfrm>
              <a:off x="7454074" y="3119647"/>
              <a:ext cx="356235" cy="1437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4" name="Picture 2" descr="\begin{align*}&#10;  gt \left( \frac{Ngt}{\varepsilon}\right)^{\frac1p}&#10;\end{align*}">
              <a:extLst>
                <a:ext uri="{FF2B5EF4-FFF2-40B4-BE49-F238E27FC236}">
                  <a16:creationId xmlns:a16="http://schemas.microsoft.com/office/drawing/2014/main" id="{3E8520FE-6067-D6B4-A789-7BBC501D4A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1873" y="2979615"/>
              <a:ext cx="1040638" cy="56762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8987CBDA-5675-E624-EB31-FD69B64CE669}"/>
                </a:ext>
              </a:extLst>
            </p:cNvPr>
            <p:cNvSpPr txBox="1"/>
            <p:nvPr/>
          </p:nvSpPr>
          <p:spPr>
            <a:xfrm>
              <a:off x="239966" y="3054815"/>
              <a:ext cx="232645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1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arbitrary initial state</a:t>
              </a:r>
              <a:endParaRPr kumimoji="1" lang="ja-JP" altLang="en-US" sz="1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cxnSp>
          <p:nvCxnSpPr>
            <p:cNvPr id="37" name="直線コネクタ 36">
              <a:extLst>
                <a:ext uri="{FF2B5EF4-FFF2-40B4-BE49-F238E27FC236}">
                  <a16:creationId xmlns:a16="http://schemas.microsoft.com/office/drawing/2014/main" id="{8D4BA13C-990E-A611-007C-96AAF2A79575}"/>
                </a:ext>
              </a:extLst>
            </p:cNvPr>
            <p:cNvCxnSpPr>
              <a:cxnSpLocks/>
            </p:cNvCxnSpPr>
            <p:nvPr/>
          </p:nvCxnSpPr>
          <p:spPr>
            <a:xfrm>
              <a:off x="3104880" y="2964178"/>
              <a:ext cx="0" cy="157814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テキスト ボックス 37">
              <a:extLst>
                <a:ext uri="{FF2B5EF4-FFF2-40B4-BE49-F238E27FC236}">
                  <a16:creationId xmlns:a16="http://schemas.microsoft.com/office/drawing/2014/main" id="{84D4097D-CEBA-1A3C-EB7C-2DEAFACEF497}"/>
                </a:ext>
              </a:extLst>
            </p:cNvPr>
            <p:cNvSpPr txBox="1"/>
            <p:nvPr/>
          </p:nvSpPr>
          <p:spPr>
            <a:xfrm>
              <a:off x="239966" y="3326835"/>
              <a:ext cx="2600770" cy="25391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50" b="0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A. M. Childs, et al., PRX </a:t>
              </a:r>
              <a:r>
                <a:rPr lang="en" altLang="ja-JP" sz="1050" b="1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11</a:t>
              </a:r>
              <a:r>
                <a:rPr lang="en" altLang="ja-JP" sz="1050" b="0" i="0" dirty="0">
                  <a:solidFill>
                    <a:srgbClr val="002060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rPr>
                <a:t>, 011020 (2021)</a:t>
              </a:r>
              <a:endParaRPr lang="ja-JP" altLang="en-US" sz="105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44" name="直線コネクタ 43">
              <a:extLst>
                <a:ext uri="{FF2B5EF4-FFF2-40B4-BE49-F238E27FC236}">
                  <a16:creationId xmlns:a16="http://schemas.microsoft.com/office/drawing/2014/main" id="{9F64F9B8-0167-A5D2-6C00-E3B471F02540}"/>
                </a:ext>
              </a:extLst>
            </p:cNvPr>
            <p:cNvCxnSpPr>
              <a:cxnSpLocks/>
            </p:cNvCxnSpPr>
            <p:nvPr/>
          </p:nvCxnSpPr>
          <p:spPr>
            <a:xfrm>
              <a:off x="204718" y="3709173"/>
              <a:ext cx="8721855" cy="0"/>
            </a:xfrm>
            <a:prstGeom prst="line">
              <a:avLst/>
            </a:prstGeom>
            <a:ln w="12700">
              <a:solidFill>
                <a:schemeClr val="accent2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A1DCA6B-055F-004A-46B4-35F203BA01EE}"/>
                    </a:ext>
                  </a:extLst>
                </p:cNvPr>
                <p:cNvSpPr txBox="1"/>
                <p:nvPr/>
              </p:nvSpPr>
              <p:spPr>
                <a:xfrm>
                  <a:off x="3303017" y="2539896"/>
                  <a:ext cx="2953168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1400" b="1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Error bound for small time </a:t>
                  </a:r>
                  <a14:m>
                    <m:oMath xmlns:m="http://schemas.openxmlformats.org/officeDocument/2006/math"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𝝉</m:t>
                      </m:r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𝒕</m:t>
                      </m:r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𝒓</m:t>
                      </m:r>
                    </m:oMath>
                  </a14:m>
                  <a:endParaRPr kumimoji="1" lang="ja-JP" altLang="en-US" sz="1400" b="1" u="sng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2" name="テキスト ボックス 61">
                  <a:extLst>
                    <a:ext uri="{FF2B5EF4-FFF2-40B4-BE49-F238E27FC236}">
                      <a16:creationId xmlns:a16="http://schemas.microsoft.com/office/drawing/2014/main" id="{8A1DCA6B-055F-004A-46B4-35F203BA01E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303017" y="2539896"/>
                  <a:ext cx="2953168" cy="307777"/>
                </a:xfrm>
                <a:prstGeom prst="rect">
                  <a:avLst/>
                </a:prstGeom>
                <a:blipFill>
                  <a:blip r:embed="rId5"/>
                  <a:stretch>
                    <a:fillRect t="-4000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00E6F464-A7B5-E5CF-FB91-DB3A97CE6366}"/>
                    </a:ext>
                  </a:extLst>
                </p:cNvPr>
                <p:cNvSpPr txBox="1"/>
                <p:nvPr/>
              </p:nvSpPr>
              <p:spPr>
                <a:xfrm>
                  <a:off x="6454321" y="2432093"/>
                  <a:ext cx="2326450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1400" b="1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Trotter number </a:t>
                  </a:r>
                  <a14:m>
                    <m:oMath xmlns:m="http://schemas.openxmlformats.org/officeDocument/2006/math">
                      <m:r>
                        <a:rPr kumimoji="1" lang="en-US" altLang="ja-JP" sz="1400" b="1" i="1" u="sng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𝒓</m:t>
                      </m:r>
                    </m:oMath>
                  </a14:m>
                  <a:r>
                    <a:rPr kumimoji="1" lang="en-US" altLang="ja-JP" sz="1400" b="1" u="sng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(complexity)</a:t>
                  </a:r>
                  <a:endParaRPr kumimoji="1" lang="ja-JP" altLang="en-US" sz="1400" b="1" u="sng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63" name="テキスト ボックス 62">
                  <a:extLst>
                    <a:ext uri="{FF2B5EF4-FFF2-40B4-BE49-F238E27FC236}">
                      <a16:creationId xmlns:a16="http://schemas.microsoft.com/office/drawing/2014/main" id="{00E6F464-A7B5-E5CF-FB91-DB3A97CE63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54321" y="2432093"/>
                  <a:ext cx="2326450" cy="523220"/>
                </a:xfrm>
                <a:prstGeom prst="rect">
                  <a:avLst/>
                </a:prstGeom>
                <a:blipFill>
                  <a:blip r:embed="rId6"/>
                  <a:stretch>
                    <a:fillRect t="-2381" b="-952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" name="正方形/長方形 15">
              <a:extLst>
                <a:ext uri="{FF2B5EF4-FFF2-40B4-BE49-F238E27FC236}">
                  <a16:creationId xmlns:a16="http://schemas.microsoft.com/office/drawing/2014/main" id="{65A0383C-0807-A100-25D9-FBC8F471AE5C}"/>
                </a:ext>
              </a:extLst>
            </p:cNvPr>
            <p:cNvSpPr/>
            <p:nvPr/>
          </p:nvSpPr>
          <p:spPr>
            <a:xfrm>
              <a:off x="6947326" y="3941376"/>
              <a:ext cx="268483" cy="1243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3" name="正方形/長方形 12">
              <a:extLst>
                <a:ext uri="{FF2B5EF4-FFF2-40B4-BE49-F238E27FC236}">
                  <a16:creationId xmlns:a16="http://schemas.microsoft.com/office/drawing/2014/main" id="{FD84F7AF-0569-48E3-A34A-4C2110757F33}"/>
                </a:ext>
              </a:extLst>
            </p:cNvPr>
            <p:cNvSpPr/>
            <p:nvPr/>
          </p:nvSpPr>
          <p:spPr>
            <a:xfrm>
              <a:off x="4430308" y="4106926"/>
              <a:ext cx="221206" cy="1806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5" name="Picture 4" descr="\begin{align*}&#10;  gt \left( \frac{(\Delta + g \log (N/\varepsilon))t}{\varepsilon}\right)^{\frac1p}&#10;\end{align*}">
              <a:extLst>
                <a:ext uri="{FF2B5EF4-FFF2-40B4-BE49-F238E27FC236}">
                  <a16:creationId xmlns:a16="http://schemas.microsoft.com/office/drawing/2014/main" id="{EF4B2C63-B41A-FBA2-380B-EA3A1D62E87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24693" y="3797543"/>
              <a:ext cx="2212848" cy="55321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" name="Picture 6" descr="\begin{align*}&#10;  \| (e^{-iH\tau} - T_p(\tau)) \Pi_{\leq \Delta} \| \leq \mathcal{O} \left( (g\tau)^p \{\Delta+g \log (N/\epsilon)\} \tau \right) + \epsilon&#10;\end{align*}">
              <a:extLst>
                <a:ext uri="{FF2B5EF4-FFF2-40B4-BE49-F238E27FC236}">
                  <a16:creationId xmlns:a16="http://schemas.microsoft.com/office/drawing/2014/main" id="{1BC41B84-156E-5358-71B9-AC6ED2DDB77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3692" t="3887" r="6347" b="-38834"/>
            <a:stretch/>
          </p:blipFill>
          <p:spPr bwMode="auto">
            <a:xfrm>
              <a:off x="3553832" y="4002874"/>
              <a:ext cx="2525054" cy="322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1444ADA9-BD0B-4E9A-17FA-6B7F028F7FD2}"/>
                    </a:ext>
                  </a:extLst>
                </p:cNvPr>
                <p:cNvSpPr txBox="1"/>
                <p:nvPr/>
              </p:nvSpPr>
              <p:spPr>
                <a:xfrm>
                  <a:off x="181350" y="3870810"/>
                  <a:ext cx="2633453" cy="52322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sz="14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For low-energy state (</a:t>
                  </a:r>
                  <a14:m>
                    <m:oMath xmlns:m="http://schemas.openxmlformats.org/officeDocument/2006/math">
                      <m:r>
                        <a:rPr kumimoji="1" lang="en-US" altLang="ja-JP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≤</m:t>
                      </m:r>
                      <m:r>
                        <a:rPr kumimoji="1" lang="el-GR" altLang="ja-JP" sz="1400" b="1" i="1" smtClean="0">
                          <a:solidFill>
                            <a:schemeClr val="accent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𝜟</m:t>
                      </m:r>
                    </m:oMath>
                  </a14:m>
                  <a:r>
                    <a:rPr kumimoji="1" lang="en-US" altLang="ja-JP" sz="14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)</a:t>
                  </a:r>
                </a:p>
                <a:p>
                  <a:pPr algn="ctr"/>
                  <a:r>
                    <a:rPr kumimoji="1" lang="en-US" altLang="ja-JP" sz="1400" b="1" dirty="0">
                      <a:solidFill>
                        <a:schemeClr val="accent2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Our result</a:t>
                  </a:r>
                </a:p>
              </p:txBody>
            </p:sp>
          </mc:Choice>
          <mc:Fallback xmlns="">
            <p:sp>
              <p:nvSpPr>
                <p:cNvPr id="4" name="テキスト ボックス 3">
                  <a:extLst>
                    <a:ext uri="{FF2B5EF4-FFF2-40B4-BE49-F238E27FC236}">
                      <a16:creationId xmlns:a16="http://schemas.microsoft.com/office/drawing/2014/main" id="{1444ADA9-BD0B-4E9A-17FA-6B7F028F7FD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1350" y="3870810"/>
                  <a:ext cx="2633453" cy="523220"/>
                </a:xfrm>
                <a:prstGeom prst="rect">
                  <a:avLst/>
                </a:prstGeom>
                <a:blipFill>
                  <a:blip r:embed="rId9"/>
                  <a:stretch>
                    <a:fillRect t="-2326" b="-697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pic>
          <p:nvPicPr>
            <p:cNvPr id="7" name="Picture 2" descr="\begin{align*}&#10;  \leq \mathcal{O} \left( (g\tau)^p Ng \tau \right)&#10;\end{align*}">
              <a:extLst>
                <a:ext uri="{FF2B5EF4-FFF2-40B4-BE49-F238E27FC236}">
                  <a16:creationId xmlns:a16="http://schemas.microsoft.com/office/drawing/2014/main" id="{3B07E7E9-0B37-4239-0C47-219C01E3D41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419" t="-36699" b="-1"/>
            <a:stretch/>
          </p:blipFill>
          <p:spPr bwMode="auto">
            <a:xfrm>
              <a:off x="4141613" y="3161462"/>
              <a:ext cx="1324965" cy="2944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9" name="図 18">
            <a:extLst>
              <a:ext uri="{FF2B5EF4-FFF2-40B4-BE49-F238E27FC236}">
                <a16:creationId xmlns:a16="http://schemas.microsoft.com/office/drawing/2014/main" id="{3C08AAD9-C664-355B-A1FE-47DFF4F053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9856" y="1180747"/>
            <a:ext cx="2040905" cy="1170377"/>
          </a:xfrm>
          <a:prstGeom prst="rect">
            <a:avLst/>
          </a:prstGeom>
        </p:spPr>
      </p:pic>
      <p:pic>
        <p:nvPicPr>
          <p:cNvPr id="2050" name="Picture 2" descr="\begin{align*}&#10;  r \times \left\| (e^{-iHt/r}-T_p(t/r)) \Pi_{\leq \Delta} \right\| \leq \varepsilon&#10;\end{align*}">
            <a:extLst>
              <a:ext uri="{FF2B5EF4-FFF2-40B4-BE49-F238E27FC236}">
                <a16:creationId xmlns:a16="http://schemas.microsoft.com/office/drawing/2014/main" id="{F1511390-4672-CB4B-49E0-BF399AB980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191" y="1867425"/>
            <a:ext cx="3685643" cy="4517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D5E12217-036D-8CED-739C-74C6744DEAA5}"/>
              </a:ext>
            </a:extLst>
          </p:cNvPr>
          <p:cNvSpPr txBox="1"/>
          <p:nvPr/>
        </p:nvSpPr>
        <p:spPr>
          <a:xfrm>
            <a:off x="204718" y="1227656"/>
            <a:ext cx="3531736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Determination of the complexity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23" name="グループ化 22">
            <a:extLst>
              <a:ext uri="{FF2B5EF4-FFF2-40B4-BE49-F238E27FC236}">
                <a16:creationId xmlns:a16="http://schemas.microsoft.com/office/drawing/2014/main" id="{B90ECFD0-6976-E16F-56F7-98341B6B673F}"/>
              </a:ext>
            </a:extLst>
          </p:cNvPr>
          <p:cNvGrpSpPr/>
          <p:nvPr/>
        </p:nvGrpSpPr>
        <p:grpSpPr>
          <a:xfrm>
            <a:off x="318058" y="4725117"/>
            <a:ext cx="8783952" cy="1655968"/>
            <a:chOff x="318058" y="4725117"/>
            <a:chExt cx="8783952" cy="1655968"/>
          </a:xfrm>
        </p:grpSpPr>
        <p:sp>
          <p:nvSpPr>
            <p:cNvPr id="33" name="正方形/長方形 32">
              <a:extLst>
                <a:ext uri="{FF2B5EF4-FFF2-40B4-BE49-F238E27FC236}">
                  <a16:creationId xmlns:a16="http://schemas.microsoft.com/office/drawing/2014/main" id="{9E1B15DF-F116-AB64-C402-D51BCF390B12}"/>
                </a:ext>
              </a:extLst>
            </p:cNvPr>
            <p:cNvSpPr/>
            <p:nvPr/>
          </p:nvSpPr>
          <p:spPr>
            <a:xfrm>
              <a:off x="318058" y="4811216"/>
              <a:ext cx="6793807" cy="14669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17" name="図 16">
              <a:extLst>
                <a:ext uri="{FF2B5EF4-FFF2-40B4-BE49-F238E27FC236}">
                  <a16:creationId xmlns:a16="http://schemas.microsoft.com/office/drawing/2014/main" id="{6EA0F590-6527-A401-A6F3-9F03AEAD9916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597445" y="4725117"/>
              <a:ext cx="1504565" cy="1655968"/>
            </a:xfrm>
            <a:prstGeom prst="rect">
              <a:avLst/>
            </a:prstGeom>
          </p:spPr>
        </p:pic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E46C67B7-4541-72D9-CCAB-512CB03E7C84}"/>
                </a:ext>
              </a:extLst>
            </p:cNvPr>
            <p:cNvSpPr txBox="1"/>
            <p:nvPr/>
          </p:nvSpPr>
          <p:spPr>
            <a:xfrm>
              <a:off x="390348" y="5865154"/>
              <a:ext cx="606397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✔︎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The cost becomes smaller in the low-energy regime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9" name="Picture 2" descr="\begin{align*}&#10;  \Delta \in o(Ng)&#10;\end{align*}">
              <a:extLst>
                <a:ext uri="{FF2B5EF4-FFF2-40B4-BE49-F238E27FC236}">
                  <a16:creationId xmlns:a16="http://schemas.microsoft.com/office/drawing/2014/main" id="{5D091296-E3E8-5335-D9A8-39CEF088E4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2953" y="5942465"/>
              <a:ext cx="1005465" cy="21470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FA56FDE2-9EB7-D75C-2A52-35DE9B1A7F2A}"/>
                </a:ext>
              </a:extLst>
            </p:cNvPr>
            <p:cNvSpPr/>
            <p:nvPr/>
          </p:nvSpPr>
          <p:spPr>
            <a:xfrm>
              <a:off x="3311732" y="5540031"/>
              <a:ext cx="221206" cy="180626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235AEAA2-0E26-3201-0F1F-AF3F1E77FEA4}"/>
                </a:ext>
              </a:extLst>
            </p:cNvPr>
            <p:cNvSpPr/>
            <p:nvPr/>
          </p:nvSpPr>
          <p:spPr>
            <a:xfrm>
              <a:off x="5088834" y="5537077"/>
              <a:ext cx="1069919" cy="180626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659EA837-2FFB-4CD2-A630-9DA9779EC5FB}"/>
                    </a:ext>
                  </a:extLst>
                </p:cNvPr>
                <p:cNvSpPr txBox="1"/>
                <p:nvPr/>
              </p:nvSpPr>
              <p:spPr>
                <a:xfrm>
                  <a:off x="1199017" y="5339228"/>
                  <a:ext cx="535492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Initial state energy </a:t>
                  </a:r>
                  <a14:m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+ Small leakage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𝑔</m:t>
                      </m:r>
                      <m:func>
                        <m:funcPr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kumimoji="1" lang="en-US" altLang="ja-JP" b="0" i="0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(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𝑁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/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𝜀</m:t>
                          </m:r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ea typeface="YuKyokasho Medium" panose="02000500000000000000" pitchFamily="2" charset="-128"/>
                              <a:cs typeface="Times New Roman" panose="02020603050405020304" pitchFamily="18" charset="0"/>
                            </a:rPr>
                            <m:t>)</m:t>
                          </m:r>
                        </m:e>
                      </m:func>
                    </m:oMath>
                  </a14:m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1" name="テキスト ボックス 30">
                  <a:extLst>
                    <a:ext uri="{FF2B5EF4-FFF2-40B4-BE49-F238E27FC236}">
                      <a16:creationId xmlns:a16="http://schemas.microsoft.com/office/drawing/2014/main" id="{659EA837-2FFB-4CD2-A630-9DA9779EC5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99017" y="5339228"/>
                  <a:ext cx="5354923" cy="369332"/>
                </a:xfrm>
                <a:prstGeom prst="rect">
                  <a:avLst/>
                </a:prstGeom>
                <a:blipFill>
                  <a:blip r:embed="rId15"/>
                  <a:stretch>
                    <a:fillRect t="-6667" b="-2333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D9921995-3B57-C234-6458-55E045864363}"/>
                </a:ext>
              </a:extLst>
            </p:cNvPr>
            <p:cNvSpPr/>
            <p:nvPr/>
          </p:nvSpPr>
          <p:spPr>
            <a:xfrm>
              <a:off x="3104880" y="5095049"/>
              <a:ext cx="356235" cy="14377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DF1524F1-AEDB-0216-0800-ECD472063789}"/>
                    </a:ext>
                  </a:extLst>
                </p:cNvPr>
                <p:cNvSpPr txBox="1"/>
                <p:nvPr/>
              </p:nvSpPr>
              <p:spPr>
                <a:xfrm>
                  <a:off x="390347" y="4893762"/>
                  <a:ext cx="582533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140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✔︎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The whole-system energy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𝑁𝑔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is replaced by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0" name="テキスト ボックス 29">
                  <a:extLst>
                    <a:ext uri="{FF2B5EF4-FFF2-40B4-BE49-F238E27FC236}">
                      <a16:creationId xmlns:a16="http://schemas.microsoft.com/office/drawing/2014/main" id="{DF1524F1-AEDB-0216-0800-ECD4720637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47" y="4893762"/>
                  <a:ext cx="5825339" cy="369332"/>
                </a:xfrm>
                <a:prstGeom prst="rect">
                  <a:avLst/>
                </a:prstGeom>
                <a:blipFill>
                  <a:blip r:embed="rId16"/>
                  <a:stretch>
                    <a:fillRect l="-217" t="-6667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733252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0352F0-26EB-0928-80A7-88D106DD4D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正方形/長方形 11">
            <a:extLst>
              <a:ext uri="{FF2B5EF4-FFF2-40B4-BE49-F238E27FC236}">
                <a16:creationId xmlns:a16="http://schemas.microsoft.com/office/drawing/2014/main" id="{5107E246-64CE-0076-827E-80C730FDE6B1}"/>
              </a:ext>
            </a:extLst>
          </p:cNvPr>
          <p:cNvSpPr/>
          <p:nvPr/>
        </p:nvSpPr>
        <p:spPr>
          <a:xfrm>
            <a:off x="4942909" y="2037598"/>
            <a:ext cx="356235" cy="143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11DF62B-EDEB-88D4-15A2-14E6488B4671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II-6.  Our results: Cost comparison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FB5D0DDB-6955-17BC-D251-E492CC4623B2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20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FB5D0DDB-6955-17BC-D251-E492CC462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265AF85-A969-1FA9-EA64-1E8FA361F68A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46F95D52-44E9-5CF0-962A-EA9DB1FCFC7B}"/>
              </a:ext>
            </a:extLst>
          </p:cNvPr>
          <p:cNvSpPr/>
          <p:nvPr/>
        </p:nvSpPr>
        <p:spPr>
          <a:xfrm>
            <a:off x="7454074" y="1797607"/>
            <a:ext cx="356235" cy="14377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4" name="Picture 2" descr="\begin{align*}&#10;  gt \left( \frac{Ngt}{\varepsilon}\right)^{\frac1p}&#10;\end{align*}">
            <a:extLst>
              <a:ext uri="{FF2B5EF4-FFF2-40B4-BE49-F238E27FC236}">
                <a16:creationId xmlns:a16="http://schemas.microsoft.com/office/drawing/2014/main" id="{FAE271D8-0E46-51FA-1199-4123DF5431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1873" y="1657575"/>
            <a:ext cx="1040638" cy="567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4" descr="\begin{align*}&#10;    \Delta t \left(\frac{\Delta t}{\varepsilon}\right)^{\frac1p}+ gt \left( \frac{N^{p+1}gt}{\varepsilon}\right)^{\frac1{(p+1)^2+p}}&#10;\end{align*}">
            <a:extLst>
              <a:ext uri="{FF2B5EF4-FFF2-40B4-BE49-F238E27FC236}">
                <a16:creationId xmlns:a16="http://schemas.microsoft.com/office/drawing/2014/main" id="{8B41C0D0-6B4D-D40F-EC24-DA28A550F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9186" y="3271496"/>
            <a:ext cx="2228324" cy="4064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8" descr="\begin{align*}&#10;   \Delta t \left(\frac{\Delta t}{\varepsilon}\right)^{\frac1p}+ gt \left(\frac{gt}{\varepsilon}\right)^{\frac1{2p+1}} N^{\frac12+\frac1{4p+2}}&#10;\end{align*}">
            <a:extLst>
              <a:ext uri="{FF2B5EF4-FFF2-40B4-BE49-F238E27FC236}">
                <a16:creationId xmlns:a16="http://schemas.microsoft.com/office/drawing/2014/main" id="{56675D82-6120-DA28-C2E2-D6A70AA07E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00123" y="2584425"/>
            <a:ext cx="2326450" cy="410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DC1AA74-0816-6B58-54BD-4261DD0CF2EE}"/>
              </a:ext>
            </a:extLst>
          </p:cNvPr>
          <p:cNvSpPr txBox="1"/>
          <p:nvPr/>
        </p:nvSpPr>
        <p:spPr>
          <a:xfrm>
            <a:off x="239966" y="1732775"/>
            <a:ext cx="23264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1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arbitrary initial state</a:t>
            </a:r>
            <a:endParaRPr kumimoji="1" lang="ja-JP" altLang="en-US" sz="1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cxnSp>
        <p:nvCxnSpPr>
          <p:cNvPr id="37" name="直線コネクタ 36">
            <a:extLst>
              <a:ext uri="{FF2B5EF4-FFF2-40B4-BE49-F238E27FC236}">
                <a16:creationId xmlns:a16="http://schemas.microsoft.com/office/drawing/2014/main" id="{DB323007-8A63-0AFA-30B8-7606E14000B7}"/>
              </a:ext>
            </a:extLst>
          </p:cNvPr>
          <p:cNvCxnSpPr>
            <a:cxnSpLocks/>
          </p:cNvCxnSpPr>
          <p:nvPr/>
        </p:nvCxnSpPr>
        <p:spPr>
          <a:xfrm>
            <a:off x="3104880" y="1642138"/>
            <a:ext cx="0" cy="291137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A9915314-C02A-B276-8147-DD1213A87CFA}"/>
              </a:ext>
            </a:extLst>
          </p:cNvPr>
          <p:cNvSpPr txBox="1"/>
          <p:nvPr/>
        </p:nvSpPr>
        <p:spPr>
          <a:xfrm>
            <a:off x="239966" y="2004795"/>
            <a:ext cx="2600770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A. M. Childs, et al., PRX </a:t>
            </a:r>
            <a:r>
              <a:rPr lang="en" altLang="ja-JP" sz="1050" b="1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r>
            <a:r>
              <a:rPr lang="en" altLang="ja-JP" sz="1050" b="0" i="0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011020 (2021)</a:t>
            </a:r>
            <a:endParaRPr lang="ja-JP" altLang="en-US" sz="105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05F60E79-49D0-B372-94C5-F5ADB7111C48}"/>
                  </a:ext>
                </a:extLst>
              </p:cNvPr>
              <p:cNvSpPr txBox="1"/>
              <p:nvPr/>
            </p:nvSpPr>
            <p:spPr>
              <a:xfrm>
                <a:off x="167779" y="2465400"/>
                <a:ext cx="26334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For low-energy state (</a:t>
                </a:r>
                <a14:m>
                  <m:oMath xmlns:m="http://schemas.openxmlformats.org/officeDocument/2006/math">
                    <m:r>
                      <a:rPr kumimoji="1" lang="en-US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kumimoji="1" lang="el-GR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kumimoji="1" lang="en-US" altLang="ja-JP" sz="1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0" name="テキスト ボックス 39">
                <a:extLst>
                  <a:ext uri="{FF2B5EF4-FFF2-40B4-BE49-F238E27FC236}">
                    <a16:creationId xmlns:a16="http://schemas.microsoft.com/office/drawing/2014/main" id="{677B6AC6-4BB3-1E8B-23F3-882D5FCBB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9" y="2465400"/>
                <a:ext cx="2633453" cy="307777"/>
              </a:xfrm>
              <a:prstGeom prst="rect">
                <a:avLst/>
              </a:prstGeom>
              <a:blipFill>
                <a:blip r:embed="rId8"/>
                <a:stretch>
                  <a:fillRect b="-1923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B87E81E0-56CF-7A6E-4950-FC356FD87773}"/>
              </a:ext>
            </a:extLst>
          </p:cNvPr>
          <p:cNvSpPr txBox="1"/>
          <p:nvPr/>
        </p:nvSpPr>
        <p:spPr>
          <a:xfrm>
            <a:off x="178054" y="2762589"/>
            <a:ext cx="269536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B.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Şahinoğlu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et al., </a:t>
            </a:r>
            <a:r>
              <a:rPr lang="en" altLang="ja-JP" sz="1000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Npj</a:t>
            </a:r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Quantum Info. (2021)</a:t>
            </a:r>
          </a:p>
        </p:txBody>
      </p:sp>
      <p:sp>
        <p:nvSpPr>
          <p:cNvPr id="42" name="テキスト ボックス 41">
            <a:extLst>
              <a:ext uri="{FF2B5EF4-FFF2-40B4-BE49-F238E27FC236}">
                <a16:creationId xmlns:a16="http://schemas.microsoft.com/office/drawing/2014/main" id="{EC0EEFF9-2520-7B52-BF16-399AAAEF60A2}"/>
              </a:ext>
            </a:extLst>
          </p:cNvPr>
          <p:cNvSpPr txBox="1"/>
          <p:nvPr/>
        </p:nvSpPr>
        <p:spPr>
          <a:xfrm>
            <a:off x="282171" y="3466048"/>
            <a:ext cx="242746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K. Hejazi, at al., arXiv:2402.10362 (2024) </a:t>
            </a:r>
            <a:endParaRPr lang="ja-JP" altLang="en-US" sz="10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4055FA3A-E497-406C-A224-A03FCDD8134A}"/>
                  </a:ext>
                </a:extLst>
              </p:cNvPr>
              <p:cNvSpPr txBox="1"/>
              <p:nvPr/>
            </p:nvSpPr>
            <p:spPr>
              <a:xfrm>
                <a:off x="157795" y="3147645"/>
                <a:ext cx="263345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For low-energy state (</a:t>
                </a:r>
                <a14:m>
                  <m:oMath xmlns:m="http://schemas.openxmlformats.org/officeDocument/2006/math">
                    <m:r>
                      <a:rPr kumimoji="1" lang="en-US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kumimoji="1" lang="el-GR" altLang="ja-JP" sz="1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kumimoji="1" lang="en-US" altLang="ja-JP" sz="14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 xmlns="">
          <p:sp>
            <p:nvSpPr>
              <p:cNvPr id="43" name="テキスト ボックス 42">
                <a:extLst>
                  <a:ext uri="{FF2B5EF4-FFF2-40B4-BE49-F238E27FC236}">
                    <a16:creationId xmlns:a16="http://schemas.microsoft.com/office/drawing/2014/main" id="{A03A1A02-2256-5A5A-8A3F-0D2DCB775F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795" y="3147645"/>
                <a:ext cx="2633453" cy="307777"/>
              </a:xfrm>
              <a:prstGeom prst="rect">
                <a:avLst/>
              </a:prstGeom>
              <a:blipFill>
                <a:blip r:embed="rId9"/>
                <a:stretch>
                  <a:fillRect t="-3846" b="-1538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4E6F7D62-7314-0EF0-32D3-A790D1855077}"/>
              </a:ext>
            </a:extLst>
          </p:cNvPr>
          <p:cNvCxnSpPr>
            <a:cxnSpLocks/>
          </p:cNvCxnSpPr>
          <p:nvPr/>
        </p:nvCxnSpPr>
        <p:spPr>
          <a:xfrm>
            <a:off x="204718" y="2387133"/>
            <a:ext cx="8721855" cy="0"/>
          </a:xfrm>
          <a:prstGeom prst="line">
            <a:avLst/>
          </a:prstGeom>
          <a:ln w="12700">
            <a:solidFill>
              <a:schemeClr val="accent2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5C9057E1-791E-58C7-F88D-01989735E181}"/>
                  </a:ext>
                </a:extLst>
              </p:cNvPr>
              <p:cNvSpPr txBox="1"/>
              <p:nvPr/>
            </p:nvSpPr>
            <p:spPr>
              <a:xfrm>
                <a:off x="3303017" y="1217856"/>
                <a:ext cx="295316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Error bound for small time </a:t>
                </a:r>
                <a14:m>
                  <m:oMath xmlns:m="http://schemas.openxmlformats.org/officeDocument/2006/math"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𝝉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𝒕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/</m:t>
                    </m:r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endParaRPr kumimoji="1" lang="ja-JP" altLang="en-US" sz="1400" b="1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2" name="テキスト ボックス 61">
                <a:extLst>
                  <a:ext uri="{FF2B5EF4-FFF2-40B4-BE49-F238E27FC236}">
                    <a16:creationId xmlns:a16="http://schemas.microsoft.com/office/drawing/2014/main" id="{8A1DCA6B-055F-004A-46B4-35F203BA01E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3017" y="1217856"/>
                <a:ext cx="2953168" cy="307777"/>
              </a:xfrm>
              <a:prstGeom prst="rect">
                <a:avLst/>
              </a:prstGeom>
              <a:blipFill>
                <a:blip r:embed="rId10"/>
                <a:stretch>
                  <a:fillRect t="-4000" b="-2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53ECEB1B-4BD9-D3D4-4BB6-8A917B0AEC13}"/>
                  </a:ext>
                </a:extLst>
              </p:cNvPr>
              <p:cNvSpPr txBox="1"/>
              <p:nvPr/>
            </p:nvSpPr>
            <p:spPr>
              <a:xfrm>
                <a:off x="6454321" y="1110053"/>
                <a:ext cx="23264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Trotter number </a:t>
                </a:r>
                <a14:m>
                  <m:oMath xmlns:m="http://schemas.openxmlformats.org/officeDocument/2006/math">
                    <m:r>
                      <a:rPr kumimoji="1" lang="en-US" altLang="ja-JP" sz="1400" b="1" i="1" u="sng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r>
                  <a:rPr kumimoji="1" lang="en-US" altLang="ja-JP" sz="1400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(complexity)</a:t>
                </a:r>
                <a:endParaRPr kumimoji="1" lang="ja-JP" altLang="en-US" sz="1400" b="1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テキスト ボックス 62">
                <a:extLst>
                  <a:ext uri="{FF2B5EF4-FFF2-40B4-BE49-F238E27FC236}">
                    <a16:creationId xmlns:a16="http://schemas.microsoft.com/office/drawing/2014/main" id="{00E6F464-A7B5-E5CF-FB91-DB3A97CE63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4321" y="1110053"/>
                <a:ext cx="2326450" cy="523220"/>
              </a:xfrm>
              <a:prstGeom prst="rect">
                <a:avLst/>
              </a:prstGeom>
              <a:blipFill>
                <a:blip r:embed="rId11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Picture 4" descr="\begin{align*}&#10;  gt \left( \frac{(\Delta + g \log (N/\varepsilon))t}{\varepsilon}\right)^{\frac1p}&#10;\end{align*}">
            <a:extLst>
              <a:ext uri="{FF2B5EF4-FFF2-40B4-BE49-F238E27FC236}">
                <a16:creationId xmlns:a16="http://schemas.microsoft.com/office/drawing/2014/main" id="{62203C23-682E-0D65-9329-705A6ED587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1122" y="3957026"/>
            <a:ext cx="2212848" cy="5532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6" descr="\begin{align*}&#10;  \| (e^{-iH\tau} - T_p(\tau)) \Pi_{\leq \Delta} \| \leq \mathcal{O} \left( (g\tau)^p \{\Delta+g \log (N/\epsilon)\} \tau \right) + \epsilon&#10;\end{align*}">
            <a:extLst>
              <a:ext uri="{FF2B5EF4-FFF2-40B4-BE49-F238E27FC236}">
                <a16:creationId xmlns:a16="http://schemas.microsoft.com/office/drawing/2014/main" id="{6FF1D2EE-03C7-25CF-EC51-4F39B4F311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92" t="3887" r="6347" b="-38834"/>
          <a:stretch/>
        </p:blipFill>
        <p:spPr bwMode="auto">
          <a:xfrm>
            <a:off x="3540261" y="4162357"/>
            <a:ext cx="2525054" cy="3220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55DF426-75DC-ECAA-3ACF-CF4749FFA493}"/>
                  </a:ext>
                </a:extLst>
              </p:cNvPr>
              <p:cNvSpPr txBox="1"/>
              <p:nvPr/>
            </p:nvSpPr>
            <p:spPr>
              <a:xfrm>
                <a:off x="167779" y="4030293"/>
                <a:ext cx="2633453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1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For low-energy state (</a:t>
                </a:r>
                <a14:m>
                  <m:oMath xmlns:m="http://schemas.openxmlformats.org/officeDocument/2006/math">
                    <m:r>
                      <a:rPr kumimoji="1" lang="en-US" altLang="ja-JP" sz="1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≤</m:t>
                    </m:r>
                    <m:r>
                      <a:rPr kumimoji="1" lang="el-GR" altLang="ja-JP" sz="1400" b="1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𝜟</m:t>
                    </m:r>
                  </m:oMath>
                </a14:m>
                <a:r>
                  <a:rPr kumimoji="1" lang="en-US" altLang="ja-JP" sz="1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:r>
                  <a:rPr kumimoji="1" lang="en-US" altLang="ja-JP" sz="1400" b="1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Our result</a:t>
                </a: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555DF426-75DC-ECAA-3ACF-CF4749FFA4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779" y="4030293"/>
                <a:ext cx="2633453" cy="523220"/>
              </a:xfrm>
              <a:prstGeom prst="rect">
                <a:avLst/>
              </a:prstGeom>
              <a:blipFill>
                <a:blip r:embed="rId14"/>
                <a:stretch>
                  <a:fillRect t="-2381" b="-952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Picture 2" descr="\begin{align*}&#10;  \leq \mathcal{O} \left( (g\tau)^p Ng \tau \right)&#10;\end{align*}">
            <a:extLst>
              <a:ext uri="{FF2B5EF4-FFF2-40B4-BE49-F238E27FC236}">
                <a16:creationId xmlns:a16="http://schemas.microsoft.com/office/drawing/2014/main" id="{D54A5E10-3F1B-6F20-9E0D-0C1E79EFB91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419" t="-36699" b="-1"/>
          <a:stretch/>
        </p:blipFill>
        <p:spPr bwMode="auto">
          <a:xfrm>
            <a:off x="4141613" y="1839422"/>
            <a:ext cx="1324965" cy="294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4" descr="\begin{align*}&#10;  \leq \mathcal{O} \left(\{ (\Delta + (g\tau) Ng) \tau \}^{p+1}\right)&#10;\end{align*}">
            <a:extLst>
              <a:ext uri="{FF2B5EF4-FFF2-40B4-BE49-F238E27FC236}">
                <a16:creationId xmlns:a16="http://schemas.microsoft.com/office/drawing/2014/main" id="{AA7C1332-A0CA-611B-9796-87DD330D9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87" t="-5895"/>
          <a:stretch/>
        </p:blipFill>
        <p:spPr bwMode="auto">
          <a:xfrm>
            <a:off x="3540261" y="2607233"/>
            <a:ext cx="2261873" cy="257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\begin{align*}&#10;  \leq \mathcal{O} \left(\{ (\Delta + (g\tau)^{p+1} Ng) \tau \}^{p+1}\right)&#10;\end{align*}">
            <a:extLst>
              <a:ext uri="{FF2B5EF4-FFF2-40B4-BE49-F238E27FC236}">
                <a16:creationId xmlns:a16="http://schemas.microsoft.com/office/drawing/2014/main" id="{DCFDE817-E1DC-7D04-AD69-2D126B665A4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84"/>
          <a:stretch/>
        </p:blipFill>
        <p:spPr bwMode="auto">
          <a:xfrm>
            <a:off x="3540261" y="3334065"/>
            <a:ext cx="2525055" cy="2427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\begin{align*}&#10;  \leq \mathcal{O} \left(\{ (\Delta + (g\tau) Ng) \tau \}^{p+1}\right)&#10;\end{align*}">
            <a:extLst>
              <a:ext uri="{FF2B5EF4-FFF2-40B4-BE49-F238E27FC236}">
                <a16:creationId xmlns:a16="http://schemas.microsoft.com/office/drawing/2014/main" id="{45D5577F-B711-FB1D-74DD-10A348B4A87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029" t="-18651" b="-1"/>
          <a:stretch>
            <a:fillRect/>
          </a:stretch>
        </p:blipFill>
        <p:spPr bwMode="auto">
          <a:xfrm>
            <a:off x="3671411" y="2584425"/>
            <a:ext cx="2265756" cy="287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13B972CE-CAA6-5CEB-EB73-C4681C3C9E3A}"/>
              </a:ext>
            </a:extLst>
          </p:cNvPr>
          <p:cNvGrpSpPr/>
          <p:nvPr/>
        </p:nvGrpSpPr>
        <p:grpSpPr>
          <a:xfrm>
            <a:off x="318058" y="4605741"/>
            <a:ext cx="8405912" cy="1733096"/>
            <a:chOff x="318058" y="4605741"/>
            <a:chExt cx="8405912" cy="1733096"/>
          </a:xfrm>
        </p:grpSpPr>
        <p:sp>
          <p:nvSpPr>
            <p:cNvPr id="18" name="正方形/長方形 17">
              <a:extLst>
                <a:ext uri="{FF2B5EF4-FFF2-40B4-BE49-F238E27FC236}">
                  <a16:creationId xmlns:a16="http://schemas.microsoft.com/office/drawing/2014/main" id="{554DEEDA-258C-F7A7-DCC4-C65E2DFB5893}"/>
                </a:ext>
              </a:extLst>
            </p:cNvPr>
            <p:cNvSpPr/>
            <p:nvPr/>
          </p:nvSpPr>
          <p:spPr>
            <a:xfrm>
              <a:off x="318058" y="4811216"/>
              <a:ext cx="6793807" cy="146695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DA034725-3DB8-44C6-EAF7-58DF42D98D5A}"/>
                    </a:ext>
                  </a:extLst>
                </p:cNvPr>
                <p:cNvSpPr txBox="1"/>
                <p:nvPr/>
              </p:nvSpPr>
              <p:spPr>
                <a:xfrm>
                  <a:off x="390348" y="4893762"/>
                  <a:ext cx="5546820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140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✔︎</a:t>
                  </a:r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Polynomial speedup in </a:t>
                  </a:r>
                  <a14:m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&amp; Exponential speedup in 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19" name="テキスト ボックス 18">
                  <a:extLst>
                    <a:ext uri="{FF2B5EF4-FFF2-40B4-BE49-F238E27FC236}">
                      <a16:creationId xmlns:a16="http://schemas.microsoft.com/office/drawing/2014/main" id="{DA034725-3DB8-44C6-EAF7-58DF42D98D5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0348" y="4893762"/>
                  <a:ext cx="5546820" cy="369332"/>
                </a:xfrm>
                <a:prstGeom prst="rect">
                  <a:avLst/>
                </a:prstGeom>
                <a:blipFill>
                  <a:blip r:embed="rId19"/>
                  <a:stretch>
                    <a:fillRect l="-228" t="-6667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" name="テキスト ボックス 38">
              <a:extLst>
                <a:ext uri="{FF2B5EF4-FFF2-40B4-BE49-F238E27FC236}">
                  <a16:creationId xmlns:a16="http://schemas.microsoft.com/office/drawing/2014/main" id="{1858E644-C1D5-4D5B-B576-2A264661F29C}"/>
                </a:ext>
              </a:extLst>
            </p:cNvPr>
            <p:cNvSpPr txBox="1"/>
            <p:nvPr/>
          </p:nvSpPr>
          <p:spPr>
            <a:xfrm>
              <a:off x="390348" y="5387278"/>
              <a:ext cx="455256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 sz="14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✔︎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Extend the advantageous low-energy regime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45" name="Picture 2" descr="\begin{align*}&#10;  \Delta \in o(Ng)&#10;\end{align*}">
              <a:extLst>
                <a:ext uri="{FF2B5EF4-FFF2-40B4-BE49-F238E27FC236}">
                  <a16:creationId xmlns:a16="http://schemas.microsoft.com/office/drawing/2014/main" id="{5CE96689-F82E-9355-874E-3EB5D3C135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3845" y="5950457"/>
              <a:ext cx="838289" cy="1790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6" name="テキスト ボックス 45">
              <a:extLst>
                <a:ext uri="{FF2B5EF4-FFF2-40B4-BE49-F238E27FC236}">
                  <a16:creationId xmlns:a16="http://schemas.microsoft.com/office/drawing/2014/main" id="{E170024C-4EEC-2F10-D08D-44AE9779576A}"/>
                </a:ext>
              </a:extLst>
            </p:cNvPr>
            <p:cNvSpPr txBox="1"/>
            <p:nvPr/>
          </p:nvSpPr>
          <p:spPr>
            <a:xfrm>
              <a:off x="669564" y="5863500"/>
              <a:ext cx="263345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accent1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Previous: Speedup only in </a:t>
              </a:r>
            </a:p>
          </p:txBody>
        </p:sp>
        <p:pic>
          <p:nvPicPr>
            <p:cNvPr id="47" name="Picture 2" descr="\begin{align*}&#10;  \Delta \in o(N^{\frac1{p+1}}g)&#10;\end{align*}">
              <a:extLst>
                <a:ext uri="{FF2B5EF4-FFF2-40B4-BE49-F238E27FC236}">
                  <a16:creationId xmlns:a16="http://schemas.microsoft.com/office/drawing/2014/main" id="{2EE3C86C-90F2-9558-92BC-DFA22BBE62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09632" y="5892134"/>
              <a:ext cx="1115038" cy="2373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8" name="テキスト ボックス 47">
              <a:extLst>
                <a:ext uri="{FF2B5EF4-FFF2-40B4-BE49-F238E27FC236}">
                  <a16:creationId xmlns:a16="http://schemas.microsoft.com/office/drawing/2014/main" id="{8AACB94E-64FE-2211-3FC4-74350914C9E2}"/>
                </a:ext>
              </a:extLst>
            </p:cNvPr>
            <p:cNvSpPr txBox="1"/>
            <p:nvPr/>
          </p:nvSpPr>
          <p:spPr>
            <a:xfrm>
              <a:off x="4005767" y="5869947"/>
              <a:ext cx="282241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Our result:                         (broadest)</a:t>
              </a:r>
            </a:p>
          </p:txBody>
        </p:sp>
        <p:grpSp>
          <p:nvGrpSpPr>
            <p:cNvPr id="49" name="グループ化 48">
              <a:extLst>
                <a:ext uri="{FF2B5EF4-FFF2-40B4-BE49-F238E27FC236}">
                  <a16:creationId xmlns:a16="http://schemas.microsoft.com/office/drawing/2014/main" id="{53EC9DB6-6070-DCD4-5C90-5EECDA1FDBA5}"/>
                </a:ext>
              </a:extLst>
            </p:cNvPr>
            <p:cNvGrpSpPr/>
            <p:nvPr/>
          </p:nvGrpSpPr>
          <p:grpSpPr>
            <a:xfrm>
              <a:off x="7517414" y="4605741"/>
              <a:ext cx="1206556" cy="1733096"/>
              <a:chOff x="7736991" y="4595067"/>
              <a:chExt cx="1206556" cy="1733096"/>
            </a:xfrm>
          </p:grpSpPr>
          <p:pic>
            <p:nvPicPr>
              <p:cNvPr id="50" name="図 49">
                <a:extLst>
                  <a:ext uri="{FF2B5EF4-FFF2-40B4-BE49-F238E27FC236}">
                    <a16:creationId xmlns:a16="http://schemas.microsoft.com/office/drawing/2014/main" id="{DEAF41D4-9D74-30DB-B528-9E693F7BAD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7758268" y="4595067"/>
                <a:ext cx="1185279" cy="1733096"/>
              </a:xfrm>
              <a:prstGeom prst="rect">
                <a:avLst/>
              </a:prstGeom>
            </p:spPr>
          </p:pic>
          <p:pic>
            <p:nvPicPr>
              <p:cNvPr id="51" name="Picture 10" descr="\begin{align*}&#10;  \Delta \lesssim N^{\frac1{p+1}} g&#10;\end{align*}">
                <a:extLst>
                  <a:ext uri="{FF2B5EF4-FFF2-40B4-BE49-F238E27FC236}">
                    <a16:creationId xmlns:a16="http://schemas.microsoft.com/office/drawing/2014/main" id="{919ACE21-8CF0-1204-B29A-46EA057332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38769" b="1546"/>
              <a:stretch>
                <a:fillRect/>
              </a:stretch>
            </p:blipFill>
            <p:spPr bwMode="auto">
              <a:xfrm>
                <a:off x="7736991" y="5461616"/>
                <a:ext cx="278753" cy="11525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81805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FCA2F4-3C77-BD3E-ED75-74B1C4069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4BFDA6AB-723E-03BB-91FF-F173D3A19AF2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II-7.  Our results: Optimality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CDAB2105-80B7-FCE6-A9A2-4C3EDF65C4EA}"/>
              </a:ext>
            </a:extLst>
          </p:cNvPr>
          <p:cNvSpPr txBox="1"/>
          <p:nvPr/>
        </p:nvSpPr>
        <p:spPr>
          <a:xfrm>
            <a:off x="576450" y="3057539"/>
            <a:ext cx="8002404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Can we further improve the error &amp; cost </a:t>
            </a:r>
          </a:p>
          <a:p>
            <a:pPr algn="r"/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of Trotterization for low-energy states ?</a:t>
            </a:r>
            <a:endParaRPr kumimoji="1" lang="ja-JP" altLang="en-US" sz="24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4A1D034-E5F8-DCF9-3E26-2C8225D516BB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21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4A1D034-E5F8-DCF9-3E26-2C8225D516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18D61097-90BE-1FCB-521F-102BFF71E7BC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AC86671-B848-46AB-DC2F-63F0A85CEB76}"/>
              </a:ext>
            </a:extLst>
          </p:cNvPr>
          <p:cNvSpPr txBox="1"/>
          <p:nvPr/>
        </p:nvSpPr>
        <p:spPr>
          <a:xfrm>
            <a:off x="570798" y="1689812"/>
            <a:ext cx="38937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Error: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6" descr="\begin{align*}&#10;  \| (e^{-iH\tau} - T_p(\tau)) \Pi_{\leq \Delta} \| \leq \mathcal{O} \left( (g\tau)^p \{\Delta+g \log (N/\epsilon)\} \tau \right) + \epsilon&#10;\end{align*}">
            <a:extLst>
              <a:ext uri="{FF2B5EF4-FFF2-40B4-BE49-F238E27FC236}">
                <a16:creationId xmlns:a16="http://schemas.microsoft.com/office/drawing/2014/main" id="{A82C6622-C4F6-D682-0ED5-9B1E5C3B26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538" t="-37100" r="-1301" b="-47685"/>
          <a:stretch/>
        </p:blipFill>
        <p:spPr bwMode="auto">
          <a:xfrm>
            <a:off x="1396738" y="1667387"/>
            <a:ext cx="3252511" cy="5000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0FE9826-9866-76E8-4202-1615483ADB5B}"/>
              </a:ext>
            </a:extLst>
          </p:cNvPr>
          <p:cNvSpPr txBox="1"/>
          <p:nvPr/>
        </p:nvSpPr>
        <p:spPr>
          <a:xfrm>
            <a:off x="4847059" y="1695202"/>
            <a:ext cx="8465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Cost: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7" name="Picture 4" descr="\begin{align*}&#10;  gt \left( \frac{(\Delta + g \log (N/\varepsilon))t}{\varepsilon}\right)^{\frac1p}&#10;\end{align*}">
            <a:extLst>
              <a:ext uri="{FF2B5EF4-FFF2-40B4-BE49-F238E27FC236}">
                <a16:creationId xmlns:a16="http://schemas.microsoft.com/office/drawing/2014/main" id="{791C7A32-F08E-613E-BFD8-DD16D9DCBE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43916" y="1584483"/>
            <a:ext cx="2343040" cy="58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48C90D2-284C-72D7-2371-3904C62CCC2D}"/>
              </a:ext>
            </a:extLst>
          </p:cNvPr>
          <p:cNvSpPr txBox="1"/>
          <p:nvPr/>
        </p:nvSpPr>
        <p:spPr>
          <a:xfrm>
            <a:off x="140023" y="1121909"/>
            <a:ext cx="19074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[Our results]</a:t>
            </a:r>
            <a:endParaRPr kumimoji="1" lang="ja-JP" altLang="en-US" sz="24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EAF27226-1EFB-15F4-D520-916C5FD6504A}"/>
              </a:ext>
            </a:extLst>
          </p:cNvPr>
          <p:cNvGrpSpPr/>
          <p:nvPr/>
        </p:nvGrpSpPr>
        <p:grpSpPr>
          <a:xfrm>
            <a:off x="125464" y="2189832"/>
            <a:ext cx="8584420" cy="676526"/>
            <a:chOff x="125464" y="2189832"/>
            <a:chExt cx="8584420" cy="676526"/>
          </a:xfrm>
        </p:grpSpPr>
        <p:sp>
          <p:nvSpPr>
            <p:cNvPr id="9" name="テキスト ボックス 8">
              <a:extLst>
                <a:ext uri="{FF2B5EF4-FFF2-40B4-BE49-F238E27FC236}">
                  <a16:creationId xmlns:a16="http://schemas.microsoft.com/office/drawing/2014/main" id="{098D9226-3023-A060-9CF7-667221937B3D}"/>
                </a:ext>
              </a:extLst>
            </p:cNvPr>
            <p:cNvSpPr txBox="1"/>
            <p:nvPr/>
          </p:nvSpPr>
          <p:spPr>
            <a:xfrm>
              <a:off x="2614945" y="2527804"/>
              <a:ext cx="13288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Improved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7AC1ABF-C67D-C202-EC8D-B82F1EF8915C}"/>
                </a:ext>
              </a:extLst>
            </p:cNvPr>
            <p:cNvSpPr txBox="1"/>
            <p:nvPr/>
          </p:nvSpPr>
          <p:spPr>
            <a:xfrm>
              <a:off x="5143576" y="2536820"/>
              <a:ext cx="356630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B. </a:t>
              </a:r>
              <a:r>
                <a:rPr lang="en" altLang="ja-JP" sz="14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Şahinoğlu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, et al., </a:t>
              </a:r>
              <a:r>
                <a:rPr lang="en" altLang="ja-JP" sz="1400" dirty="0" err="1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Npj</a:t>
              </a:r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Quantum Info. (2021)</a:t>
              </a:r>
            </a:p>
          </p:txBody>
        </p:sp>
        <p:sp>
          <p:nvSpPr>
            <p:cNvPr id="21" name="テキスト ボックス 20">
              <a:extLst>
                <a:ext uri="{FF2B5EF4-FFF2-40B4-BE49-F238E27FC236}">
                  <a16:creationId xmlns:a16="http://schemas.microsoft.com/office/drawing/2014/main" id="{54D572BF-7138-B4E2-9A2F-F6E16A74D4D0}"/>
                </a:ext>
              </a:extLst>
            </p:cNvPr>
            <p:cNvSpPr txBox="1"/>
            <p:nvPr/>
          </p:nvSpPr>
          <p:spPr>
            <a:xfrm>
              <a:off x="2648226" y="2189832"/>
              <a:ext cx="3385368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40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K. Hejazi, at al., arXiv:2402.10362 (2024) </a:t>
              </a:r>
              <a:endParaRPr lang="ja-JP" altLang="en-US" sz="140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2" name="曲折矢印 21">
              <a:extLst>
                <a:ext uri="{FF2B5EF4-FFF2-40B4-BE49-F238E27FC236}">
                  <a16:creationId xmlns:a16="http://schemas.microsoft.com/office/drawing/2014/main" id="{DA8135CE-75A4-67B7-7265-A706853715F4}"/>
                </a:ext>
              </a:extLst>
            </p:cNvPr>
            <p:cNvSpPr/>
            <p:nvPr/>
          </p:nvSpPr>
          <p:spPr>
            <a:xfrm rot="16200000">
              <a:off x="4233565" y="1862346"/>
              <a:ext cx="175629" cy="1566092"/>
            </a:xfrm>
            <a:prstGeom prst="ben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曲折矢印 22">
              <a:extLst>
                <a:ext uri="{FF2B5EF4-FFF2-40B4-BE49-F238E27FC236}">
                  <a16:creationId xmlns:a16="http://schemas.microsoft.com/office/drawing/2014/main" id="{992BF0C6-E6F5-A050-50BE-628B8CE14E7F}"/>
                </a:ext>
              </a:extLst>
            </p:cNvPr>
            <p:cNvSpPr/>
            <p:nvPr/>
          </p:nvSpPr>
          <p:spPr>
            <a:xfrm rot="16200000">
              <a:off x="1734146" y="1499211"/>
              <a:ext cx="175629" cy="1566092"/>
            </a:xfrm>
            <a:prstGeom prst="bentArrow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B61740FE-9F63-5147-6517-B3FFBA8751D0}"/>
                </a:ext>
              </a:extLst>
            </p:cNvPr>
            <p:cNvSpPr txBox="1"/>
            <p:nvPr/>
          </p:nvSpPr>
          <p:spPr>
            <a:xfrm>
              <a:off x="125464" y="2195839"/>
              <a:ext cx="132888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Improved</a:t>
              </a:r>
              <a:endParaRPr kumimoji="1" lang="ja-JP" altLang="en-US" sz="160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991D02B7-E23A-6366-D7CA-1A490B190BFA}"/>
              </a:ext>
            </a:extLst>
          </p:cNvPr>
          <p:cNvGrpSpPr/>
          <p:nvPr/>
        </p:nvGrpSpPr>
        <p:grpSpPr>
          <a:xfrm>
            <a:off x="375723" y="4087119"/>
            <a:ext cx="6675640" cy="940644"/>
            <a:chOff x="375723" y="4087119"/>
            <a:chExt cx="6675640" cy="94064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692A94C2-FD07-7B8F-3E59-509A3664EFB1}"/>
                    </a:ext>
                  </a:extLst>
                </p:cNvPr>
                <p:cNvSpPr txBox="1"/>
                <p:nvPr/>
              </p:nvSpPr>
              <p:spPr>
                <a:xfrm>
                  <a:off x="375723" y="4087119"/>
                  <a:ext cx="316261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20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・</a:t>
                  </a:r>
                  <a:r>
                    <a:rPr kumimoji="1" lang="en-US" altLang="ja-JP" sz="2000" b="1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Scaling in system size </a:t>
                  </a:r>
                  <a14:m>
                    <m:oMath xmlns:m="http://schemas.openxmlformats.org/officeDocument/2006/math">
                      <m:r>
                        <a:rPr kumimoji="1" lang="en-US" altLang="ja-JP" sz="2000" b="1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𝑵</m:t>
                      </m:r>
                    </m:oMath>
                  </a14:m>
                  <a:endParaRPr kumimoji="1" lang="ja-JP" altLang="en-US" sz="20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45" name="テキスト ボックス 44">
                  <a:extLst>
                    <a:ext uri="{FF2B5EF4-FFF2-40B4-BE49-F238E27FC236}">
                      <a16:creationId xmlns:a16="http://schemas.microsoft.com/office/drawing/2014/main" id="{692A94C2-FD07-7B8F-3E59-509A3664EFB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23" y="4087119"/>
                  <a:ext cx="3162610" cy="400110"/>
                </a:xfrm>
                <a:prstGeom prst="rect">
                  <a:avLst/>
                </a:prstGeom>
                <a:blipFill>
                  <a:blip r:embed="rId6"/>
                  <a:stretch>
                    <a:fillRect l="-2000" t="-9091" b="-27273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36F0F1CE-7E79-61FE-B466-8D8D695F1F66}"/>
                    </a:ext>
                  </a:extLst>
                </p:cNvPr>
                <p:cNvSpPr txBox="1"/>
                <p:nvPr/>
              </p:nvSpPr>
              <p:spPr>
                <a:xfrm>
                  <a:off x="2247135" y="4627653"/>
                  <a:ext cx="4804228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sz="2000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Impossible except for a logarithmic factor </a:t>
                  </a:r>
                  <a14:m>
                    <m:oMath xmlns:m="http://schemas.openxmlformats.org/officeDocument/2006/math">
                      <m:r>
                        <a:rPr kumimoji="1" lang="en-US" altLang="ja-JP" sz="2000" b="0" i="1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endPara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7" name="テキスト ボックス 26">
                  <a:extLst>
                    <a:ext uri="{FF2B5EF4-FFF2-40B4-BE49-F238E27FC236}">
                      <a16:creationId xmlns:a16="http://schemas.microsoft.com/office/drawing/2014/main" id="{36F0F1CE-7E79-61FE-B466-8D8D695F1F6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7135" y="4627653"/>
                  <a:ext cx="4804228" cy="400110"/>
                </a:xfrm>
                <a:prstGeom prst="rect">
                  <a:avLst/>
                </a:prstGeom>
                <a:blipFill>
                  <a:blip r:embed="rId7"/>
                  <a:stretch>
                    <a:fillRect l="-1583" t="-9375" b="-28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4BA303E4-D565-2C58-129D-B92D1E748565}"/>
              </a:ext>
            </a:extLst>
          </p:cNvPr>
          <p:cNvGrpSpPr/>
          <p:nvPr/>
        </p:nvGrpSpPr>
        <p:grpSpPr>
          <a:xfrm>
            <a:off x="375723" y="5168188"/>
            <a:ext cx="8527826" cy="1014482"/>
            <a:chOff x="375723" y="5168188"/>
            <a:chExt cx="8527826" cy="101448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799FB8-C426-A8CC-D1CA-A228A1B4EECF}"/>
                    </a:ext>
                  </a:extLst>
                </p:cNvPr>
                <p:cNvSpPr txBox="1"/>
                <p:nvPr/>
              </p:nvSpPr>
              <p:spPr>
                <a:xfrm>
                  <a:off x="375723" y="5168188"/>
                  <a:ext cx="4088820" cy="4001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ja-JP" altLang="en-US" sz="2000" b="1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・</a:t>
                  </a:r>
                  <a:r>
                    <a:rPr kumimoji="1" lang="en-US" altLang="ja-JP" sz="2000" b="1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Scaling in initial-state energy </a:t>
                  </a:r>
                  <a14:m>
                    <m:oMath xmlns:m="http://schemas.openxmlformats.org/officeDocument/2006/math">
                      <m:r>
                        <a:rPr kumimoji="1" lang="en-US" altLang="ja-JP" sz="20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∆</m:t>
                      </m:r>
                    </m:oMath>
                  </a14:m>
                  <a:endParaRPr kumimoji="1" lang="ja-JP" altLang="en-US" sz="2000" b="1" u="sng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4" name="テキスト ボックス 23">
                  <a:extLst>
                    <a:ext uri="{FF2B5EF4-FFF2-40B4-BE49-F238E27FC236}">
                      <a16:creationId xmlns:a16="http://schemas.microsoft.com/office/drawing/2014/main" id="{E8799FB8-C426-A8CC-D1CA-A228A1B4EE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75723" y="5168188"/>
                  <a:ext cx="4088820" cy="400110"/>
                </a:xfrm>
                <a:prstGeom prst="rect">
                  <a:avLst/>
                </a:prstGeom>
                <a:blipFill>
                  <a:blip r:embed="rId8"/>
                  <a:stretch>
                    <a:fillRect l="-1548" t="-12500" b="-28125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47F957D5-7C79-8FEF-6082-6703B44D8198}"/>
                </a:ext>
              </a:extLst>
            </p:cNvPr>
            <p:cNvSpPr txBox="1"/>
            <p:nvPr/>
          </p:nvSpPr>
          <p:spPr>
            <a:xfrm>
              <a:off x="901145" y="5782560"/>
              <a:ext cx="800240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Impossible as long as we make no additional assumptions (</a:t>
              </a:r>
              <a:r>
                <a:rPr kumimoji="1" lang="en-US" altLang="ja-JP" sz="2000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optimal scaling</a:t>
              </a:r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)</a:t>
              </a:r>
              <a:endPara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33482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33DC3-F55E-399A-1EA2-9AE5CBE497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E449D0F-A465-B61A-E071-C48B47DCD9A4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II-7.  Our results: Optimality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F078594-FD02-8627-8CA1-4558DE33408F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22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7" name="テキスト ボックス 56">
                <a:extLst>
                  <a:ext uri="{FF2B5EF4-FFF2-40B4-BE49-F238E27FC236}">
                    <a16:creationId xmlns:a16="http://schemas.microsoft.com/office/drawing/2014/main" id="{7F078594-FD02-8627-8CA1-4558DE3340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3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42ED57C9-DD6A-6DF0-9563-3DBCF7ED1817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E8E22D8E-328B-A9BC-658C-9FAD2EBC6D18}"/>
              </a:ext>
            </a:extLst>
          </p:cNvPr>
          <p:cNvSpPr/>
          <p:nvPr/>
        </p:nvSpPr>
        <p:spPr>
          <a:xfrm>
            <a:off x="132937" y="1333434"/>
            <a:ext cx="8878126" cy="1404414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D9176F37-0221-3E84-98C8-8A7A8E9F09F0}"/>
              </a:ext>
            </a:extLst>
          </p:cNvPr>
          <p:cNvSpPr txBox="1"/>
          <p:nvPr/>
        </p:nvSpPr>
        <p:spPr>
          <a:xfrm>
            <a:off x="248879" y="1097731"/>
            <a:ext cx="506901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Theorem (Optimality in initial-state energy):</a:t>
            </a:r>
            <a:endParaRPr kumimoji="1" lang="ja-JP" altLang="en-US" sz="20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7249E46B-F115-6E48-FDA2-C0C7542E081E}"/>
              </a:ext>
            </a:extLst>
          </p:cNvPr>
          <p:cNvSpPr txBox="1"/>
          <p:nvPr/>
        </p:nvSpPr>
        <p:spPr>
          <a:xfrm>
            <a:off x="248879" y="2867064"/>
            <a:ext cx="1111202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Proof.---</a:t>
            </a:r>
            <a:endParaRPr kumimoji="1" lang="ja-JP" altLang="en-US" sz="2000" b="1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6458C10F-9373-A388-9C32-3E55B0C69CFE}"/>
              </a:ext>
            </a:extLst>
          </p:cNvPr>
          <p:cNvSpPr txBox="1"/>
          <p:nvPr/>
        </p:nvSpPr>
        <p:spPr>
          <a:xfrm>
            <a:off x="347280" y="1577838"/>
            <a:ext cx="94626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generic local Hamiltonians, it is impossible to obtain the bounds whose scaling is better than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5124" name="Picture 4" descr="\begin{align*}&#10;  \| (e^{-iHt}-T_p(t)) \Pi_{\leq \Delta} \| \leq \mathcal{O} (\Delta), \quad r \leq \mathcal{O} (\Delta^{1/p}) &#10;\end{align*}">
            <a:extLst>
              <a:ext uri="{FF2B5EF4-FFF2-40B4-BE49-F238E27FC236}">
                <a16:creationId xmlns:a16="http://schemas.microsoft.com/office/drawing/2014/main" id="{49C162F1-0D8D-8DAB-0F53-0FF02486EB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65701" y="2091205"/>
            <a:ext cx="5412598" cy="328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DDB5A3EE-E659-3CAE-EBD7-7CBE718A1408}"/>
              </a:ext>
            </a:extLst>
          </p:cNvPr>
          <p:cNvGrpSpPr/>
          <p:nvPr/>
        </p:nvGrpSpPr>
        <p:grpSpPr>
          <a:xfrm>
            <a:off x="347279" y="3582923"/>
            <a:ext cx="7753734" cy="691289"/>
            <a:chOff x="347279" y="3582923"/>
            <a:chExt cx="7753734" cy="691289"/>
          </a:xfrm>
        </p:grpSpPr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64C27AC-0518-DBEB-8AC2-94A259BB145F}"/>
                </a:ext>
              </a:extLst>
            </p:cNvPr>
            <p:cNvSpPr txBox="1"/>
            <p:nvPr/>
          </p:nvSpPr>
          <p:spPr>
            <a:xfrm>
              <a:off x="347279" y="3894453"/>
              <a:ext cx="407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The upper bound on the worst-case error 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右矢印 26">
              <a:extLst>
                <a:ext uri="{FF2B5EF4-FFF2-40B4-BE49-F238E27FC236}">
                  <a16:creationId xmlns:a16="http://schemas.microsoft.com/office/drawing/2014/main" id="{0570EDE3-DEEB-AE65-061B-B4FB752FBA1E}"/>
                </a:ext>
              </a:extLst>
            </p:cNvPr>
            <p:cNvSpPr/>
            <p:nvPr/>
          </p:nvSpPr>
          <p:spPr>
            <a:xfrm rot="5400000">
              <a:off x="4310749" y="3234720"/>
              <a:ext cx="224327" cy="92073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28" name="Picture 2" descr="\begin{align*}&#10;  \| e^{-iH\tau} -  T_p(\tau) \| = \max_{\ket{\psi} \in \mathcal{H}} \left( \| (e^{-iH\tau} -  T_p(\tau) ) \ket{\psi} \|\right)&#10;\end{align*}">
              <a:extLst>
                <a:ext uri="{FF2B5EF4-FFF2-40B4-BE49-F238E27FC236}">
                  <a16:creationId xmlns:a16="http://schemas.microsoft.com/office/drawing/2014/main" id="{F7A8B700-5BA5-BB2E-487C-B08D1C11618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-1" r="65798" b="12697"/>
            <a:stretch>
              <a:fillRect/>
            </a:stretch>
          </p:blipFill>
          <p:spPr bwMode="auto">
            <a:xfrm>
              <a:off x="4352334" y="3955448"/>
              <a:ext cx="1441146" cy="3187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28FD8DE3-8C9A-2DEF-6C52-93F7931D9DBC}"/>
                    </a:ext>
                  </a:extLst>
                </p:cNvPr>
                <p:cNvSpPr txBox="1"/>
                <p:nvPr/>
              </p:nvSpPr>
              <p:spPr>
                <a:xfrm>
                  <a:off x="5793480" y="3874050"/>
                  <a:ext cx="2307533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should be at least </a:t>
                  </a:r>
                  <a14:m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∝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</m:t>
                      </m:r>
                    </m:oMath>
                  </a14:m>
                  <a:endParaRPr kumimoji="1" lang="ja-JP" altLang="en-US" i="1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29" name="テキスト ボックス 28">
                  <a:extLst>
                    <a:ext uri="{FF2B5EF4-FFF2-40B4-BE49-F238E27FC236}">
                      <a16:creationId xmlns:a16="http://schemas.microsoft.com/office/drawing/2014/main" id="{28FD8DE3-8C9A-2DEF-6C52-93F7931D9D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793480" y="3874050"/>
                  <a:ext cx="2307533" cy="369332"/>
                </a:xfrm>
                <a:prstGeom prst="rect">
                  <a:avLst/>
                </a:prstGeom>
                <a:blipFill>
                  <a:blip r:embed="rId6"/>
                  <a:stretch>
                    <a:fillRect l="-2198" t="-10000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A001AA39-7AFA-7D02-F024-1E95BA78497A}"/>
              </a:ext>
            </a:extLst>
          </p:cNvPr>
          <p:cNvGrpSpPr/>
          <p:nvPr/>
        </p:nvGrpSpPr>
        <p:grpSpPr>
          <a:xfrm>
            <a:off x="248879" y="4342734"/>
            <a:ext cx="8691854" cy="1969907"/>
            <a:chOff x="248879" y="4342734"/>
            <a:chExt cx="8691854" cy="1969907"/>
          </a:xfrm>
        </p:grpSpPr>
        <p:pic>
          <p:nvPicPr>
            <p:cNvPr id="22" name="図 21">
              <a:extLst>
                <a:ext uri="{FF2B5EF4-FFF2-40B4-BE49-F238E27FC236}">
                  <a16:creationId xmlns:a16="http://schemas.microsoft.com/office/drawing/2014/main" id="{C75F152E-4F30-30AA-DB87-D23B8F546D6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7593497" y="4342734"/>
              <a:ext cx="1347236" cy="1969907"/>
            </a:xfrm>
            <a:prstGeom prst="rect">
              <a:avLst/>
            </a:prstGeom>
          </p:spPr>
        </p:pic>
        <p:sp>
          <p:nvSpPr>
            <p:cNvPr id="30" name="テキスト ボックス 29">
              <a:extLst>
                <a:ext uri="{FF2B5EF4-FFF2-40B4-BE49-F238E27FC236}">
                  <a16:creationId xmlns:a16="http://schemas.microsoft.com/office/drawing/2014/main" id="{6796B201-CD41-32F7-D198-4D5EA44364F8}"/>
                </a:ext>
              </a:extLst>
            </p:cNvPr>
            <p:cNvSpPr txBox="1"/>
            <p:nvPr/>
          </p:nvSpPr>
          <p:spPr>
            <a:xfrm>
              <a:off x="248879" y="5808419"/>
              <a:ext cx="7267360" cy="461665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4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Our result achieves the theoretically-best scaling !</a:t>
              </a:r>
              <a:endPara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31" name="右矢印 30">
              <a:extLst>
                <a:ext uri="{FF2B5EF4-FFF2-40B4-BE49-F238E27FC236}">
                  <a16:creationId xmlns:a16="http://schemas.microsoft.com/office/drawing/2014/main" id="{8B49E4F0-F80D-5707-976E-B97ABF3A6CA8}"/>
                </a:ext>
              </a:extLst>
            </p:cNvPr>
            <p:cNvSpPr/>
            <p:nvPr/>
          </p:nvSpPr>
          <p:spPr>
            <a:xfrm rot="5400000">
              <a:off x="4310748" y="4053355"/>
              <a:ext cx="224327" cy="920734"/>
            </a:xfrm>
            <a:prstGeom prst="rightArrow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2" name="テキスト ボックス 31">
              <a:extLst>
                <a:ext uri="{FF2B5EF4-FFF2-40B4-BE49-F238E27FC236}">
                  <a16:creationId xmlns:a16="http://schemas.microsoft.com/office/drawing/2014/main" id="{7D085381-F60D-0775-6C96-19DF3DD9B1CE}"/>
                </a:ext>
              </a:extLst>
            </p:cNvPr>
            <p:cNvSpPr txBox="1"/>
            <p:nvPr/>
          </p:nvSpPr>
          <p:spPr>
            <a:xfrm>
              <a:off x="347278" y="4790537"/>
              <a:ext cx="407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If we obtain a bound better than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33" name="Picture 4" descr="\begin{align*}&#10;  \| (e^{-iHt}-T_p(t)) \Pi_{\leq \Delta} \| \leq \mathcal{O} (\Delta), \quad r \leq \mathcal{O} (\Delta^{1/p}) &#10;\end{align*}">
              <a:extLst>
                <a:ext uri="{FF2B5EF4-FFF2-40B4-BE49-F238E27FC236}">
                  <a16:creationId xmlns:a16="http://schemas.microsoft.com/office/drawing/2014/main" id="{93646260-BD63-B678-F25C-1B55B4E36651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31086" b="-7791"/>
            <a:stretch>
              <a:fillRect/>
            </a:stretch>
          </p:blipFill>
          <p:spPr bwMode="auto">
            <a:xfrm>
              <a:off x="3505179" y="4831822"/>
              <a:ext cx="2852192" cy="2710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81C318C5-EBA7-99B9-2CEF-9A8AF2B43BB8}"/>
                    </a:ext>
                  </a:extLst>
                </p:cNvPr>
                <p:cNvSpPr txBox="1"/>
                <p:nvPr/>
              </p:nvSpPr>
              <p:spPr>
                <a:xfrm>
                  <a:off x="1360081" y="5246920"/>
                  <a:ext cx="6099379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it implies the prohibited worst-case error by setting </a:t>
                  </a:r>
                  <a14:m>
                    <m:oMath xmlns:m="http://schemas.openxmlformats.org/officeDocument/2006/math">
                      <m:r>
                        <m:rPr>
                          <m:sty m:val="p"/>
                        </m:rPr>
                        <a:rPr kumimoji="1" lang="el-GR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Δ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kumimoji="1" lang="en-US" altLang="ja-JP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𝑁𝑔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.   </a:t>
                  </a:r>
                  <a14:m>
                    <m:oMath xmlns:m="http://schemas.openxmlformats.org/officeDocument/2006/math">
                      <m:r>
                        <a:rPr kumimoji="1" lang="en-US" altLang="ja-JP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 panose="02020603050405020304" pitchFamily="18" charset="0"/>
                        </a:rPr>
                        <m:t>∎</m:t>
                      </m:r>
                    </m:oMath>
                  </a14:m>
                  <a:r>
                    <a:rPr kumimoji="1" lang="en-US" altLang="ja-JP" dirty="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rPr>
                    <a:t> </a:t>
                  </a:r>
                  <a:endPara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4" name="テキスト ボックス 33">
                  <a:extLst>
                    <a:ext uri="{FF2B5EF4-FFF2-40B4-BE49-F238E27FC236}">
                      <a16:creationId xmlns:a16="http://schemas.microsoft.com/office/drawing/2014/main" id="{81C318C5-EBA7-99B9-2CEF-9A8AF2B43B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360081" y="5246920"/>
                  <a:ext cx="6099379" cy="369332"/>
                </a:xfrm>
                <a:prstGeom prst="rect">
                  <a:avLst/>
                </a:prstGeom>
                <a:blipFill>
                  <a:blip r:embed="rId8"/>
                  <a:stretch>
                    <a:fillRect l="-832" t="-10000" r="-1247" b="-20000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2" name="グループ化 1">
            <a:extLst>
              <a:ext uri="{FF2B5EF4-FFF2-40B4-BE49-F238E27FC236}">
                <a16:creationId xmlns:a16="http://schemas.microsoft.com/office/drawing/2014/main" id="{4879F69B-ED93-352B-CB3E-B160B2A982CF}"/>
              </a:ext>
            </a:extLst>
          </p:cNvPr>
          <p:cNvGrpSpPr/>
          <p:nvPr/>
        </p:nvGrpSpPr>
        <p:grpSpPr>
          <a:xfrm>
            <a:off x="1360081" y="2912661"/>
            <a:ext cx="7650982" cy="568860"/>
            <a:chOff x="1360081" y="2912661"/>
            <a:chExt cx="7650982" cy="568860"/>
          </a:xfrm>
        </p:grpSpPr>
        <p:sp>
          <p:nvSpPr>
            <p:cNvPr id="24" name="テキスト ボックス 23">
              <a:extLst>
                <a:ext uri="{FF2B5EF4-FFF2-40B4-BE49-F238E27FC236}">
                  <a16:creationId xmlns:a16="http://schemas.microsoft.com/office/drawing/2014/main" id="{403B1BFB-4EE2-622B-8675-41B6502FD19C}"/>
                </a:ext>
              </a:extLst>
            </p:cNvPr>
            <p:cNvSpPr txBox="1"/>
            <p:nvPr/>
          </p:nvSpPr>
          <p:spPr>
            <a:xfrm>
              <a:off x="1360081" y="2912661"/>
              <a:ext cx="407563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There is a set                            such that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5126" name="Picture 6" descr="\begin{align*}&#10;  \| (e^{-iHt}-T_p(t)) \ket{\psi} \| \propto N&#10;\end{align*}">
              <a:extLst>
                <a:ext uri="{FF2B5EF4-FFF2-40B4-BE49-F238E27FC236}">
                  <a16:creationId xmlns:a16="http://schemas.microsoft.com/office/drawing/2014/main" id="{D351A679-A2FD-D032-E69B-908339638B7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58138" y="2952762"/>
              <a:ext cx="2258101" cy="23404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8" name="Picture 8" descr="\begin{align*}&#10; (H,T_p(t),\ket{\psi})&#10;\end{align*}">
              <a:extLst>
                <a:ext uri="{FF2B5EF4-FFF2-40B4-BE49-F238E27FC236}">
                  <a16:creationId xmlns:a16="http://schemas.microsoft.com/office/drawing/2014/main" id="{3AE51720-8B67-9297-5FD5-BD1ED66127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12003" y="2982252"/>
              <a:ext cx="1322676" cy="23491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6" name="テキスト ボックス 35">
              <a:extLst>
                <a:ext uri="{FF2B5EF4-FFF2-40B4-BE49-F238E27FC236}">
                  <a16:creationId xmlns:a16="http://schemas.microsoft.com/office/drawing/2014/main" id="{AD336516-37D2-7041-A5FC-94334D08AEDC}"/>
                </a:ext>
              </a:extLst>
            </p:cNvPr>
            <p:cNvSpPr txBox="1"/>
            <p:nvPr/>
          </p:nvSpPr>
          <p:spPr>
            <a:xfrm>
              <a:off x="6471467" y="3219911"/>
              <a:ext cx="2539596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50" dirty="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Q. Zhao, et al., Nat. Phys. 21, 1338 (2025) </a:t>
              </a:r>
              <a:endParaRPr lang="ja-JP" altLang="en-US" sz="1050"/>
            </a:p>
          </p:txBody>
        </p:sp>
      </p:grpSp>
    </p:spTree>
    <p:extLst>
      <p:ext uri="{BB962C8B-B14F-4D97-AF65-F5344CB8AC3E}">
        <p14:creationId xmlns:p14="http://schemas.microsoft.com/office/powerpoint/2010/main" val="3128674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13541D-CCED-8914-84A4-A1596667A8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21478120-8BA8-0713-6329-0848F7EC84E3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II-8: Extension to other low-energy states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D69E823-7B19-0B22-55B8-0506711404B7}"/>
              </a:ext>
            </a:extLst>
          </p:cNvPr>
          <p:cNvSpPr txBox="1"/>
          <p:nvPr/>
        </p:nvSpPr>
        <p:spPr>
          <a:xfrm>
            <a:off x="123533" y="1199350"/>
            <a:ext cx="2135521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Initial states so far: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52B2FCC-4CD1-68BE-6D0F-FF222C571AB3}"/>
              </a:ext>
            </a:extLst>
          </p:cNvPr>
          <p:cNvSpPr txBox="1"/>
          <p:nvPr/>
        </p:nvSpPr>
        <p:spPr>
          <a:xfrm>
            <a:off x="3732822" y="1964018"/>
            <a:ext cx="35129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Closed in the low-energy subspace</a:t>
            </a:r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6146B38-D27A-9382-EA69-9A644DAAF815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4" name="Picture 8" descr="\begin{align*}&#10;  \ket{\psi_{\leq \Delta}} = \sum_{n; E_n \leq \Delta} c_n \ket{E_n}, \quad 0 \leq \Delta \ll Ng&#10;\end{align*}">
            <a:extLst>
              <a:ext uri="{FF2B5EF4-FFF2-40B4-BE49-F238E27FC236}">
                <a16:creationId xmlns:a16="http://schemas.microsoft.com/office/drawing/2014/main" id="{1E3BC949-D71D-8EFC-576C-AC3065AD35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0528" b="4860"/>
          <a:stretch/>
        </p:blipFill>
        <p:spPr bwMode="auto">
          <a:xfrm>
            <a:off x="901728" y="1979088"/>
            <a:ext cx="2487223" cy="5277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D72F0E85-16EE-AAA2-C8F9-D9F93E7DAE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2955" y="1333304"/>
            <a:ext cx="1217885" cy="1780771"/>
          </a:xfrm>
          <a:prstGeom prst="rect">
            <a:avLst/>
          </a:prstGeom>
        </p:spPr>
      </p:pic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40E45559-22DC-BDC6-FC2D-DB760F07DD95}"/>
              </a:ext>
            </a:extLst>
          </p:cNvPr>
          <p:cNvSpPr txBox="1"/>
          <p:nvPr/>
        </p:nvSpPr>
        <p:spPr>
          <a:xfrm>
            <a:off x="873694" y="2744744"/>
            <a:ext cx="54355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NOT easy to either prepare or confirm in general</a:t>
            </a:r>
            <a:endParaRPr kumimoji="1" lang="ja-JP" altLang="en-US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B2BE1A81-2A58-2EFF-BF53-932983885AEA}"/>
              </a:ext>
            </a:extLst>
          </p:cNvPr>
          <p:cNvGrpSpPr/>
          <p:nvPr/>
        </p:nvGrpSpPr>
        <p:grpSpPr>
          <a:xfrm>
            <a:off x="123533" y="3596081"/>
            <a:ext cx="8896934" cy="2704016"/>
            <a:chOff x="123533" y="3596081"/>
            <a:chExt cx="8896934" cy="2704016"/>
          </a:xfrm>
        </p:grpSpPr>
        <p:sp>
          <p:nvSpPr>
            <p:cNvPr id="13" name="テキスト ボックス 12">
              <a:extLst>
                <a:ext uri="{FF2B5EF4-FFF2-40B4-BE49-F238E27FC236}">
                  <a16:creationId xmlns:a16="http://schemas.microsoft.com/office/drawing/2014/main" id="{AF864C13-7B83-8F55-227A-D1EB8E3649FA}"/>
                </a:ext>
              </a:extLst>
            </p:cNvPr>
            <p:cNvSpPr txBox="1"/>
            <p:nvPr/>
          </p:nvSpPr>
          <p:spPr>
            <a:xfrm>
              <a:off x="123533" y="3596081"/>
              <a:ext cx="1279517" cy="40011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wrap="none" rtlCol="0">
              <a:spAutoFit/>
            </a:bodyPr>
            <a:lstStyle/>
            <a:p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Extension:</a:t>
              </a:r>
              <a:endPara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68251AF8-33D6-6AD1-8BB9-D8A7FA0360F4}"/>
                </a:ext>
              </a:extLst>
            </p:cNvPr>
            <p:cNvSpPr txBox="1"/>
            <p:nvPr/>
          </p:nvSpPr>
          <p:spPr>
            <a:xfrm>
              <a:off x="1512982" y="3596081"/>
              <a:ext cx="75074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dirty="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Weakly-correlated states with small energy expectation value</a:t>
              </a:r>
              <a:endParaRPr kumimoji="1" lang="ja-JP" altLang="en-US" sz="20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17" name="テキスト ボックス 16">
              <a:extLst>
                <a:ext uri="{FF2B5EF4-FFF2-40B4-BE49-F238E27FC236}">
                  <a16:creationId xmlns:a16="http://schemas.microsoft.com/office/drawing/2014/main" id="{2E24E6A8-90E8-FFFB-1AC7-12C548940176}"/>
                </a:ext>
              </a:extLst>
            </p:cNvPr>
            <p:cNvSpPr txBox="1"/>
            <p:nvPr/>
          </p:nvSpPr>
          <p:spPr>
            <a:xfrm>
              <a:off x="480638" y="4913310"/>
              <a:ext cx="543558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・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Small energy expectation value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23" name="Picture 2" descr="\begin{align*}&#10;  \braket{\psi|H|\psi} \leq \Delta&#10;\end{align*}">
              <a:extLst>
                <a:ext uri="{FF2B5EF4-FFF2-40B4-BE49-F238E27FC236}">
                  <a16:creationId xmlns:a16="http://schemas.microsoft.com/office/drawing/2014/main" id="{ADC12F45-8241-D854-87FB-E68FDA91A7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29255" y="4980529"/>
              <a:ext cx="1723400" cy="3006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5" name="テキスト ボックス 24">
              <a:extLst>
                <a:ext uri="{FF2B5EF4-FFF2-40B4-BE49-F238E27FC236}">
                  <a16:creationId xmlns:a16="http://schemas.microsoft.com/office/drawing/2014/main" id="{9172FAA1-5566-E347-072E-A74B9708379F}"/>
                </a:ext>
              </a:extLst>
            </p:cNvPr>
            <p:cNvSpPr txBox="1"/>
            <p:nvPr/>
          </p:nvSpPr>
          <p:spPr>
            <a:xfrm>
              <a:off x="1191293" y="5473984"/>
              <a:ext cx="50144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✅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Easy to check by classical or quantum computers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6" name="テキスト ボックス 25">
              <a:extLst>
                <a:ext uri="{FF2B5EF4-FFF2-40B4-BE49-F238E27FC236}">
                  <a16:creationId xmlns:a16="http://schemas.microsoft.com/office/drawing/2014/main" id="{F68671CA-9103-70AA-9E9B-AAA494B20EEF}"/>
                </a:ext>
              </a:extLst>
            </p:cNvPr>
            <p:cNvSpPr txBox="1"/>
            <p:nvPr/>
          </p:nvSpPr>
          <p:spPr>
            <a:xfrm>
              <a:off x="480638" y="4259359"/>
              <a:ext cx="8449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・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Weak correlation: product states, product states with finite-depth quantum circuits, etc.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720438A9-D215-141C-5EC0-80FA375A06E8}"/>
                </a:ext>
              </a:extLst>
            </p:cNvPr>
            <p:cNvSpPr txBox="1"/>
            <p:nvPr/>
          </p:nvSpPr>
          <p:spPr>
            <a:xfrm>
              <a:off x="1191292" y="5930765"/>
              <a:ext cx="575577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✅</a:t>
              </a:r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NOT necessarily closed in the low-energy subspace</a:t>
              </a:r>
              <a:endParaRPr kumimoji="1" lang="ja-JP" altLang="en-US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410BC50-E8EA-2E6E-6963-BEF72C7E040F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23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1410BC50-E8EA-2E6E-6963-BEF72C7E04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6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5439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FC9678-30A9-012F-FA7D-C704FBA80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51E9D471-AB69-C836-B1C3-62F6CF1EF347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II-8: Extension to other low-energy states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25678FE-165B-2554-D85A-F4FE1CED7A1A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3" name="グループ化 2">
            <a:extLst>
              <a:ext uri="{FF2B5EF4-FFF2-40B4-BE49-F238E27FC236}">
                <a16:creationId xmlns:a16="http://schemas.microsoft.com/office/drawing/2014/main" id="{82F39AD1-9B58-BBD4-99DB-623B99FD460E}"/>
              </a:ext>
            </a:extLst>
          </p:cNvPr>
          <p:cNvGrpSpPr/>
          <p:nvPr/>
        </p:nvGrpSpPr>
        <p:grpSpPr>
          <a:xfrm>
            <a:off x="220592" y="1219698"/>
            <a:ext cx="8884400" cy="2845143"/>
            <a:chOff x="220592" y="1219698"/>
            <a:chExt cx="8884400" cy="2845143"/>
          </a:xfrm>
        </p:grpSpPr>
        <p:sp>
          <p:nvSpPr>
            <p:cNvPr id="15" name="テキスト ボックス 14">
              <a:extLst>
                <a:ext uri="{FF2B5EF4-FFF2-40B4-BE49-F238E27FC236}">
                  <a16:creationId xmlns:a16="http://schemas.microsoft.com/office/drawing/2014/main" id="{31E438A3-C17E-60C8-0429-FC0716EE9ADF}"/>
                </a:ext>
              </a:extLst>
            </p:cNvPr>
            <p:cNvSpPr txBox="1"/>
            <p:nvPr/>
          </p:nvSpPr>
          <p:spPr>
            <a:xfrm>
              <a:off x="1597507" y="1230778"/>
              <a:ext cx="750748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For weakly-correlated states with energy                             ,</a:t>
              </a:r>
              <a:endPara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pic>
          <p:nvPicPr>
            <p:cNvPr id="17" name="Picture 2" descr="\begin{align*}&#10;  \braket{\psi|H|\psi} \leq \Delta&#10;\end{align*}">
              <a:extLst>
                <a:ext uri="{FF2B5EF4-FFF2-40B4-BE49-F238E27FC236}">
                  <a16:creationId xmlns:a16="http://schemas.microsoft.com/office/drawing/2014/main" id="{F07DAD65-8DE0-DEDA-E033-E161B4F86CC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99462" y="1331852"/>
              <a:ext cx="1514812" cy="26428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テキスト ボックス 22">
              <a:extLst>
                <a:ext uri="{FF2B5EF4-FFF2-40B4-BE49-F238E27FC236}">
                  <a16:creationId xmlns:a16="http://schemas.microsoft.com/office/drawing/2014/main" id="{CFC8BC3B-4566-F707-1B12-5C9A08F118F1}"/>
                </a:ext>
              </a:extLst>
            </p:cNvPr>
            <p:cNvSpPr txBox="1"/>
            <p:nvPr/>
          </p:nvSpPr>
          <p:spPr>
            <a:xfrm>
              <a:off x="220592" y="1219698"/>
              <a:ext cx="146506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b="1" u="sng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Corollary</a:t>
              </a:r>
              <a:endParaRPr kumimoji="1" lang="ja-JP" altLang="en-US" sz="20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  <p:grpSp>
          <p:nvGrpSpPr>
            <p:cNvPr id="34" name="グループ化 33">
              <a:extLst>
                <a:ext uri="{FF2B5EF4-FFF2-40B4-BE49-F238E27FC236}">
                  <a16:creationId xmlns:a16="http://schemas.microsoft.com/office/drawing/2014/main" id="{62DE588C-F165-09C3-4717-56D5B00DAE28}"/>
                </a:ext>
              </a:extLst>
            </p:cNvPr>
            <p:cNvGrpSpPr/>
            <p:nvPr/>
          </p:nvGrpSpPr>
          <p:grpSpPr>
            <a:xfrm>
              <a:off x="1100903" y="1887734"/>
              <a:ext cx="6213225" cy="464430"/>
              <a:chOff x="1100903" y="1887734"/>
              <a:chExt cx="6213225" cy="464430"/>
            </a:xfrm>
          </p:grpSpPr>
          <p:sp>
            <p:nvSpPr>
              <p:cNvPr id="47" name="テキスト ボックス 46">
                <a:extLst>
                  <a:ext uri="{FF2B5EF4-FFF2-40B4-BE49-F238E27FC236}">
                    <a16:creationId xmlns:a16="http://schemas.microsoft.com/office/drawing/2014/main" id="{BAC85669-D896-F25D-2852-CABDE062E8B2}"/>
                  </a:ext>
                </a:extLst>
              </p:cNvPr>
              <p:cNvSpPr txBox="1"/>
              <p:nvPr/>
            </p:nvSpPr>
            <p:spPr>
              <a:xfrm>
                <a:off x="1100903" y="1907624"/>
                <a:ext cx="151116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Error bound:</a:t>
                </a:r>
                <a:endParaRPr kumimoji="1" lang="ja-JP" altLang="en-US" sz="1200" b="1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2052" name="Picture 4" descr="\begin{align*}&#10;  \leq \mathcal{O} \left( (g\tau)^p \{ \Delta + \sqrt{N \log (N/\epsilon)} g\} \tau\right) + \epsilon&#10;\end{align*}">
                <a:extLst>
                  <a:ext uri="{FF2B5EF4-FFF2-40B4-BE49-F238E27FC236}">
                    <a16:creationId xmlns:a16="http://schemas.microsoft.com/office/drawing/2014/main" id="{DFA0BD79-F5D3-FC80-70B3-E8E207A8585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3721" y="1887734"/>
                <a:ext cx="4390407" cy="46443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5" name="グループ化 34">
              <a:extLst>
                <a:ext uri="{FF2B5EF4-FFF2-40B4-BE49-F238E27FC236}">
                  <a16:creationId xmlns:a16="http://schemas.microsoft.com/office/drawing/2014/main" id="{17DAC4FA-5383-5298-6EB8-78E55E7C1213}"/>
                </a:ext>
              </a:extLst>
            </p:cNvPr>
            <p:cNvGrpSpPr/>
            <p:nvPr/>
          </p:nvGrpSpPr>
          <p:grpSpPr>
            <a:xfrm>
              <a:off x="1100903" y="2439782"/>
              <a:ext cx="5529086" cy="830420"/>
              <a:chOff x="1100903" y="2439782"/>
              <a:chExt cx="5529086" cy="830420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" name="テキスト ボックス 5">
                    <a:extLst>
                      <a:ext uri="{FF2B5EF4-FFF2-40B4-BE49-F238E27FC236}">
                        <a16:creationId xmlns:a16="http://schemas.microsoft.com/office/drawing/2014/main" id="{C97486AB-BAB8-C0BB-0561-55F84B2285D2}"/>
                      </a:ext>
                    </a:extLst>
                  </p:cNvPr>
                  <p:cNvSpPr txBox="1"/>
                  <p:nvPr/>
                </p:nvSpPr>
                <p:spPr>
                  <a:xfrm>
                    <a:off x="1100903" y="2715476"/>
                    <a:ext cx="1998052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b="1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Trotter number </a:t>
                    </a:r>
                    <a14:m>
                      <m:oMath xmlns:m="http://schemas.openxmlformats.org/officeDocument/2006/math">
                        <m:r>
                          <a:rPr kumimoji="1" lang="en-US" altLang="ja-JP" b="1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𝒓</m:t>
                        </m:r>
                      </m:oMath>
                    </a14:m>
                    <a:r>
                      <a:rPr kumimoji="1" lang="en-US" altLang="ja-JP" b="1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:</a:t>
                    </a:r>
                    <a:endParaRPr kumimoji="1" lang="ja-JP" altLang="en-US" sz="1200" b="1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6" name="テキスト ボックス 5">
                    <a:extLst>
                      <a:ext uri="{FF2B5EF4-FFF2-40B4-BE49-F238E27FC236}">
                        <a16:creationId xmlns:a16="http://schemas.microsoft.com/office/drawing/2014/main" id="{C97486AB-BAB8-C0BB-0561-55F84B2285D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00903" y="2715476"/>
                    <a:ext cx="1998052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2532" t="-6667" r="-1266" b="-2333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054" name="Picture 6" descr="\begin{align*}&#10;  gt \left( \frac{\Delta t + \sqrt{N\log(N/\varepsilon)} gt}{\varepsilon}\right)^{\frac1p}&#10;\end{align*}">
                <a:extLst>
                  <a:ext uri="{FF2B5EF4-FFF2-40B4-BE49-F238E27FC236}">
                    <a16:creationId xmlns:a16="http://schemas.microsoft.com/office/drawing/2014/main" id="{63C2153D-EEC0-97A6-CFF3-DC81EED9667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505460" y="2439782"/>
                <a:ext cx="3124529" cy="83042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36" name="グループ化 35">
              <a:extLst>
                <a:ext uri="{FF2B5EF4-FFF2-40B4-BE49-F238E27FC236}">
                  <a16:creationId xmlns:a16="http://schemas.microsoft.com/office/drawing/2014/main" id="{BF841F68-BE52-C362-24FC-CD606F5F4D3A}"/>
                </a:ext>
              </a:extLst>
            </p:cNvPr>
            <p:cNvGrpSpPr/>
            <p:nvPr/>
          </p:nvGrpSpPr>
          <p:grpSpPr>
            <a:xfrm>
              <a:off x="220592" y="3418982"/>
              <a:ext cx="8722659" cy="645859"/>
              <a:chOff x="220592" y="3418982"/>
              <a:chExt cx="8722659" cy="645859"/>
            </a:xfrm>
          </p:grpSpPr>
          <p:sp>
            <p:nvSpPr>
              <p:cNvPr id="26" name="正方形/長方形 25">
                <a:extLst>
                  <a:ext uri="{FF2B5EF4-FFF2-40B4-BE49-F238E27FC236}">
                    <a16:creationId xmlns:a16="http://schemas.microsoft.com/office/drawing/2014/main" id="{FA13AD11-6DE7-A1BE-A109-9CD2B27A750F}"/>
                  </a:ext>
                </a:extLst>
              </p:cNvPr>
              <p:cNvSpPr/>
              <p:nvPr/>
            </p:nvSpPr>
            <p:spPr>
              <a:xfrm>
                <a:off x="220592" y="3418982"/>
                <a:ext cx="8722659" cy="645859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pic>
            <p:nvPicPr>
              <p:cNvPr id="1026" name="Picture 2" descr="\begin{align*}&#10;  \braket{\psi|H|\psi} \in o(Ng)&#10;\end{align*}">
                <a:extLst>
                  <a:ext uri="{FF2B5EF4-FFF2-40B4-BE49-F238E27FC236}">
                    <a16:creationId xmlns:a16="http://schemas.microsoft.com/office/drawing/2014/main" id="{8C4D86EF-715A-CF60-D097-879516B3E1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629989" y="3612558"/>
                <a:ext cx="2060512" cy="27698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462E693-E572-99EE-F907-12700E42A85B}"/>
                      </a:ext>
                    </a:extLst>
                  </p:cNvPr>
                  <p:cNvSpPr txBox="1"/>
                  <p:nvPr/>
                </p:nvSpPr>
                <p:spPr>
                  <a:xfrm>
                    <a:off x="453499" y="3541856"/>
                    <a:ext cx="6182973" cy="40011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kumimoji="1" lang="en-US" altLang="ja-JP" sz="2000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Quadratic improvement size </a:t>
                    </a:r>
                    <a14:m>
                      <m:oMath xmlns:m="http://schemas.openxmlformats.org/officeDocument/2006/math"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  <a:ea typeface="YuKyokasho Medium" panose="02000500000000000000" pitchFamily="2" charset="-128"/>
                            <a:cs typeface="Times New Roman" panose="02020603050405020304" pitchFamily="18" charset="0"/>
                          </a:rPr>
                          <m:t>𝑁</m:t>
                        </m:r>
                      </m:oMath>
                    </a14:m>
                    <a:r>
                      <a:rPr kumimoji="1" lang="en-US" altLang="ja-JP" sz="2000" dirty="0">
                        <a:latin typeface="Times New Roman" panose="020206030504050203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a:t> for the low-energy regime</a:t>
                    </a:r>
                    <a:endParaRPr kumimoji="1" lang="ja-JP" altLang="en-US" sz="2000">
                      <a:latin typeface="Times New Roman" panose="02020603050405020304" pitchFamily="18" charset="0"/>
                      <a:ea typeface="YuKyokasho Medium" panose="02000500000000000000" pitchFamily="2" charset="-128"/>
                      <a:cs typeface="Times New Roman" panose="02020603050405020304" pitchFamily="18" charset="0"/>
                    </a:endParaRPr>
                  </a:p>
                </p:txBody>
              </p:sp>
            </mc:Choice>
            <mc:Fallback xmlns="">
              <p:sp>
                <p:nvSpPr>
                  <p:cNvPr id="25" name="テキスト ボックス 24">
                    <a:extLst>
                      <a:ext uri="{FF2B5EF4-FFF2-40B4-BE49-F238E27FC236}">
                        <a16:creationId xmlns:a16="http://schemas.microsoft.com/office/drawing/2014/main" id="{C462E693-E572-99EE-F907-12700E42A85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3499" y="3541856"/>
                    <a:ext cx="6182973" cy="400110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025" t="-6061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11816930-3D44-20BC-FAB1-8F51558747E1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24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テキスト ボックス 32">
                <a:extLst>
                  <a:ext uri="{FF2B5EF4-FFF2-40B4-BE49-F238E27FC236}">
                    <a16:creationId xmlns:a16="http://schemas.microsoft.com/office/drawing/2014/main" id="{11816930-3D44-20BC-FAB1-8F5155874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14"/>
                <a:stretch>
                  <a:fillRect l="-15385" r="-11538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グループ化 3">
            <a:extLst>
              <a:ext uri="{FF2B5EF4-FFF2-40B4-BE49-F238E27FC236}">
                <a16:creationId xmlns:a16="http://schemas.microsoft.com/office/drawing/2014/main" id="{3FCB47D5-A16E-D860-1152-A5F2D0360F22}"/>
              </a:ext>
            </a:extLst>
          </p:cNvPr>
          <p:cNvGrpSpPr/>
          <p:nvPr/>
        </p:nvGrpSpPr>
        <p:grpSpPr>
          <a:xfrm>
            <a:off x="220592" y="4123986"/>
            <a:ext cx="8759049" cy="2272601"/>
            <a:chOff x="220592" y="4123986"/>
            <a:chExt cx="8759049" cy="2272601"/>
          </a:xfrm>
        </p:grpSpPr>
        <p:grpSp>
          <p:nvGrpSpPr>
            <p:cNvPr id="38" name="グループ化 37">
              <a:extLst>
                <a:ext uri="{FF2B5EF4-FFF2-40B4-BE49-F238E27FC236}">
                  <a16:creationId xmlns:a16="http://schemas.microsoft.com/office/drawing/2014/main" id="{E6517DB8-5E2B-1300-512B-F14E153E5F9E}"/>
                </a:ext>
              </a:extLst>
            </p:cNvPr>
            <p:cNvGrpSpPr/>
            <p:nvPr/>
          </p:nvGrpSpPr>
          <p:grpSpPr>
            <a:xfrm>
              <a:off x="220592" y="4123986"/>
              <a:ext cx="8759049" cy="2272601"/>
              <a:chOff x="290700" y="4257878"/>
              <a:chExt cx="8759049" cy="2272601"/>
            </a:xfrm>
          </p:grpSpPr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E59061DC-25A0-7D1B-4A36-AF06C26C4A22}"/>
                  </a:ext>
                </a:extLst>
              </p:cNvPr>
              <p:cNvSpPr txBox="1"/>
              <p:nvPr/>
            </p:nvSpPr>
            <p:spPr>
              <a:xfrm>
                <a:off x="727847" y="4257878"/>
                <a:ext cx="12521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b="1" u="sng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Derivation </a:t>
                </a:r>
                <a:endParaRPr kumimoji="1" lang="ja-JP" altLang="en-US" b="1" u="sng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2B3846C3-4157-B797-AD3B-8871C0672807}"/>
                  </a:ext>
                </a:extLst>
              </p:cNvPr>
              <p:cNvSpPr txBox="1"/>
              <p:nvPr/>
            </p:nvSpPr>
            <p:spPr>
              <a:xfrm>
                <a:off x="2494229" y="4619046"/>
                <a:ext cx="26762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Quantum Chernoff bound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pic>
            <p:nvPicPr>
              <p:cNvPr id="12" name="図 11" descr="グラフィカル ユーザー インターフェイス&#10;&#10;AI によって生成されたコンテンツは間違っている可能性があります。">
                <a:extLst>
                  <a:ext uri="{FF2B5EF4-FFF2-40B4-BE49-F238E27FC236}">
                    <a16:creationId xmlns:a16="http://schemas.microsoft.com/office/drawing/2014/main" id="{E35521AF-9016-FA20-85A8-8004A3D3A86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5"/>
              <a:srcRect l="48713" t="44262" r="9809" b="35515"/>
              <a:stretch/>
            </p:blipFill>
            <p:spPr>
              <a:xfrm>
                <a:off x="5484213" y="4740158"/>
                <a:ext cx="2844581" cy="1101845"/>
              </a:xfrm>
              <a:prstGeom prst="rect">
                <a:avLst/>
              </a:prstGeom>
            </p:spPr>
          </p:pic>
          <p:cxnSp>
            <p:nvCxnSpPr>
              <p:cNvPr id="14" name="直線矢印コネクタ 13">
                <a:extLst>
                  <a:ext uri="{FF2B5EF4-FFF2-40B4-BE49-F238E27FC236}">
                    <a16:creationId xmlns:a16="http://schemas.microsoft.com/office/drawing/2014/main" id="{A67452B8-102D-283D-8060-A0D529576B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394214" y="5655664"/>
                <a:ext cx="3096209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直線矢印コネクタ 15">
                <a:extLst>
                  <a:ext uri="{FF2B5EF4-FFF2-40B4-BE49-F238E27FC236}">
                    <a16:creationId xmlns:a16="http://schemas.microsoft.com/office/drawing/2014/main" id="{393C4D7D-3713-E880-B1FC-1AA6D295AC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546614" y="4740158"/>
                <a:ext cx="0" cy="1067906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8" name="テキスト ボックス 17">
                    <a:extLst>
                      <a:ext uri="{FF2B5EF4-FFF2-40B4-BE49-F238E27FC236}">
                        <a16:creationId xmlns:a16="http://schemas.microsoft.com/office/drawing/2014/main" id="{34BC7E52-D606-7C20-729A-87DE7AA28D7B}"/>
                      </a:ext>
                    </a:extLst>
                  </p:cNvPr>
                  <p:cNvSpPr txBox="1"/>
                  <p:nvPr/>
                </p:nvSpPr>
                <p:spPr>
                  <a:xfrm>
                    <a:off x="5626840" y="4488711"/>
                    <a:ext cx="529311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p>
                            <m:sSup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</m:e>
                            <m:sup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18" name="テキスト ボックス 17">
                    <a:extLst>
                      <a:ext uri="{FF2B5EF4-FFF2-40B4-BE49-F238E27FC236}">
                        <a16:creationId xmlns:a16="http://schemas.microsoft.com/office/drawing/2014/main" id="{34BC7E52-D606-7C20-729A-87DE7AA28D7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626840" y="4488711"/>
                    <a:ext cx="529311" cy="276999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6667" t="-4348" r="-4762" b="-34783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F52CACE8-BAA3-B0FE-53AD-7A81B89A3841}"/>
                      </a:ext>
                    </a:extLst>
                  </p:cNvPr>
                  <p:cNvSpPr txBox="1"/>
                  <p:nvPr/>
                </p:nvSpPr>
                <p:spPr>
                  <a:xfrm>
                    <a:off x="8384263" y="5277310"/>
                    <a:ext cx="306238" cy="276999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kumimoji="1"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oMath>
                      </m:oMathPara>
                    </a14:m>
                    <a:endParaRPr kumimoji="1" lang="ja-JP" altLang="en-US"/>
                  </a:p>
                </p:txBody>
              </p:sp>
            </mc:Choice>
            <mc:Fallback xmlns="">
              <p:sp>
                <p:nvSpPr>
                  <p:cNvPr id="19" name="テキスト ボックス 18">
                    <a:extLst>
                      <a:ext uri="{FF2B5EF4-FFF2-40B4-BE49-F238E27FC236}">
                        <a16:creationId xmlns:a16="http://schemas.microsoft.com/office/drawing/2014/main" id="{F52CACE8-BAA3-B0FE-53AD-7A81B89A3841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384263" y="5277310"/>
                    <a:ext cx="306238" cy="276999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16000" b="-8696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pic>
            <p:nvPicPr>
              <p:cNvPr id="20" name="Picture 4" descr="\begin{align*}&#10;  (gt)^p (\braket{\psi|H|\psi}t + \sqrt{N\log(1/\epsilon)}gt) + \epsilon&#10;\end{align*}">
                <a:extLst>
                  <a:ext uri="{FF2B5EF4-FFF2-40B4-BE49-F238E27FC236}">
                    <a16:creationId xmlns:a16="http://schemas.microsoft.com/office/drawing/2014/main" id="{F9BC336D-5712-1383-3EAD-0FDDCA71595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248" t="5630" r="62833" b="-30024"/>
              <a:stretch/>
            </p:blipFill>
            <p:spPr bwMode="auto">
              <a:xfrm>
                <a:off x="6041803" y="5701933"/>
                <a:ext cx="634111" cy="2677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4" name="直線コネクタ 23">
                <a:extLst>
                  <a:ext uri="{FF2B5EF4-FFF2-40B4-BE49-F238E27FC236}">
                    <a16:creationId xmlns:a16="http://schemas.microsoft.com/office/drawing/2014/main" id="{A011D24A-C0E1-90FB-06ED-5D3E4C2D6E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358858" y="4711021"/>
                <a:ext cx="0" cy="968899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線矢印コネクタ 36">
                <a:extLst>
                  <a:ext uri="{FF2B5EF4-FFF2-40B4-BE49-F238E27FC236}">
                    <a16:creationId xmlns:a16="http://schemas.microsoft.com/office/drawing/2014/main" id="{A19FFBE6-2C23-FA77-5C1D-37A4B134DD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856435" y="5068206"/>
                <a:ext cx="1004845" cy="0"/>
              </a:xfrm>
              <a:prstGeom prst="straightConnector1">
                <a:avLst/>
              </a:prstGeom>
              <a:ln w="12700">
                <a:solidFill>
                  <a:schemeClr val="accent2"/>
                </a:solidFill>
                <a:headEnd type="triangle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テキスト ボックス 48">
                    <a:extLst>
                      <a:ext uri="{FF2B5EF4-FFF2-40B4-BE49-F238E27FC236}">
                        <a16:creationId xmlns:a16="http://schemas.microsoft.com/office/drawing/2014/main" id="{CC6D635F-269C-01AD-C2D9-B311CDC1AA85}"/>
                      </a:ext>
                    </a:extLst>
                  </p:cNvPr>
                  <p:cNvSpPr txBox="1"/>
                  <p:nvPr/>
                </p:nvSpPr>
                <p:spPr>
                  <a:xfrm>
                    <a:off x="6935310" y="4900270"/>
                    <a:ext cx="688586" cy="3077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~</m:t>
                          </m:r>
                          <m:rad>
                            <m:radPr>
                              <m:degHide m:val="on"/>
                              <m:ctrlPr>
                                <a:rPr kumimoji="1" lang="en-US" altLang="ja-JP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kumimoji="1" lang="en-US" altLang="ja-JP" b="0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e>
                          </m:rad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oMath>
                      </m:oMathPara>
                    </a14:m>
                    <a:endParaRPr kumimoji="1" lang="ja-JP" altLang="en-US">
                      <a:solidFill>
                        <a:schemeClr val="accent2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49" name="テキスト ボックス 48">
                    <a:extLst>
                      <a:ext uri="{FF2B5EF4-FFF2-40B4-BE49-F238E27FC236}">
                        <a16:creationId xmlns:a16="http://schemas.microsoft.com/office/drawing/2014/main" id="{CC6D635F-269C-01AD-C2D9-B311CDC1AA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935310" y="4900270"/>
                    <a:ext cx="688586" cy="307777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l="-3636" r="-7273" b="-24000"/>
                    </a:stretch>
                  </a:blipFill>
                </p:spPr>
                <p:txBody>
                  <a:bodyPr/>
                  <a:lstStyle/>
                  <a:p>
                    <a:r>
                      <a:rPr lang="ja-JP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2" name="テキスト ボックス 51">
                <a:extLst>
                  <a:ext uri="{FF2B5EF4-FFF2-40B4-BE49-F238E27FC236}">
                    <a16:creationId xmlns:a16="http://schemas.microsoft.com/office/drawing/2014/main" id="{692917AE-F3A2-385D-EB53-D6A8B370F07B}"/>
                  </a:ext>
                </a:extLst>
              </p:cNvPr>
              <p:cNvSpPr txBox="1"/>
              <p:nvPr/>
            </p:nvSpPr>
            <p:spPr>
              <a:xfrm>
                <a:off x="2326202" y="4973578"/>
                <a:ext cx="3023643" cy="27699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" altLang="ja-JP" sz="1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A. Anshu, New J. Phys. </a:t>
                </a:r>
                <a:r>
                  <a:rPr lang="en" altLang="ja-JP" sz="1200" b="1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18</a:t>
                </a:r>
                <a:r>
                  <a:rPr lang="en" altLang="ja-JP" sz="1200" dirty="0">
                    <a:solidFill>
                      <a:srgbClr val="00206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083011 (2016). </a:t>
                </a:r>
                <a:endParaRPr lang="ja-JP" altLang="en-US" sz="1200">
                  <a:solidFill>
                    <a:srgbClr val="00206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7" name="大かっこ 26">
                <a:extLst>
                  <a:ext uri="{FF2B5EF4-FFF2-40B4-BE49-F238E27FC236}">
                    <a16:creationId xmlns:a16="http://schemas.microsoft.com/office/drawing/2014/main" id="{62EDB747-967E-8A2F-D29D-1AAB2FA3F37B}"/>
                  </a:ext>
                </a:extLst>
              </p:cNvPr>
              <p:cNvSpPr/>
              <p:nvPr/>
            </p:nvSpPr>
            <p:spPr>
              <a:xfrm>
                <a:off x="539729" y="4448470"/>
                <a:ext cx="8297382" cy="1616385"/>
              </a:xfrm>
              <a:prstGeom prst="bracketPair">
                <a:avLst>
                  <a:gd name="adj" fmla="val 11002"/>
                </a:avLst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kumimoji="1" lang="ja-JP" altLang="en-US"/>
              </a:p>
            </p:txBody>
          </p:sp>
          <p:sp>
            <p:nvSpPr>
              <p:cNvPr id="28" name="テキスト ボックス 27">
                <a:extLst>
                  <a:ext uri="{FF2B5EF4-FFF2-40B4-BE49-F238E27FC236}">
                    <a16:creationId xmlns:a16="http://schemas.microsoft.com/office/drawing/2014/main" id="{A5161975-EFFF-CCF0-8A2D-A78482E425F1}"/>
                  </a:ext>
                </a:extLst>
              </p:cNvPr>
              <p:cNvSpPr txBox="1"/>
              <p:nvPr/>
            </p:nvSpPr>
            <p:spPr>
              <a:xfrm>
                <a:off x="727847" y="4735157"/>
                <a:ext cx="212296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Our theorem +</a:t>
                </a:r>
                <a:endParaRPr kumimoji="1" lang="ja-JP" altLang="en-US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cxnSp>
            <p:nvCxnSpPr>
              <p:cNvPr id="30" name="直線矢印コネクタ 29">
                <a:extLst>
                  <a:ext uri="{FF2B5EF4-FFF2-40B4-BE49-F238E27FC236}">
                    <a16:creationId xmlns:a16="http://schemas.microsoft.com/office/drawing/2014/main" id="{C5415432-0706-7963-B52D-874551E06A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90700" y="4939730"/>
                <a:ext cx="413397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テキスト ボックス 31">
                <a:extLst>
                  <a:ext uri="{FF2B5EF4-FFF2-40B4-BE49-F238E27FC236}">
                    <a16:creationId xmlns:a16="http://schemas.microsoft.com/office/drawing/2014/main" id="{E4552B74-A741-938E-0924-0B2E1E02F393}"/>
                  </a:ext>
                </a:extLst>
              </p:cNvPr>
              <p:cNvSpPr txBox="1"/>
              <p:nvPr/>
            </p:nvSpPr>
            <p:spPr>
              <a:xfrm>
                <a:off x="327090" y="6161147"/>
                <a:ext cx="87226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dirty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Remark: No improvement is obtained when combined with the previous low-energy results</a:t>
                </a:r>
                <a:endParaRPr kumimoji="1" lang="ja-JP" altLang="en-US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6146" name="Picture 2" descr="\begin{align*}&#10; \Delta = \braket{\psi|H|\psi} + \mathcal{O}(\sqrt{N}g)&#10;\end{align*}">
              <a:extLst>
                <a:ext uri="{FF2B5EF4-FFF2-40B4-BE49-F238E27FC236}">
                  <a16:creationId xmlns:a16="http://schemas.microsoft.com/office/drawing/2014/main" id="{56E7AFB1-46F6-D16C-42DE-3B25F060F89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09736" y="5361757"/>
              <a:ext cx="2880267" cy="32003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8" name="直線コネクタ 7">
              <a:extLst>
                <a:ext uri="{FF2B5EF4-FFF2-40B4-BE49-F238E27FC236}">
                  <a16:creationId xmlns:a16="http://schemas.microsoft.com/office/drawing/2014/main" id="{392C7DDF-2162-5410-496C-C19C612C4F23}"/>
                </a:ext>
              </a:extLst>
            </p:cNvPr>
            <p:cNvCxnSpPr>
              <a:cxnSpLocks/>
            </p:cNvCxnSpPr>
            <p:nvPr/>
          </p:nvCxnSpPr>
          <p:spPr>
            <a:xfrm>
              <a:off x="6810791" y="4564049"/>
              <a:ext cx="0" cy="1287910"/>
            </a:xfrm>
            <a:prstGeom prst="line">
              <a:avLst/>
            </a:prstGeom>
            <a:ln w="127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A8341FC2-8489-2BF8-5E47-3E0D1B919B7A}"/>
                    </a:ext>
                  </a:extLst>
                </p:cNvPr>
                <p:cNvSpPr txBox="1"/>
                <p:nvPr/>
              </p:nvSpPr>
              <p:spPr>
                <a:xfrm>
                  <a:off x="6715412" y="5802202"/>
                  <a:ext cx="190758" cy="276999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kumimoji="1" lang="el-GR" altLang="ja-JP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Δ</m:t>
                        </m:r>
                      </m:oMath>
                    </m:oMathPara>
                  </a14:m>
                  <a:endParaRPr kumimoji="1" lang="ja-JP" altLang="en-US"/>
                </a:p>
              </p:txBody>
            </p:sp>
          </mc:Choice>
          <mc:Fallback xmlns="">
            <p:sp>
              <p:nvSpPr>
                <p:cNvPr id="13" name="テキスト ボックス 12">
                  <a:extLst>
                    <a:ext uri="{FF2B5EF4-FFF2-40B4-BE49-F238E27FC236}">
                      <a16:creationId xmlns:a16="http://schemas.microsoft.com/office/drawing/2014/main" id="{A8341FC2-8489-2BF8-5E47-3E0D1B919B7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15412" y="5802202"/>
                  <a:ext cx="190758" cy="276999"/>
                </a:xfrm>
                <a:prstGeom prst="rect">
                  <a:avLst/>
                </a:prstGeom>
                <a:blipFill>
                  <a:blip r:embed="rId18"/>
                  <a:stretch>
                    <a:fillRect l="-25000" r="-25000" b="-8696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4047445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C7B6FC-8310-B1C3-E4CC-F06614700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4A7AC8ED-40B7-9FE5-9AFC-9BBF78FB8149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D3F7D544-F397-FFD1-EDC0-F34F662B50E4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 III. Summary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A16268ED-8368-B64B-8AA0-1D768CA045A3}"/>
              </a:ext>
            </a:extLst>
          </p:cNvPr>
          <p:cNvSpPr txBox="1"/>
          <p:nvPr/>
        </p:nvSpPr>
        <p:spPr>
          <a:xfrm>
            <a:off x="293451" y="1253009"/>
            <a:ext cx="226536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Take-home message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5102315-53D8-40B1-7F18-5457B34308C4}"/>
              </a:ext>
            </a:extLst>
          </p:cNvPr>
          <p:cNvSpPr txBox="1"/>
          <p:nvPr/>
        </p:nvSpPr>
        <p:spPr>
          <a:xfrm>
            <a:off x="375260" y="1764509"/>
            <a:ext cx="71694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Error &amp; cost of Trotterization are substantially</a:t>
            </a:r>
          </a:p>
          <a:p>
            <a:endParaRPr kumimoji="1" lang="en-US" altLang="ja-JP" sz="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                           improved for the initial state energy  </a:t>
            </a:r>
          </a:p>
        </p:txBody>
      </p:sp>
      <p:pic>
        <p:nvPicPr>
          <p:cNvPr id="11" name="Picture 2" descr="\begin{align*}&#10;   \Delta \in o(Ng)&#10;\end{align*}">
            <a:extLst>
              <a:ext uri="{FF2B5EF4-FFF2-40B4-BE49-F238E27FC236}">
                <a16:creationId xmlns:a16="http://schemas.microsoft.com/office/drawing/2014/main" id="{3A199EED-6922-38A1-63DB-7F01D6F526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3383" y="2281713"/>
            <a:ext cx="1255122" cy="2680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891D178-4E65-9CCA-73CD-3B8D0A3E0D51}"/>
                  </a:ext>
                </a:extLst>
              </p:cNvPr>
              <p:cNvSpPr txBox="1"/>
              <p:nvPr/>
            </p:nvSpPr>
            <p:spPr>
              <a:xfrm>
                <a:off x="719466" y="2634992"/>
                <a:ext cx="636727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Optimal scaling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ja-JP" sz="20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r>
                  <a:rPr kumimoji="1" lang="en-US" altLang="ja-JP" sz="2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&amp; Exponential improvement in size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0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!</a:t>
                </a:r>
              </a:p>
            </p:txBody>
          </p:sp>
        </mc:Choice>
        <mc:Fallback xmlns="">
          <p:sp>
            <p:nvSpPr>
              <p:cNvPr id="10" name="テキスト ボックス 9">
                <a:extLst>
                  <a:ext uri="{FF2B5EF4-FFF2-40B4-BE49-F238E27FC236}">
                    <a16:creationId xmlns:a16="http://schemas.microsoft.com/office/drawing/2014/main" id="{3891D178-4E65-9CCA-73CD-3B8D0A3E0D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9466" y="2634992"/>
                <a:ext cx="6367276" cy="400110"/>
              </a:xfrm>
              <a:prstGeom prst="rect">
                <a:avLst/>
              </a:prstGeom>
              <a:blipFill>
                <a:blip r:embed="rId4"/>
                <a:stretch>
                  <a:fillRect l="-994" t="-9091" r="-795" b="-242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16624FD-D265-7E97-D2EF-62E072B06779}"/>
                  </a:ext>
                </a:extLst>
              </p:cNvPr>
              <p:cNvSpPr txBox="1"/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25</m:t>
                      </m:r>
                    </m:oMath>
                  </m:oMathPara>
                </a14:m>
                <a:endParaRPr kumimoji="1" lang="ja-JP" altLang="en-US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テキスト ボックス 29">
                <a:extLst>
                  <a:ext uri="{FF2B5EF4-FFF2-40B4-BE49-F238E27FC236}">
                    <a16:creationId xmlns:a16="http://schemas.microsoft.com/office/drawing/2014/main" id="{116624FD-D265-7E97-D2EF-62E072B067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638" y="0"/>
                <a:ext cx="314189" cy="276999"/>
              </a:xfrm>
              <a:prstGeom prst="rect">
                <a:avLst/>
              </a:prstGeom>
              <a:blipFill>
                <a:blip r:embed="rId5"/>
                <a:stretch>
                  <a:fillRect l="-15385" r="-15385" b="-90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図 6">
            <a:extLst>
              <a:ext uri="{FF2B5EF4-FFF2-40B4-BE49-F238E27FC236}">
                <a16:creationId xmlns:a16="http://schemas.microsoft.com/office/drawing/2014/main" id="{2E16ADAF-BECC-003D-CA42-B3BAD2E30BE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3743" y="1260408"/>
            <a:ext cx="1214539" cy="1786087"/>
          </a:xfrm>
          <a:prstGeom prst="rect">
            <a:avLst/>
          </a:prstGeom>
        </p:spPr>
      </p:pic>
      <p:grpSp>
        <p:nvGrpSpPr>
          <p:cNvPr id="8" name="グループ化 7">
            <a:extLst>
              <a:ext uri="{FF2B5EF4-FFF2-40B4-BE49-F238E27FC236}">
                <a16:creationId xmlns:a16="http://schemas.microsoft.com/office/drawing/2014/main" id="{A902AE5D-C647-2210-354A-CAAA4FCB56B7}"/>
              </a:ext>
            </a:extLst>
          </p:cNvPr>
          <p:cNvGrpSpPr/>
          <p:nvPr/>
        </p:nvGrpSpPr>
        <p:grpSpPr>
          <a:xfrm>
            <a:off x="584685" y="5034387"/>
            <a:ext cx="8198082" cy="1316717"/>
            <a:chOff x="584685" y="5034387"/>
            <a:chExt cx="8198082" cy="1316717"/>
          </a:xfrm>
        </p:grpSpPr>
        <p:sp>
          <p:nvSpPr>
            <p:cNvPr id="26" name="正方形/長方形 25">
              <a:extLst>
                <a:ext uri="{FF2B5EF4-FFF2-40B4-BE49-F238E27FC236}">
                  <a16:creationId xmlns:a16="http://schemas.microsoft.com/office/drawing/2014/main" id="{B9CDA8CA-B650-F996-7A77-BDE9E1785E2D}"/>
                </a:ext>
              </a:extLst>
            </p:cNvPr>
            <p:cNvSpPr/>
            <p:nvPr/>
          </p:nvSpPr>
          <p:spPr>
            <a:xfrm>
              <a:off x="584685" y="5203664"/>
              <a:ext cx="8123598" cy="114744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テキスト ボックス 27">
              <a:extLst>
                <a:ext uri="{FF2B5EF4-FFF2-40B4-BE49-F238E27FC236}">
                  <a16:creationId xmlns:a16="http://schemas.microsoft.com/office/drawing/2014/main" id="{BF936620-BB70-1F9F-C47C-9BD11A56942C}"/>
                </a:ext>
              </a:extLst>
            </p:cNvPr>
            <p:cNvSpPr txBox="1"/>
            <p:nvPr/>
          </p:nvSpPr>
          <p:spPr>
            <a:xfrm>
              <a:off x="713894" y="5034387"/>
              <a:ext cx="2933768" cy="338554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kumimoji="1" lang="en-US" altLang="ja-JP" sz="1600" dirty="0">
                  <a:solidFill>
                    <a:schemeClr val="accent5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[Example] Spectral amplification</a:t>
              </a:r>
            </a:p>
          </p:txBody>
        </p:sp>
        <p:sp>
          <p:nvSpPr>
            <p:cNvPr id="27" name="テキスト ボックス 26">
              <a:extLst>
                <a:ext uri="{FF2B5EF4-FFF2-40B4-BE49-F238E27FC236}">
                  <a16:creationId xmlns:a16="http://schemas.microsoft.com/office/drawing/2014/main" id="{1385BAB1-8223-F224-0A75-7D3EC4554B69}"/>
                </a:ext>
              </a:extLst>
            </p:cNvPr>
            <p:cNvSpPr txBox="1"/>
            <p:nvPr/>
          </p:nvSpPr>
          <p:spPr>
            <a:xfrm>
              <a:off x="791117" y="5533630"/>
              <a:ext cx="22921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Find a decomposition </a:t>
              </a:r>
            </a:p>
          </p:txBody>
        </p:sp>
        <p:pic>
          <p:nvPicPr>
            <p:cNvPr id="32" name="Picture 2" descr="\begin{align*}&#10;  H = \sum_X h_X, \quad h_X \geq 0&#10;\end{align*}">
              <a:extLst>
                <a:ext uri="{FF2B5EF4-FFF2-40B4-BE49-F238E27FC236}">
                  <a16:creationId xmlns:a16="http://schemas.microsoft.com/office/drawing/2014/main" id="{631CD060-3B2D-7098-DF6A-924AE1CE7E92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47587" b="-8538"/>
            <a:stretch>
              <a:fillRect/>
            </a:stretch>
          </p:blipFill>
          <p:spPr bwMode="auto">
            <a:xfrm>
              <a:off x="3017667" y="5542358"/>
              <a:ext cx="987803" cy="449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テキスト ボックス 32">
              <a:extLst>
                <a:ext uri="{FF2B5EF4-FFF2-40B4-BE49-F238E27FC236}">
                  <a16:creationId xmlns:a16="http://schemas.microsoft.com/office/drawing/2014/main" id="{FB92721C-5AE2-A489-8B2B-8BEE3A5AA2FF}"/>
                </a:ext>
              </a:extLst>
            </p:cNvPr>
            <p:cNvSpPr txBox="1"/>
            <p:nvPr/>
          </p:nvSpPr>
          <p:spPr>
            <a:xfrm>
              <a:off x="4124232" y="5506417"/>
              <a:ext cx="443508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such that the shift for                becomes small</a:t>
              </a:r>
            </a:p>
          </p:txBody>
        </p:sp>
        <p:pic>
          <p:nvPicPr>
            <p:cNvPr id="34" name="Picture 2" descr="\begin{align*}&#10;  H = \sum_X h_X, \quad h_X \geq 0&#10;\end{align*}">
              <a:extLst>
                <a:ext uri="{FF2B5EF4-FFF2-40B4-BE49-F238E27FC236}">
                  <a16:creationId xmlns:a16="http://schemas.microsoft.com/office/drawing/2014/main" id="{B3FFF2DE-7152-BA6F-BD2B-8C77ADCE2E6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156" t="-10603" r="-8038" b="21426"/>
            <a:stretch>
              <a:fillRect/>
            </a:stretch>
          </p:blipFill>
          <p:spPr bwMode="auto">
            <a:xfrm>
              <a:off x="6190495" y="5529700"/>
              <a:ext cx="864704" cy="36933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5" name="テキスト ボックス 34">
              <a:extLst>
                <a:ext uri="{FF2B5EF4-FFF2-40B4-BE49-F238E27FC236}">
                  <a16:creationId xmlns:a16="http://schemas.microsoft.com/office/drawing/2014/main" id="{0E5B32C5-9D1B-EA98-5005-3BD863EA0431}"/>
                </a:ext>
              </a:extLst>
            </p:cNvPr>
            <p:cNvSpPr txBox="1"/>
            <p:nvPr/>
          </p:nvSpPr>
          <p:spPr>
            <a:xfrm>
              <a:off x="777378" y="5991107"/>
              <a:ext cx="732363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400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e.g., chemistry Hamiltonians, SYK model / Developed for simulating low-energy states with QSVT</a:t>
              </a:r>
            </a:p>
          </p:txBody>
        </p:sp>
        <p:sp>
          <p:nvSpPr>
            <p:cNvPr id="37" name="テキスト ボックス 36">
              <a:extLst>
                <a:ext uri="{FF2B5EF4-FFF2-40B4-BE49-F238E27FC236}">
                  <a16:creationId xmlns:a16="http://schemas.microsoft.com/office/drawing/2014/main" id="{6EE0191A-ECC3-3582-F8F7-C9F417E90A00}"/>
                </a:ext>
              </a:extLst>
            </p:cNvPr>
            <p:cNvSpPr txBox="1"/>
            <p:nvPr/>
          </p:nvSpPr>
          <p:spPr>
            <a:xfrm>
              <a:off x="5902904" y="5180123"/>
              <a:ext cx="2879863" cy="26161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" altLang="ja-JP" sz="1050" dirty="0">
                  <a:solidFill>
                    <a:srgbClr val="002060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G. H. Low, et al., Phys. Rev.</a:t>
              </a:r>
              <a:r>
                <a:rPr lang="en-US" altLang="ja-JP" sz="1050" dirty="0">
                  <a:solidFill>
                    <a:srgbClr val="002060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 </a:t>
              </a:r>
              <a:r>
                <a:rPr lang="en" altLang="ja-JP" sz="1050" dirty="0">
                  <a:solidFill>
                    <a:srgbClr val="002060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X 15, 041016 (2025)</a:t>
              </a:r>
              <a:endParaRPr lang="ja-JP" altLang="en-US" sz="1050">
                <a:solidFill>
                  <a:srgbClr val="002060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799A40B5-D401-BE4A-7B5D-4A4185A9504F}"/>
              </a:ext>
            </a:extLst>
          </p:cNvPr>
          <p:cNvSpPr txBox="1"/>
          <p:nvPr/>
        </p:nvSpPr>
        <p:spPr>
          <a:xfrm>
            <a:off x="2626290" y="1352154"/>
            <a:ext cx="44604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1400" b="1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KM</a:t>
            </a:r>
            <a:r>
              <a:rPr kumimoji="1" lang="en-US" altLang="ja-JP" sz="1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and T. Kuwahara, Phys. Rev. Lett. 135, 130602 (2025)</a:t>
            </a:r>
            <a:endParaRPr kumimoji="1" lang="ja-JP" altLang="en-US" sz="14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6" name="グループ化 5">
            <a:extLst>
              <a:ext uri="{FF2B5EF4-FFF2-40B4-BE49-F238E27FC236}">
                <a16:creationId xmlns:a16="http://schemas.microsoft.com/office/drawing/2014/main" id="{1AFA0F7D-AA64-2C9D-8853-F68D80133FE5}"/>
              </a:ext>
            </a:extLst>
          </p:cNvPr>
          <p:cNvGrpSpPr/>
          <p:nvPr/>
        </p:nvGrpSpPr>
        <p:grpSpPr>
          <a:xfrm>
            <a:off x="305979" y="3178247"/>
            <a:ext cx="10142169" cy="1818351"/>
            <a:chOff x="305979" y="3178247"/>
            <a:chExt cx="10142169" cy="1818351"/>
          </a:xfrm>
        </p:grpSpPr>
        <p:grpSp>
          <p:nvGrpSpPr>
            <p:cNvPr id="2" name="グループ化 1">
              <a:extLst>
                <a:ext uri="{FF2B5EF4-FFF2-40B4-BE49-F238E27FC236}">
                  <a16:creationId xmlns:a16="http://schemas.microsoft.com/office/drawing/2014/main" id="{83988940-06DE-9746-C7B3-7C25588604BF}"/>
                </a:ext>
              </a:extLst>
            </p:cNvPr>
            <p:cNvGrpSpPr/>
            <p:nvPr/>
          </p:nvGrpSpPr>
          <p:grpSpPr>
            <a:xfrm>
              <a:off x="305979" y="3178247"/>
              <a:ext cx="9143999" cy="1818351"/>
              <a:chOff x="293451" y="3351507"/>
              <a:chExt cx="7885480" cy="1818351"/>
            </a:xfrm>
          </p:grpSpPr>
          <p:sp>
            <p:nvSpPr>
              <p:cNvPr id="13" name="テキスト ボックス 12">
                <a:extLst>
                  <a:ext uri="{FF2B5EF4-FFF2-40B4-BE49-F238E27FC236}">
                    <a16:creationId xmlns:a16="http://schemas.microsoft.com/office/drawing/2014/main" id="{8C3FF484-73D5-9186-39AB-E5869CA82002}"/>
                  </a:ext>
                </a:extLst>
              </p:cNvPr>
              <p:cNvSpPr txBox="1"/>
              <p:nvPr/>
            </p:nvSpPr>
            <p:spPr>
              <a:xfrm>
                <a:off x="293451" y="3351507"/>
                <a:ext cx="1925527" cy="40011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</p:spPr>
            <p:txBody>
              <a:bodyPr wrap="none" rtlCol="0">
                <a:spAutoFit/>
              </a:bodyPr>
              <a:lstStyle/>
              <a:p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Future directions</a:t>
                </a:r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  <p:sp>
            <p:nvSpPr>
              <p:cNvPr id="24" name="テキスト ボックス 23">
                <a:extLst>
                  <a:ext uri="{FF2B5EF4-FFF2-40B4-BE49-F238E27FC236}">
                    <a16:creationId xmlns:a16="http://schemas.microsoft.com/office/drawing/2014/main" id="{D1AE223D-12D4-7B64-070E-E4597D620495}"/>
                  </a:ext>
                </a:extLst>
              </p:cNvPr>
              <p:cNvSpPr txBox="1"/>
              <p:nvPr/>
            </p:nvSpPr>
            <p:spPr>
              <a:xfrm>
                <a:off x="375260" y="3834571"/>
                <a:ext cx="780367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Possible advantages of low-energy states for various Trotter-based algorithms</a:t>
                </a:r>
              </a:p>
            </p:txBody>
          </p:sp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6E054AC5-D3DB-538B-7AD3-177499BB7CDF}"/>
                  </a:ext>
                </a:extLst>
              </p:cNvPr>
              <p:cNvSpPr txBox="1"/>
              <p:nvPr/>
            </p:nvSpPr>
            <p:spPr>
              <a:xfrm>
                <a:off x="2233303" y="4164067"/>
                <a:ext cx="5306015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400" dirty="0">
                    <a:solidFill>
                      <a:schemeClr val="bg1">
                        <a:lumMod val="50000"/>
                      </a:schemeClr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Time-dependent systems,                             Multi-product formula, etc.</a:t>
                </a:r>
              </a:p>
            </p:txBody>
          </p:sp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978BC582-A7EE-55A8-4399-ED16D3436A01}"/>
                  </a:ext>
                </a:extLst>
              </p:cNvPr>
              <p:cNvSpPr txBox="1"/>
              <p:nvPr/>
            </p:nvSpPr>
            <p:spPr>
              <a:xfrm>
                <a:off x="375260" y="4800526"/>
                <a:ext cx="557827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Seeking for “practical advantage” of low-energy states</a:t>
                </a:r>
              </a:p>
            </p:txBody>
          </p:sp>
        </p:grpSp>
        <p:sp>
          <p:nvSpPr>
            <p:cNvPr id="3" name="テキスト ボックス 2">
              <a:extLst>
                <a:ext uri="{FF2B5EF4-FFF2-40B4-BE49-F238E27FC236}">
                  <a16:creationId xmlns:a16="http://schemas.microsoft.com/office/drawing/2014/main" id="{F4D0EB1C-2EBC-2740-3A3C-6EE3F3A14257}"/>
                </a:ext>
              </a:extLst>
            </p:cNvPr>
            <p:cNvSpPr txBox="1"/>
            <p:nvPr/>
          </p:nvSpPr>
          <p:spPr>
            <a:xfrm>
              <a:off x="2538819" y="4265918"/>
              <a:ext cx="7909329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1100" dirty="0">
                  <a:solidFill>
                    <a:srgbClr val="002060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K. Mizuta, T. N. Ikeda, K. Fujii, arXiv:2410.14243,      K. Mizuta, arXiv:2507.06557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51409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7D6B6-1D90-ACAE-801D-417357227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DCF34148-F02E-EF1D-C244-297E16BCCDCD}"/>
              </a:ext>
            </a:extLst>
          </p:cNvPr>
          <p:cNvSpPr/>
          <p:nvPr/>
        </p:nvSpPr>
        <p:spPr>
          <a:xfrm>
            <a:off x="4840939" y="2314388"/>
            <a:ext cx="2649971" cy="21365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C57A11F6-3FCC-7BB8-5C83-13507D9716FC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Appendix: Numerical demonstration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914C8D96-9AE0-9815-5FAC-8CDA7CC3FA24}"/>
              </a:ext>
            </a:extLst>
          </p:cNvPr>
          <p:cNvSpPr txBox="1"/>
          <p:nvPr/>
        </p:nvSpPr>
        <p:spPr>
          <a:xfrm>
            <a:off x="1574209" y="1238342"/>
            <a:ext cx="516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Affleck-Kennedy-Lieb-Tasaki (AKLT) Hamiltonian</a:t>
            </a:r>
            <a:endParaRPr kumimoji="1" lang="ja-JP" altLang="en-US" sz="1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37595DCB-2EE1-BAAE-02ED-89727659CBC3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95A9C91-968A-4970-AF68-637B2048F54B}"/>
              </a:ext>
            </a:extLst>
          </p:cNvPr>
          <p:cNvSpPr txBox="1"/>
          <p:nvPr/>
        </p:nvSpPr>
        <p:spPr>
          <a:xfrm>
            <a:off x="231110" y="1207564"/>
            <a:ext cx="116570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Example: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0" name="図 9" descr="グラフィカル ユーザー インターフェイス, テキスト, アプリケーション, Word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A92E59BF-CCF7-223B-C071-14CCF900A1FB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6838" t="39634" r="4478" b="50000"/>
          <a:stretch/>
        </p:blipFill>
        <p:spPr>
          <a:xfrm>
            <a:off x="1653090" y="1769493"/>
            <a:ext cx="6093198" cy="856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D75127-00AA-BF59-E264-41A9B50191C1}"/>
                  </a:ext>
                </a:extLst>
              </p:cNvPr>
              <p:cNvSpPr txBox="1"/>
              <p:nvPr/>
            </p:nvSpPr>
            <p:spPr>
              <a:xfrm>
                <a:off x="5522099" y="2368750"/>
                <a:ext cx="1567919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1600" dirty="0">
                    <a:solidFill>
                      <a:schemeClr val="accent2"/>
                    </a:solidFill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Projection </a:t>
                </a:r>
                <a14:m>
                  <m:oMath xmlns:m="http://schemas.openxmlformats.org/officeDocument/2006/math">
                    <m:r>
                      <a:rPr kumimoji="1" lang="en-US" altLang="ja-JP" sz="160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≥</m:t>
                    </m:r>
                    <m:r>
                      <a:rPr kumimoji="1" lang="en-US" altLang="ja-JP" sz="1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</m:t>
                    </m:r>
                  </m:oMath>
                </a14:m>
                <a:endParaRPr kumimoji="1" lang="ja-JP" altLang="en-US" sz="1600">
                  <a:solidFill>
                    <a:schemeClr val="accent2"/>
                  </a:solidFill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テキスト ボックス 13">
                <a:extLst>
                  <a:ext uri="{FF2B5EF4-FFF2-40B4-BE49-F238E27FC236}">
                    <a16:creationId xmlns:a16="http://schemas.microsoft.com/office/drawing/2014/main" id="{E6D75127-00AA-BF59-E264-41A9B5019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22099" y="2368750"/>
                <a:ext cx="1567919" cy="338554"/>
              </a:xfrm>
              <a:prstGeom prst="rect">
                <a:avLst/>
              </a:prstGeom>
              <a:blipFill>
                <a:blip r:embed="rId4"/>
                <a:stretch>
                  <a:fillRect l="-1600" t="-3571" b="-17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D410A-D36B-84F2-42CA-6D15BE9CAB14}"/>
                  </a:ext>
                </a:extLst>
              </p:cNvPr>
              <p:cNvSpPr txBox="1"/>
              <p:nvPr/>
            </p:nvSpPr>
            <p:spPr>
              <a:xfrm>
                <a:off x="813962" y="2940862"/>
                <a:ext cx="3849246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00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・</a:t>
                </a:r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1d spin chain with spin </a:t>
                </a:r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𝑆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=1</m:t>
                    </m:r>
                  </m:oMath>
                </a14:m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912D410A-D36B-84F2-42CA-6D15BE9CAB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962" y="2940862"/>
                <a:ext cx="3849246" cy="400110"/>
              </a:xfrm>
              <a:prstGeom prst="rect">
                <a:avLst/>
              </a:prstGeom>
              <a:blipFill>
                <a:blip r:embed="rId5"/>
                <a:stretch>
                  <a:fillRect l="-1645" t="-9091" b="-2727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B68F966A-AFDB-6243-C2A8-7BB80CAE7142}"/>
              </a:ext>
            </a:extLst>
          </p:cNvPr>
          <p:cNvSpPr txBox="1"/>
          <p:nvPr/>
        </p:nvSpPr>
        <p:spPr>
          <a:xfrm>
            <a:off x="813962" y="3455612"/>
            <a:ext cx="38492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Frustration-free Hamiltonian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750D31A0-372F-2B95-A62B-A364780D422F}"/>
              </a:ext>
            </a:extLst>
          </p:cNvPr>
          <p:cNvSpPr txBox="1"/>
          <p:nvPr/>
        </p:nvSpPr>
        <p:spPr>
          <a:xfrm>
            <a:off x="813961" y="4022885"/>
            <a:ext cx="789973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Rigorous example hosting </a:t>
            </a:r>
          </a:p>
          <a:p>
            <a:pPr algn="r"/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symmetry-protected topological (SPT) order in its ground state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grpSp>
        <p:nvGrpSpPr>
          <p:cNvPr id="21" name="グループ化 20">
            <a:extLst>
              <a:ext uri="{FF2B5EF4-FFF2-40B4-BE49-F238E27FC236}">
                <a16:creationId xmlns:a16="http://schemas.microsoft.com/office/drawing/2014/main" id="{5CD4FCDB-0F6F-905E-7C03-6171D54FF996}"/>
              </a:ext>
            </a:extLst>
          </p:cNvPr>
          <p:cNvGrpSpPr/>
          <p:nvPr/>
        </p:nvGrpSpPr>
        <p:grpSpPr>
          <a:xfrm>
            <a:off x="231109" y="5046205"/>
            <a:ext cx="8643949" cy="1251621"/>
            <a:chOff x="231109" y="5046205"/>
            <a:chExt cx="8643949" cy="1251621"/>
          </a:xfrm>
        </p:grpSpPr>
        <p:sp>
          <p:nvSpPr>
            <p:cNvPr id="20" name="正方形/長方形 19">
              <a:extLst>
                <a:ext uri="{FF2B5EF4-FFF2-40B4-BE49-F238E27FC236}">
                  <a16:creationId xmlns:a16="http://schemas.microsoft.com/office/drawing/2014/main" id="{A4A308DB-DC2C-668F-D790-8308E955BDA9}"/>
                </a:ext>
              </a:extLst>
            </p:cNvPr>
            <p:cNvSpPr/>
            <p:nvPr/>
          </p:nvSpPr>
          <p:spPr>
            <a:xfrm>
              <a:off x="231109" y="5046205"/>
              <a:ext cx="8643949" cy="125162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pic>
          <p:nvPicPr>
            <p:cNvPr id="4" name="Picture 6" descr="\begin{align*}&#10;  \| (e^{-iH\tau} - T_p(\tau)) \Pi_{\leq \Delta} \| \leq \mathcal{O} \left( (g\tau)^p \{\Delta+g \log (N/\epsilon)\} \tau \right) + \epsilon&#10;\end{align*}">
              <a:extLst>
                <a:ext uri="{FF2B5EF4-FFF2-40B4-BE49-F238E27FC236}">
                  <a16:creationId xmlns:a16="http://schemas.microsoft.com/office/drawing/2014/main" id="{AC1370CB-FCD7-77C8-58D5-0F12C1DBA1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1269" y="5756183"/>
              <a:ext cx="6516840" cy="3077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9" name="テキスト ボックス 18">
              <a:extLst>
                <a:ext uri="{FF2B5EF4-FFF2-40B4-BE49-F238E27FC236}">
                  <a16:creationId xmlns:a16="http://schemas.microsoft.com/office/drawing/2014/main" id="{3614D2DB-CE6C-30CE-AF11-F813CFF3AAC0}"/>
                </a:ext>
              </a:extLst>
            </p:cNvPr>
            <p:cNvSpPr txBox="1"/>
            <p:nvPr/>
          </p:nvSpPr>
          <p:spPr>
            <a:xfrm>
              <a:off x="486604" y="5101670"/>
              <a:ext cx="711098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000" dirty="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rPr>
                <a:t>Numerically demonstrate whether the error matches</a:t>
              </a:r>
              <a:endParaRPr kumimoji="1" lang="ja-JP" altLang="en-US" sz="1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6866466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4B2C1-2C25-5B5B-3937-1B9909DAC5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05A8B670-5CC7-3227-B83D-908F748A5BC1}"/>
              </a:ext>
            </a:extLst>
          </p:cNvPr>
          <p:cNvSpPr/>
          <p:nvPr/>
        </p:nvSpPr>
        <p:spPr>
          <a:xfrm>
            <a:off x="5876365" y="1959233"/>
            <a:ext cx="1385048" cy="2682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B92CD8F4-B3B8-CD88-648A-1EE0C2EE6EA5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Appendix: Numerical demonstration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25" name="図 24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53B359A3-DB86-5A15-178C-BE365816BB3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0769" t="50000" r="8564" b="22891"/>
          <a:stretch/>
        </p:blipFill>
        <p:spPr>
          <a:xfrm>
            <a:off x="12711048" y="5033647"/>
            <a:ext cx="731520" cy="1476974"/>
          </a:xfrm>
          <a:prstGeom prst="rect">
            <a:avLst/>
          </a:prstGeom>
        </p:spPr>
      </p:pic>
      <p:pic>
        <p:nvPicPr>
          <p:cNvPr id="27" name="図 26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7563A012-D06E-BC42-9E1D-DF4FBD6BC2E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6877" t="32329" r="7744" b="30120"/>
          <a:stretch/>
        </p:blipFill>
        <p:spPr>
          <a:xfrm>
            <a:off x="227376" y="3122145"/>
            <a:ext cx="5698597" cy="3069745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0DB62537-5694-4A6F-83F3-CFE10723E1F6}"/>
              </a:ext>
            </a:extLst>
          </p:cNvPr>
          <p:cNvSpPr txBox="1"/>
          <p:nvPr/>
        </p:nvSpPr>
        <p:spPr>
          <a:xfrm>
            <a:off x="349136" y="2359497"/>
            <a:ext cx="33353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System size dependence</a:t>
            </a:r>
            <a:endParaRPr kumimoji="1" lang="ja-JP" altLang="en-US" sz="2400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80012A8A-C235-96BA-9500-F49DA0773CB9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AE43424-A42B-41AE-D61F-EB856C9462A7}"/>
              </a:ext>
            </a:extLst>
          </p:cNvPr>
          <p:cNvSpPr txBox="1"/>
          <p:nvPr/>
        </p:nvSpPr>
        <p:spPr>
          <a:xfrm>
            <a:off x="1574209" y="1238342"/>
            <a:ext cx="516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Affleck-Kennedy-Lieb-Tasaki (AKLT) Hamiltonian</a:t>
            </a:r>
            <a:endParaRPr kumimoji="1" lang="ja-JP" altLang="en-US" sz="1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6" descr="\begin{align*}&#10;  \| (e^{-iH\tau} - T_p(\tau)) \Pi_{\leq \Delta} \| \leq \mathcal{O} \left( (g\tau)^p \{\Delta+g \log (N/\epsilon)\} \tau \right) + \epsilon&#10;\end{align*}">
            <a:extLst>
              <a:ext uri="{FF2B5EF4-FFF2-40B4-BE49-F238E27FC236}">
                <a16:creationId xmlns:a16="http://schemas.microsoft.com/office/drawing/2014/main" id="{E1EDA014-5234-4B46-A764-DB0C48972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14" y="1800335"/>
            <a:ext cx="6516840" cy="30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46F001-4B10-68FA-7F5A-D6CA4A7C8E01}"/>
              </a:ext>
            </a:extLst>
          </p:cNvPr>
          <p:cNvSpPr txBox="1"/>
          <p:nvPr/>
        </p:nvSpPr>
        <p:spPr>
          <a:xfrm>
            <a:off x="231110" y="1207564"/>
            <a:ext cx="116570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Example: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1ECB434-D686-0541-699A-17D8B1F7469B}"/>
              </a:ext>
            </a:extLst>
          </p:cNvPr>
          <p:cNvSpPr txBox="1"/>
          <p:nvPr/>
        </p:nvSpPr>
        <p:spPr>
          <a:xfrm>
            <a:off x="5974592" y="3555697"/>
            <a:ext cx="257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accent1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arbitrary initial state</a:t>
            </a:r>
            <a:endParaRPr kumimoji="1" lang="ja-JP" altLang="en-US">
              <a:solidFill>
                <a:schemeClr val="accent1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D778037-C0B2-744D-7C01-55D4649E1ED7}"/>
                  </a:ext>
                </a:extLst>
              </p:cNvPr>
              <p:cNvSpPr txBox="1"/>
              <p:nvPr/>
            </p:nvSpPr>
            <p:spPr>
              <a:xfrm>
                <a:off x="6908976" y="3925029"/>
                <a:ext cx="704873" cy="43088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2800" i="1" smtClean="0">
                          <a:latin typeface="Cambria Math" panose="02040503050406030204" pitchFamily="18" charset="0"/>
                        </a:rPr>
                        <m:t>∝</m:t>
                      </m:r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𝑁</m:t>
                      </m:r>
                    </m:oMath>
                  </m:oMathPara>
                </a14:m>
                <a:endParaRPr kumimoji="1" lang="ja-JP" altLang="en-US" sz="2800"/>
              </a:p>
            </p:txBody>
          </p:sp>
        </mc:Choice>
        <mc:Fallback xmlns="">
          <p:sp>
            <p:nvSpPr>
              <p:cNvPr id="11" name="テキスト ボックス 10">
                <a:extLst>
                  <a:ext uri="{FF2B5EF4-FFF2-40B4-BE49-F238E27FC236}">
                    <a16:creationId xmlns:a16="http://schemas.microsoft.com/office/drawing/2014/main" id="{3D778037-C0B2-744D-7C01-55D4649E1E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8976" y="3925029"/>
                <a:ext cx="704873" cy="430887"/>
              </a:xfrm>
              <a:prstGeom prst="rect">
                <a:avLst/>
              </a:prstGeom>
              <a:blipFill>
                <a:blip r:embed="rId6"/>
                <a:stretch>
                  <a:fillRect l="-7018" r="-10526" b="-285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20ADCCD-D848-657A-AECF-4F866970CE5E}"/>
              </a:ext>
            </a:extLst>
          </p:cNvPr>
          <p:cNvSpPr txBox="1"/>
          <p:nvPr/>
        </p:nvSpPr>
        <p:spPr>
          <a:xfrm>
            <a:off x="5974592" y="4624176"/>
            <a:ext cx="257364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For low-energy state</a:t>
            </a:r>
            <a:endParaRPr kumimoji="1" lang="ja-JP" altLang="en-US">
              <a:solidFill>
                <a:schemeClr val="accent2"/>
              </a:solidFill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4" name="右中かっこ 13">
            <a:extLst>
              <a:ext uri="{FF2B5EF4-FFF2-40B4-BE49-F238E27FC236}">
                <a16:creationId xmlns:a16="http://schemas.microsoft.com/office/drawing/2014/main" id="{A7A01645-37E3-D78C-8C74-17F18E17385B}"/>
              </a:ext>
            </a:extLst>
          </p:cNvPr>
          <p:cNvSpPr/>
          <p:nvPr/>
        </p:nvSpPr>
        <p:spPr>
          <a:xfrm>
            <a:off x="5880254" y="4624176"/>
            <a:ext cx="162737" cy="421408"/>
          </a:xfrm>
          <a:prstGeom prst="rightBrac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47FDC41-7678-2A36-D8C0-34BE9608325B}"/>
                  </a:ext>
                </a:extLst>
              </p:cNvPr>
              <p:cNvSpPr txBox="1"/>
              <p:nvPr/>
            </p:nvSpPr>
            <p:spPr>
              <a:xfrm>
                <a:off x="6568889" y="5126098"/>
                <a:ext cx="1915781" cy="24622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kumimoji="1" lang="en-US" altLang="ja-JP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Almost </a:t>
                </a:r>
                <a14:m>
                  <m:oMath xmlns:m="http://schemas.openxmlformats.org/officeDocument/2006/math"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kumimoji="1" lang="en-US" altLang="ja-JP" sz="16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-independent</a:t>
                </a:r>
                <a:endParaRPr kumimoji="1" lang="ja-JP" altLang="en-US" sz="160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447FDC41-7678-2A36-D8C0-34BE960832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68889" y="5126098"/>
                <a:ext cx="1915781" cy="246221"/>
              </a:xfrm>
              <a:prstGeom prst="rect">
                <a:avLst/>
              </a:prstGeom>
              <a:blipFill>
                <a:blip r:embed="rId7"/>
                <a:stretch>
                  <a:fillRect l="-6579" t="-25000" r="-3289" b="-5000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719595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0D3428-2E63-66D4-FD01-C5B593478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正方形/長方形 8">
            <a:extLst>
              <a:ext uri="{FF2B5EF4-FFF2-40B4-BE49-F238E27FC236}">
                <a16:creationId xmlns:a16="http://schemas.microsoft.com/office/drawing/2014/main" id="{715D3331-03BE-9765-EF2D-68775C52076F}"/>
              </a:ext>
            </a:extLst>
          </p:cNvPr>
          <p:cNvSpPr/>
          <p:nvPr/>
        </p:nvSpPr>
        <p:spPr>
          <a:xfrm>
            <a:off x="4655235" y="1963106"/>
            <a:ext cx="1050622" cy="30774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38D1EFCB-A589-8144-E5BB-CCA15154A2F6}"/>
              </a:ext>
            </a:extLst>
          </p:cNvPr>
          <p:cNvSpPr/>
          <p:nvPr/>
        </p:nvSpPr>
        <p:spPr>
          <a:xfrm>
            <a:off x="0" y="0"/>
            <a:ext cx="9144000" cy="104851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3600" b="1" dirty="0">
                <a:latin typeface="Times New Roman" panose="02020603050405020304" pitchFamily="18" charset="0"/>
                <a:ea typeface="YuKyokasho" panose="02000500000000000000" pitchFamily="2" charset="-128"/>
                <a:cs typeface="Times New Roman" panose="02020603050405020304" pitchFamily="18" charset="0"/>
              </a:rPr>
              <a:t>Appendix: Numerical demonstration</a:t>
            </a:r>
            <a:endParaRPr kumimoji="1" lang="ja-JP" altLang="en-US" sz="3600" b="1">
              <a:latin typeface="Times New Roman" panose="02020603050405020304" pitchFamily="18" charset="0"/>
              <a:ea typeface="YuKyokasho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17" name="図 16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FB3588F2-E0F3-15A1-3F58-C1BE6FB671E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27" t="54348" r="35043" b="32776"/>
          <a:stretch/>
        </p:blipFill>
        <p:spPr>
          <a:xfrm>
            <a:off x="592976" y="3106740"/>
            <a:ext cx="4466704" cy="1350564"/>
          </a:xfrm>
          <a:prstGeom prst="rect">
            <a:avLst/>
          </a:prstGeom>
        </p:spPr>
      </p:pic>
      <p:pic>
        <p:nvPicPr>
          <p:cNvPr id="25" name="図 24" descr="グラフィカル ユーザー インターフェイス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B5EAB8C1-EB17-4809-3CA8-49300CC5AE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80769" t="50000" r="8564" b="22891"/>
          <a:stretch/>
        </p:blipFill>
        <p:spPr>
          <a:xfrm>
            <a:off x="5180546" y="3289554"/>
            <a:ext cx="1258092" cy="2540148"/>
          </a:xfrm>
          <a:prstGeom prst="rect">
            <a:avLst/>
          </a:prstGeom>
        </p:spPr>
      </p:pic>
      <p:pic>
        <p:nvPicPr>
          <p:cNvPr id="28" name="図 27" descr="テキスト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399650C3-9267-006D-7CC1-4BED56998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5133" t="54459" r="2087" b="29605"/>
          <a:stretch/>
        </p:blipFill>
        <p:spPr>
          <a:xfrm>
            <a:off x="867210" y="4536167"/>
            <a:ext cx="4326582" cy="1671129"/>
          </a:xfrm>
          <a:prstGeom prst="rect">
            <a:avLst/>
          </a:prstGeom>
        </p:spPr>
      </p:pic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C78284CF-8D06-A79E-39CF-94C756B702E1}"/>
              </a:ext>
            </a:extLst>
          </p:cNvPr>
          <p:cNvSpPr txBox="1"/>
          <p:nvPr/>
        </p:nvSpPr>
        <p:spPr>
          <a:xfrm>
            <a:off x="349136" y="2359497"/>
            <a:ext cx="40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400" u="sng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Initial state energy dependence</a:t>
            </a:r>
            <a:endParaRPr kumimoji="1" lang="ja-JP" altLang="en-US" sz="2400" u="sng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9045FAF5-AD1C-0454-6F5D-9C63DC97732C}"/>
              </a:ext>
            </a:extLst>
          </p:cNvPr>
          <p:cNvSpPr/>
          <p:nvPr/>
        </p:nvSpPr>
        <p:spPr>
          <a:xfrm>
            <a:off x="0" y="6492874"/>
            <a:ext cx="9144000" cy="365126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kumimoji="1" lang="en-US" altLang="ja-JP" sz="16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Kaoru Mizuta, “Substantial efficiency of Trotterization for low-energy states”</a:t>
            </a:r>
            <a:endParaRPr kumimoji="1" lang="ja-JP" altLang="en-US" sz="16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805FB0D-88F4-6B74-7748-38A5037BC6B9}"/>
              </a:ext>
            </a:extLst>
          </p:cNvPr>
          <p:cNvSpPr txBox="1"/>
          <p:nvPr/>
        </p:nvSpPr>
        <p:spPr>
          <a:xfrm>
            <a:off x="1574209" y="1238342"/>
            <a:ext cx="51627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Affleck-Kennedy-Lieb-Tasaki (AKLT) Hamiltonian</a:t>
            </a:r>
            <a:endParaRPr kumimoji="1" lang="ja-JP" altLang="en-US" sz="12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6" name="Picture 6" descr="\begin{align*}&#10;  \| (e^{-iH\tau} - T_p(\tau)) \Pi_{\leq \Delta} \| \leq \mathcal{O} \left( (g\tau)^p \{\Delta+g \log (N/\epsilon)\} \tau \right) + \epsilon&#10;\end{align*}">
            <a:extLst>
              <a:ext uri="{FF2B5EF4-FFF2-40B4-BE49-F238E27FC236}">
                <a16:creationId xmlns:a16="http://schemas.microsoft.com/office/drawing/2014/main" id="{D4183DD1-250A-91EB-919A-BC24CEA5E1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6814" y="1800335"/>
            <a:ext cx="6516840" cy="3077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14475FCB-E10B-DAA7-D040-526B19B18F90}"/>
              </a:ext>
            </a:extLst>
          </p:cNvPr>
          <p:cNvSpPr txBox="1"/>
          <p:nvPr/>
        </p:nvSpPr>
        <p:spPr>
          <a:xfrm>
            <a:off x="231110" y="1207564"/>
            <a:ext cx="1165704" cy="40011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en-US" altLang="ja-JP" sz="20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Example:</a:t>
            </a:r>
            <a:endParaRPr kumimoji="1" lang="ja-JP" altLang="en-US" sz="20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D4360D5-F8D8-BED4-33BC-30EF021383DD}"/>
                  </a:ext>
                </a:extLst>
              </p:cNvPr>
              <p:cNvSpPr txBox="1"/>
              <p:nvPr/>
            </p:nvSpPr>
            <p:spPr>
              <a:xfrm>
                <a:off x="206600" y="3121780"/>
                <a:ext cx="772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=1</m:t>
                      </m:r>
                    </m:oMath>
                  </m:oMathPara>
                </a14:m>
                <a:endParaRPr kumimoji="1" lang="ja-JP" altLang="en-US" sz="12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9D4360D5-F8D8-BED4-33BC-30EF021383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600" y="3121780"/>
                <a:ext cx="772751" cy="369332"/>
              </a:xfrm>
              <a:prstGeom prst="rect">
                <a:avLst/>
              </a:prstGeom>
              <a:blipFill>
                <a:blip r:embed="rId6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C241EED-0709-4189-6BB2-353216648FD9}"/>
                  </a:ext>
                </a:extLst>
              </p:cNvPr>
              <p:cNvSpPr txBox="1"/>
              <p:nvPr/>
            </p:nvSpPr>
            <p:spPr>
              <a:xfrm>
                <a:off x="231110" y="4664315"/>
                <a:ext cx="77275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𝑝</m:t>
                      </m:r>
                      <m:r>
                        <a:rPr kumimoji="1" lang="en-US" altLang="ja-JP" b="0" i="1" dirty="0" smtClean="0">
                          <a:latin typeface="Cambria Math" panose="02040503050406030204" pitchFamily="18" charset="0"/>
                          <a:ea typeface="YuKyokasho Medium" panose="02000500000000000000" pitchFamily="2" charset="-128"/>
                          <a:cs typeface="Times New Roman" panose="02020603050405020304" pitchFamily="18" charset="0"/>
                        </a:rPr>
                        <m:t>=2</m:t>
                      </m:r>
                    </m:oMath>
                  </m:oMathPara>
                </a14:m>
                <a:endParaRPr kumimoji="1" lang="ja-JP" altLang="en-US" sz="12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テキスト ボックス 7">
                <a:extLst>
                  <a:ext uri="{FF2B5EF4-FFF2-40B4-BE49-F238E27FC236}">
                    <a16:creationId xmlns:a16="http://schemas.microsoft.com/office/drawing/2014/main" id="{2C241EED-0709-4189-6BB2-353216648F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110" y="4664315"/>
                <a:ext cx="772751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円/楕円 9">
            <a:extLst>
              <a:ext uri="{FF2B5EF4-FFF2-40B4-BE49-F238E27FC236}">
                <a16:creationId xmlns:a16="http://schemas.microsoft.com/office/drawing/2014/main" id="{E4E7C9E7-B89E-3DF5-947D-4DF5BEF1C520}"/>
              </a:ext>
            </a:extLst>
          </p:cNvPr>
          <p:cNvSpPr/>
          <p:nvPr/>
        </p:nvSpPr>
        <p:spPr>
          <a:xfrm>
            <a:off x="1987296" y="3540566"/>
            <a:ext cx="1043205" cy="1059527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円/楕円 10">
            <a:extLst>
              <a:ext uri="{FF2B5EF4-FFF2-40B4-BE49-F238E27FC236}">
                <a16:creationId xmlns:a16="http://schemas.microsoft.com/office/drawing/2014/main" id="{A418D31B-2BD0-BB95-A383-439A6C6C8FF2}"/>
              </a:ext>
            </a:extLst>
          </p:cNvPr>
          <p:cNvSpPr/>
          <p:nvPr/>
        </p:nvSpPr>
        <p:spPr>
          <a:xfrm>
            <a:off x="1963787" y="4974973"/>
            <a:ext cx="1043205" cy="1059527"/>
          </a:xfrm>
          <a:prstGeom prst="ellipse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42D5107-3DA2-3659-2AC9-10A686D53A08}"/>
                  </a:ext>
                </a:extLst>
              </p:cNvPr>
              <p:cNvSpPr txBox="1"/>
              <p:nvPr/>
            </p:nvSpPr>
            <p:spPr>
              <a:xfrm>
                <a:off x="6559504" y="4103361"/>
                <a:ext cx="2407024" cy="70788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-independent </a:t>
                </a:r>
              </a:p>
              <a:p>
                <a:pPr algn="ctr"/>
                <a:r>
                  <a:rPr kumimoji="1" lang="en-US" altLang="ja-JP" sz="2000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linear increase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kumimoji="1" lang="el-GR" altLang="ja-JP" sz="200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Δ</m:t>
                    </m:r>
                  </m:oMath>
                </a14:m>
                <a:endParaRPr kumimoji="1" lang="ja-JP" altLang="en-US" sz="2000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テキスト ボックス 11">
                <a:extLst>
                  <a:ext uri="{FF2B5EF4-FFF2-40B4-BE49-F238E27FC236}">
                    <a16:creationId xmlns:a16="http://schemas.microsoft.com/office/drawing/2014/main" id="{C42D5107-3DA2-3659-2AC9-10A686D53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9504" y="4103361"/>
                <a:ext cx="2407024" cy="707886"/>
              </a:xfrm>
              <a:prstGeom prst="rect">
                <a:avLst/>
              </a:prstGeom>
              <a:blipFill>
                <a:blip r:embed="rId8"/>
                <a:stretch>
                  <a:fillRect t="-5357" b="-1428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15351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58831</TotalTime>
  <Words>2839</Words>
  <Application>Microsoft Macintosh PowerPoint</Application>
  <PresentationFormat>画面に合わせる (4:3)</PresentationFormat>
  <Paragraphs>418</Paragraphs>
  <Slides>28</Slides>
  <Notes>25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6" baseType="lpstr">
      <vt:lpstr>UD Digi Kyokasho NK-R</vt:lpstr>
      <vt:lpstr>游ゴシック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147</cp:revision>
  <dcterms:created xsi:type="dcterms:W3CDTF">2023-07-06T06:11:03Z</dcterms:created>
  <dcterms:modified xsi:type="dcterms:W3CDTF">2026-01-22T06:20:39Z</dcterms:modified>
</cp:coreProperties>
</file>