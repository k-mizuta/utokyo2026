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27641550" cy="7945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3" userDrawn="1">
          <p15:clr>
            <a:srgbClr val="A4A3A4"/>
          </p15:clr>
        </p15:guide>
        <p15:guide id="2" pos="86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327"/>
  </p:normalViewPr>
  <p:slideViewPr>
    <p:cSldViewPr snapToGrid="0" showGuides="1">
      <p:cViewPr varScale="1">
        <p:scale>
          <a:sx n="62" d="100"/>
          <a:sy n="62" d="100"/>
        </p:scale>
        <p:origin x="272" y="1176"/>
      </p:cViewPr>
      <p:guideLst>
        <p:guide orient="horz" pos="2503"/>
        <p:guide pos="86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5194" y="1300330"/>
            <a:ext cx="20731163" cy="2766190"/>
          </a:xfrm>
        </p:spPr>
        <p:txBody>
          <a:bodyPr anchor="b"/>
          <a:lstStyle>
            <a:lvl1pPr algn="ctr">
              <a:defRPr sz="695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5194" y="4173195"/>
            <a:ext cx="20731163" cy="1918308"/>
          </a:xfrm>
        </p:spPr>
        <p:txBody>
          <a:bodyPr/>
          <a:lstStyle>
            <a:lvl1pPr marL="0" indent="0" algn="ctr">
              <a:buNone/>
              <a:defRPr sz="2781"/>
            </a:lvl1pPr>
            <a:lvl2pPr marL="529712" indent="0" algn="ctr">
              <a:buNone/>
              <a:defRPr sz="2317"/>
            </a:lvl2pPr>
            <a:lvl3pPr marL="1059424" indent="0" algn="ctr">
              <a:buNone/>
              <a:defRPr sz="2085"/>
            </a:lvl3pPr>
            <a:lvl4pPr marL="1589136" indent="0" algn="ctr">
              <a:buNone/>
              <a:defRPr sz="1854"/>
            </a:lvl4pPr>
            <a:lvl5pPr marL="2118848" indent="0" algn="ctr">
              <a:buNone/>
              <a:defRPr sz="1854"/>
            </a:lvl5pPr>
            <a:lvl6pPr marL="2648560" indent="0" algn="ctr">
              <a:buNone/>
              <a:defRPr sz="1854"/>
            </a:lvl6pPr>
            <a:lvl7pPr marL="3178272" indent="0" algn="ctr">
              <a:buNone/>
              <a:defRPr sz="1854"/>
            </a:lvl7pPr>
            <a:lvl8pPr marL="3707983" indent="0" algn="ctr">
              <a:buNone/>
              <a:defRPr sz="1854"/>
            </a:lvl8pPr>
            <a:lvl9pPr marL="4237695" indent="0" algn="ctr">
              <a:buNone/>
              <a:defRPr sz="185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43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19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960" y="1980843"/>
            <a:ext cx="23840837" cy="3305081"/>
          </a:xfrm>
        </p:spPr>
        <p:txBody>
          <a:bodyPr anchor="b"/>
          <a:lstStyle>
            <a:lvl1pPr>
              <a:defRPr sz="695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60" y="5317191"/>
            <a:ext cx="23840837" cy="1738064"/>
          </a:xfrm>
        </p:spPr>
        <p:txBody>
          <a:bodyPr/>
          <a:lstStyle>
            <a:lvl1pPr marL="0" indent="0">
              <a:buNone/>
              <a:defRPr sz="2781">
                <a:solidFill>
                  <a:schemeClr val="tx1">
                    <a:tint val="75000"/>
                  </a:schemeClr>
                </a:solidFill>
              </a:defRPr>
            </a:lvl1pPr>
            <a:lvl2pPr marL="529712" indent="0">
              <a:buNone/>
              <a:defRPr sz="2317">
                <a:solidFill>
                  <a:schemeClr val="tx1">
                    <a:tint val="75000"/>
                  </a:schemeClr>
                </a:solidFill>
              </a:defRPr>
            </a:lvl2pPr>
            <a:lvl3pPr marL="1059424" indent="0">
              <a:buNone/>
              <a:defRPr sz="2085">
                <a:solidFill>
                  <a:schemeClr val="tx1">
                    <a:tint val="75000"/>
                  </a:schemeClr>
                </a:solidFill>
              </a:defRPr>
            </a:lvl3pPr>
            <a:lvl4pPr marL="1589136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4pPr>
            <a:lvl5pPr marL="2118848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5pPr>
            <a:lvl6pPr marL="2648560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6pPr>
            <a:lvl7pPr marL="3178272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7pPr>
            <a:lvl8pPr marL="3707983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8pPr>
            <a:lvl9pPr marL="4237695" indent="0">
              <a:buNone/>
              <a:defRPr sz="18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36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0356" y="2115105"/>
            <a:ext cx="11747659" cy="50413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93535" y="2115105"/>
            <a:ext cx="11747659" cy="504130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74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7" y="423021"/>
            <a:ext cx="23840837" cy="153575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3958" y="1947736"/>
            <a:ext cx="11693670" cy="954556"/>
          </a:xfrm>
        </p:spPr>
        <p:txBody>
          <a:bodyPr anchor="b"/>
          <a:lstStyle>
            <a:lvl1pPr marL="0" indent="0">
              <a:buNone/>
              <a:defRPr sz="2781" b="1"/>
            </a:lvl1pPr>
            <a:lvl2pPr marL="529712" indent="0">
              <a:buNone/>
              <a:defRPr sz="2317" b="1"/>
            </a:lvl2pPr>
            <a:lvl3pPr marL="1059424" indent="0">
              <a:buNone/>
              <a:defRPr sz="2085" b="1"/>
            </a:lvl3pPr>
            <a:lvl4pPr marL="1589136" indent="0">
              <a:buNone/>
              <a:defRPr sz="1854" b="1"/>
            </a:lvl4pPr>
            <a:lvl5pPr marL="2118848" indent="0">
              <a:buNone/>
              <a:defRPr sz="1854" b="1"/>
            </a:lvl5pPr>
            <a:lvl6pPr marL="2648560" indent="0">
              <a:buNone/>
              <a:defRPr sz="1854" b="1"/>
            </a:lvl6pPr>
            <a:lvl7pPr marL="3178272" indent="0">
              <a:buNone/>
              <a:defRPr sz="1854" b="1"/>
            </a:lvl7pPr>
            <a:lvl8pPr marL="3707983" indent="0">
              <a:buNone/>
              <a:defRPr sz="1854" b="1"/>
            </a:lvl8pPr>
            <a:lvl9pPr marL="4237695" indent="0">
              <a:buNone/>
              <a:defRPr sz="185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03958" y="2902292"/>
            <a:ext cx="11693670" cy="42688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993535" y="1947736"/>
            <a:ext cx="11751259" cy="954556"/>
          </a:xfrm>
        </p:spPr>
        <p:txBody>
          <a:bodyPr anchor="b"/>
          <a:lstStyle>
            <a:lvl1pPr marL="0" indent="0">
              <a:buNone/>
              <a:defRPr sz="2781" b="1"/>
            </a:lvl1pPr>
            <a:lvl2pPr marL="529712" indent="0">
              <a:buNone/>
              <a:defRPr sz="2317" b="1"/>
            </a:lvl2pPr>
            <a:lvl3pPr marL="1059424" indent="0">
              <a:buNone/>
              <a:defRPr sz="2085" b="1"/>
            </a:lvl3pPr>
            <a:lvl4pPr marL="1589136" indent="0">
              <a:buNone/>
              <a:defRPr sz="1854" b="1"/>
            </a:lvl4pPr>
            <a:lvl5pPr marL="2118848" indent="0">
              <a:buNone/>
              <a:defRPr sz="1854" b="1"/>
            </a:lvl5pPr>
            <a:lvl6pPr marL="2648560" indent="0">
              <a:buNone/>
              <a:defRPr sz="1854" b="1"/>
            </a:lvl6pPr>
            <a:lvl7pPr marL="3178272" indent="0">
              <a:buNone/>
              <a:defRPr sz="1854" b="1"/>
            </a:lvl7pPr>
            <a:lvl8pPr marL="3707983" indent="0">
              <a:buNone/>
              <a:defRPr sz="1854" b="1"/>
            </a:lvl8pPr>
            <a:lvl9pPr marL="4237695" indent="0">
              <a:buNone/>
              <a:defRPr sz="185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993535" y="2902292"/>
            <a:ext cx="11751259" cy="42688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722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684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164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8" y="529696"/>
            <a:ext cx="8915119" cy="1853936"/>
          </a:xfrm>
        </p:spPr>
        <p:txBody>
          <a:bodyPr anchor="b"/>
          <a:lstStyle>
            <a:lvl1pPr>
              <a:defRPr sz="370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1259" y="1143996"/>
            <a:ext cx="13993535" cy="5646411"/>
          </a:xfrm>
        </p:spPr>
        <p:txBody>
          <a:bodyPr/>
          <a:lstStyle>
            <a:lvl1pPr>
              <a:defRPr sz="3708"/>
            </a:lvl1pPr>
            <a:lvl2pPr>
              <a:defRPr sz="3244"/>
            </a:lvl2pPr>
            <a:lvl3pPr>
              <a:defRPr sz="2781"/>
            </a:lvl3pPr>
            <a:lvl4pPr>
              <a:defRPr sz="2317"/>
            </a:lvl4pPr>
            <a:lvl5pPr>
              <a:defRPr sz="2317"/>
            </a:lvl5pPr>
            <a:lvl6pPr>
              <a:defRPr sz="2317"/>
            </a:lvl6pPr>
            <a:lvl7pPr>
              <a:defRPr sz="2317"/>
            </a:lvl7pPr>
            <a:lvl8pPr>
              <a:defRPr sz="2317"/>
            </a:lvl8pPr>
            <a:lvl9pPr>
              <a:defRPr sz="231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3958" y="2383631"/>
            <a:ext cx="8915119" cy="4415972"/>
          </a:xfrm>
        </p:spPr>
        <p:txBody>
          <a:bodyPr/>
          <a:lstStyle>
            <a:lvl1pPr marL="0" indent="0">
              <a:buNone/>
              <a:defRPr sz="1854"/>
            </a:lvl1pPr>
            <a:lvl2pPr marL="529712" indent="0">
              <a:buNone/>
              <a:defRPr sz="1622"/>
            </a:lvl2pPr>
            <a:lvl3pPr marL="1059424" indent="0">
              <a:buNone/>
              <a:defRPr sz="1390"/>
            </a:lvl3pPr>
            <a:lvl4pPr marL="1589136" indent="0">
              <a:buNone/>
              <a:defRPr sz="1159"/>
            </a:lvl4pPr>
            <a:lvl5pPr marL="2118848" indent="0">
              <a:buNone/>
              <a:defRPr sz="1159"/>
            </a:lvl5pPr>
            <a:lvl6pPr marL="2648560" indent="0">
              <a:buNone/>
              <a:defRPr sz="1159"/>
            </a:lvl6pPr>
            <a:lvl7pPr marL="3178272" indent="0">
              <a:buNone/>
              <a:defRPr sz="1159"/>
            </a:lvl7pPr>
            <a:lvl8pPr marL="3707983" indent="0">
              <a:buNone/>
              <a:defRPr sz="1159"/>
            </a:lvl8pPr>
            <a:lvl9pPr marL="4237695" indent="0">
              <a:buNone/>
              <a:defRPr sz="115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776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958" y="529696"/>
            <a:ext cx="8915119" cy="1853936"/>
          </a:xfrm>
        </p:spPr>
        <p:txBody>
          <a:bodyPr anchor="b"/>
          <a:lstStyle>
            <a:lvl1pPr>
              <a:defRPr sz="370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751259" y="1143996"/>
            <a:ext cx="13993535" cy="5646411"/>
          </a:xfrm>
        </p:spPr>
        <p:txBody>
          <a:bodyPr anchor="t"/>
          <a:lstStyle>
            <a:lvl1pPr marL="0" indent="0">
              <a:buNone/>
              <a:defRPr sz="3708"/>
            </a:lvl1pPr>
            <a:lvl2pPr marL="529712" indent="0">
              <a:buNone/>
              <a:defRPr sz="3244"/>
            </a:lvl2pPr>
            <a:lvl3pPr marL="1059424" indent="0">
              <a:buNone/>
              <a:defRPr sz="2781"/>
            </a:lvl3pPr>
            <a:lvl4pPr marL="1589136" indent="0">
              <a:buNone/>
              <a:defRPr sz="2317"/>
            </a:lvl4pPr>
            <a:lvl5pPr marL="2118848" indent="0">
              <a:buNone/>
              <a:defRPr sz="2317"/>
            </a:lvl5pPr>
            <a:lvl6pPr marL="2648560" indent="0">
              <a:buNone/>
              <a:defRPr sz="2317"/>
            </a:lvl6pPr>
            <a:lvl7pPr marL="3178272" indent="0">
              <a:buNone/>
              <a:defRPr sz="2317"/>
            </a:lvl7pPr>
            <a:lvl8pPr marL="3707983" indent="0">
              <a:buNone/>
              <a:defRPr sz="2317"/>
            </a:lvl8pPr>
            <a:lvl9pPr marL="4237695" indent="0">
              <a:buNone/>
              <a:defRPr sz="231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3958" y="2383631"/>
            <a:ext cx="8915119" cy="4415972"/>
          </a:xfrm>
        </p:spPr>
        <p:txBody>
          <a:bodyPr/>
          <a:lstStyle>
            <a:lvl1pPr marL="0" indent="0">
              <a:buNone/>
              <a:defRPr sz="1854"/>
            </a:lvl1pPr>
            <a:lvl2pPr marL="529712" indent="0">
              <a:buNone/>
              <a:defRPr sz="1622"/>
            </a:lvl2pPr>
            <a:lvl3pPr marL="1059424" indent="0">
              <a:buNone/>
              <a:defRPr sz="1390"/>
            </a:lvl3pPr>
            <a:lvl4pPr marL="1589136" indent="0">
              <a:buNone/>
              <a:defRPr sz="1159"/>
            </a:lvl4pPr>
            <a:lvl5pPr marL="2118848" indent="0">
              <a:buNone/>
              <a:defRPr sz="1159"/>
            </a:lvl5pPr>
            <a:lvl6pPr marL="2648560" indent="0">
              <a:buNone/>
              <a:defRPr sz="1159"/>
            </a:lvl6pPr>
            <a:lvl7pPr marL="3178272" indent="0">
              <a:buNone/>
              <a:defRPr sz="1159"/>
            </a:lvl7pPr>
            <a:lvl8pPr marL="3707983" indent="0">
              <a:buNone/>
              <a:defRPr sz="1159"/>
            </a:lvl8pPr>
            <a:lvl9pPr marL="4237695" indent="0">
              <a:buNone/>
              <a:defRPr sz="115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65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5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780984" y="423021"/>
            <a:ext cx="5960209" cy="673339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0357" y="423021"/>
            <a:ext cx="17535108" cy="673339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36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0357" y="423021"/>
            <a:ext cx="23840837" cy="153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0357" y="2115105"/>
            <a:ext cx="23840837" cy="5041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00356" y="7364245"/>
            <a:ext cx="6219349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56264" y="7364245"/>
            <a:ext cx="9329023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521845" y="7364245"/>
            <a:ext cx="6219349" cy="423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6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59424" rtl="0" eaLnBrk="1" latinLnBrk="0" hangingPunct="1">
        <a:lnSpc>
          <a:spcPct val="90000"/>
        </a:lnSpc>
        <a:spcBef>
          <a:spcPct val="0"/>
        </a:spcBef>
        <a:buNone/>
        <a:defRPr kumimoji="1" sz="50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856" indent="-264856" algn="l" defTabSz="1059424" rtl="0" eaLnBrk="1" latinLnBrk="0" hangingPunct="1">
        <a:lnSpc>
          <a:spcPct val="90000"/>
        </a:lnSpc>
        <a:spcBef>
          <a:spcPts val="1159"/>
        </a:spcBef>
        <a:buFont typeface="Arial" panose="020B0604020202020204" pitchFamily="34" charset="0"/>
        <a:buChar char="•"/>
        <a:defRPr kumimoji="1" sz="3244" kern="1200">
          <a:solidFill>
            <a:schemeClr val="tx1"/>
          </a:solidFill>
          <a:latin typeface="+mn-lt"/>
          <a:ea typeface="+mn-ea"/>
          <a:cs typeface="+mn-cs"/>
        </a:defRPr>
      </a:lvl1pPr>
      <a:lvl2pPr marL="794568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781" kern="1200">
          <a:solidFill>
            <a:schemeClr val="tx1"/>
          </a:solidFill>
          <a:latin typeface="+mn-lt"/>
          <a:ea typeface="+mn-ea"/>
          <a:cs typeface="+mn-cs"/>
        </a:defRPr>
      </a:lvl2pPr>
      <a:lvl3pPr marL="1324280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317" kern="1200">
          <a:solidFill>
            <a:schemeClr val="tx1"/>
          </a:solidFill>
          <a:latin typeface="+mn-lt"/>
          <a:ea typeface="+mn-ea"/>
          <a:cs typeface="+mn-cs"/>
        </a:defRPr>
      </a:lvl3pPr>
      <a:lvl4pPr marL="1853992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4pPr>
      <a:lvl5pPr marL="2383704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5pPr>
      <a:lvl6pPr marL="2913416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6pPr>
      <a:lvl7pPr marL="3443127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7pPr>
      <a:lvl8pPr marL="3972839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8pPr>
      <a:lvl9pPr marL="4502551" indent="-264856" algn="l" defTabSz="1059424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1pPr>
      <a:lvl2pPr marL="529712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2pPr>
      <a:lvl3pPr marL="1059424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3pPr>
      <a:lvl4pPr marL="1589136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4pPr>
      <a:lvl5pPr marL="2118848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5pPr>
      <a:lvl6pPr marL="2648560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6pPr>
      <a:lvl7pPr marL="3178272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7pPr>
      <a:lvl8pPr marL="3707983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8pPr>
      <a:lvl9pPr marL="4237695" algn="l" defTabSz="1059424" rtl="0" eaLnBrk="1" latinLnBrk="0" hangingPunct="1">
        <a:defRPr kumimoji="1" sz="20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3445FE3-3D2E-AFCC-1537-DCEC7B522802}"/>
              </a:ext>
            </a:extLst>
          </p:cNvPr>
          <p:cNvSpPr/>
          <p:nvPr/>
        </p:nvSpPr>
        <p:spPr>
          <a:xfrm>
            <a:off x="0" y="-3818"/>
            <a:ext cx="27641550" cy="794464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2ACD646-2506-78B8-C2A6-2179A21A1EE6}"/>
              </a:ext>
            </a:extLst>
          </p:cNvPr>
          <p:cNvSpPr/>
          <p:nvPr/>
        </p:nvSpPr>
        <p:spPr>
          <a:xfrm>
            <a:off x="0" y="-1"/>
            <a:ext cx="27641550" cy="19267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452396-FE6F-8F6A-645E-FADB6EE66640}"/>
              </a:ext>
            </a:extLst>
          </p:cNvPr>
          <p:cNvSpPr txBox="1"/>
          <p:nvPr/>
        </p:nvSpPr>
        <p:spPr>
          <a:xfrm>
            <a:off x="473528" y="409386"/>
            <a:ext cx="271680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600" dirty="0">
                <a:solidFill>
                  <a:schemeClr val="bg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3. Results: Simultaneous efficiency of MPF in size, time, accuracy</a:t>
            </a:r>
            <a:endParaRPr kumimoji="1" lang="ja-JP" altLang="en-US" sz="6600">
              <a:solidFill>
                <a:schemeClr val="bg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A1CEE6A-B778-D79E-900A-A23BA8A25213}"/>
              </a:ext>
            </a:extLst>
          </p:cNvPr>
          <p:cNvSpPr txBox="1"/>
          <p:nvPr/>
        </p:nvSpPr>
        <p:spPr>
          <a:xfrm>
            <a:off x="256115" y="2196348"/>
            <a:ext cx="1813317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Setup</a:t>
            </a:r>
            <a:endParaRPr kumimoji="1" lang="ja-JP" altLang="en-US" sz="3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A99D9B24-91E5-0FB4-E608-60610625E6D4}"/>
                  </a:ext>
                </a:extLst>
              </p:cNvPr>
              <p:cNvSpPr txBox="1"/>
              <p:nvPr/>
            </p:nvSpPr>
            <p:spPr>
              <a:xfrm>
                <a:off x="2325547" y="2323808"/>
                <a:ext cx="38417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2400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Generic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-local Hamiltonian </a:t>
                </a:r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A99D9B24-91E5-0FB4-E608-60610625E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5547" y="2323808"/>
                <a:ext cx="3841789" cy="461665"/>
              </a:xfrm>
              <a:prstGeom prst="rect">
                <a:avLst/>
              </a:prstGeom>
              <a:blipFill>
                <a:blip r:embed="rId2"/>
                <a:stretch>
                  <a:fillRect l="-329" t="-7895" r="-2303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AAB2F02-D7E9-434C-0C07-87B15087B0D9}"/>
              </a:ext>
            </a:extLst>
          </p:cNvPr>
          <p:cNvSpPr txBox="1"/>
          <p:nvPr/>
        </p:nvSpPr>
        <p:spPr>
          <a:xfrm>
            <a:off x="13970878" y="2231476"/>
            <a:ext cx="1608133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Cost</a:t>
            </a:r>
            <a:endParaRPr kumimoji="1" lang="ja-JP" altLang="en-US" sz="3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A8DB3DB6-9333-13A5-8A7E-E263F0D797CD}"/>
                  </a:ext>
                </a:extLst>
              </p:cNvPr>
              <p:cNvSpPr txBox="1"/>
              <p:nvPr/>
            </p:nvSpPr>
            <p:spPr>
              <a:xfrm>
                <a:off x="18823006" y="2009900"/>
                <a:ext cx="40655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Number of 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𝒪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-qubit gates</a:t>
                </a:r>
                <a:endParaRPr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A8DB3DB6-9333-13A5-8A7E-E263F0D79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3006" y="2009900"/>
                <a:ext cx="4065526" cy="461665"/>
              </a:xfrm>
              <a:prstGeom prst="rect">
                <a:avLst/>
              </a:prstGeom>
              <a:blipFill>
                <a:blip r:embed="rId3"/>
                <a:stretch>
                  <a:fillRect l="-2492" t="-10811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F71A472-5270-BF53-7B60-04B6FF12E1FA}"/>
              </a:ext>
            </a:extLst>
          </p:cNvPr>
          <p:cNvSpPr txBox="1"/>
          <p:nvPr/>
        </p:nvSpPr>
        <p:spPr>
          <a:xfrm>
            <a:off x="256114" y="4720234"/>
            <a:ext cx="45704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Nested commutators</a:t>
            </a:r>
            <a:endParaRPr kumimoji="1" lang="ja-JP" altLang="en-US" sz="3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976F44C3-9F3D-C475-C09A-8BFF1EFF9CA1}"/>
                  </a:ext>
                </a:extLst>
              </p:cNvPr>
              <p:cNvSpPr txBox="1"/>
              <p:nvPr/>
            </p:nvSpPr>
            <p:spPr>
              <a:xfrm>
                <a:off x="14753840" y="3244861"/>
                <a:ext cx="19054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ja-JP" sz="2400" dirty="0" err="1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th</a:t>
                </a:r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-order PF</a:t>
                </a:r>
                <a:endParaRPr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976F44C3-9F3D-C475-C09A-8BFF1EFF9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3840" y="3244861"/>
                <a:ext cx="1905443" cy="461665"/>
              </a:xfrm>
              <a:prstGeom prst="rect">
                <a:avLst/>
              </a:prstGeom>
              <a:blipFill>
                <a:blip r:embed="rId4"/>
                <a:stretch>
                  <a:fillRect l="-662" t="-10811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208CF07-8CB5-128A-F647-F0E8845221EB}"/>
              </a:ext>
            </a:extLst>
          </p:cNvPr>
          <p:cNvSpPr txBox="1"/>
          <p:nvPr/>
        </p:nvSpPr>
        <p:spPr>
          <a:xfrm>
            <a:off x="14712009" y="4296243"/>
            <a:ext cx="1766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LCU/QSVT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DDC96A73-1555-E9EB-B29F-F1CEFF513740}"/>
              </a:ext>
            </a:extLst>
          </p:cNvPr>
          <p:cNvSpPr txBox="1"/>
          <p:nvPr/>
        </p:nvSpPr>
        <p:spPr>
          <a:xfrm>
            <a:off x="15034741" y="5231099"/>
            <a:ext cx="1088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HHKL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235B635-C1E3-C4EA-1DA2-9BF0A700A537}"/>
                  </a:ext>
                </a:extLst>
              </p:cNvPr>
              <p:cNvSpPr txBox="1"/>
              <p:nvPr/>
            </p:nvSpPr>
            <p:spPr>
              <a:xfrm>
                <a:off x="14378333" y="6159409"/>
                <a:ext cx="239519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r>
                  <a:rPr lang="en-US" altLang="ja-JP" sz="2400" b="1" dirty="0" err="1">
                    <a:solidFill>
                      <a:schemeClr val="accent2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th</a:t>
                </a:r>
                <a:r>
                  <a:rPr lang="en-US" altLang="ja-JP" sz="2400" b="1" dirty="0">
                    <a:solidFill>
                      <a:schemeClr val="accent2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-order MPF</a:t>
                </a:r>
              </a:p>
              <a:p>
                <a:pPr algn="ctr"/>
                <a:r>
                  <a:rPr lang="en-US" altLang="ja-JP" sz="2000" b="1" dirty="0">
                    <a:solidFill>
                      <a:schemeClr val="accent2"/>
                    </a:solidFill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(this work)</a:t>
                </a: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235B635-C1E3-C4EA-1DA2-9BF0A700A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8333" y="6159409"/>
                <a:ext cx="2395198" cy="769441"/>
              </a:xfrm>
              <a:prstGeom prst="rect">
                <a:avLst/>
              </a:prstGeom>
              <a:blipFill>
                <a:blip r:embed="rId5"/>
                <a:stretch>
                  <a:fillRect t="-6452" b="-112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4" descr="\begin{align*}&#10;  H = \sum_{\gamma=1}^\Gamma H_\gamma, \quad H_\gamma = \sum_{X \subset \Lambda} h_X^\gamma &#10;\end{align*}">
            <a:extLst>
              <a:ext uri="{FF2B5EF4-FFF2-40B4-BE49-F238E27FC236}">
                <a16:creationId xmlns:a16="http://schemas.microsoft.com/office/drawing/2014/main" id="{1F8806B5-57BE-B39E-B761-FF5E8A455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491" y="2145366"/>
            <a:ext cx="3841789" cy="92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23FFCF1-EE86-4A99-7581-25741BFC9E47}"/>
              </a:ext>
            </a:extLst>
          </p:cNvPr>
          <p:cNvSpPr txBox="1"/>
          <p:nvPr/>
        </p:nvSpPr>
        <p:spPr>
          <a:xfrm>
            <a:off x="911936" y="3659571"/>
            <a:ext cx="2157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b="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Extensiveness:</a:t>
            </a:r>
            <a:endParaRPr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\begin{align*}&#10;  g = \max_{i \in \Lambda} \left( \sum_\gamma\sum_{X \ni i} \|h_X^\gamma \| \right) &#10;\end{align*}">
            <a:extLst>
              <a:ext uri="{FF2B5EF4-FFF2-40B4-BE49-F238E27FC236}">
                <a16:creationId xmlns:a16="http://schemas.microsoft.com/office/drawing/2014/main" id="{D032D590-18D2-9DB1-664F-1324711F7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628" y="3438820"/>
            <a:ext cx="3279863" cy="92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\begin{align*}&#10;  g \in \begin{cases}&#10;  \mathcal{O}(1) \\&#10;  \mathcal{O}(1) \\&#10;  \mathcal{O}(\log N) \\&#10;  \mathcal{O}(N^{1-\nu/d})&#10;  \end{cases}&#10;\end{align*}">
            <a:extLst>
              <a:ext uri="{FF2B5EF4-FFF2-40B4-BE49-F238E27FC236}">
                <a16:creationId xmlns:a16="http://schemas.microsoft.com/office/drawing/2014/main" id="{92DE13A6-C829-A602-001D-E83E5D896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661" y="3271765"/>
            <a:ext cx="1584687" cy="116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54BD589-0DDB-4351-E1A7-8044D81F4CF3}"/>
              </a:ext>
            </a:extLst>
          </p:cNvPr>
          <p:cNvSpPr txBox="1"/>
          <p:nvPr/>
        </p:nvSpPr>
        <p:spPr>
          <a:xfrm>
            <a:off x="9451494" y="3207262"/>
            <a:ext cx="2551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(finite-range interaction)</a:t>
            </a:r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7BB97A56-3D50-8408-1215-FB936A4C0EDA}"/>
                  </a:ext>
                </a:extLst>
              </p:cNvPr>
              <p:cNvSpPr txBox="1"/>
              <p:nvPr/>
            </p:nvSpPr>
            <p:spPr>
              <a:xfrm>
                <a:off x="9451494" y="3483740"/>
                <a:ext cx="2551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(long-range int.,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𝜈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kumimoji="1" lang="en-US" altLang="ja-JP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</a:t>
                </a: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7BB97A56-3D50-8408-1215-FB936A4C0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494" y="3483740"/>
                <a:ext cx="2551936" cy="369332"/>
              </a:xfrm>
              <a:prstGeom prst="rect">
                <a:avLst/>
              </a:prstGeom>
              <a:blipFill>
                <a:blip r:embed="rId9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E22F4B73-D2CB-66C8-4C49-10170221605B}"/>
                  </a:ext>
                </a:extLst>
              </p:cNvPr>
              <p:cNvSpPr txBox="1"/>
              <p:nvPr/>
            </p:nvSpPr>
            <p:spPr>
              <a:xfrm>
                <a:off x="9451494" y="3772443"/>
                <a:ext cx="2551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(long-range int.,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𝜈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kumimoji="1" lang="en-US" altLang="ja-JP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</a:t>
                </a: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E22F4B73-D2CB-66C8-4C49-101702216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494" y="3772443"/>
                <a:ext cx="2551936" cy="369332"/>
              </a:xfrm>
              <a:prstGeom prst="rect">
                <a:avLst/>
              </a:prstGeom>
              <a:blipFill>
                <a:blip r:embed="rId10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E48C63A1-58A1-0B1B-77F2-CB223A67B012}"/>
                  </a:ext>
                </a:extLst>
              </p:cNvPr>
              <p:cNvSpPr txBox="1"/>
              <p:nvPr/>
            </p:nvSpPr>
            <p:spPr>
              <a:xfrm>
                <a:off x="9451494" y="4086834"/>
                <a:ext cx="2551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(long-range int.,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𝜈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kumimoji="1" lang="en-US" altLang="ja-JP" b="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</a:t>
                </a: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E48C63A1-58A1-0B1B-77F2-CB223A67B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494" y="4086834"/>
                <a:ext cx="2551936" cy="369332"/>
              </a:xfrm>
              <a:prstGeom prst="rect">
                <a:avLst/>
              </a:prstGeom>
              <a:blipFill>
                <a:blip r:embed="rId11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3DCCDAA7-59AF-0865-0067-D1F77555C847}"/>
                  </a:ext>
                </a:extLst>
              </p:cNvPr>
              <p:cNvSpPr txBox="1"/>
              <p:nvPr/>
            </p:nvSpPr>
            <p:spPr>
              <a:xfrm>
                <a:off x="11878330" y="3809871"/>
                <a:ext cx="128443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ja-JP" sz="1600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ja-JP" sz="1600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ja-JP" sz="1600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𝜈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3DCCDAA7-59AF-0865-0067-D1F77555C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8330" y="3809871"/>
                <a:ext cx="1284430" cy="338554"/>
              </a:xfrm>
              <a:prstGeom prst="rect">
                <a:avLst/>
              </a:prstGeom>
              <a:blipFill>
                <a:blip r:embed="rId12"/>
                <a:stretch>
                  <a:fillRect t="-7407" b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4" name="Picture 10" descr="\begin{align*}&#10;  \alpha_{\text{com},q} = \sum_{\gamma_0,\cdots,\gamma_q=1}^\Gamma \norm{[H_{\gamma_q},\cdots,[H_{\gamma_1},H_{\gamma_0}]]}&#10;\end{align*}">
            <a:extLst>
              <a:ext uri="{FF2B5EF4-FFF2-40B4-BE49-F238E27FC236}">
                <a16:creationId xmlns:a16="http://schemas.microsoft.com/office/drawing/2014/main" id="{38492B03-3079-B9FD-9BF2-39DFF1E49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362" y="5679685"/>
            <a:ext cx="5467142" cy="989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03BF8DC4-9A20-C6B9-3B27-103E0A4FC113}"/>
              </a:ext>
            </a:extLst>
          </p:cNvPr>
          <p:cNvCxnSpPr>
            <a:cxnSpLocks/>
          </p:cNvCxnSpPr>
          <p:nvPr/>
        </p:nvCxnSpPr>
        <p:spPr>
          <a:xfrm>
            <a:off x="6928624" y="6137270"/>
            <a:ext cx="2019626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AF303A1-279B-CD71-6FBB-C9FD4F614D26}"/>
              </a:ext>
            </a:extLst>
          </p:cNvPr>
          <p:cNvSpPr txBox="1"/>
          <p:nvPr/>
        </p:nvSpPr>
        <p:spPr>
          <a:xfrm>
            <a:off x="7084463" y="5245976"/>
            <a:ext cx="1766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b="0" dirty="0">
                <a:solidFill>
                  <a:srgbClr val="C0000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Locality of Hamiltonian</a:t>
            </a:r>
            <a:endParaRPr lang="ja-JP" altLang="en-US" sz="240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6" name="Picture 12" descr="\begin{align*}&#10;  \alpha_{\text{com},q} \leq q! (2kg)^q Ng&#10;\end{align*}">
            <a:extLst>
              <a:ext uri="{FF2B5EF4-FFF2-40B4-BE49-F238E27FC236}">
                <a16:creationId xmlns:a16="http://schemas.microsoft.com/office/drawing/2014/main" id="{700388A7-7BE4-0622-434B-8EBC34E0B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674" y="5970246"/>
            <a:ext cx="2822496" cy="32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85FE8DB-3F9B-C52D-E0C5-5B54389177DC}"/>
              </a:ext>
            </a:extLst>
          </p:cNvPr>
          <p:cNvSpPr txBox="1"/>
          <p:nvPr/>
        </p:nvSpPr>
        <p:spPr>
          <a:xfrm>
            <a:off x="647975" y="7074387"/>
            <a:ext cx="5015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b="0" dirty="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c.f. PF error with commutator scaling:</a:t>
            </a:r>
            <a:endParaRPr lang="ja-JP" altLang="en-US" sz="24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8" name="Picture 14" descr="\begin{align*}&#10;  \| e^{-iH\tau} - T_p(\tau) \| \leq \text{Const.} \times \alpha_{\text{com},p} \tau^{p+1} \in \mathcal{O}((N^{\frac1{p+1}}g\tau)^{p+1})&#10;\end{align*}">
            <a:extLst>
              <a:ext uri="{FF2B5EF4-FFF2-40B4-BE49-F238E27FC236}">
                <a16:creationId xmlns:a16="http://schemas.microsoft.com/office/drawing/2014/main" id="{2D217232-CC32-9247-C936-F42C37F8F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456" y="7112590"/>
            <a:ext cx="7397304" cy="385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69B24FB7-B1A9-18CF-B152-48698E03713E}"/>
              </a:ext>
            </a:extLst>
          </p:cNvPr>
          <p:cNvCxnSpPr>
            <a:cxnSpLocks/>
          </p:cNvCxnSpPr>
          <p:nvPr/>
        </p:nvCxnSpPr>
        <p:spPr>
          <a:xfrm>
            <a:off x="14465806" y="3194729"/>
            <a:ext cx="127799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4F153158-0D4E-D8CD-11A7-1C4687610410}"/>
              </a:ext>
            </a:extLst>
          </p:cNvPr>
          <p:cNvCxnSpPr>
            <a:cxnSpLocks/>
          </p:cNvCxnSpPr>
          <p:nvPr/>
        </p:nvCxnSpPr>
        <p:spPr>
          <a:xfrm>
            <a:off x="24468667" y="2060882"/>
            <a:ext cx="0" cy="49162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B411F5EB-E06E-1CB3-A821-B4465408BD1B}"/>
              </a:ext>
            </a:extLst>
          </p:cNvPr>
          <p:cNvCxnSpPr>
            <a:cxnSpLocks/>
          </p:cNvCxnSpPr>
          <p:nvPr/>
        </p:nvCxnSpPr>
        <p:spPr>
          <a:xfrm>
            <a:off x="17068801" y="2096010"/>
            <a:ext cx="0" cy="48328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B3127C5D-CDEE-96C4-E6A9-39ED531F3B39}"/>
              </a:ext>
            </a:extLst>
          </p:cNvPr>
          <p:cNvCxnSpPr>
            <a:cxnSpLocks/>
          </p:cNvCxnSpPr>
          <p:nvPr/>
        </p:nvCxnSpPr>
        <p:spPr>
          <a:xfrm>
            <a:off x="20855769" y="2650007"/>
            <a:ext cx="0" cy="4327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E055DF18-ED82-DCC9-E820-0DE4D4BC5367}"/>
              </a:ext>
            </a:extLst>
          </p:cNvPr>
          <p:cNvSpPr txBox="1"/>
          <p:nvPr/>
        </p:nvSpPr>
        <p:spPr>
          <a:xfrm>
            <a:off x="17625605" y="2604792"/>
            <a:ext cx="267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finite-range int.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0C3DAAB-FF24-6837-C5DD-C8851E67DB5F}"/>
              </a:ext>
            </a:extLst>
          </p:cNvPr>
          <p:cNvSpPr txBox="1"/>
          <p:nvPr/>
        </p:nvSpPr>
        <p:spPr>
          <a:xfrm>
            <a:off x="21325538" y="2604792"/>
            <a:ext cx="2673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long-range int.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BD68DB28-9C95-742D-E7E3-C97151E26390}"/>
              </a:ext>
            </a:extLst>
          </p:cNvPr>
          <p:cNvSpPr/>
          <p:nvPr/>
        </p:nvSpPr>
        <p:spPr>
          <a:xfrm>
            <a:off x="14057539" y="7142372"/>
            <a:ext cx="13323617" cy="6463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3B93F510-6AA1-022A-DA63-55A0B2265B73}"/>
                  </a:ext>
                </a:extLst>
              </p:cNvPr>
              <p:cNvSpPr txBox="1"/>
              <p:nvPr/>
            </p:nvSpPr>
            <p:spPr>
              <a:xfrm>
                <a:off x="14057539" y="7256097"/>
                <a:ext cx="13510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Good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-scaling like PF &amp; Good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-, 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-scaling like LCU/QSVT &amp; Versatility to generic local Hamiltonians ! </a:t>
                </a:r>
                <a:endParaRPr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3B93F510-6AA1-022A-DA63-55A0B2265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7539" y="7256097"/>
                <a:ext cx="13510075" cy="461665"/>
              </a:xfrm>
              <a:prstGeom prst="rect">
                <a:avLst/>
              </a:prstGeom>
              <a:blipFill>
                <a:blip r:embed="rId16"/>
                <a:stretch>
                  <a:fillRect l="-657" t="-10811" b="-297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0" name="Picture 16" descr="\begin{align*}&#10;  Ng \left( \frac{Ngt}{\varepsilon}\right)^{\frac1p}&#10;\end{align*}">
            <a:extLst>
              <a:ext uri="{FF2B5EF4-FFF2-40B4-BE49-F238E27FC236}">
                <a16:creationId xmlns:a16="http://schemas.microsoft.com/office/drawing/2014/main" id="{77E4C447-8C74-FB04-8A83-205D708E3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3518" y="3295291"/>
            <a:ext cx="1468279" cy="72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\begin{align*}&#10;  N^k g \left( \frac{Ngt}{\varepsilon}\right)^{\frac1p}&#10;\end{align*}">
            <a:extLst>
              <a:ext uri="{FF2B5EF4-FFF2-40B4-BE49-F238E27FC236}">
                <a16:creationId xmlns:a16="http://schemas.microsoft.com/office/drawing/2014/main" id="{33938A12-5835-496F-2A00-AC9C34DC4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8311" y="3295291"/>
            <a:ext cx="1552080" cy="707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\begin{align*}&#10;  N(Ngt+\log(1/\varepsilon))&#10;\end{align*}">
            <a:extLst>
              <a:ext uri="{FF2B5EF4-FFF2-40B4-BE49-F238E27FC236}">
                <a16:creationId xmlns:a16="http://schemas.microsoft.com/office/drawing/2014/main" id="{E24F740D-CC9B-4E73-9EC3-B5CD138DB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2888" y="4434380"/>
            <a:ext cx="2408270" cy="29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\begin{align*}&#10;  N^k(Ngt+\log(1/\varepsilon))&#10;\end{align*}">
            <a:extLst>
              <a:ext uri="{FF2B5EF4-FFF2-40B4-BE49-F238E27FC236}">
                <a16:creationId xmlns:a16="http://schemas.microsoft.com/office/drawing/2014/main" id="{ABE27C81-7345-78D3-1811-63FF8AA81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9734" y="4401721"/>
            <a:ext cx="2474625" cy="3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\begin{align*}&#10;  Ngt \times \text{polylog}(Ngt/\varepsilon)&#10;\end{align*}">
            <a:extLst>
              <a:ext uri="{FF2B5EF4-FFF2-40B4-BE49-F238E27FC236}">
                <a16:creationId xmlns:a16="http://schemas.microsoft.com/office/drawing/2014/main" id="{F128383E-E755-76D7-094E-A6477A810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2484" y="5315021"/>
            <a:ext cx="3000980" cy="31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\begin{align*}&#10;  N^{1+\frac1{p+1}}gt \times \text{polylog}(Ngt/\varepsilon)&#10;\end{align*}">
            <a:extLst>
              <a:ext uri="{FF2B5EF4-FFF2-40B4-BE49-F238E27FC236}">
                <a16:creationId xmlns:a16="http://schemas.microsoft.com/office/drawing/2014/main" id="{53048D82-827F-1771-8A4A-9EEB1B55E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8004" y="6354264"/>
            <a:ext cx="3549940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\begin{align*}&#10;  N^{k+\frac1{p+1}}gt \times \text{polylog}(Ngt/\varepsilon)&#10;\end{align*}">
            <a:extLst>
              <a:ext uri="{FF2B5EF4-FFF2-40B4-BE49-F238E27FC236}">
                <a16:creationId xmlns:a16="http://schemas.microsoft.com/office/drawing/2014/main" id="{9E0CBC76-3672-DC7C-E528-A55636202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4843" y="6354264"/>
            <a:ext cx="3374251" cy="36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4A062954-366E-A514-B1F4-FF1DC7D64305}"/>
                  </a:ext>
                </a:extLst>
              </p:cNvPr>
              <p:cNvSpPr txBox="1"/>
              <p:nvPr/>
            </p:nvSpPr>
            <p:spPr>
              <a:xfrm>
                <a:off x="22763783" y="5589308"/>
                <a:ext cx="18890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sz="1600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Only for </a:t>
                </a:r>
                <a14:m>
                  <m:oMath xmlns:m="http://schemas.openxmlformats.org/officeDocument/2006/math">
                    <m:r>
                      <a:rPr kumimoji="1" lang="en-US" altLang="ja-JP" sz="16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𝜈</m:t>
                    </m:r>
                    <m:r>
                      <a:rPr kumimoji="1" lang="en-US" altLang="ja-JP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&gt;2</m:t>
                    </m:r>
                    <m:r>
                      <a:rPr kumimoji="1" lang="en-US" altLang="ja-JP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endParaRPr kumimoji="1" lang="en-US" altLang="ja-JP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4A062954-366E-A514-B1F4-FF1DC7D64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3783" y="5589308"/>
                <a:ext cx="1889044" cy="338554"/>
              </a:xfrm>
              <a:prstGeom prst="rect">
                <a:avLst/>
              </a:prstGeom>
              <a:blipFill>
                <a:blip r:embed="rId24"/>
                <a:stretch>
                  <a:fillRect l="-2000" t="-7407" b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8A3205D-808E-04F8-BEA1-B44FAC506635}"/>
              </a:ext>
            </a:extLst>
          </p:cNvPr>
          <p:cNvSpPr txBox="1"/>
          <p:nvPr/>
        </p:nvSpPr>
        <p:spPr>
          <a:xfrm>
            <a:off x="24915548" y="2379147"/>
            <a:ext cx="2055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Ancilla qubits</a:t>
            </a:r>
            <a:endParaRPr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DF1C58-48DC-EF89-BF9F-3E03E3C5416E}"/>
              </a:ext>
            </a:extLst>
          </p:cNvPr>
          <p:cNvSpPr txBox="1"/>
          <p:nvPr/>
        </p:nvSpPr>
        <p:spPr>
          <a:xfrm>
            <a:off x="14544459" y="5600914"/>
            <a:ext cx="2150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Haah, 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 </a:t>
            </a:r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(2021)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0EA74C-9C56-1342-9BAD-8ADDC99403E3}"/>
              </a:ext>
            </a:extLst>
          </p:cNvPr>
          <p:cNvSpPr txBox="1"/>
          <p:nvPr/>
        </p:nvSpPr>
        <p:spPr>
          <a:xfrm>
            <a:off x="14401100" y="4686967"/>
            <a:ext cx="2393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Gilyén,</a:t>
            </a:r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 (2019)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B96F389-A365-1ED7-F28E-5E111F3CAE24}"/>
              </a:ext>
            </a:extLst>
          </p:cNvPr>
          <p:cNvSpPr txBox="1"/>
          <p:nvPr/>
        </p:nvSpPr>
        <p:spPr>
          <a:xfrm>
            <a:off x="14431998" y="3642322"/>
            <a:ext cx="2393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Childs, et al. (2021)</a:t>
            </a:r>
            <a:endParaRPr lang="ja-JP" altLang="en-US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\begin{align*}&#10;  0 \qquad \log N \qquad \log \log (Ngt/\varepsilon)&#10;\end{align*}">
            <a:extLst>
              <a:ext uri="{FF2B5EF4-FFF2-40B4-BE49-F238E27FC236}">
                <a16:creationId xmlns:a16="http://schemas.microsoft.com/office/drawing/2014/main" id="{8C1B1E44-FF9A-3EA1-F117-66A3EE95B5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8" t="-26422" r="59956" b="-11238"/>
          <a:stretch>
            <a:fillRect/>
          </a:stretch>
        </p:blipFill>
        <p:spPr bwMode="auto">
          <a:xfrm>
            <a:off x="25586976" y="4424065"/>
            <a:ext cx="923653" cy="44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\begin{align*}&#10;  0 \qquad \log N \qquad \log \log (Ngt/\varepsilon)&#10;\end{align*}">
            <a:extLst>
              <a:ext uri="{FF2B5EF4-FFF2-40B4-BE49-F238E27FC236}">
                <a16:creationId xmlns:a16="http://schemas.microsoft.com/office/drawing/2014/main" id="{3580CD45-3CBA-F96D-056A-6B44BC265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750"/>
          <a:stretch>
            <a:fillRect/>
          </a:stretch>
        </p:blipFill>
        <p:spPr bwMode="auto">
          <a:xfrm>
            <a:off x="25814596" y="3521382"/>
            <a:ext cx="257126" cy="369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\begin{align*}&#10;  0 \qquad \log N \qquad \log \log (Ngt/\varepsilon)&#10;\end{align*}">
            <a:extLst>
              <a:ext uri="{FF2B5EF4-FFF2-40B4-BE49-F238E27FC236}">
                <a16:creationId xmlns:a16="http://schemas.microsoft.com/office/drawing/2014/main" id="{351D2977-0D7D-77A2-B631-5019379925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7" t="-43365"/>
          <a:stretch>
            <a:fillRect/>
          </a:stretch>
        </p:blipFill>
        <p:spPr bwMode="auto">
          <a:xfrm>
            <a:off x="25021028" y="5343487"/>
            <a:ext cx="1937011" cy="43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\begin{align*}&#10;  0 \qquad \log N \qquad \log \log (Ngt/\varepsilon)&#10;\end{align*}">
            <a:extLst>
              <a:ext uri="{FF2B5EF4-FFF2-40B4-BE49-F238E27FC236}">
                <a16:creationId xmlns:a16="http://schemas.microsoft.com/office/drawing/2014/main" id="{FFBD0573-54F9-5592-A7E5-B27B4D2FB1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7" t="-43365"/>
          <a:stretch>
            <a:fillRect/>
          </a:stretch>
        </p:blipFill>
        <p:spPr bwMode="auto">
          <a:xfrm>
            <a:off x="24978422" y="6298623"/>
            <a:ext cx="1937011" cy="438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97C5FD-A63E-0776-1654-3711173ED336}"/>
              </a:ext>
            </a:extLst>
          </p:cNvPr>
          <p:cNvSpPr txBox="1"/>
          <p:nvPr/>
        </p:nvSpPr>
        <p:spPr>
          <a:xfrm>
            <a:off x="19214113" y="5758545"/>
            <a:ext cx="310924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ja-JP" altLang="en-US" b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←</a:t>
            </a:r>
            <a:r>
              <a:rPr kumimoji="1" lang="en-US" altLang="ja-JP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Needs </a:t>
            </a:r>
            <a:r>
              <a:rPr kumimoji="1"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Lieb-Robinson bound </a:t>
            </a:r>
            <a:endParaRPr lang="ja-JP" altLang="en-US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\begin{align*}&#10;  Ng t \left( \frac{Ngt}{\varepsilon} \right)^{\frac{2d}{\nu-d}}&#10;\end{align*}">
            <a:extLst>
              <a:ext uri="{FF2B5EF4-FFF2-40B4-BE49-F238E27FC236}">
                <a16:creationId xmlns:a16="http://schemas.microsoft.com/office/drawing/2014/main" id="{93A70975-E5BB-F373-036A-02AFF9D26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5785" y="5106168"/>
            <a:ext cx="1770941" cy="71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4637</TotalTime>
  <Words>177</Words>
  <Application>Microsoft Macintosh PowerPoint</Application>
  <PresentationFormat>ユーザー設定</PresentationFormat>
  <Paragraphs>28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12</cp:revision>
  <dcterms:created xsi:type="dcterms:W3CDTF">2023-12-08T07:40:41Z</dcterms:created>
  <dcterms:modified xsi:type="dcterms:W3CDTF">2026-01-09T06:50:38Z</dcterms:modified>
</cp:coreProperties>
</file>