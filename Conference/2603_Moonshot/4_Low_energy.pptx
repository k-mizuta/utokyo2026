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13506450" cy="11577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69" userDrawn="1">
          <p15:clr>
            <a:srgbClr val="A4A3A4"/>
          </p15:clr>
        </p15:guide>
        <p15:guide id="2" pos="425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/>
    <p:restoredTop sz="96327"/>
  </p:normalViewPr>
  <p:slideViewPr>
    <p:cSldViewPr snapToGrid="0" showGuides="1">
      <p:cViewPr varScale="1">
        <p:scale>
          <a:sx n="73" d="100"/>
          <a:sy n="73" d="100"/>
        </p:scale>
        <p:origin x="2872" y="192"/>
      </p:cViewPr>
      <p:guideLst>
        <p:guide orient="horz" pos="3669"/>
        <p:guide pos="425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12984" y="1894767"/>
            <a:ext cx="11480483" cy="4030733"/>
          </a:xfrm>
        </p:spPr>
        <p:txBody>
          <a:bodyPr anchor="b"/>
          <a:lstStyle>
            <a:lvl1pPr algn="ctr">
              <a:defRPr sz="8863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88306" y="6080941"/>
            <a:ext cx="10129838" cy="2795248"/>
          </a:xfrm>
        </p:spPr>
        <p:txBody>
          <a:bodyPr/>
          <a:lstStyle>
            <a:lvl1pPr marL="0" indent="0" algn="ctr">
              <a:buNone/>
              <a:defRPr sz="3545"/>
            </a:lvl1pPr>
            <a:lvl2pPr marL="675330" indent="0" algn="ctr">
              <a:buNone/>
              <a:defRPr sz="2954"/>
            </a:lvl2pPr>
            <a:lvl3pPr marL="1350660" indent="0" algn="ctr">
              <a:buNone/>
              <a:defRPr sz="2659"/>
            </a:lvl3pPr>
            <a:lvl4pPr marL="2025990" indent="0" algn="ctr">
              <a:buNone/>
              <a:defRPr sz="2363"/>
            </a:lvl4pPr>
            <a:lvl5pPr marL="2701320" indent="0" algn="ctr">
              <a:buNone/>
              <a:defRPr sz="2363"/>
            </a:lvl5pPr>
            <a:lvl6pPr marL="3376651" indent="0" algn="ctr">
              <a:buNone/>
              <a:defRPr sz="2363"/>
            </a:lvl6pPr>
            <a:lvl7pPr marL="4051981" indent="0" algn="ctr">
              <a:buNone/>
              <a:defRPr sz="2363"/>
            </a:lvl7pPr>
            <a:lvl8pPr marL="4727311" indent="0" algn="ctr">
              <a:buNone/>
              <a:defRPr sz="2363"/>
            </a:lvl8pPr>
            <a:lvl9pPr marL="5402641" indent="0" algn="ctr">
              <a:buNone/>
              <a:defRPr sz="2363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4318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2192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535" y="2886373"/>
            <a:ext cx="11649313" cy="4815975"/>
          </a:xfrm>
        </p:spPr>
        <p:txBody>
          <a:bodyPr anchor="b"/>
          <a:lstStyle>
            <a:lvl1pPr>
              <a:defRPr sz="8863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535" y="7747909"/>
            <a:ext cx="11649313" cy="2532607"/>
          </a:xfrm>
        </p:spPr>
        <p:txBody>
          <a:bodyPr/>
          <a:lstStyle>
            <a:lvl1pPr marL="0" indent="0">
              <a:buNone/>
              <a:defRPr sz="3545">
                <a:solidFill>
                  <a:schemeClr val="tx1"/>
                </a:solidFill>
              </a:defRPr>
            </a:lvl1pPr>
            <a:lvl2pPr marL="675330" indent="0">
              <a:buNone/>
              <a:defRPr sz="2954">
                <a:solidFill>
                  <a:schemeClr val="tx1">
                    <a:tint val="75000"/>
                  </a:schemeClr>
                </a:solidFill>
              </a:defRPr>
            </a:lvl2pPr>
            <a:lvl3pPr marL="1350660" indent="0">
              <a:buNone/>
              <a:defRPr sz="2659">
                <a:solidFill>
                  <a:schemeClr val="tx1">
                    <a:tint val="75000"/>
                  </a:schemeClr>
                </a:solidFill>
              </a:defRPr>
            </a:lvl3pPr>
            <a:lvl4pPr marL="2025990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4pPr>
            <a:lvl5pPr marL="2701320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5pPr>
            <a:lvl6pPr marL="3376651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6pPr>
            <a:lvl7pPr marL="4051981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7pPr>
            <a:lvl8pPr marL="4727311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8pPr>
            <a:lvl9pPr marL="5402641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5375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28569" y="3082010"/>
            <a:ext cx="5740241" cy="734590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37640" y="3082010"/>
            <a:ext cx="5740241" cy="734590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2454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0328" y="616405"/>
            <a:ext cx="11649313" cy="2237808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0329" y="2838130"/>
            <a:ext cx="5713861" cy="1390924"/>
          </a:xfrm>
        </p:spPr>
        <p:txBody>
          <a:bodyPr anchor="b"/>
          <a:lstStyle>
            <a:lvl1pPr marL="0" indent="0">
              <a:buNone/>
              <a:defRPr sz="3545" b="1"/>
            </a:lvl1pPr>
            <a:lvl2pPr marL="675330" indent="0">
              <a:buNone/>
              <a:defRPr sz="2954" b="1"/>
            </a:lvl2pPr>
            <a:lvl3pPr marL="1350660" indent="0">
              <a:buNone/>
              <a:defRPr sz="2659" b="1"/>
            </a:lvl3pPr>
            <a:lvl4pPr marL="2025990" indent="0">
              <a:buNone/>
              <a:defRPr sz="2363" b="1"/>
            </a:lvl4pPr>
            <a:lvl5pPr marL="2701320" indent="0">
              <a:buNone/>
              <a:defRPr sz="2363" b="1"/>
            </a:lvl5pPr>
            <a:lvl6pPr marL="3376651" indent="0">
              <a:buNone/>
              <a:defRPr sz="2363" b="1"/>
            </a:lvl6pPr>
            <a:lvl7pPr marL="4051981" indent="0">
              <a:buNone/>
              <a:defRPr sz="2363" b="1"/>
            </a:lvl7pPr>
            <a:lvl8pPr marL="4727311" indent="0">
              <a:buNone/>
              <a:defRPr sz="2363" b="1"/>
            </a:lvl8pPr>
            <a:lvl9pPr marL="5402641" indent="0">
              <a:buNone/>
              <a:defRPr sz="2363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30329" y="4229054"/>
            <a:ext cx="5713861" cy="622030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37641" y="2838130"/>
            <a:ext cx="5742000" cy="1390924"/>
          </a:xfrm>
        </p:spPr>
        <p:txBody>
          <a:bodyPr anchor="b"/>
          <a:lstStyle>
            <a:lvl1pPr marL="0" indent="0">
              <a:buNone/>
              <a:defRPr sz="3545" b="1"/>
            </a:lvl1pPr>
            <a:lvl2pPr marL="675330" indent="0">
              <a:buNone/>
              <a:defRPr sz="2954" b="1"/>
            </a:lvl2pPr>
            <a:lvl3pPr marL="1350660" indent="0">
              <a:buNone/>
              <a:defRPr sz="2659" b="1"/>
            </a:lvl3pPr>
            <a:lvl4pPr marL="2025990" indent="0">
              <a:buNone/>
              <a:defRPr sz="2363" b="1"/>
            </a:lvl4pPr>
            <a:lvl5pPr marL="2701320" indent="0">
              <a:buNone/>
              <a:defRPr sz="2363" b="1"/>
            </a:lvl5pPr>
            <a:lvl6pPr marL="3376651" indent="0">
              <a:buNone/>
              <a:defRPr sz="2363" b="1"/>
            </a:lvl6pPr>
            <a:lvl7pPr marL="4051981" indent="0">
              <a:buNone/>
              <a:defRPr sz="2363" b="1"/>
            </a:lvl7pPr>
            <a:lvl8pPr marL="4727311" indent="0">
              <a:buNone/>
              <a:defRPr sz="2363" b="1"/>
            </a:lvl8pPr>
            <a:lvl9pPr marL="5402641" indent="0">
              <a:buNone/>
              <a:defRPr sz="2363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837641" y="4229054"/>
            <a:ext cx="5742000" cy="622030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8322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286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9419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0327" y="771842"/>
            <a:ext cx="4356182" cy="2701449"/>
          </a:xfrm>
        </p:spPr>
        <p:txBody>
          <a:bodyPr anchor="b"/>
          <a:lstStyle>
            <a:lvl1pPr>
              <a:defRPr sz="4727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2001" y="1666968"/>
            <a:ext cx="6837640" cy="8227627"/>
          </a:xfrm>
        </p:spPr>
        <p:txBody>
          <a:bodyPr/>
          <a:lstStyle>
            <a:lvl1pPr>
              <a:defRPr sz="4727"/>
            </a:lvl1pPr>
            <a:lvl2pPr>
              <a:defRPr sz="4136"/>
            </a:lvl2pPr>
            <a:lvl3pPr>
              <a:defRPr sz="3545"/>
            </a:lvl3pPr>
            <a:lvl4pPr>
              <a:defRPr sz="2954"/>
            </a:lvl4pPr>
            <a:lvl5pPr>
              <a:defRPr sz="2954"/>
            </a:lvl5pPr>
            <a:lvl6pPr>
              <a:defRPr sz="2954"/>
            </a:lvl6pPr>
            <a:lvl7pPr>
              <a:defRPr sz="2954"/>
            </a:lvl7pPr>
            <a:lvl8pPr>
              <a:defRPr sz="2954"/>
            </a:lvl8pPr>
            <a:lvl9pPr>
              <a:defRPr sz="2954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30327" y="3473291"/>
            <a:ext cx="4356182" cy="6434702"/>
          </a:xfrm>
        </p:spPr>
        <p:txBody>
          <a:bodyPr/>
          <a:lstStyle>
            <a:lvl1pPr marL="0" indent="0">
              <a:buNone/>
              <a:defRPr sz="2363"/>
            </a:lvl1pPr>
            <a:lvl2pPr marL="675330" indent="0">
              <a:buNone/>
              <a:defRPr sz="2068"/>
            </a:lvl2pPr>
            <a:lvl3pPr marL="1350660" indent="0">
              <a:buNone/>
              <a:defRPr sz="1773"/>
            </a:lvl3pPr>
            <a:lvl4pPr marL="2025990" indent="0">
              <a:buNone/>
              <a:defRPr sz="1477"/>
            </a:lvl4pPr>
            <a:lvl5pPr marL="2701320" indent="0">
              <a:buNone/>
              <a:defRPr sz="1477"/>
            </a:lvl5pPr>
            <a:lvl6pPr marL="3376651" indent="0">
              <a:buNone/>
              <a:defRPr sz="1477"/>
            </a:lvl6pPr>
            <a:lvl7pPr marL="4051981" indent="0">
              <a:buNone/>
              <a:defRPr sz="1477"/>
            </a:lvl7pPr>
            <a:lvl8pPr marL="4727311" indent="0">
              <a:buNone/>
              <a:defRPr sz="1477"/>
            </a:lvl8pPr>
            <a:lvl9pPr marL="5402641" indent="0">
              <a:buNone/>
              <a:defRPr sz="1477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0831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0327" y="771842"/>
            <a:ext cx="4356182" cy="2701449"/>
          </a:xfrm>
        </p:spPr>
        <p:txBody>
          <a:bodyPr anchor="b"/>
          <a:lstStyle>
            <a:lvl1pPr>
              <a:defRPr sz="4727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742001" y="1666968"/>
            <a:ext cx="6837640" cy="8227627"/>
          </a:xfrm>
        </p:spPr>
        <p:txBody>
          <a:bodyPr anchor="t"/>
          <a:lstStyle>
            <a:lvl1pPr marL="0" indent="0">
              <a:buNone/>
              <a:defRPr sz="4727"/>
            </a:lvl1pPr>
            <a:lvl2pPr marL="675330" indent="0">
              <a:buNone/>
              <a:defRPr sz="4136"/>
            </a:lvl2pPr>
            <a:lvl3pPr marL="1350660" indent="0">
              <a:buNone/>
              <a:defRPr sz="3545"/>
            </a:lvl3pPr>
            <a:lvl4pPr marL="2025990" indent="0">
              <a:buNone/>
              <a:defRPr sz="2954"/>
            </a:lvl4pPr>
            <a:lvl5pPr marL="2701320" indent="0">
              <a:buNone/>
              <a:defRPr sz="2954"/>
            </a:lvl5pPr>
            <a:lvl6pPr marL="3376651" indent="0">
              <a:buNone/>
              <a:defRPr sz="2954"/>
            </a:lvl6pPr>
            <a:lvl7pPr marL="4051981" indent="0">
              <a:buNone/>
              <a:defRPr sz="2954"/>
            </a:lvl7pPr>
            <a:lvl8pPr marL="4727311" indent="0">
              <a:buNone/>
              <a:defRPr sz="2954"/>
            </a:lvl8pPr>
            <a:lvl9pPr marL="5402641" indent="0">
              <a:buNone/>
              <a:defRPr sz="2954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30327" y="3473291"/>
            <a:ext cx="4356182" cy="6434702"/>
          </a:xfrm>
        </p:spPr>
        <p:txBody>
          <a:bodyPr/>
          <a:lstStyle>
            <a:lvl1pPr marL="0" indent="0">
              <a:buNone/>
              <a:defRPr sz="2363"/>
            </a:lvl1pPr>
            <a:lvl2pPr marL="675330" indent="0">
              <a:buNone/>
              <a:defRPr sz="2068"/>
            </a:lvl2pPr>
            <a:lvl3pPr marL="1350660" indent="0">
              <a:buNone/>
              <a:defRPr sz="1773"/>
            </a:lvl3pPr>
            <a:lvl4pPr marL="2025990" indent="0">
              <a:buNone/>
              <a:defRPr sz="1477"/>
            </a:lvl4pPr>
            <a:lvl5pPr marL="2701320" indent="0">
              <a:buNone/>
              <a:defRPr sz="1477"/>
            </a:lvl5pPr>
            <a:lvl6pPr marL="3376651" indent="0">
              <a:buNone/>
              <a:defRPr sz="1477"/>
            </a:lvl6pPr>
            <a:lvl7pPr marL="4051981" indent="0">
              <a:buNone/>
              <a:defRPr sz="1477"/>
            </a:lvl7pPr>
            <a:lvl8pPr marL="4727311" indent="0">
              <a:buNone/>
              <a:defRPr sz="1477"/>
            </a:lvl8pPr>
            <a:lvl9pPr marL="5402641" indent="0">
              <a:buNone/>
              <a:defRPr sz="1477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7813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6769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665554" y="616402"/>
            <a:ext cx="2912328" cy="9811513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28569" y="616402"/>
            <a:ext cx="8568154" cy="9811513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0311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8569" y="616405"/>
            <a:ext cx="11649313" cy="2237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8569" y="3082010"/>
            <a:ext cx="11649313" cy="73459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8569" y="10730758"/>
            <a:ext cx="3038951" cy="616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02A9BB-8336-1F4C-AA8D-E45E345636B3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74012" y="10730758"/>
            <a:ext cx="4558427" cy="616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38930" y="10730758"/>
            <a:ext cx="3038951" cy="616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9424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350660" rtl="0" eaLnBrk="1" latinLnBrk="0" hangingPunct="1">
        <a:lnSpc>
          <a:spcPct val="90000"/>
        </a:lnSpc>
        <a:spcBef>
          <a:spcPct val="0"/>
        </a:spcBef>
        <a:buNone/>
        <a:defRPr kumimoji="1" sz="64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7665" indent="-337665" algn="l" defTabSz="1350660" rtl="0" eaLnBrk="1" latinLnBrk="0" hangingPunct="1">
        <a:lnSpc>
          <a:spcPct val="90000"/>
        </a:lnSpc>
        <a:spcBef>
          <a:spcPts val="1477"/>
        </a:spcBef>
        <a:buFont typeface="Arial" panose="020B0604020202020204" pitchFamily="34" charset="0"/>
        <a:buChar char="•"/>
        <a:defRPr kumimoji="1" sz="4136" kern="1200">
          <a:solidFill>
            <a:schemeClr val="tx1"/>
          </a:solidFill>
          <a:latin typeface="+mn-lt"/>
          <a:ea typeface="+mn-ea"/>
          <a:cs typeface="+mn-cs"/>
        </a:defRPr>
      </a:lvl1pPr>
      <a:lvl2pPr marL="1012995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3545" kern="1200">
          <a:solidFill>
            <a:schemeClr val="tx1"/>
          </a:solidFill>
          <a:latin typeface="+mn-lt"/>
          <a:ea typeface="+mn-ea"/>
          <a:cs typeface="+mn-cs"/>
        </a:defRPr>
      </a:lvl2pPr>
      <a:lvl3pPr marL="1688325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954" kern="1200">
          <a:solidFill>
            <a:schemeClr val="tx1"/>
          </a:solidFill>
          <a:latin typeface="+mn-lt"/>
          <a:ea typeface="+mn-ea"/>
          <a:cs typeface="+mn-cs"/>
        </a:defRPr>
      </a:lvl3pPr>
      <a:lvl4pPr marL="2363655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4pPr>
      <a:lvl5pPr marL="3038986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5pPr>
      <a:lvl6pPr marL="3714316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6pPr>
      <a:lvl7pPr marL="4389646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7pPr>
      <a:lvl8pPr marL="5064976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8pPr>
      <a:lvl9pPr marL="5740306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1pPr>
      <a:lvl2pPr marL="675330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2pPr>
      <a:lvl3pPr marL="1350660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3pPr>
      <a:lvl4pPr marL="2025990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4pPr>
      <a:lvl5pPr marL="2701320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5pPr>
      <a:lvl6pPr marL="3376651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6pPr>
      <a:lvl7pPr marL="4051981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7pPr>
      <a:lvl8pPr marL="4727311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8pPr>
      <a:lvl9pPr marL="5402641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13" Type="http://schemas.openxmlformats.org/officeDocument/2006/relationships/image" Target="../media/image10.png"/><Relationship Id="rId3" Type="http://schemas.openxmlformats.org/officeDocument/2006/relationships/image" Target="../media/image2.emf"/><Relationship Id="rId7" Type="http://schemas.openxmlformats.org/officeDocument/2006/relationships/image" Target="../media/image4.emf"/><Relationship Id="rId12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6.png"/><Relationship Id="rId5" Type="http://schemas.openxmlformats.org/officeDocument/2006/relationships/image" Target="../media/image4.png"/><Relationship Id="rId15" Type="http://schemas.openxmlformats.org/officeDocument/2006/relationships/image" Target="../media/image9.png"/><Relationship Id="rId10" Type="http://schemas.openxmlformats.org/officeDocument/2006/relationships/image" Target="../media/image660.png"/><Relationship Id="rId4" Type="http://schemas.openxmlformats.org/officeDocument/2006/relationships/image" Target="../media/image3.png"/><Relationship Id="rId14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93F07BF-AD41-57A2-DFE3-F8F00D510E2D}"/>
              </a:ext>
            </a:extLst>
          </p:cNvPr>
          <p:cNvSpPr/>
          <p:nvPr/>
        </p:nvSpPr>
        <p:spPr>
          <a:xfrm>
            <a:off x="39565" y="587939"/>
            <a:ext cx="13425820" cy="10956395"/>
          </a:xfrm>
          <a:prstGeom prst="rect">
            <a:avLst/>
          </a:prstGeom>
          <a:solidFill>
            <a:schemeClr val="bg1"/>
          </a:solidFill>
          <a:ln w="762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4F9A3EF-35C6-B546-3678-0830B63F7D77}"/>
              </a:ext>
            </a:extLst>
          </p:cNvPr>
          <p:cNvSpPr txBox="1"/>
          <p:nvPr/>
        </p:nvSpPr>
        <p:spPr>
          <a:xfrm>
            <a:off x="270119" y="9292"/>
            <a:ext cx="11955955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sz="6000" dirty="0">
                <a:solidFill>
                  <a:srgbClr val="002060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4. </a:t>
            </a:r>
            <a:r>
              <a:rPr kumimoji="1" lang="ja-JP" altLang="en-US" sz="4000">
                <a:solidFill>
                  <a:srgbClr val="002060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関連研究</a:t>
            </a:r>
            <a:r>
              <a:rPr kumimoji="1" lang="en-US" altLang="ja-JP" sz="4000" dirty="0">
                <a:solidFill>
                  <a:srgbClr val="002060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1: </a:t>
            </a:r>
            <a:r>
              <a:rPr kumimoji="1" lang="ja-JP" altLang="en-US" sz="6000">
                <a:solidFill>
                  <a:srgbClr val="002060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低エネルギー状態の計算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ACEF9D9-2C15-111D-E9A8-B43C65AFEBE0}"/>
              </a:ext>
            </a:extLst>
          </p:cNvPr>
          <p:cNvSpPr txBox="1"/>
          <p:nvPr/>
        </p:nvSpPr>
        <p:spPr>
          <a:xfrm>
            <a:off x="298447" y="1070516"/>
            <a:ext cx="5937844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ja-JP" altLang="en-US" sz="24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◾️</a:t>
            </a:r>
            <a:r>
              <a:rPr kumimoji="1" lang="en-US" altLang="ja-JP" sz="24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</a:t>
            </a:r>
            <a:r>
              <a:rPr kumimoji="1" lang="ja-JP" altLang="en-US" sz="28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既存の量子アルゴリズムの問題点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B2328AD-5D85-E781-05D6-35E06634E2DE}"/>
              </a:ext>
            </a:extLst>
          </p:cNvPr>
          <p:cNvSpPr txBox="1"/>
          <p:nvPr/>
        </p:nvSpPr>
        <p:spPr>
          <a:xfrm>
            <a:off x="298447" y="4532888"/>
            <a:ext cx="10504799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ja-JP" altLang="en-US" sz="24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◾️</a:t>
            </a:r>
            <a:r>
              <a:rPr kumimoji="1" lang="en-US" altLang="ja-JP" sz="28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Our work: </a:t>
            </a:r>
            <a:r>
              <a:rPr kumimoji="1" lang="ja-JP" altLang="en-US" sz="28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低エネルギー初期状態に対する</a:t>
            </a:r>
            <a:r>
              <a:rPr kumimoji="1" lang="en-US" altLang="ja-JP" sz="28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Trotter </a:t>
            </a:r>
            <a:r>
              <a:rPr kumimoji="1" lang="ja-JP" altLang="en-US" sz="28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分解の高速化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0960465-BE31-8360-740B-F479B373B738}"/>
              </a:ext>
            </a:extLst>
          </p:cNvPr>
          <p:cNvSpPr txBox="1"/>
          <p:nvPr/>
        </p:nvSpPr>
        <p:spPr>
          <a:xfrm>
            <a:off x="279717" y="1725410"/>
            <a:ext cx="3355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u="sng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Worst-case complexity: </a:t>
            </a:r>
            <a:endParaRPr kumimoji="1" lang="ja-JP" altLang="en-US" sz="2400" b="1" u="sng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7FE22063-1CCF-83CD-3E94-979B34E8C08D}"/>
              </a:ext>
            </a:extLst>
          </p:cNvPr>
          <p:cNvSpPr/>
          <p:nvPr/>
        </p:nvSpPr>
        <p:spPr>
          <a:xfrm>
            <a:off x="321310" y="10686464"/>
            <a:ext cx="12901248" cy="66917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D4344CC-EB66-DAAC-EC50-8CE80DB8428B}"/>
              </a:ext>
            </a:extLst>
          </p:cNvPr>
          <p:cNvSpPr txBox="1"/>
          <p:nvPr/>
        </p:nvSpPr>
        <p:spPr>
          <a:xfrm>
            <a:off x="397861" y="2224711"/>
            <a:ext cx="102232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全初期状態に対して精度よく計算できるよう計算コストを設定</a:t>
            </a:r>
          </a:p>
        </p:txBody>
      </p:sp>
      <p:sp>
        <p:nvSpPr>
          <p:cNvPr id="1031" name="テキスト ボックス 1030">
            <a:extLst>
              <a:ext uri="{FF2B5EF4-FFF2-40B4-BE49-F238E27FC236}">
                <a16:creationId xmlns:a16="http://schemas.microsoft.com/office/drawing/2014/main" id="{78E3E90F-A1EA-9824-5BE8-7BBC2CAF945B}"/>
              </a:ext>
            </a:extLst>
          </p:cNvPr>
          <p:cNvSpPr txBox="1"/>
          <p:nvPr/>
        </p:nvSpPr>
        <p:spPr>
          <a:xfrm>
            <a:off x="877020" y="10801408"/>
            <a:ext cx="117833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初期状態の性質</a:t>
            </a:r>
            <a:r>
              <a:rPr lang="en-US" altLang="ja-JP" sz="24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(</a:t>
            </a:r>
            <a:r>
              <a:rPr lang="ja-JP" altLang="en-US" sz="24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低エネルギー性</a:t>
            </a:r>
            <a:r>
              <a:rPr lang="en-US" altLang="ja-JP" sz="24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)</a:t>
            </a:r>
            <a:r>
              <a:rPr lang="ja-JP" altLang="en-US" sz="24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を反映すると計算リソースの改善が期待できる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1729497-CCFC-7463-EDBB-C04B2E505ADC}"/>
              </a:ext>
            </a:extLst>
          </p:cNvPr>
          <p:cNvSpPr txBox="1"/>
          <p:nvPr/>
        </p:nvSpPr>
        <p:spPr>
          <a:xfrm>
            <a:off x="2100103" y="3784772"/>
            <a:ext cx="10914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>
                <a:solidFill>
                  <a:schemeClr val="accent2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→</a:t>
            </a:r>
            <a:r>
              <a:rPr kumimoji="1" lang="en-US" altLang="ja-JP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</a:t>
            </a:r>
            <a:r>
              <a:rPr kumimoji="1" lang="ja-JP" altLang="en-US" sz="2800" b="1">
                <a:solidFill>
                  <a:schemeClr val="accent2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実際に計算したいターゲットに対しては計算コストを過大評価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40BBE4F-DBC4-775D-B2AF-7DCB2061E254}"/>
              </a:ext>
            </a:extLst>
          </p:cNvPr>
          <p:cNvSpPr txBox="1"/>
          <p:nvPr/>
        </p:nvSpPr>
        <p:spPr>
          <a:xfrm>
            <a:off x="270119" y="5203023"/>
            <a:ext cx="35281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u="sng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低エネルギー初期状態</a:t>
            </a:r>
            <a:r>
              <a:rPr kumimoji="1" lang="en-US" altLang="ja-JP" sz="2400" b="1" u="sng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: </a:t>
            </a:r>
            <a:endParaRPr kumimoji="1" lang="ja-JP" altLang="en-US" sz="2400" b="1" u="sng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pic>
        <p:nvPicPr>
          <p:cNvPr id="1028" name="Picture 4" descr="\begin{align*}&#10;  \max_{\ket{\psi}} \left( \| U\ket{\psi} - e^{-iHt}\ket{\psi} \| \right) \leq \varepsilon&#10;\end{align*}">
            <a:extLst>
              <a:ext uri="{FF2B5EF4-FFF2-40B4-BE49-F238E27FC236}">
                <a16:creationId xmlns:a16="http://schemas.microsoft.com/office/drawing/2014/main" id="{45080094-7B09-4140-D1A8-600FED400D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2235" y="2964376"/>
            <a:ext cx="4915650" cy="648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27555B3-0D88-415A-2083-A7DE9B62D4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5099" y="5376712"/>
            <a:ext cx="1508290" cy="2205399"/>
          </a:xfrm>
          <a:prstGeom prst="rect">
            <a:avLst/>
          </a:prstGeom>
        </p:spPr>
      </p:pic>
      <p:pic>
        <p:nvPicPr>
          <p:cNvPr id="12" name="Picture 8" descr="\begin{align*}&#10;  \ket{\psi_{\leq \Delta}} = \sum_{n; E_n \leq \Delta} c_n \ket{E_n}, \quad 0 \leq \Delta \ll Ng&#10;\end{align*}">
            <a:extLst>
              <a:ext uri="{FF2B5EF4-FFF2-40B4-BE49-F238E27FC236}">
                <a16:creationId xmlns:a16="http://schemas.microsoft.com/office/drawing/2014/main" id="{5A8DE075-7E00-5051-9595-34EE172E26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417" t="-42156" r="40558" b="-62059"/>
          <a:stretch>
            <a:fillRect/>
          </a:stretch>
        </p:blipFill>
        <p:spPr bwMode="auto">
          <a:xfrm>
            <a:off x="1931233" y="5694894"/>
            <a:ext cx="3178930" cy="1392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411619BD-4EFC-B522-3438-B71D96903E54}"/>
                  </a:ext>
                </a:extLst>
              </p:cNvPr>
              <p:cNvSpPr txBox="1"/>
              <p:nvPr/>
            </p:nvSpPr>
            <p:spPr>
              <a:xfrm>
                <a:off x="507915" y="6688975"/>
                <a:ext cx="588883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20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(</a:t>
                </a:r>
                <a:r>
                  <a:rPr kumimoji="1" lang="ja-JP" altLang="en-US" sz="200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初期状態エネルギー</a:t>
                </a:r>
                <a:r>
                  <a:rPr kumimoji="1" lang="en-US" altLang="ja-JP" sz="20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l-GR" altLang="ja-JP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Δ</m:t>
                    </m:r>
                  </m:oMath>
                </a14:m>
                <a:r>
                  <a:rPr kumimoji="1" lang="en-US" altLang="ja-JP" sz="20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) </a:t>
                </a:r>
                <a14:m>
                  <m:oMath xmlns:m="http://schemas.openxmlformats.org/officeDocument/2006/math">
                    <m:r>
                      <a:rPr kumimoji="1" lang="en-US" altLang="ja-JP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≪</m:t>
                    </m:r>
                  </m:oMath>
                </a14:m>
                <a:r>
                  <a:rPr kumimoji="1" lang="en-US" altLang="ja-JP" sz="20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(</a:t>
                </a:r>
                <a:r>
                  <a:rPr kumimoji="1" lang="ja-JP" altLang="en-US" sz="20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全系</a:t>
                </a:r>
                <a:r>
                  <a:rPr kumimoji="1" lang="ja-JP" altLang="en-US" sz="200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のエネルギー</a:t>
                </a:r>
                <a:r>
                  <a:rPr kumimoji="1" lang="en-US" altLang="ja-JP" sz="20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𝑁𝑔</m:t>
                    </m:r>
                  </m:oMath>
                </a14:m>
                <a:r>
                  <a:rPr kumimoji="1" lang="en-US" altLang="ja-JP" sz="20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411619BD-4EFC-B522-3438-B71D96903E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915" y="6688975"/>
                <a:ext cx="5888835" cy="400110"/>
              </a:xfrm>
              <a:prstGeom prst="rect">
                <a:avLst/>
              </a:prstGeom>
              <a:blipFill>
                <a:blip r:embed="rId5"/>
                <a:stretch>
                  <a:fillRect l="-860" t="-9091" b="-2727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F27F7E24-5C17-C890-8BED-B4C85F42E9B9}"/>
                  </a:ext>
                </a:extLst>
              </p:cNvPr>
              <p:cNvSpPr txBox="1"/>
              <p:nvPr/>
            </p:nvSpPr>
            <p:spPr>
              <a:xfrm>
                <a:off x="4461031" y="7096234"/>
                <a:ext cx="229219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1600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𝑔</m:t>
                    </m:r>
                  </m:oMath>
                </a14:m>
                <a:r>
                  <a:rPr kumimoji="1" lang="en-US" altLang="ja-JP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: 1 site </a:t>
                </a:r>
                <a:r>
                  <a:rPr kumimoji="1" lang="ja-JP" altLang="en-US" sz="16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の</a:t>
                </a:r>
                <a:r>
                  <a:rPr kumimoji="1" lang="en-US" altLang="ja-JP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energy scale</a:t>
                </a:r>
              </a:p>
            </p:txBody>
          </p:sp>
        </mc:Choice>
        <mc:Fallback xmlns="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F27F7E24-5C17-C890-8BED-B4C85F42E9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1031" y="7096234"/>
                <a:ext cx="2292194" cy="338554"/>
              </a:xfrm>
              <a:prstGeom prst="rect">
                <a:avLst/>
              </a:prstGeom>
              <a:blipFill>
                <a:blip r:embed="rId6"/>
                <a:stretch>
                  <a:fillRect t="-7143" b="-2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FFC1978A-652F-74B6-CAAE-42FE776F0308}"/>
              </a:ext>
            </a:extLst>
          </p:cNvPr>
          <p:cNvSpPr txBox="1"/>
          <p:nvPr/>
        </p:nvSpPr>
        <p:spPr>
          <a:xfrm>
            <a:off x="298447" y="7543485"/>
            <a:ext cx="4811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u="sng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Trotter</a:t>
            </a:r>
            <a:r>
              <a:rPr kumimoji="1" lang="ja-JP" altLang="en-US" sz="2400" b="1" u="sng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分解の計算複雑性の改善</a:t>
            </a:r>
            <a:r>
              <a:rPr kumimoji="1" lang="en-US" altLang="ja-JP" sz="2400" b="1" u="sng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: </a:t>
            </a:r>
            <a:endParaRPr kumimoji="1" lang="ja-JP" altLang="en-US" sz="2400" b="1" u="sng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832E2916-8617-5E06-2407-AD00B1C61091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78459" t="1599"/>
          <a:stretch/>
        </p:blipFill>
        <p:spPr>
          <a:xfrm>
            <a:off x="11236373" y="6684507"/>
            <a:ext cx="1339700" cy="1095339"/>
          </a:xfrm>
          <a:prstGeom prst="rect">
            <a:avLst/>
          </a:prstGeom>
        </p:spPr>
      </p:pic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DF8792B2-2395-04A8-1E66-07C2791C1BA2}"/>
              </a:ext>
            </a:extLst>
          </p:cNvPr>
          <p:cNvGrpSpPr/>
          <p:nvPr/>
        </p:nvGrpSpPr>
        <p:grpSpPr>
          <a:xfrm>
            <a:off x="10562107" y="5668700"/>
            <a:ext cx="2391172" cy="950885"/>
            <a:chOff x="2781715" y="4630876"/>
            <a:chExt cx="2391172" cy="950885"/>
          </a:xfrm>
        </p:grpSpPr>
        <p:sp>
          <p:nvSpPr>
            <p:cNvPr id="24" name="円/楕円 23">
              <a:extLst>
                <a:ext uri="{FF2B5EF4-FFF2-40B4-BE49-F238E27FC236}">
                  <a16:creationId xmlns:a16="http://schemas.microsoft.com/office/drawing/2014/main" id="{AB9383CE-4490-22B9-54EA-BA0F70841E40}"/>
                </a:ext>
              </a:extLst>
            </p:cNvPr>
            <p:cNvSpPr/>
            <p:nvPr/>
          </p:nvSpPr>
          <p:spPr>
            <a:xfrm>
              <a:off x="2781715" y="4630876"/>
              <a:ext cx="2391172" cy="950885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50000">
                  <a:schemeClr val="accent5">
                    <a:lumMod val="20000"/>
                    <a:lumOff val="80000"/>
                  </a:schemeClr>
                </a:gs>
                <a:gs pos="99000">
                  <a:schemeClr val="accent1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25" name="図 24">
              <a:extLst>
                <a:ext uri="{FF2B5EF4-FFF2-40B4-BE49-F238E27FC236}">
                  <a16:creationId xmlns:a16="http://schemas.microsoft.com/office/drawing/2014/main" id="{9E3B234A-5FA2-8FB3-D54D-7557AF3D89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082526" y="4815684"/>
              <a:ext cx="1417229" cy="51020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63AE60F6-6B52-5F50-9A21-0D33118526C4}"/>
                    </a:ext>
                  </a:extLst>
                </p:cNvPr>
                <p:cNvSpPr txBox="1"/>
                <p:nvPr/>
              </p:nvSpPr>
              <p:spPr>
                <a:xfrm>
                  <a:off x="4445682" y="4952429"/>
                  <a:ext cx="699999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kumimoji="1" lang="ja-JP" altLang="en-US" sz="1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温度</a:t>
                  </a:r>
                  <a:r>
                    <a:rPr kumimoji="1" lang="en-US" altLang="ja-JP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kumimoji="1" lang="en-US" altLang="ja-JP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YuKyokasho Medium" panose="02000500000000000000" pitchFamily="2" charset="-128"/>
                          <a:cs typeface="Times New Roman" panose="02020603050405020304" pitchFamily="18" charset="0"/>
                        </a:rPr>
                        <m:t>𝑇</m:t>
                      </m:r>
                    </m:oMath>
                  </a14:m>
                  <a:endParaRPr kumimoji="1" lang="ja-JP" altLang="en-US"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" name="テキスト ボックス 12">
                  <a:extLst>
                    <a:ext uri="{FF2B5EF4-FFF2-40B4-BE49-F238E27FC236}">
                      <a16:creationId xmlns:a16="http://schemas.microsoft.com/office/drawing/2014/main" id="{90A66DD6-1468-2E93-AB7E-C4B374ED67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45682" y="4952429"/>
                  <a:ext cx="699999" cy="307777"/>
                </a:xfrm>
                <a:prstGeom prst="rect">
                  <a:avLst/>
                </a:prstGeom>
                <a:blipFill>
                  <a:blip r:embed="rId10"/>
                  <a:stretch>
                    <a:fillRect l="-1786" t="-7692" b="-1923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C3122298-5B51-EB1E-B762-E5C4CB33CEC0}"/>
              </a:ext>
            </a:extLst>
          </p:cNvPr>
          <p:cNvSpPr txBox="1"/>
          <p:nvPr/>
        </p:nvSpPr>
        <p:spPr>
          <a:xfrm>
            <a:off x="8551107" y="5906211"/>
            <a:ext cx="20812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極低温の熱平衡状態</a:t>
            </a:r>
            <a:endParaRPr kumimoji="1" lang="en-US" altLang="ja-JP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  <a:p>
            <a:pPr algn="ctr"/>
            <a:r>
              <a:rPr kumimoji="1"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(</a:t>
            </a:r>
            <a:r>
              <a:rPr kumimoji="1" lang="ja-JP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超伝導</a:t>
            </a:r>
            <a:r>
              <a:rPr kumimoji="1"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, etc.)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85A6E94-039D-4A1F-2A1A-BBA9B9C062F4}"/>
              </a:ext>
            </a:extLst>
          </p:cNvPr>
          <p:cNvSpPr txBox="1"/>
          <p:nvPr/>
        </p:nvSpPr>
        <p:spPr>
          <a:xfrm>
            <a:off x="8575607" y="7127011"/>
            <a:ext cx="20812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基底状態</a:t>
            </a:r>
            <a:r>
              <a:rPr kumimoji="1"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, </a:t>
            </a:r>
            <a:r>
              <a:rPr kumimoji="1" lang="ja-JP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励起状態</a:t>
            </a:r>
            <a:endParaRPr kumimoji="1" lang="en-US" altLang="ja-JP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CDEE6062-FFD3-36D0-D29F-45CAA98FA46B}"/>
              </a:ext>
            </a:extLst>
          </p:cNvPr>
          <p:cNvSpPr/>
          <p:nvPr/>
        </p:nvSpPr>
        <p:spPr>
          <a:xfrm>
            <a:off x="3197791" y="9574212"/>
            <a:ext cx="1785166" cy="17403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6258F057-27E2-AA17-C2EE-3710A37F424E}"/>
              </a:ext>
            </a:extLst>
          </p:cNvPr>
          <p:cNvSpPr/>
          <p:nvPr/>
        </p:nvSpPr>
        <p:spPr>
          <a:xfrm>
            <a:off x="3919874" y="8384759"/>
            <a:ext cx="446049" cy="16659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25" name="テキスト ボックス 1024">
            <a:extLst>
              <a:ext uri="{FF2B5EF4-FFF2-40B4-BE49-F238E27FC236}">
                <a16:creationId xmlns:a16="http://schemas.microsoft.com/office/drawing/2014/main" id="{B736C791-EBB5-1F52-2D61-A707C14BF795}"/>
              </a:ext>
            </a:extLst>
          </p:cNvPr>
          <p:cNvSpPr txBox="1"/>
          <p:nvPr/>
        </p:nvSpPr>
        <p:spPr>
          <a:xfrm>
            <a:off x="522675" y="8374871"/>
            <a:ext cx="1896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全初期状態</a:t>
            </a:r>
            <a:endParaRPr kumimoji="1" lang="en-US" altLang="ja-JP" dirty="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1027" name="テキスト ボックス 1026">
            <a:extLst>
              <a:ext uri="{FF2B5EF4-FFF2-40B4-BE49-F238E27FC236}">
                <a16:creationId xmlns:a16="http://schemas.microsoft.com/office/drawing/2014/main" id="{2E1B1C3C-978B-1676-A532-A48DA7E8A0EB}"/>
              </a:ext>
            </a:extLst>
          </p:cNvPr>
          <p:cNvSpPr txBox="1"/>
          <p:nvPr/>
        </p:nvSpPr>
        <p:spPr>
          <a:xfrm>
            <a:off x="412594" y="9611445"/>
            <a:ext cx="206152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>
                <a:solidFill>
                  <a:schemeClr val="accent2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低エネルギー状態</a:t>
            </a:r>
            <a:endParaRPr kumimoji="1" lang="en-US" altLang="ja-JP" dirty="0">
              <a:solidFill>
                <a:schemeClr val="accent2"/>
              </a:solidFill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  <a:p>
            <a:pPr algn="ctr"/>
            <a:r>
              <a:rPr kumimoji="1" lang="en-US" altLang="ja-JP" sz="1200" dirty="0">
                <a:solidFill>
                  <a:schemeClr val="accent2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(Our work)</a:t>
            </a:r>
          </a:p>
        </p:txBody>
      </p:sp>
      <p:pic>
        <p:nvPicPr>
          <p:cNvPr id="1030" name="Picture 2" descr="\begin{align*}&#10;  gt \left( \frac{Ngt}{\varepsilon}\right)^{\frac1p}&#10;\end{align*}">
            <a:extLst>
              <a:ext uri="{FF2B5EF4-FFF2-40B4-BE49-F238E27FC236}">
                <a16:creationId xmlns:a16="http://schemas.microsoft.com/office/drawing/2014/main" id="{E63325D0-3FDF-1564-A17E-92807CB093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0816" y="8146323"/>
            <a:ext cx="1441450" cy="786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4" descr="\begin{align*}&#10;  gt \left( \frac{[\Delta + g \log (N/\varepsilon)] t}{\varepsilon}\right)^{\frac1p}&#10;\end{align*}">
            <a:extLst>
              <a:ext uri="{FF2B5EF4-FFF2-40B4-BE49-F238E27FC236}">
                <a16:creationId xmlns:a16="http://schemas.microsoft.com/office/drawing/2014/main" id="{AB594FBB-03D0-84B1-AB07-A4FBAB940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5330" y="9391606"/>
            <a:ext cx="2738438" cy="698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テキスト ボックス 1032">
            <a:extLst>
              <a:ext uri="{FF2B5EF4-FFF2-40B4-BE49-F238E27FC236}">
                <a16:creationId xmlns:a16="http://schemas.microsoft.com/office/drawing/2014/main" id="{E3EBF6AC-D39F-6824-B41C-2E01CC3F7F3F}"/>
              </a:ext>
            </a:extLst>
          </p:cNvPr>
          <p:cNvSpPr txBox="1"/>
          <p:nvPr/>
        </p:nvSpPr>
        <p:spPr>
          <a:xfrm>
            <a:off x="5433768" y="8375565"/>
            <a:ext cx="1564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全状態に対しては</a:t>
            </a:r>
            <a:endParaRPr kumimoji="1" lang="en-US" altLang="ja-JP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  <a:p>
            <a:pPr algn="ctr"/>
            <a:r>
              <a:rPr kumimoji="1" lang="ja-JP" alt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理論上ベスト</a:t>
            </a:r>
            <a:endParaRPr kumimoji="1" lang="en-US" altLang="ja-JP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1034" name="テキスト ボックス 1033">
            <a:extLst>
              <a:ext uri="{FF2B5EF4-FFF2-40B4-BE49-F238E27FC236}">
                <a16:creationId xmlns:a16="http://schemas.microsoft.com/office/drawing/2014/main" id="{8DE18897-00D9-AE89-CFB0-1B5992510DDD}"/>
              </a:ext>
            </a:extLst>
          </p:cNvPr>
          <p:cNvSpPr txBox="1"/>
          <p:nvPr/>
        </p:nvSpPr>
        <p:spPr>
          <a:xfrm>
            <a:off x="3420816" y="8879423"/>
            <a:ext cx="14414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全エネルギー</a:t>
            </a:r>
            <a:endParaRPr kumimoji="1" lang="en-US" altLang="ja-JP" sz="16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1035" name="テキスト ボックス 1034">
            <a:extLst>
              <a:ext uri="{FF2B5EF4-FFF2-40B4-BE49-F238E27FC236}">
                <a16:creationId xmlns:a16="http://schemas.microsoft.com/office/drawing/2014/main" id="{D82AC1AE-78A2-766E-3E2E-D0055B19F4C4}"/>
              </a:ext>
            </a:extLst>
          </p:cNvPr>
          <p:cNvSpPr txBox="1"/>
          <p:nvPr/>
        </p:nvSpPr>
        <p:spPr>
          <a:xfrm>
            <a:off x="3040968" y="10094352"/>
            <a:ext cx="21742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>
                <a:solidFill>
                  <a:schemeClr val="accent2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初期状態エネルギー</a:t>
            </a:r>
            <a:endParaRPr kumimoji="1" lang="en-US" altLang="ja-JP" sz="1600" dirty="0">
              <a:solidFill>
                <a:schemeClr val="accent2"/>
              </a:solidFill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1036" name="テキスト ボックス 1035">
            <a:extLst>
              <a:ext uri="{FF2B5EF4-FFF2-40B4-BE49-F238E27FC236}">
                <a16:creationId xmlns:a16="http://schemas.microsoft.com/office/drawing/2014/main" id="{976D14D8-2FAF-B57F-B82A-BD88877D4B43}"/>
              </a:ext>
            </a:extLst>
          </p:cNvPr>
          <p:cNvSpPr txBox="1"/>
          <p:nvPr/>
        </p:nvSpPr>
        <p:spPr>
          <a:xfrm>
            <a:off x="5485418" y="9460610"/>
            <a:ext cx="15641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低エネルギー状態</a:t>
            </a:r>
            <a:endParaRPr kumimoji="1" lang="en-US" altLang="ja-JP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  <a:p>
            <a:pPr algn="ctr"/>
            <a:r>
              <a:rPr kumimoji="1" lang="ja-JP" alt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に対して</a:t>
            </a:r>
            <a:endParaRPr kumimoji="1" lang="en-US" altLang="ja-JP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  <a:p>
            <a:pPr algn="ctr"/>
            <a:r>
              <a:rPr kumimoji="1" lang="ja-JP" alt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理論上ベスト</a:t>
            </a:r>
            <a:endParaRPr kumimoji="1" lang="en-US" altLang="ja-JP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7" name="テキスト ボックス 1036">
                <a:extLst>
                  <a:ext uri="{FF2B5EF4-FFF2-40B4-BE49-F238E27FC236}">
                    <a16:creationId xmlns:a16="http://schemas.microsoft.com/office/drawing/2014/main" id="{402BFF3B-6C5B-B705-0EEB-3FE1A6888E57}"/>
                  </a:ext>
                </a:extLst>
              </p:cNvPr>
              <p:cNvSpPr txBox="1"/>
              <p:nvPr/>
            </p:nvSpPr>
            <p:spPr>
              <a:xfrm rot="5400000">
                <a:off x="4007009" y="9178026"/>
                <a:ext cx="28693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ja-JP" altLang="en-US" sz="2000" i="1" smtClean="0">
                          <a:latin typeface="Cambria Math" panose="02040503050406030204" pitchFamily="18" charset="0"/>
                        </a:rPr>
                        <m:t>≫</m:t>
                      </m:r>
                    </m:oMath>
                  </m:oMathPara>
                </a14:m>
                <a:endParaRPr kumimoji="1" lang="ja-JP" altLang="en-US" sz="2000"/>
              </a:p>
            </p:txBody>
          </p:sp>
        </mc:Choice>
        <mc:Fallback xmlns="">
          <p:sp>
            <p:nvSpPr>
              <p:cNvPr id="1037" name="テキスト ボックス 1036">
                <a:extLst>
                  <a:ext uri="{FF2B5EF4-FFF2-40B4-BE49-F238E27FC236}">
                    <a16:creationId xmlns:a16="http://schemas.microsoft.com/office/drawing/2014/main" id="{402BFF3B-6C5B-B705-0EEB-3FE1A6888E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4007009" y="9178026"/>
                <a:ext cx="286938" cy="307777"/>
              </a:xfrm>
              <a:prstGeom prst="rect">
                <a:avLst/>
              </a:prstGeom>
              <a:blipFill>
                <a:blip r:embed="rId13"/>
                <a:stretch>
                  <a:fillRect l="-8000" t="-17391" b="-2173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8" name="テキスト ボックス 1037">
            <a:extLst>
              <a:ext uri="{FF2B5EF4-FFF2-40B4-BE49-F238E27FC236}">
                <a16:creationId xmlns:a16="http://schemas.microsoft.com/office/drawing/2014/main" id="{36852C1B-B47A-9353-C6A2-B14436C6BFBB}"/>
              </a:ext>
            </a:extLst>
          </p:cNvPr>
          <p:cNvSpPr txBox="1"/>
          <p:nvPr/>
        </p:nvSpPr>
        <p:spPr>
          <a:xfrm>
            <a:off x="5424550" y="8824603"/>
            <a:ext cx="172865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ja-JP" sz="105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Q. Zhao, et al., </a:t>
            </a:r>
          </a:p>
          <a:p>
            <a:pPr algn="r"/>
            <a:r>
              <a:rPr lang="en" altLang="ja-JP" sz="105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Nat. Phys. 21, 1338 (2025) </a:t>
            </a:r>
            <a:endParaRPr lang="ja-JP" altLang="en-US" sz="1050"/>
          </a:p>
        </p:txBody>
      </p:sp>
      <p:pic>
        <p:nvPicPr>
          <p:cNvPr id="1039" name="図 1038">
            <a:extLst>
              <a:ext uri="{FF2B5EF4-FFF2-40B4-BE49-F238E27FC236}">
                <a16:creationId xmlns:a16="http://schemas.microsoft.com/office/drawing/2014/main" id="{9AA2C1BA-FA16-93A2-9030-9A2D9151EE3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10024" y="8399678"/>
            <a:ext cx="2438561" cy="1876549"/>
          </a:xfrm>
          <a:prstGeom prst="rect">
            <a:avLst/>
          </a:prstGeom>
        </p:spPr>
      </p:pic>
      <p:cxnSp>
        <p:nvCxnSpPr>
          <p:cNvPr id="1040" name="直線コネクタ 1039">
            <a:extLst>
              <a:ext uri="{FF2B5EF4-FFF2-40B4-BE49-F238E27FC236}">
                <a16:creationId xmlns:a16="http://schemas.microsoft.com/office/drawing/2014/main" id="{55FB4306-0DA7-CA42-B7ED-0BEC957A5C2D}"/>
              </a:ext>
            </a:extLst>
          </p:cNvPr>
          <p:cNvCxnSpPr>
            <a:cxnSpLocks/>
          </p:cNvCxnSpPr>
          <p:nvPr/>
        </p:nvCxnSpPr>
        <p:spPr>
          <a:xfrm>
            <a:off x="2547141" y="8146323"/>
            <a:ext cx="0" cy="221074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455989D5-DB7D-0115-8E5C-FF214547AC47}"/>
              </a:ext>
            </a:extLst>
          </p:cNvPr>
          <p:cNvSpPr txBox="1"/>
          <p:nvPr/>
        </p:nvSpPr>
        <p:spPr>
          <a:xfrm>
            <a:off x="772840" y="8751602"/>
            <a:ext cx="155378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AutoNum type="alphaUcPeriod"/>
            </a:pPr>
            <a:r>
              <a:rPr lang="en" altLang="ja-JP" sz="1050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M. Childs, et al., </a:t>
            </a:r>
            <a:endParaRPr lang="en" altLang="ja-JP" sz="105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" altLang="ja-JP" sz="1050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PRX </a:t>
            </a:r>
            <a:r>
              <a:rPr lang="en" altLang="ja-JP" sz="1050" b="1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" altLang="ja-JP" sz="1050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011020 (2021)</a:t>
            </a:r>
            <a:endParaRPr lang="ja-JP" altLang="en-US" sz="105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43" name="図 1042" descr="グラフィカル ユーザー インターフェイス, アプリケーショ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3C2061C6-5FD4-5B3B-FDC9-960AF66DD352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36877" t="32329" r="7744" b="30120"/>
          <a:stretch/>
        </p:blipFill>
        <p:spPr>
          <a:xfrm>
            <a:off x="9987871" y="8802778"/>
            <a:ext cx="3002378" cy="1617334"/>
          </a:xfrm>
          <a:prstGeom prst="rect">
            <a:avLst/>
          </a:prstGeom>
        </p:spPr>
      </p:pic>
      <p:sp>
        <p:nvSpPr>
          <p:cNvPr id="1044" name="テキスト ボックス 1043">
            <a:extLst>
              <a:ext uri="{FF2B5EF4-FFF2-40B4-BE49-F238E27FC236}">
                <a16:creationId xmlns:a16="http://schemas.microsoft.com/office/drawing/2014/main" id="{60B68AD0-E8A6-C563-F81A-8F2A5F6EFE14}"/>
              </a:ext>
            </a:extLst>
          </p:cNvPr>
          <p:cNvSpPr txBox="1"/>
          <p:nvPr/>
        </p:nvSpPr>
        <p:spPr>
          <a:xfrm>
            <a:off x="9705407" y="8358493"/>
            <a:ext cx="29625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AKLT</a:t>
            </a:r>
            <a:r>
              <a:rPr kumimoji="1" lang="ja-JP" altLang="en-US" sz="1400" u="sng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模型における数値計算結果</a:t>
            </a:r>
            <a:endParaRPr kumimoji="1" lang="en-US" altLang="ja-JP" sz="1400" u="sng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37FA282-08AE-2789-7B6D-60D9FE6F4537}"/>
              </a:ext>
            </a:extLst>
          </p:cNvPr>
          <p:cNvSpPr txBox="1"/>
          <p:nvPr/>
        </p:nvSpPr>
        <p:spPr>
          <a:xfrm>
            <a:off x="3586998" y="1907983"/>
            <a:ext cx="29529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AutoNum type="alphaUcPeriod"/>
            </a:pPr>
            <a:r>
              <a:rPr lang="en" altLang="ja-JP" sz="1200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M. Childs, et al., PRX </a:t>
            </a:r>
            <a:r>
              <a:rPr lang="en" altLang="ja-JP" sz="1200" b="1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" altLang="ja-JP" sz="1200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011020 (2021)</a:t>
            </a:r>
            <a:endParaRPr lang="ja-JP" altLang="en-US" sz="120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42B216F-30FF-186F-C0CA-0F12C136E6C6}"/>
              </a:ext>
            </a:extLst>
          </p:cNvPr>
          <p:cNvSpPr txBox="1"/>
          <p:nvPr/>
        </p:nvSpPr>
        <p:spPr>
          <a:xfrm>
            <a:off x="9172439" y="5077910"/>
            <a:ext cx="40284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 Mizuta, T. Kuwahara, Phys. Rev. Lett. 135, 130602 (2025)</a:t>
            </a:r>
            <a:endParaRPr lang="ja-JP" altLang="en-US" sz="120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4969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694</TotalTime>
  <Words>225</Words>
  <Application>Microsoft Macintosh PowerPoint</Application>
  <PresentationFormat>ユーザー設定</PresentationFormat>
  <Paragraphs>33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Times New Roman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水田　郁</dc:creator>
  <cp:lastModifiedBy>水田　郁</cp:lastModifiedBy>
  <cp:revision>27</cp:revision>
  <dcterms:created xsi:type="dcterms:W3CDTF">2023-12-08T07:40:41Z</dcterms:created>
  <dcterms:modified xsi:type="dcterms:W3CDTF">2026-02-12T04:51:54Z</dcterms:modified>
</cp:coreProperties>
</file>