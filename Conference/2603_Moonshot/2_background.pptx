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3506450" cy="11091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71" userDrawn="1">
          <p15:clr>
            <a:srgbClr val="A4A3A4"/>
          </p15:clr>
        </p15:guide>
        <p15:guide id="2" pos="42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24"/>
    <p:restoredTop sz="96327"/>
  </p:normalViewPr>
  <p:slideViewPr>
    <p:cSldViewPr snapToGrid="0" showGuides="1">
      <p:cViewPr>
        <p:scale>
          <a:sx n="83" d="100"/>
          <a:sy n="83" d="100"/>
        </p:scale>
        <p:origin x="1080" y="-240"/>
      </p:cViewPr>
      <p:guideLst>
        <p:guide orient="horz" pos="3471"/>
        <p:guide pos="42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2984" y="1815266"/>
            <a:ext cx="11480483" cy="3861612"/>
          </a:xfrm>
        </p:spPr>
        <p:txBody>
          <a:bodyPr anchor="b"/>
          <a:lstStyle>
            <a:lvl1pPr algn="ctr">
              <a:defRPr sz="886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8306" y="5825797"/>
            <a:ext cx="10129838" cy="2677965"/>
          </a:xfrm>
        </p:spPr>
        <p:txBody>
          <a:bodyPr/>
          <a:lstStyle>
            <a:lvl1pPr marL="0" indent="0" algn="ctr">
              <a:buNone/>
              <a:defRPr sz="3545"/>
            </a:lvl1pPr>
            <a:lvl2pPr marL="675330" indent="0" algn="ctr">
              <a:buNone/>
              <a:defRPr sz="2954"/>
            </a:lvl2pPr>
            <a:lvl3pPr marL="1350660" indent="0" algn="ctr">
              <a:buNone/>
              <a:defRPr sz="2659"/>
            </a:lvl3pPr>
            <a:lvl4pPr marL="2025990" indent="0" algn="ctr">
              <a:buNone/>
              <a:defRPr sz="2363"/>
            </a:lvl4pPr>
            <a:lvl5pPr marL="2701320" indent="0" algn="ctr">
              <a:buNone/>
              <a:defRPr sz="2363"/>
            </a:lvl5pPr>
            <a:lvl6pPr marL="3376651" indent="0" algn="ctr">
              <a:buNone/>
              <a:defRPr sz="2363"/>
            </a:lvl6pPr>
            <a:lvl7pPr marL="4051981" indent="0" algn="ctr">
              <a:buNone/>
              <a:defRPr sz="2363"/>
            </a:lvl7pPr>
            <a:lvl8pPr marL="4727311" indent="0" algn="ctr">
              <a:buNone/>
              <a:defRPr sz="2363"/>
            </a:lvl8pPr>
            <a:lvl9pPr marL="5402641" indent="0" algn="ctr">
              <a:buNone/>
              <a:defRPr sz="236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2448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144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535" y="2765266"/>
            <a:ext cx="11649313" cy="4613906"/>
          </a:xfrm>
        </p:spPr>
        <p:txBody>
          <a:bodyPr anchor="b"/>
          <a:lstStyle>
            <a:lvl1pPr>
              <a:defRPr sz="886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535" y="7422822"/>
            <a:ext cx="11649313" cy="2426344"/>
          </a:xfrm>
        </p:spPr>
        <p:txBody>
          <a:bodyPr/>
          <a:lstStyle>
            <a:lvl1pPr marL="0" indent="0">
              <a:buNone/>
              <a:defRPr sz="3545">
                <a:solidFill>
                  <a:schemeClr val="tx1"/>
                </a:solidFill>
              </a:defRPr>
            </a:lvl1pPr>
            <a:lvl2pPr marL="675330" indent="0">
              <a:buNone/>
              <a:defRPr sz="2954">
                <a:solidFill>
                  <a:schemeClr val="tx1">
                    <a:tint val="75000"/>
                  </a:schemeClr>
                </a:solidFill>
              </a:defRPr>
            </a:lvl2pPr>
            <a:lvl3pPr marL="1350660" indent="0">
              <a:buNone/>
              <a:defRPr sz="2659">
                <a:solidFill>
                  <a:schemeClr val="tx1">
                    <a:tint val="75000"/>
                  </a:schemeClr>
                </a:solidFill>
              </a:defRPr>
            </a:lvl3pPr>
            <a:lvl4pPr marL="2025990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4pPr>
            <a:lvl5pPr marL="2701320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5pPr>
            <a:lvl6pPr marL="337665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6pPr>
            <a:lvl7pPr marL="405198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7pPr>
            <a:lvl8pPr marL="472731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8pPr>
            <a:lvl9pPr marL="540264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5931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8569" y="2952695"/>
            <a:ext cx="5740241" cy="703768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37640" y="2952695"/>
            <a:ext cx="5740241" cy="703768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1548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8" y="590541"/>
            <a:ext cx="11649313" cy="214391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0329" y="2719048"/>
            <a:ext cx="5713861" cy="1332563"/>
          </a:xfrm>
        </p:spPr>
        <p:txBody>
          <a:bodyPr anchor="b"/>
          <a:lstStyle>
            <a:lvl1pPr marL="0" indent="0">
              <a:buNone/>
              <a:defRPr sz="3545" b="1"/>
            </a:lvl1pPr>
            <a:lvl2pPr marL="675330" indent="0">
              <a:buNone/>
              <a:defRPr sz="2954" b="1"/>
            </a:lvl2pPr>
            <a:lvl3pPr marL="1350660" indent="0">
              <a:buNone/>
              <a:defRPr sz="2659" b="1"/>
            </a:lvl3pPr>
            <a:lvl4pPr marL="2025990" indent="0">
              <a:buNone/>
              <a:defRPr sz="2363" b="1"/>
            </a:lvl4pPr>
            <a:lvl5pPr marL="2701320" indent="0">
              <a:buNone/>
              <a:defRPr sz="2363" b="1"/>
            </a:lvl5pPr>
            <a:lvl6pPr marL="3376651" indent="0">
              <a:buNone/>
              <a:defRPr sz="2363" b="1"/>
            </a:lvl6pPr>
            <a:lvl7pPr marL="4051981" indent="0">
              <a:buNone/>
              <a:defRPr sz="2363" b="1"/>
            </a:lvl7pPr>
            <a:lvl8pPr marL="4727311" indent="0">
              <a:buNone/>
              <a:defRPr sz="2363" b="1"/>
            </a:lvl8pPr>
            <a:lvl9pPr marL="5402641" indent="0">
              <a:buNone/>
              <a:defRPr sz="236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0329" y="4051611"/>
            <a:ext cx="5713861" cy="595931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37641" y="2719048"/>
            <a:ext cx="5742000" cy="1332563"/>
          </a:xfrm>
        </p:spPr>
        <p:txBody>
          <a:bodyPr anchor="b"/>
          <a:lstStyle>
            <a:lvl1pPr marL="0" indent="0">
              <a:buNone/>
              <a:defRPr sz="3545" b="1"/>
            </a:lvl1pPr>
            <a:lvl2pPr marL="675330" indent="0">
              <a:buNone/>
              <a:defRPr sz="2954" b="1"/>
            </a:lvl2pPr>
            <a:lvl3pPr marL="1350660" indent="0">
              <a:buNone/>
              <a:defRPr sz="2659" b="1"/>
            </a:lvl3pPr>
            <a:lvl4pPr marL="2025990" indent="0">
              <a:buNone/>
              <a:defRPr sz="2363" b="1"/>
            </a:lvl4pPr>
            <a:lvl5pPr marL="2701320" indent="0">
              <a:buNone/>
              <a:defRPr sz="2363" b="1"/>
            </a:lvl5pPr>
            <a:lvl6pPr marL="3376651" indent="0">
              <a:buNone/>
              <a:defRPr sz="2363" b="1"/>
            </a:lvl6pPr>
            <a:lvl7pPr marL="4051981" indent="0">
              <a:buNone/>
              <a:defRPr sz="2363" b="1"/>
            </a:lvl7pPr>
            <a:lvl8pPr marL="4727311" indent="0">
              <a:buNone/>
              <a:defRPr sz="2363" b="1"/>
            </a:lvl8pPr>
            <a:lvl9pPr marL="5402641" indent="0">
              <a:buNone/>
              <a:defRPr sz="236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37641" y="4051611"/>
            <a:ext cx="5742000" cy="595931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1587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0090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6509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7" y="739458"/>
            <a:ext cx="4356182" cy="2588101"/>
          </a:xfrm>
        </p:spPr>
        <p:txBody>
          <a:bodyPr anchor="b"/>
          <a:lstStyle>
            <a:lvl1pPr>
              <a:defRPr sz="472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2001" y="1597025"/>
            <a:ext cx="6837640" cy="7882412"/>
          </a:xfrm>
        </p:spPr>
        <p:txBody>
          <a:bodyPr/>
          <a:lstStyle>
            <a:lvl1pPr>
              <a:defRPr sz="4727"/>
            </a:lvl1pPr>
            <a:lvl2pPr>
              <a:defRPr sz="4136"/>
            </a:lvl2pPr>
            <a:lvl3pPr>
              <a:defRPr sz="3545"/>
            </a:lvl3pPr>
            <a:lvl4pPr>
              <a:defRPr sz="2954"/>
            </a:lvl4pPr>
            <a:lvl5pPr>
              <a:defRPr sz="2954"/>
            </a:lvl5pPr>
            <a:lvl6pPr>
              <a:defRPr sz="2954"/>
            </a:lvl6pPr>
            <a:lvl7pPr>
              <a:defRPr sz="2954"/>
            </a:lvl7pPr>
            <a:lvl8pPr>
              <a:defRPr sz="2954"/>
            </a:lvl8pPr>
            <a:lvl9pPr>
              <a:defRPr sz="29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0327" y="3327559"/>
            <a:ext cx="4356182" cy="6164714"/>
          </a:xfrm>
        </p:spPr>
        <p:txBody>
          <a:bodyPr/>
          <a:lstStyle>
            <a:lvl1pPr marL="0" indent="0">
              <a:buNone/>
              <a:defRPr sz="2363"/>
            </a:lvl1pPr>
            <a:lvl2pPr marL="675330" indent="0">
              <a:buNone/>
              <a:defRPr sz="2068"/>
            </a:lvl2pPr>
            <a:lvl3pPr marL="1350660" indent="0">
              <a:buNone/>
              <a:defRPr sz="1773"/>
            </a:lvl3pPr>
            <a:lvl4pPr marL="2025990" indent="0">
              <a:buNone/>
              <a:defRPr sz="1477"/>
            </a:lvl4pPr>
            <a:lvl5pPr marL="2701320" indent="0">
              <a:buNone/>
              <a:defRPr sz="1477"/>
            </a:lvl5pPr>
            <a:lvl6pPr marL="3376651" indent="0">
              <a:buNone/>
              <a:defRPr sz="1477"/>
            </a:lvl6pPr>
            <a:lvl7pPr marL="4051981" indent="0">
              <a:buNone/>
              <a:defRPr sz="1477"/>
            </a:lvl7pPr>
            <a:lvl8pPr marL="4727311" indent="0">
              <a:buNone/>
              <a:defRPr sz="1477"/>
            </a:lvl8pPr>
            <a:lvl9pPr marL="5402641" indent="0">
              <a:buNone/>
              <a:defRPr sz="14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7075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7" y="739458"/>
            <a:ext cx="4356182" cy="2588101"/>
          </a:xfrm>
        </p:spPr>
        <p:txBody>
          <a:bodyPr anchor="b"/>
          <a:lstStyle>
            <a:lvl1pPr>
              <a:defRPr sz="472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42001" y="1597025"/>
            <a:ext cx="6837640" cy="7882412"/>
          </a:xfrm>
        </p:spPr>
        <p:txBody>
          <a:bodyPr anchor="t"/>
          <a:lstStyle>
            <a:lvl1pPr marL="0" indent="0">
              <a:buNone/>
              <a:defRPr sz="4727"/>
            </a:lvl1pPr>
            <a:lvl2pPr marL="675330" indent="0">
              <a:buNone/>
              <a:defRPr sz="4136"/>
            </a:lvl2pPr>
            <a:lvl3pPr marL="1350660" indent="0">
              <a:buNone/>
              <a:defRPr sz="3545"/>
            </a:lvl3pPr>
            <a:lvl4pPr marL="2025990" indent="0">
              <a:buNone/>
              <a:defRPr sz="2954"/>
            </a:lvl4pPr>
            <a:lvl5pPr marL="2701320" indent="0">
              <a:buNone/>
              <a:defRPr sz="2954"/>
            </a:lvl5pPr>
            <a:lvl6pPr marL="3376651" indent="0">
              <a:buNone/>
              <a:defRPr sz="2954"/>
            </a:lvl6pPr>
            <a:lvl7pPr marL="4051981" indent="0">
              <a:buNone/>
              <a:defRPr sz="2954"/>
            </a:lvl7pPr>
            <a:lvl8pPr marL="4727311" indent="0">
              <a:buNone/>
              <a:defRPr sz="2954"/>
            </a:lvl8pPr>
            <a:lvl9pPr marL="5402641" indent="0">
              <a:buNone/>
              <a:defRPr sz="2954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0327" y="3327559"/>
            <a:ext cx="4356182" cy="6164714"/>
          </a:xfrm>
        </p:spPr>
        <p:txBody>
          <a:bodyPr/>
          <a:lstStyle>
            <a:lvl1pPr marL="0" indent="0">
              <a:buNone/>
              <a:defRPr sz="2363"/>
            </a:lvl1pPr>
            <a:lvl2pPr marL="675330" indent="0">
              <a:buNone/>
              <a:defRPr sz="2068"/>
            </a:lvl2pPr>
            <a:lvl3pPr marL="1350660" indent="0">
              <a:buNone/>
              <a:defRPr sz="1773"/>
            </a:lvl3pPr>
            <a:lvl4pPr marL="2025990" indent="0">
              <a:buNone/>
              <a:defRPr sz="1477"/>
            </a:lvl4pPr>
            <a:lvl5pPr marL="2701320" indent="0">
              <a:buNone/>
              <a:defRPr sz="1477"/>
            </a:lvl5pPr>
            <a:lvl6pPr marL="3376651" indent="0">
              <a:buNone/>
              <a:defRPr sz="1477"/>
            </a:lvl6pPr>
            <a:lvl7pPr marL="4051981" indent="0">
              <a:buNone/>
              <a:defRPr sz="1477"/>
            </a:lvl7pPr>
            <a:lvl8pPr marL="4727311" indent="0">
              <a:buNone/>
              <a:defRPr sz="1477"/>
            </a:lvl8pPr>
            <a:lvl9pPr marL="5402641" indent="0">
              <a:buNone/>
              <a:defRPr sz="14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343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7654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65554" y="590539"/>
            <a:ext cx="2912328" cy="939984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8569" y="590539"/>
            <a:ext cx="8568154" cy="939984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5608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8569" y="590541"/>
            <a:ext cx="11649313" cy="21439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8569" y="2952695"/>
            <a:ext cx="11649313" cy="7037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8569" y="10280516"/>
            <a:ext cx="3038951" cy="5905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2A9BB-8336-1F4C-AA8D-E45E345636B3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74012" y="10280516"/>
            <a:ext cx="4558427" cy="5905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38930" y="10280516"/>
            <a:ext cx="3038951" cy="5905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1049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50660" rtl="0" eaLnBrk="1" latinLnBrk="0" hangingPunct="1">
        <a:lnSpc>
          <a:spcPct val="90000"/>
        </a:lnSpc>
        <a:spcBef>
          <a:spcPct val="0"/>
        </a:spcBef>
        <a:buNone/>
        <a:defRPr kumimoji="1" sz="64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665" indent="-337665" algn="l" defTabSz="1350660" rtl="0" eaLnBrk="1" latinLnBrk="0" hangingPunct="1">
        <a:lnSpc>
          <a:spcPct val="90000"/>
        </a:lnSpc>
        <a:spcBef>
          <a:spcPts val="1477"/>
        </a:spcBef>
        <a:buFont typeface="Arial" panose="020B0604020202020204" pitchFamily="34" charset="0"/>
        <a:buChar char="•"/>
        <a:defRPr kumimoji="1" sz="4136" kern="1200">
          <a:solidFill>
            <a:schemeClr val="tx1"/>
          </a:solidFill>
          <a:latin typeface="+mn-lt"/>
          <a:ea typeface="+mn-ea"/>
          <a:cs typeface="+mn-cs"/>
        </a:defRPr>
      </a:lvl1pPr>
      <a:lvl2pPr marL="101299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3545" kern="1200">
          <a:solidFill>
            <a:schemeClr val="tx1"/>
          </a:solidFill>
          <a:latin typeface="+mn-lt"/>
          <a:ea typeface="+mn-ea"/>
          <a:cs typeface="+mn-cs"/>
        </a:defRPr>
      </a:lvl2pPr>
      <a:lvl3pPr marL="168832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954" kern="1200">
          <a:solidFill>
            <a:schemeClr val="tx1"/>
          </a:solidFill>
          <a:latin typeface="+mn-lt"/>
          <a:ea typeface="+mn-ea"/>
          <a:cs typeface="+mn-cs"/>
        </a:defRPr>
      </a:lvl3pPr>
      <a:lvl4pPr marL="236365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4pPr>
      <a:lvl5pPr marL="303898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5pPr>
      <a:lvl6pPr marL="371431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6pPr>
      <a:lvl7pPr marL="438964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7pPr>
      <a:lvl8pPr marL="506497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8pPr>
      <a:lvl9pPr marL="574030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1pPr>
      <a:lvl2pPr marL="67533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2pPr>
      <a:lvl3pPr marL="135066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3pPr>
      <a:lvl4pPr marL="202599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4pPr>
      <a:lvl5pPr marL="270132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5pPr>
      <a:lvl6pPr marL="337665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6pPr>
      <a:lvl7pPr marL="405198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7pPr>
      <a:lvl8pPr marL="472731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8pPr>
      <a:lvl9pPr marL="540264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emf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114D529-7536-46C5-E9DE-BE33B7A7F1B5}"/>
              </a:ext>
            </a:extLst>
          </p:cNvPr>
          <p:cNvSpPr/>
          <p:nvPr/>
        </p:nvSpPr>
        <p:spPr>
          <a:xfrm>
            <a:off x="0" y="921184"/>
            <a:ext cx="13506450" cy="10171519"/>
          </a:xfrm>
          <a:prstGeom prst="rect">
            <a:avLst/>
          </a:prstGeom>
          <a:solidFill>
            <a:schemeClr val="bg1"/>
          </a:solidFill>
          <a:ln w="762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36CE10B-F58E-E3AC-9505-E5714E0588D4}"/>
              </a:ext>
            </a:extLst>
          </p:cNvPr>
          <p:cNvSpPr txBox="1"/>
          <p:nvPr/>
        </p:nvSpPr>
        <p:spPr>
          <a:xfrm>
            <a:off x="473529" y="409386"/>
            <a:ext cx="11362871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rgbClr val="002060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2. </a:t>
            </a:r>
            <a:r>
              <a:rPr kumimoji="1" lang="ja-JP" altLang="en-US" sz="6000">
                <a:solidFill>
                  <a:srgbClr val="002060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導入</a:t>
            </a:r>
            <a:r>
              <a:rPr kumimoji="1" lang="en-US" altLang="ja-JP" sz="6000" dirty="0">
                <a:solidFill>
                  <a:srgbClr val="002060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: </a:t>
            </a:r>
            <a:r>
              <a:rPr kumimoji="1" lang="ja-JP" altLang="en-US" sz="6000">
                <a:solidFill>
                  <a:srgbClr val="002060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様々な量子アルゴリズム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57632F1-BC98-F470-4FDD-C38518D811C3}"/>
              </a:ext>
            </a:extLst>
          </p:cNvPr>
          <p:cNvSpPr txBox="1"/>
          <p:nvPr/>
        </p:nvSpPr>
        <p:spPr>
          <a:xfrm>
            <a:off x="310718" y="1774492"/>
            <a:ext cx="2744662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■</a:t>
            </a:r>
            <a:r>
              <a:rPr kumimoji="1" lang="en-US" altLang="ja-JP" sz="32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Trotter </a:t>
            </a:r>
            <a:r>
              <a:rPr kumimoji="1" lang="ja-JP" altLang="en-US" sz="32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分解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B200B01-8A6C-AFC4-A5E1-D49962FE3793}"/>
              </a:ext>
            </a:extLst>
          </p:cNvPr>
          <p:cNvSpPr txBox="1"/>
          <p:nvPr/>
        </p:nvSpPr>
        <p:spPr>
          <a:xfrm>
            <a:off x="310718" y="6631503"/>
            <a:ext cx="9608721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■</a:t>
            </a:r>
            <a:r>
              <a:rPr kumimoji="1" lang="en-US" altLang="ja-JP" sz="32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</a:t>
            </a:r>
            <a:r>
              <a:rPr kumimoji="1" lang="ja-JP" altLang="en-US" sz="32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ユニタリ線形結合</a:t>
            </a:r>
            <a:r>
              <a:rPr kumimoji="1" lang="en-US" altLang="ja-JP" sz="32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(LCU) / </a:t>
            </a:r>
            <a:r>
              <a:rPr kumimoji="1" lang="ja-JP" altLang="en-US" sz="32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量子特異値変換</a:t>
            </a:r>
            <a:r>
              <a:rPr kumimoji="1" lang="en-US" altLang="ja-JP" sz="32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(QSVT)</a:t>
            </a:r>
            <a:endParaRPr kumimoji="1" lang="ja-JP" altLang="en-US" sz="32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0A1C955-02AB-9DD2-AA20-F1C1176BE254}"/>
              </a:ext>
            </a:extLst>
          </p:cNvPr>
          <p:cNvSpPr txBox="1"/>
          <p:nvPr/>
        </p:nvSpPr>
        <p:spPr>
          <a:xfrm>
            <a:off x="3232178" y="1976500"/>
            <a:ext cx="35210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Lloyd, Science 273, 1073 (1996)</a:t>
            </a:r>
            <a:endParaRPr lang="ja-JP" altLang="en-US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0553A46-A64A-F286-3987-85C612AA392A}"/>
              </a:ext>
            </a:extLst>
          </p:cNvPr>
          <p:cNvSpPr txBox="1"/>
          <p:nvPr/>
        </p:nvSpPr>
        <p:spPr>
          <a:xfrm>
            <a:off x="10141129" y="6963681"/>
            <a:ext cx="3143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altLang="ja-JP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Gilyen</a:t>
            </a:r>
            <a:r>
              <a:rPr lang="en-US" altLang="ja-JP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et al., STOC (2019)</a:t>
            </a:r>
            <a:endParaRPr lang="ja-JP" altLang="en-US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C72192CA-0B35-6827-5261-08D606F34B9F}"/>
              </a:ext>
            </a:extLst>
          </p:cNvPr>
          <p:cNvGrpSpPr/>
          <p:nvPr/>
        </p:nvGrpSpPr>
        <p:grpSpPr>
          <a:xfrm>
            <a:off x="1968375" y="2714664"/>
            <a:ext cx="4211140" cy="714597"/>
            <a:chOff x="697424" y="4008402"/>
            <a:chExt cx="2975179" cy="499126"/>
          </a:xfrm>
        </p:grpSpPr>
        <p:pic>
          <p:nvPicPr>
            <p:cNvPr id="28" name="Picture 2" descr="\begin{align*}&#10;  e^{-iHt} = \left\{ T_p \left( \frac{t}r\right)\right\}^r + \mathcal{O} \left( \frac{t^{p+1}}{r}\right)&#10;\end{align*}">
              <a:extLst>
                <a:ext uri="{FF2B5EF4-FFF2-40B4-BE49-F238E27FC236}">
                  <a16:creationId xmlns:a16="http://schemas.microsoft.com/office/drawing/2014/main" id="{9D097DF3-EFA5-4358-C201-9EE45D8BF5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7424" y="4008402"/>
              <a:ext cx="2975179" cy="4991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4" descr="\begin{align*}&#10;  r^p&#10;\end{align*}">
              <a:extLst>
                <a:ext uri="{FF2B5EF4-FFF2-40B4-BE49-F238E27FC236}">
                  <a16:creationId xmlns:a16="http://schemas.microsoft.com/office/drawing/2014/main" id="{52994404-13B3-FD81-F87C-1309290510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4217" y="4307027"/>
              <a:ext cx="212152" cy="1767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8" name="Picture 4" descr="\begin{align*}&#10;  T_1(t) = e^{-iH_2 t} e^{-iH_1t} = e^{-iHt} + \mathcal{O}(t^2)&#10;\end{align*}">
            <a:extLst>
              <a:ext uri="{FF2B5EF4-FFF2-40B4-BE49-F238E27FC236}">
                <a16:creationId xmlns:a16="http://schemas.microsoft.com/office/drawing/2014/main" id="{B75724A7-2281-F34B-E8DD-295317196F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133" b="-8883"/>
          <a:stretch>
            <a:fillRect/>
          </a:stretch>
        </p:blipFill>
        <p:spPr bwMode="auto">
          <a:xfrm>
            <a:off x="2544562" y="4074106"/>
            <a:ext cx="3058766" cy="405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906DC915-FBB0-5C07-5521-4E0BF7CF796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2011"/>
          <a:stretch>
            <a:fillRect/>
          </a:stretch>
        </p:blipFill>
        <p:spPr>
          <a:xfrm>
            <a:off x="7997910" y="1945438"/>
            <a:ext cx="4879616" cy="1765221"/>
          </a:xfrm>
          <a:prstGeom prst="rect">
            <a:avLst/>
          </a:prstGeom>
        </p:spPr>
      </p:pic>
      <p:pic>
        <p:nvPicPr>
          <p:cNvPr id="20" name="Picture 4" descr="\begin{align*}&#10;  T_1(t) = e^{-iH_2 t} e^{-iH_1t} = e^{-iHt} + \mathcal{O}(t^2)&#10;\end{align*}">
            <a:extLst>
              <a:ext uri="{FF2B5EF4-FFF2-40B4-BE49-F238E27FC236}">
                <a16:creationId xmlns:a16="http://schemas.microsoft.com/office/drawing/2014/main" id="{0BFB1F35-663D-9FEB-2A60-A1CA047F5D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20" t="-8883"/>
          <a:stretch>
            <a:fillRect/>
          </a:stretch>
        </p:blipFill>
        <p:spPr bwMode="auto">
          <a:xfrm>
            <a:off x="5603328" y="4026109"/>
            <a:ext cx="2392487" cy="405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大かっこ 20">
            <a:extLst>
              <a:ext uri="{FF2B5EF4-FFF2-40B4-BE49-F238E27FC236}">
                <a16:creationId xmlns:a16="http://schemas.microsoft.com/office/drawing/2014/main" id="{E007C5DB-D67B-C61B-8F37-40D2AEE644C8}"/>
              </a:ext>
            </a:extLst>
          </p:cNvPr>
          <p:cNvSpPr/>
          <p:nvPr/>
        </p:nvSpPr>
        <p:spPr>
          <a:xfrm>
            <a:off x="5777345" y="4705371"/>
            <a:ext cx="4989458" cy="782017"/>
          </a:xfrm>
          <a:prstGeom prst="bracketPair">
            <a:avLst>
              <a:gd name="adj" fmla="val 11914"/>
            </a:avLst>
          </a:prstGeom>
          <a:ln w="38100">
            <a:solidFill>
              <a:srgbClr val="00206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0C959A7-FD6E-741D-401F-9D63192D7081}"/>
              </a:ext>
            </a:extLst>
          </p:cNvPr>
          <p:cNvSpPr txBox="1"/>
          <p:nvPr/>
        </p:nvSpPr>
        <p:spPr>
          <a:xfrm>
            <a:off x="473529" y="4866741"/>
            <a:ext cx="1894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u="sng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計算コスト</a:t>
            </a:r>
            <a:r>
              <a:rPr kumimoji="1" lang="en-US" altLang="ja-JP" sz="2400" b="1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:</a:t>
            </a:r>
            <a:endParaRPr kumimoji="1" lang="ja-JP" altLang="en-US" sz="2400" b="1" u="sng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E4731B03-6AE4-792E-55F0-619DD6622154}"/>
                  </a:ext>
                </a:extLst>
              </p:cNvPr>
              <p:cNvSpPr txBox="1"/>
              <p:nvPr/>
            </p:nvSpPr>
            <p:spPr>
              <a:xfrm>
                <a:off x="5989128" y="4668679"/>
                <a:ext cx="48796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kumimoji="1" lang="en-US" altLang="ja-JP" sz="24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r>
                  <a:rPr kumimoji="1" lang="ja-JP" altLang="en-US" sz="24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依存性は良い</a:t>
                </a:r>
                <a:r>
                  <a:rPr kumimoji="1"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/ </a:t>
                </a:r>
                <a14:m>
                  <m:oMath xmlns:m="http://schemas.openxmlformats.org/officeDocument/2006/math">
                    <m:r>
                      <a:rPr kumimoji="1" lang="en-US" altLang="ja-JP" sz="24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kumimoji="1" lang="en-US" altLang="ja-JP" sz="2400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r>
                  <a:rPr kumimoji="1" lang="ja-JP" altLang="en-US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依存性は悪い</a:t>
                </a:r>
                <a:r>
                  <a:rPr kumimoji="1"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endParaRPr kumimoji="1" lang="ja-JP" altLang="en-US" sz="24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E4731B03-6AE4-792E-55F0-619DD6622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128" y="4668679"/>
                <a:ext cx="4879616" cy="461665"/>
              </a:xfrm>
              <a:prstGeom prst="rect">
                <a:avLst/>
              </a:prstGeom>
              <a:blipFill>
                <a:blip r:embed="rId6"/>
                <a:stretch>
                  <a:fillRect l="-260" t="-13158" b="-315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ED467CC-AC3D-ED72-0E39-07FCF10B7ED0}"/>
              </a:ext>
            </a:extLst>
          </p:cNvPr>
          <p:cNvSpPr txBox="1"/>
          <p:nvPr/>
        </p:nvSpPr>
        <p:spPr>
          <a:xfrm>
            <a:off x="5987983" y="5088356"/>
            <a:ext cx="4624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大規模計算は得意だが、高精度計算は苦手</a:t>
            </a:r>
          </a:p>
        </p:txBody>
      </p:sp>
      <p:pic>
        <p:nvPicPr>
          <p:cNvPr id="27" name="Picture 2" descr="\begin{align*}&#10;    Nt \left( \frac{Nt}{\varepsilon}\right)^{\frac1p}, \quad p \in \mathbb{N}&#10;\end{align*}">
            <a:extLst>
              <a:ext uri="{FF2B5EF4-FFF2-40B4-BE49-F238E27FC236}">
                <a16:creationId xmlns:a16="http://schemas.microsoft.com/office/drawing/2014/main" id="{EB945EB5-ACA3-A230-F929-5BEC9B40D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562" y="4710128"/>
            <a:ext cx="2603171" cy="785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59864E07-1442-B6F2-5DF5-A08DD625463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18454" b="10300"/>
          <a:stretch>
            <a:fillRect/>
          </a:stretch>
        </p:blipFill>
        <p:spPr>
          <a:xfrm>
            <a:off x="10395866" y="7754647"/>
            <a:ext cx="2367743" cy="1847367"/>
          </a:xfrm>
          <a:prstGeom prst="rect">
            <a:avLst/>
          </a:prstGeom>
        </p:spPr>
      </p:pic>
      <p:sp>
        <p:nvSpPr>
          <p:cNvPr id="33" name="大かっこ 32">
            <a:extLst>
              <a:ext uri="{FF2B5EF4-FFF2-40B4-BE49-F238E27FC236}">
                <a16:creationId xmlns:a16="http://schemas.microsoft.com/office/drawing/2014/main" id="{1CA6709C-F2D0-9D7A-19C7-7CB375E42357}"/>
              </a:ext>
            </a:extLst>
          </p:cNvPr>
          <p:cNvSpPr/>
          <p:nvPr/>
        </p:nvSpPr>
        <p:spPr>
          <a:xfrm>
            <a:off x="5511667" y="8482036"/>
            <a:ext cx="4446247" cy="1119979"/>
          </a:xfrm>
          <a:prstGeom prst="bracketPair">
            <a:avLst>
              <a:gd name="adj" fmla="val 11914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4" name="Picture 2" descr="\begin{align*}&#10;  e^{-iHt} \simeq \sum_{n=0}^q \frac{(-it)^n}{n!} H^n&#10;\end{align*}">
            <a:extLst>
              <a:ext uri="{FF2B5EF4-FFF2-40B4-BE49-F238E27FC236}">
                <a16:creationId xmlns:a16="http://schemas.microsoft.com/office/drawing/2014/main" id="{2AF27A58-49BD-59CE-E986-6FA1D5041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746" y="7537077"/>
            <a:ext cx="3232784" cy="915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83D18569-338C-0849-7ABD-62DECB2E5506}"/>
              </a:ext>
            </a:extLst>
          </p:cNvPr>
          <p:cNvSpPr txBox="1"/>
          <p:nvPr/>
        </p:nvSpPr>
        <p:spPr>
          <a:xfrm>
            <a:off x="473529" y="8788831"/>
            <a:ext cx="1972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u="sng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計算コスト</a:t>
            </a:r>
            <a:r>
              <a:rPr kumimoji="1" lang="en-US" altLang="ja-JP" sz="2400" b="1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:</a:t>
            </a:r>
            <a:endParaRPr kumimoji="1" lang="ja-JP" altLang="en-US" sz="2400" b="1" u="sng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36" name="Picture 4" descr="\begin{align*}&#10;    N (Nt + \log (1/\varepsilon))&#10;\end{align*}">
            <a:extLst>
              <a:ext uri="{FF2B5EF4-FFF2-40B4-BE49-F238E27FC236}">
                <a16:creationId xmlns:a16="http://schemas.microsoft.com/office/drawing/2014/main" id="{99BB7057-DE91-5D23-E3E8-7CF104A9A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561" y="8877166"/>
            <a:ext cx="2529154" cy="329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81AEA7BC-0D3A-1728-E86D-4F696B1A1D4B}"/>
                  </a:ext>
                </a:extLst>
              </p:cNvPr>
              <p:cNvSpPr txBox="1"/>
              <p:nvPr/>
            </p:nvSpPr>
            <p:spPr>
              <a:xfrm>
                <a:off x="5777345" y="8482036"/>
                <a:ext cx="387568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kumimoji="1" lang="en-US" altLang="ja-JP" sz="24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r>
                  <a:rPr kumimoji="1" lang="ja-JP" altLang="en-US" sz="24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依存性は指数的に良い</a:t>
                </a:r>
                <a:r>
                  <a:rPr kumimoji="1"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</a:p>
              <a:p>
                <a:pPr algn="r"/>
                <a:r>
                  <a:rPr kumimoji="1"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/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kumimoji="1" lang="en-US" altLang="ja-JP" sz="2400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r>
                  <a:rPr kumimoji="1" lang="ja-JP" altLang="en-US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依存性は悪い</a:t>
                </a:r>
                <a:r>
                  <a:rPr kumimoji="1"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endParaRPr kumimoji="1" lang="ja-JP" altLang="en-US" sz="24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81AEA7BC-0D3A-1728-E86D-4F696B1A1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7345" y="8482036"/>
                <a:ext cx="3875680" cy="830997"/>
              </a:xfrm>
              <a:prstGeom prst="rect">
                <a:avLst/>
              </a:prstGeom>
              <a:blipFill>
                <a:blip r:embed="rId11"/>
                <a:stretch>
                  <a:fillRect t="-7463" r="-2288" b="-1492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1623E3C-6364-3987-AC7D-2D9154A4B918}"/>
              </a:ext>
            </a:extLst>
          </p:cNvPr>
          <p:cNvSpPr txBox="1"/>
          <p:nvPr/>
        </p:nvSpPr>
        <p:spPr>
          <a:xfrm>
            <a:off x="5601476" y="9272858"/>
            <a:ext cx="4356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高精度計算は得意だが大規模計算は苦手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31FA6BEB-F527-0214-86EF-BF945A18107E}"/>
              </a:ext>
            </a:extLst>
          </p:cNvPr>
          <p:cNvSpPr txBox="1"/>
          <p:nvPr/>
        </p:nvSpPr>
        <p:spPr>
          <a:xfrm>
            <a:off x="501471" y="3812736"/>
            <a:ext cx="2043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u="sng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例</a:t>
            </a:r>
            <a:r>
              <a:rPr kumimoji="1" lang="en-US" altLang="ja-JP" sz="2400" b="1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: 1</a:t>
            </a:r>
            <a:r>
              <a:rPr kumimoji="1" lang="ja-JP" altLang="en-US" sz="2400" b="1" u="sng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次公式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5777B90-EA98-CA43-50ED-8A09AE71920C}"/>
              </a:ext>
            </a:extLst>
          </p:cNvPr>
          <p:cNvSpPr txBox="1"/>
          <p:nvPr/>
        </p:nvSpPr>
        <p:spPr>
          <a:xfrm>
            <a:off x="1420979" y="5828581"/>
            <a:ext cx="939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u="sng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長所</a:t>
            </a:r>
            <a:r>
              <a:rPr kumimoji="1" lang="en-US" altLang="ja-JP" sz="2400" b="1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:</a:t>
            </a:r>
            <a:endParaRPr kumimoji="1" lang="ja-JP" altLang="en-US" sz="2400" b="1" u="sng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6D61C8AE-1A21-1C3F-AE89-967D166C1E18}"/>
              </a:ext>
            </a:extLst>
          </p:cNvPr>
          <p:cNvSpPr txBox="1"/>
          <p:nvPr/>
        </p:nvSpPr>
        <p:spPr>
          <a:xfrm>
            <a:off x="2544561" y="5839364"/>
            <a:ext cx="4989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量子回路の構造が単純</a:t>
            </a:r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, </a:t>
            </a:r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補助系不要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B49F8FD3-D50F-36FB-9A0B-7DC3C2BAB666}"/>
              </a:ext>
            </a:extLst>
          </p:cNvPr>
          <p:cNvSpPr txBox="1"/>
          <p:nvPr/>
        </p:nvSpPr>
        <p:spPr>
          <a:xfrm>
            <a:off x="438249" y="10025585"/>
            <a:ext cx="193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u="sng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長所と短所</a:t>
            </a:r>
            <a:r>
              <a:rPr kumimoji="1" lang="en-US" altLang="ja-JP" sz="2400" b="1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:</a:t>
            </a:r>
            <a:endParaRPr kumimoji="1" lang="ja-JP" altLang="en-US" sz="2400" b="1" u="sng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035D18AA-E993-99FE-2323-5D69DF5EDED7}"/>
              </a:ext>
            </a:extLst>
          </p:cNvPr>
          <p:cNvSpPr txBox="1"/>
          <p:nvPr/>
        </p:nvSpPr>
        <p:spPr>
          <a:xfrm>
            <a:off x="2446169" y="10025373"/>
            <a:ext cx="108385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誤差依存性が指数的に良い</a:t>
            </a:r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, </a:t>
            </a:r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クエリ複雑性は理論上ベスト</a:t>
            </a:r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</a:t>
            </a:r>
          </a:p>
          <a:p>
            <a:pPr algn="r"/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/ </a:t>
            </a:r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ブロック埋め込みの実装が容易でない</a:t>
            </a:r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(Toffoli, </a:t>
            </a:r>
            <a:r>
              <a:rPr kumimoji="1" lang="ja-JP" altLang="en-US" sz="20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補助系</a:t>
            </a:r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,</a:t>
            </a:r>
            <a:r>
              <a:rPr kumimoji="1" lang="ja-JP" altLang="en-US" sz="20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長距離の制御</a:t>
            </a:r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U)</a:t>
            </a:r>
            <a:endParaRPr kumimoji="1"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969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157</TotalTime>
  <Words>147</Words>
  <Application>Microsoft Macintosh PowerPoint</Application>
  <PresentationFormat>ユーザー設定</PresentationFormat>
  <Paragraphs>18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水田　郁</dc:creator>
  <cp:lastModifiedBy>水田　郁</cp:lastModifiedBy>
  <cp:revision>14</cp:revision>
  <dcterms:created xsi:type="dcterms:W3CDTF">2023-12-08T07:40:41Z</dcterms:created>
  <dcterms:modified xsi:type="dcterms:W3CDTF">2026-02-04T02:25:03Z</dcterms:modified>
</cp:coreProperties>
</file>