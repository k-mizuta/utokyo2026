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</p:sldIdLst>
  <p:sldSz cx="27943175" cy="47767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5" userDrawn="1">
          <p15:clr>
            <a:srgbClr val="A4A3A4"/>
          </p15:clr>
        </p15:guide>
        <p15:guide id="2" pos="88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22"/>
    <p:restoredTop sz="96301"/>
  </p:normalViewPr>
  <p:slideViewPr>
    <p:cSldViewPr snapToGrid="0" showGuides="1">
      <p:cViewPr>
        <p:scale>
          <a:sx n="63" d="100"/>
          <a:sy n="63" d="100"/>
        </p:scale>
        <p:origin x="296" y="1776"/>
      </p:cViewPr>
      <p:guideLst>
        <p:guide orient="horz" pos="1505"/>
        <p:guide pos="88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92897" y="781757"/>
            <a:ext cx="20957381" cy="1663030"/>
          </a:xfrm>
        </p:spPr>
        <p:txBody>
          <a:bodyPr anchor="b"/>
          <a:lstStyle>
            <a:lvl1pPr algn="ctr">
              <a:defRPr sz="41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92897" y="2508920"/>
            <a:ext cx="20957381" cy="1153284"/>
          </a:xfrm>
        </p:spPr>
        <p:txBody>
          <a:bodyPr/>
          <a:lstStyle>
            <a:lvl1pPr marL="0" indent="0" algn="ctr">
              <a:buNone/>
              <a:defRPr sz="1672"/>
            </a:lvl1pPr>
            <a:lvl2pPr marL="318440" indent="0" algn="ctr">
              <a:buNone/>
              <a:defRPr sz="1393"/>
            </a:lvl2pPr>
            <a:lvl3pPr marL="636880" indent="0" algn="ctr">
              <a:buNone/>
              <a:defRPr sz="1254"/>
            </a:lvl3pPr>
            <a:lvl4pPr marL="955319" indent="0" algn="ctr">
              <a:buNone/>
              <a:defRPr sz="1114"/>
            </a:lvl4pPr>
            <a:lvl5pPr marL="1273759" indent="0" algn="ctr">
              <a:buNone/>
              <a:defRPr sz="1114"/>
            </a:lvl5pPr>
            <a:lvl6pPr marL="1592199" indent="0" algn="ctr">
              <a:buNone/>
              <a:defRPr sz="1114"/>
            </a:lvl6pPr>
            <a:lvl7pPr marL="1910639" indent="0" algn="ctr">
              <a:buNone/>
              <a:defRPr sz="1114"/>
            </a:lvl7pPr>
            <a:lvl8pPr marL="2229079" indent="0" algn="ctr">
              <a:buNone/>
              <a:defRPr sz="1114"/>
            </a:lvl8pPr>
            <a:lvl9pPr marL="2547518" indent="0" algn="ctr">
              <a:buNone/>
              <a:defRPr sz="1114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517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3485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6540" y="1190880"/>
            <a:ext cx="24100988" cy="1987011"/>
          </a:xfrm>
        </p:spPr>
        <p:txBody>
          <a:bodyPr anchor="b"/>
          <a:lstStyle>
            <a:lvl1pPr>
              <a:defRPr sz="417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6540" y="3196689"/>
            <a:ext cx="24100988" cy="1044922"/>
          </a:xfrm>
        </p:spPr>
        <p:txBody>
          <a:bodyPr/>
          <a:lstStyle>
            <a:lvl1pPr marL="0" indent="0">
              <a:buNone/>
              <a:defRPr sz="1672">
                <a:solidFill>
                  <a:schemeClr val="tx1">
                    <a:tint val="75000"/>
                  </a:schemeClr>
                </a:solidFill>
              </a:defRPr>
            </a:lvl1pPr>
            <a:lvl2pPr marL="318440" indent="0">
              <a:buNone/>
              <a:defRPr sz="1393">
                <a:solidFill>
                  <a:schemeClr val="tx1">
                    <a:tint val="75000"/>
                  </a:schemeClr>
                </a:solidFill>
              </a:defRPr>
            </a:lvl2pPr>
            <a:lvl3pPr marL="636880" indent="0">
              <a:buNone/>
              <a:defRPr sz="1254">
                <a:solidFill>
                  <a:schemeClr val="tx1">
                    <a:tint val="75000"/>
                  </a:schemeClr>
                </a:solidFill>
              </a:defRPr>
            </a:lvl3pPr>
            <a:lvl4pPr marL="955319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4pPr>
            <a:lvl5pPr marL="1273759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5pPr>
            <a:lvl6pPr marL="1592199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6pPr>
            <a:lvl7pPr marL="1910639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7pPr>
            <a:lvl8pPr marL="2229079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8pPr>
            <a:lvl9pPr marL="2547518" indent="0">
              <a:buNone/>
              <a:defRPr sz="111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153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1093" y="1271599"/>
            <a:ext cx="11875849" cy="30308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146233" y="1271599"/>
            <a:ext cx="11875849" cy="30308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6196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4733" y="254320"/>
            <a:ext cx="24100988" cy="92329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4734" y="1170977"/>
            <a:ext cx="11821272" cy="573878"/>
          </a:xfrm>
        </p:spPr>
        <p:txBody>
          <a:bodyPr anchor="b"/>
          <a:lstStyle>
            <a:lvl1pPr marL="0" indent="0">
              <a:buNone/>
              <a:defRPr sz="1672" b="1"/>
            </a:lvl1pPr>
            <a:lvl2pPr marL="318440" indent="0">
              <a:buNone/>
              <a:defRPr sz="1393" b="1"/>
            </a:lvl2pPr>
            <a:lvl3pPr marL="636880" indent="0">
              <a:buNone/>
              <a:defRPr sz="1254" b="1"/>
            </a:lvl3pPr>
            <a:lvl4pPr marL="955319" indent="0">
              <a:buNone/>
              <a:defRPr sz="1114" b="1"/>
            </a:lvl4pPr>
            <a:lvl5pPr marL="1273759" indent="0">
              <a:buNone/>
              <a:defRPr sz="1114" b="1"/>
            </a:lvl5pPr>
            <a:lvl6pPr marL="1592199" indent="0">
              <a:buNone/>
              <a:defRPr sz="1114" b="1"/>
            </a:lvl6pPr>
            <a:lvl7pPr marL="1910639" indent="0">
              <a:buNone/>
              <a:defRPr sz="1114" b="1"/>
            </a:lvl7pPr>
            <a:lvl8pPr marL="2229079" indent="0">
              <a:buNone/>
              <a:defRPr sz="1114" b="1"/>
            </a:lvl8pPr>
            <a:lvl9pPr marL="2547518" indent="0">
              <a:buNone/>
              <a:defRPr sz="111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4734" y="1744855"/>
            <a:ext cx="11821272" cy="256641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146232" y="1170977"/>
            <a:ext cx="11879489" cy="573878"/>
          </a:xfrm>
        </p:spPr>
        <p:txBody>
          <a:bodyPr anchor="b"/>
          <a:lstStyle>
            <a:lvl1pPr marL="0" indent="0">
              <a:buNone/>
              <a:defRPr sz="1672" b="1"/>
            </a:lvl1pPr>
            <a:lvl2pPr marL="318440" indent="0">
              <a:buNone/>
              <a:defRPr sz="1393" b="1"/>
            </a:lvl2pPr>
            <a:lvl3pPr marL="636880" indent="0">
              <a:buNone/>
              <a:defRPr sz="1254" b="1"/>
            </a:lvl3pPr>
            <a:lvl4pPr marL="955319" indent="0">
              <a:buNone/>
              <a:defRPr sz="1114" b="1"/>
            </a:lvl4pPr>
            <a:lvl5pPr marL="1273759" indent="0">
              <a:buNone/>
              <a:defRPr sz="1114" b="1"/>
            </a:lvl5pPr>
            <a:lvl6pPr marL="1592199" indent="0">
              <a:buNone/>
              <a:defRPr sz="1114" b="1"/>
            </a:lvl6pPr>
            <a:lvl7pPr marL="1910639" indent="0">
              <a:buNone/>
              <a:defRPr sz="1114" b="1"/>
            </a:lvl7pPr>
            <a:lvl8pPr marL="2229079" indent="0">
              <a:buNone/>
              <a:defRPr sz="1114" b="1"/>
            </a:lvl8pPr>
            <a:lvl9pPr marL="2547518" indent="0">
              <a:buNone/>
              <a:defRPr sz="1114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146232" y="1744855"/>
            <a:ext cx="11879489" cy="256641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9532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5803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5502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4734" y="318452"/>
            <a:ext cx="9012400" cy="1114584"/>
          </a:xfrm>
        </p:spPr>
        <p:txBody>
          <a:bodyPr anchor="b"/>
          <a:lstStyle>
            <a:lvl1pPr>
              <a:defRPr sz="222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79489" y="687769"/>
            <a:ext cx="14146232" cy="3394616"/>
          </a:xfrm>
        </p:spPr>
        <p:txBody>
          <a:bodyPr/>
          <a:lstStyle>
            <a:lvl1pPr>
              <a:defRPr sz="2229"/>
            </a:lvl1pPr>
            <a:lvl2pPr>
              <a:defRPr sz="1950"/>
            </a:lvl2pPr>
            <a:lvl3pPr>
              <a:defRPr sz="1672"/>
            </a:lvl3pPr>
            <a:lvl4pPr>
              <a:defRPr sz="1393"/>
            </a:lvl4pPr>
            <a:lvl5pPr>
              <a:defRPr sz="1393"/>
            </a:lvl5pPr>
            <a:lvl6pPr>
              <a:defRPr sz="1393"/>
            </a:lvl6pPr>
            <a:lvl7pPr>
              <a:defRPr sz="1393"/>
            </a:lvl7pPr>
            <a:lvl8pPr>
              <a:defRPr sz="1393"/>
            </a:lvl8pPr>
            <a:lvl9pPr>
              <a:defRPr sz="1393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4734" y="1433036"/>
            <a:ext cx="9012400" cy="2654877"/>
          </a:xfrm>
        </p:spPr>
        <p:txBody>
          <a:bodyPr/>
          <a:lstStyle>
            <a:lvl1pPr marL="0" indent="0">
              <a:buNone/>
              <a:defRPr sz="1114"/>
            </a:lvl1pPr>
            <a:lvl2pPr marL="318440" indent="0">
              <a:buNone/>
              <a:defRPr sz="975"/>
            </a:lvl2pPr>
            <a:lvl3pPr marL="636880" indent="0">
              <a:buNone/>
              <a:defRPr sz="836"/>
            </a:lvl3pPr>
            <a:lvl4pPr marL="955319" indent="0">
              <a:buNone/>
              <a:defRPr sz="697"/>
            </a:lvl4pPr>
            <a:lvl5pPr marL="1273759" indent="0">
              <a:buNone/>
              <a:defRPr sz="697"/>
            </a:lvl5pPr>
            <a:lvl6pPr marL="1592199" indent="0">
              <a:buNone/>
              <a:defRPr sz="697"/>
            </a:lvl6pPr>
            <a:lvl7pPr marL="1910639" indent="0">
              <a:buNone/>
              <a:defRPr sz="697"/>
            </a:lvl7pPr>
            <a:lvl8pPr marL="2229079" indent="0">
              <a:buNone/>
              <a:defRPr sz="697"/>
            </a:lvl8pPr>
            <a:lvl9pPr marL="2547518" indent="0">
              <a:buNone/>
              <a:defRPr sz="69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5435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4734" y="318452"/>
            <a:ext cx="9012400" cy="1114584"/>
          </a:xfrm>
        </p:spPr>
        <p:txBody>
          <a:bodyPr anchor="b"/>
          <a:lstStyle>
            <a:lvl1pPr>
              <a:defRPr sz="222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79489" y="687769"/>
            <a:ext cx="14146232" cy="3394616"/>
          </a:xfrm>
        </p:spPr>
        <p:txBody>
          <a:bodyPr anchor="t"/>
          <a:lstStyle>
            <a:lvl1pPr marL="0" indent="0">
              <a:buNone/>
              <a:defRPr sz="2229"/>
            </a:lvl1pPr>
            <a:lvl2pPr marL="318440" indent="0">
              <a:buNone/>
              <a:defRPr sz="1950"/>
            </a:lvl2pPr>
            <a:lvl3pPr marL="636880" indent="0">
              <a:buNone/>
              <a:defRPr sz="1672"/>
            </a:lvl3pPr>
            <a:lvl4pPr marL="955319" indent="0">
              <a:buNone/>
              <a:defRPr sz="1393"/>
            </a:lvl4pPr>
            <a:lvl5pPr marL="1273759" indent="0">
              <a:buNone/>
              <a:defRPr sz="1393"/>
            </a:lvl5pPr>
            <a:lvl6pPr marL="1592199" indent="0">
              <a:buNone/>
              <a:defRPr sz="1393"/>
            </a:lvl6pPr>
            <a:lvl7pPr marL="1910639" indent="0">
              <a:buNone/>
              <a:defRPr sz="1393"/>
            </a:lvl7pPr>
            <a:lvl8pPr marL="2229079" indent="0">
              <a:buNone/>
              <a:defRPr sz="1393"/>
            </a:lvl8pPr>
            <a:lvl9pPr marL="2547518" indent="0">
              <a:buNone/>
              <a:defRPr sz="1393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4734" y="1433036"/>
            <a:ext cx="9012400" cy="2654877"/>
          </a:xfrm>
        </p:spPr>
        <p:txBody>
          <a:bodyPr/>
          <a:lstStyle>
            <a:lvl1pPr marL="0" indent="0">
              <a:buNone/>
              <a:defRPr sz="1114"/>
            </a:lvl1pPr>
            <a:lvl2pPr marL="318440" indent="0">
              <a:buNone/>
              <a:defRPr sz="975"/>
            </a:lvl2pPr>
            <a:lvl3pPr marL="636880" indent="0">
              <a:buNone/>
              <a:defRPr sz="836"/>
            </a:lvl3pPr>
            <a:lvl4pPr marL="955319" indent="0">
              <a:buNone/>
              <a:defRPr sz="697"/>
            </a:lvl4pPr>
            <a:lvl5pPr marL="1273759" indent="0">
              <a:buNone/>
              <a:defRPr sz="697"/>
            </a:lvl5pPr>
            <a:lvl6pPr marL="1592199" indent="0">
              <a:buNone/>
              <a:defRPr sz="697"/>
            </a:lvl6pPr>
            <a:lvl7pPr marL="1910639" indent="0">
              <a:buNone/>
              <a:defRPr sz="697"/>
            </a:lvl7pPr>
            <a:lvl8pPr marL="2229079" indent="0">
              <a:buNone/>
              <a:defRPr sz="697"/>
            </a:lvl8pPr>
            <a:lvl9pPr marL="2547518" indent="0">
              <a:buNone/>
              <a:defRPr sz="69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03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10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996835" y="254320"/>
            <a:ext cx="6025247" cy="404810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21093" y="254320"/>
            <a:ext cx="17726452" cy="404810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92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1094" y="254320"/>
            <a:ext cx="24100988" cy="923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1094" y="1271599"/>
            <a:ext cx="24100988" cy="3030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21093" y="4427375"/>
            <a:ext cx="6287214" cy="25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56177" y="4427375"/>
            <a:ext cx="9430822" cy="25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734868" y="4427375"/>
            <a:ext cx="6287214" cy="25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8641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36880" rtl="0" eaLnBrk="1" latinLnBrk="0" hangingPunct="1">
        <a:lnSpc>
          <a:spcPct val="90000"/>
        </a:lnSpc>
        <a:spcBef>
          <a:spcPct val="0"/>
        </a:spcBef>
        <a:buNone/>
        <a:defRPr kumimoji="1" sz="30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9220" indent="-159220" algn="l" defTabSz="636880" rtl="0" eaLnBrk="1" latinLnBrk="0" hangingPunct="1">
        <a:lnSpc>
          <a:spcPct val="90000"/>
        </a:lnSpc>
        <a:spcBef>
          <a:spcPts val="697"/>
        </a:spcBef>
        <a:buFont typeface="Arial" panose="020B0604020202020204" pitchFamily="34" charset="0"/>
        <a:buChar char="•"/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77660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672" kern="1200">
          <a:solidFill>
            <a:schemeClr val="tx1"/>
          </a:solidFill>
          <a:latin typeface="+mn-lt"/>
          <a:ea typeface="+mn-ea"/>
          <a:cs typeface="+mn-cs"/>
        </a:defRPr>
      </a:lvl2pPr>
      <a:lvl3pPr marL="796100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393" kern="1200">
          <a:solidFill>
            <a:schemeClr val="tx1"/>
          </a:solidFill>
          <a:latin typeface="+mn-lt"/>
          <a:ea typeface="+mn-ea"/>
          <a:cs typeface="+mn-cs"/>
        </a:defRPr>
      </a:lvl3pPr>
      <a:lvl4pPr marL="1114539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4pPr>
      <a:lvl5pPr marL="1432979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5pPr>
      <a:lvl6pPr marL="1751419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6pPr>
      <a:lvl7pPr marL="2069859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7pPr>
      <a:lvl8pPr marL="2388299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8pPr>
      <a:lvl9pPr marL="2706738" indent="-159220" algn="l" defTabSz="636880" rtl="0" eaLnBrk="1" latinLnBrk="0" hangingPunct="1">
        <a:lnSpc>
          <a:spcPct val="90000"/>
        </a:lnSpc>
        <a:spcBef>
          <a:spcPts val="348"/>
        </a:spcBef>
        <a:buFont typeface="Arial" panose="020B0604020202020204" pitchFamily="34" charset="0"/>
        <a:buChar char="•"/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1pPr>
      <a:lvl2pPr marL="318440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2pPr>
      <a:lvl3pPr marL="636880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3pPr>
      <a:lvl4pPr marL="955319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4pPr>
      <a:lvl5pPr marL="1273759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5pPr>
      <a:lvl6pPr marL="1592199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6pPr>
      <a:lvl7pPr marL="1910639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7pPr>
      <a:lvl8pPr marL="2229079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8pPr>
      <a:lvl9pPr marL="2547518" algn="l" defTabSz="636880" rtl="0" eaLnBrk="1" latinLnBrk="0" hangingPunct="1">
        <a:defRPr kumimoji="1" sz="12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4A78B5D-1807-156F-B3EC-2EB49243D39E}"/>
              </a:ext>
            </a:extLst>
          </p:cNvPr>
          <p:cNvSpPr/>
          <p:nvPr/>
        </p:nvSpPr>
        <p:spPr>
          <a:xfrm>
            <a:off x="1" y="435285"/>
            <a:ext cx="27943174" cy="4341502"/>
          </a:xfrm>
          <a:prstGeom prst="rect">
            <a:avLst/>
          </a:prstGeom>
          <a:solidFill>
            <a:schemeClr val="bg1"/>
          </a:solidFill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2E6F23-D4A7-3F59-B3FA-B89AFF7E64CD}"/>
              </a:ext>
            </a:extLst>
          </p:cNvPr>
          <p:cNvSpPr txBox="1"/>
          <p:nvPr/>
        </p:nvSpPr>
        <p:spPr>
          <a:xfrm>
            <a:off x="360430" y="51351"/>
            <a:ext cx="21256924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60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3. </a:t>
            </a:r>
            <a:r>
              <a:rPr kumimoji="1" lang="ja-JP" altLang="en-US" sz="60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問題と目標</a:t>
            </a:r>
            <a:r>
              <a:rPr kumimoji="1" lang="en-US" altLang="ja-JP" sz="60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: </a:t>
            </a:r>
            <a:r>
              <a:rPr kumimoji="1" lang="ja-JP" altLang="en-US" sz="60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物質科学における量子ダイナミクスの課題探索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EB81EAE-4B24-7D6D-D2D0-4A4945930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139" y="1034905"/>
            <a:ext cx="4823606" cy="3623366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FC6D6E-0C06-D4A8-1407-F14C09D3F371}"/>
              </a:ext>
            </a:extLst>
          </p:cNvPr>
          <p:cNvSpPr txBox="1"/>
          <p:nvPr/>
        </p:nvSpPr>
        <p:spPr>
          <a:xfrm>
            <a:off x="360430" y="3022941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b="1" u="sng">
                <a:latin typeface="YUKYOKASHO MEDIUM" panose="02000500000000000000" pitchFamily="2" charset="-128"/>
                <a:ea typeface="YUKYOKASHO MEDIUM" panose="02000500000000000000" pitchFamily="2" charset="-128"/>
              </a:rPr>
              <a:t>目的</a:t>
            </a:r>
            <a:r>
              <a:rPr kumimoji="1" lang="en-US" altLang="ja-JP" sz="3600" b="1" u="sng" dirty="0">
                <a:latin typeface="YUKYOKASHO MEDIUM" panose="02000500000000000000" pitchFamily="2" charset="-128"/>
                <a:ea typeface="YUKYOKASHO MEDIUM" panose="02000500000000000000" pitchFamily="2" charset="-128"/>
              </a:rPr>
              <a:t>:</a:t>
            </a:r>
            <a:endParaRPr kumimoji="1" lang="ja-JP" altLang="en-US" sz="3600" b="1" u="sng">
              <a:latin typeface="YUKYOKASHO MEDIUM" panose="02000500000000000000" pitchFamily="2" charset="-128"/>
              <a:ea typeface="YUKYOKASHO MEDIUM" panose="02000500000000000000" pitchFamily="2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A80A3C-63A8-B87C-4CC9-78175A307B52}"/>
              </a:ext>
            </a:extLst>
          </p:cNvPr>
          <p:cNvSpPr txBox="1"/>
          <p:nvPr/>
        </p:nvSpPr>
        <p:spPr>
          <a:xfrm>
            <a:off x="1775427" y="3181807"/>
            <a:ext cx="2047497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将来の誤り耐性量子計算機の</a:t>
            </a:r>
            <a:r>
              <a:rPr lang="ja-JP" altLang="en-US" sz="320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物質科学への実用的な応用</a:t>
            </a:r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として</a:t>
            </a:r>
            <a:r>
              <a:rPr lang="ja-JP" altLang="en-US" sz="3200" b="1" u="sng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量子ダイナミクス</a:t>
            </a:r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に着目し、</a:t>
            </a:r>
            <a:endParaRPr lang="en-US" altLang="ja-JP" sz="32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lang="en-US" altLang="ja-JP" sz="16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lang="ja-JP" altLang="en-US" sz="3200" u="sng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古典計算機と比べた量子優位性</a:t>
            </a:r>
            <a:r>
              <a:rPr lang="en-US" altLang="ja-JP" sz="3200" u="sng" dirty="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 &amp; </a:t>
            </a:r>
            <a:r>
              <a:rPr lang="ja-JP" altLang="en-US" sz="3200" u="sng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物性物理等における科学的重要性</a:t>
            </a:r>
            <a:r>
              <a:rPr lang="en-US" altLang="ja-JP" sz="3200" dirty="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を両立した具体的ユースケースの探索</a:t>
            </a:r>
            <a:r>
              <a:rPr lang="en-US" altLang="ja-JP" sz="3200" dirty="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  </a:t>
            </a:r>
            <a:endParaRPr lang="ja-JP" altLang="en-US" sz="320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11F9CD1-D9B3-F029-6B71-9C143048954D}"/>
              </a:ext>
            </a:extLst>
          </p:cNvPr>
          <p:cNvSpPr txBox="1"/>
          <p:nvPr/>
        </p:nvSpPr>
        <p:spPr>
          <a:xfrm>
            <a:off x="360430" y="1269095"/>
            <a:ext cx="1261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600" b="1" u="sng">
                <a:latin typeface="YUKYOKASHO MEDIUM" panose="02000500000000000000" pitchFamily="2" charset="-128"/>
                <a:ea typeface="YUKYOKASHO MEDIUM" panose="02000500000000000000" pitchFamily="2" charset="-128"/>
              </a:rPr>
              <a:t>課題</a:t>
            </a:r>
            <a:r>
              <a:rPr kumimoji="1" lang="en-US" altLang="ja-JP" sz="3600" b="1" u="sng" dirty="0">
                <a:latin typeface="YUKYOKASHO MEDIUM" panose="02000500000000000000" pitchFamily="2" charset="-128"/>
                <a:ea typeface="YUKYOKASHO MEDIUM" panose="02000500000000000000" pitchFamily="2" charset="-128"/>
              </a:rPr>
              <a:t>:</a:t>
            </a:r>
            <a:endParaRPr kumimoji="1" lang="ja-JP" altLang="en-US" sz="3600" b="1" u="sng">
              <a:latin typeface="YUKYOKASHO MEDIUM" panose="02000500000000000000" pitchFamily="2" charset="-128"/>
              <a:ea typeface="YUKYOKASHO MEDIUM" panose="02000500000000000000" pitchFamily="2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5091294-B886-D69F-7CFE-CEA3F3742BEB}"/>
              </a:ext>
            </a:extLst>
          </p:cNvPr>
          <p:cNvSpPr txBox="1"/>
          <p:nvPr/>
        </p:nvSpPr>
        <p:spPr>
          <a:xfrm>
            <a:off x="1775427" y="1503651"/>
            <a:ext cx="1425705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量子計算機で従来の古典計算機よりも高速に解けて、</a:t>
            </a:r>
            <a:endParaRPr lang="en-US" altLang="ja-JP" sz="32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endParaRPr lang="en-US" altLang="ja-JP" sz="1600" dirty="0"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lang="ja-JP" altLang="en-US" sz="3200"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なおかつ実用上も重要な問題は何か？</a:t>
            </a:r>
          </a:p>
        </p:txBody>
      </p:sp>
      <p:sp>
        <p:nvSpPr>
          <p:cNvPr id="10" name="右矢印 9">
            <a:extLst>
              <a:ext uri="{FF2B5EF4-FFF2-40B4-BE49-F238E27FC236}">
                <a16:creationId xmlns:a16="http://schemas.microsoft.com/office/drawing/2014/main" id="{49C9CBB4-EC4F-68CB-A74C-0F5470F62455}"/>
              </a:ext>
            </a:extLst>
          </p:cNvPr>
          <p:cNvSpPr/>
          <p:nvPr/>
        </p:nvSpPr>
        <p:spPr>
          <a:xfrm>
            <a:off x="16446466" y="1770498"/>
            <a:ext cx="1361440" cy="911664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7A9D55-DA72-DA3B-1FB5-5E3940295016}"/>
              </a:ext>
            </a:extLst>
          </p:cNvPr>
          <p:cNvSpPr txBox="1"/>
          <p:nvPr/>
        </p:nvSpPr>
        <p:spPr>
          <a:xfrm>
            <a:off x="17889556" y="1564610"/>
            <a:ext cx="461521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320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物質科学</a:t>
            </a:r>
            <a:r>
              <a:rPr lang="en-US" altLang="ja-JP" sz="2000" dirty="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lang="ja-JP" altLang="en-US" sz="200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物性物理</a:t>
            </a:r>
            <a:r>
              <a:rPr lang="en-US" altLang="ja-JP" sz="2000" dirty="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&amp;</a:t>
            </a:r>
            <a:r>
              <a:rPr lang="ja-JP" altLang="en-US" sz="200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量子化学</a:t>
            </a:r>
            <a:r>
              <a:rPr lang="en-US" altLang="ja-JP" sz="2000" dirty="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</a:p>
          <a:p>
            <a:pPr algn="ctr"/>
            <a:endParaRPr lang="en-US" altLang="ja-JP" sz="1600" dirty="0">
              <a:solidFill>
                <a:schemeClr val="accent2"/>
              </a:solidFill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ctr"/>
            <a:r>
              <a:rPr lang="ja-JP" altLang="en-US" sz="3200">
                <a:solidFill>
                  <a:schemeClr val="accent2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が最有力候補の一つ</a:t>
            </a:r>
          </a:p>
        </p:txBody>
      </p:sp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11581</TotalTime>
  <Words>99</Words>
  <Application>Microsoft Macintosh PowerPoint</Application>
  <PresentationFormat>ユーザー設定</PresentationFormat>
  <Paragraphs>12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YuKyokasho Medium</vt:lpstr>
      <vt:lpstr>YuKyokasho Medium</vt:lpstr>
      <vt:lpstr>Arial</vt:lpstr>
      <vt:lpstr>Calibri</vt:lpstr>
      <vt:lpstr>Calibri Light</vt:lpstr>
      <vt:lpstr>Times New Roman</vt:lpstr>
      <vt:lpstr>Office 2013 - 2022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15</cp:revision>
  <dcterms:created xsi:type="dcterms:W3CDTF">2023-12-08T07:40:41Z</dcterms:created>
  <dcterms:modified xsi:type="dcterms:W3CDTF">2026-02-12T06:35:58Z</dcterms:modified>
</cp:coreProperties>
</file>