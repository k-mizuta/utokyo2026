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3506450" cy="11091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71" userDrawn="1">
          <p15:clr>
            <a:srgbClr val="A4A3A4"/>
          </p15:clr>
        </p15:guide>
        <p15:guide id="2" pos="42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19"/>
    <p:restoredTop sz="96327"/>
  </p:normalViewPr>
  <p:slideViewPr>
    <p:cSldViewPr snapToGrid="0" showGuides="1">
      <p:cViewPr varScale="1">
        <p:scale>
          <a:sx n="76" d="100"/>
          <a:sy n="76" d="100"/>
        </p:scale>
        <p:origin x="2568" y="208"/>
      </p:cViewPr>
      <p:guideLst>
        <p:guide orient="horz" pos="3471"/>
        <p:guide pos="42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2984" y="1815266"/>
            <a:ext cx="11480483" cy="3861612"/>
          </a:xfrm>
        </p:spPr>
        <p:txBody>
          <a:bodyPr anchor="b"/>
          <a:lstStyle>
            <a:lvl1pPr algn="ctr"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8306" y="5825797"/>
            <a:ext cx="10129838" cy="2677965"/>
          </a:xfrm>
        </p:spPr>
        <p:txBody>
          <a:bodyPr/>
          <a:lstStyle>
            <a:lvl1pPr marL="0" indent="0" algn="ctr">
              <a:buNone/>
              <a:defRPr sz="3545"/>
            </a:lvl1pPr>
            <a:lvl2pPr marL="675330" indent="0" algn="ctr">
              <a:buNone/>
              <a:defRPr sz="2954"/>
            </a:lvl2pPr>
            <a:lvl3pPr marL="1350660" indent="0" algn="ctr">
              <a:buNone/>
              <a:defRPr sz="2659"/>
            </a:lvl3pPr>
            <a:lvl4pPr marL="2025990" indent="0" algn="ctr">
              <a:buNone/>
              <a:defRPr sz="2363"/>
            </a:lvl4pPr>
            <a:lvl5pPr marL="2701320" indent="0" algn="ctr">
              <a:buNone/>
              <a:defRPr sz="2363"/>
            </a:lvl5pPr>
            <a:lvl6pPr marL="3376651" indent="0" algn="ctr">
              <a:buNone/>
              <a:defRPr sz="2363"/>
            </a:lvl6pPr>
            <a:lvl7pPr marL="4051981" indent="0" algn="ctr">
              <a:buNone/>
              <a:defRPr sz="2363"/>
            </a:lvl7pPr>
            <a:lvl8pPr marL="4727311" indent="0" algn="ctr">
              <a:buNone/>
              <a:defRPr sz="2363"/>
            </a:lvl8pPr>
            <a:lvl9pPr marL="5402641" indent="0" algn="ctr">
              <a:buNone/>
              <a:defRPr sz="236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448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535" y="2765266"/>
            <a:ext cx="11649313" cy="4613906"/>
          </a:xfrm>
        </p:spPr>
        <p:txBody>
          <a:bodyPr anchor="b"/>
          <a:lstStyle>
            <a:lvl1pPr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535" y="7422822"/>
            <a:ext cx="11649313" cy="2426344"/>
          </a:xfrm>
        </p:spPr>
        <p:txBody>
          <a:bodyPr/>
          <a:lstStyle>
            <a:lvl1pPr marL="0" indent="0">
              <a:buNone/>
              <a:defRPr sz="3545">
                <a:solidFill>
                  <a:schemeClr val="tx1"/>
                </a:solidFill>
              </a:defRPr>
            </a:lvl1pPr>
            <a:lvl2pPr marL="675330" indent="0">
              <a:buNone/>
              <a:defRPr sz="2954">
                <a:solidFill>
                  <a:schemeClr val="tx1">
                    <a:tint val="75000"/>
                  </a:schemeClr>
                </a:solidFill>
              </a:defRPr>
            </a:lvl2pPr>
            <a:lvl3pPr marL="1350660" indent="0">
              <a:buNone/>
              <a:defRPr sz="2659">
                <a:solidFill>
                  <a:schemeClr val="tx1">
                    <a:tint val="75000"/>
                  </a:schemeClr>
                </a:solidFill>
              </a:defRPr>
            </a:lvl3pPr>
            <a:lvl4pPr marL="202599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4pPr>
            <a:lvl5pPr marL="270132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5pPr>
            <a:lvl6pPr marL="337665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6pPr>
            <a:lvl7pPr marL="405198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7pPr>
            <a:lvl8pPr marL="472731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8pPr>
            <a:lvl9pPr marL="540264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5931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8569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37640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54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8" y="590541"/>
            <a:ext cx="11649313" cy="214391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0329" y="2719048"/>
            <a:ext cx="5713861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0329" y="4051611"/>
            <a:ext cx="5713861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37641" y="2719048"/>
            <a:ext cx="5742000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37641" y="4051611"/>
            <a:ext cx="5742000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1587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0090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6509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2001" y="1597025"/>
            <a:ext cx="6837640" cy="7882412"/>
          </a:xfrm>
        </p:spPr>
        <p:txBody>
          <a:bodyPr/>
          <a:lstStyle>
            <a:lvl1pPr>
              <a:defRPr sz="4727"/>
            </a:lvl1pPr>
            <a:lvl2pPr>
              <a:defRPr sz="4136"/>
            </a:lvl2pPr>
            <a:lvl3pPr>
              <a:defRPr sz="3545"/>
            </a:lvl3pPr>
            <a:lvl4pPr>
              <a:defRPr sz="2954"/>
            </a:lvl4pPr>
            <a:lvl5pPr>
              <a:defRPr sz="2954"/>
            </a:lvl5pPr>
            <a:lvl6pPr>
              <a:defRPr sz="2954"/>
            </a:lvl6pPr>
            <a:lvl7pPr>
              <a:defRPr sz="2954"/>
            </a:lvl7pPr>
            <a:lvl8pPr>
              <a:defRPr sz="2954"/>
            </a:lvl8pPr>
            <a:lvl9pPr>
              <a:defRPr sz="29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075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42001" y="1597025"/>
            <a:ext cx="6837640" cy="7882412"/>
          </a:xfrm>
        </p:spPr>
        <p:txBody>
          <a:bodyPr anchor="t"/>
          <a:lstStyle>
            <a:lvl1pPr marL="0" indent="0">
              <a:buNone/>
              <a:defRPr sz="4727"/>
            </a:lvl1pPr>
            <a:lvl2pPr marL="675330" indent="0">
              <a:buNone/>
              <a:defRPr sz="4136"/>
            </a:lvl2pPr>
            <a:lvl3pPr marL="1350660" indent="0">
              <a:buNone/>
              <a:defRPr sz="3545"/>
            </a:lvl3pPr>
            <a:lvl4pPr marL="2025990" indent="0">
              <a:buNone/>
              <a:defRPr sz="2954"/>
            </a:lvl4pPr>
            <a:lvl5pPr marL="2701320" indent="0">
              <a:buNone/>
              <a:defRPr sz="2954"/>
            </a:lvl5pPr>
            <a:lvl6pPr marL="3376651" indent="0">
              <a:buNone/>
              <a:defRPr sz="2954"/>
            </a:lvl6pPr>
            <a:lvl7pPr marL="4051981" indent="0">
              <a:buNone/>
              <a:defRPr sz="2954"/>
            </a:lvl7pPr>
            <a:lvl8pPr marL="4727311" indent="0">
              <a:buNone/>
              <a:defRPr sz="2954"/>
            </a:lvl8pPr>
            <a:lvl9pPr marL="5402641" indent="0">
              <a:buNone/>
              <a:defRPr sz="2954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43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765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65554" y="590539"/>
            <a:ext cx="2912328" cy="939984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8569" y="590539"/>
            <a:ext cx="8568154" cy="939984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5608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28569" y="590541"/>
            <a:ext cx="11649313" cy="2143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8569" y="2952695"/>
            <a:ext cx="11649313" cy="7037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8569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74012" y="10280516"/>
            <a:ext cx="4558427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38930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049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50660" rtl="0" eaLnBrk="1" latinLnBrk="0" hangingPunct="1">
        <a:lnSpc>
          <a:spcPct val="90000"/>
        </a:lnSpc>
        <a:spcBef>
          <a:spcPct val="0"/>
        </a:spcBef>
        <a:buNone/>
        <a:defRPr kumimoji="1" sz="64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665" indent="-337665" algn="l" defTabSz="1350660" rtl="0" eaLnBrk="1" latinLnBrk="0" hangingPunct="1">
        <a:lnSpc>
          <a:spcPct val="90000"/>
        </a:lnSpc>
        <a:spcBef>
          <a:spcPts val="1477"/>
        </a:spcBef>
        <a:buFont typeface="Arial" panose="020B0604020202020204" pitchFamily="34" charset="0"/>
        <a:buChar char="•"/>
        <a:defRPr kumimoji="1" sz="4136" kern="1200">
          <a:solidFill>
            <a:schemeClr val="tx1"/>
          </a:solidFill>
          <a:latin typeface="+mn-lt"/>
          <a:ea typeface="+mn-ea"/>
          <a:cs typeface="+mn-cs"/>
        </a:defRPr>
      </a:lvl1pPr>
      <a:lvl2pPr marL="101299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68832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954" kern="1200">
          <a:solidFill>
            <a:schemeClr val="tx1"/>
          </a:solidFill>
          <a:latin typeface="+mn-lt"/>
          <a:ea typeface="+mn-ea"/>
          <a:cs typeface="+mn-cs"/>
        </a:defRPr>
      </a:lvl3pPr>
      <a:lvl4pPr marL="236365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303898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71431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38964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506497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74030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1pPr>
      <a:lvl2pPr marL="67533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2pPr>
      <a:lvl3pPr marL="135066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3pPr>
      <a:lvl4pPr marL="202599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270132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37665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05198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472731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40264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emf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114D529-7536-46C5-E9DE-BE33B7A7F1B5}"/>
              </a:ext>
            </a:extLst>
          </p:cNvPr>
          <p:cNvSpPr/>
          <p:nvPr/>
        </p:nvSpPr>
        <p:spPr>
          <a:xfrm>
            <a:off x="0" y="921184"/>
            <a:ext cx="13506450" cy="10171519"/>
          </a:xfrm>
          <a:prstGeom prst="rect">
            <a:avLst/>
          </a:prstGeom>
          <a:solidFill>
            <a:schemeClr val="bg1"/>
          </a:solidFill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36CE10B-F58E-E3AC-9505-E5714E0588D4}"/>
              </a:ext>
            </a:extLst>
          </p:cNvPr>
          <p:cNvSpPr txBox="1"/>
          <p:nvPr/>
        </p:nvSpPr>
        <p:spPr>
          <a:xfrm>
            <a:off x="473529" y="409386"/>
            <a:ext cx="10262204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60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1. </a:t>
            </a:r>
            <a:r>
              <a:rPr kumimoji="1" lang="ja-JP" altLang="en-US" sz="60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導入</a:t>
            </a:r>
            <a:r>
              <a:rPr kumimoji="1" lang="en-US" altLang="ja-JP" sz="60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: Hamiltonian simulation</a:t>
            </a:r>
            <a:endParaRPr kumimoji="1" lang="ja-JP" altLang="en-US" sz="6000">
              <a:solidFill>
                <a:srgbClr val="002060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7632F1-BC98-F470-4FDD-C38518D811C3}"/>
              </a:ext>
            </a:extLst>
          </p:cNvPr>
          <p:cNvSpPr txBox="1"/>
          <p:nvPr/>
        </p:nvSpPr>
        <p:spPr>
          <a:xfrm>
            <a:off x="310718" y="1774492"/>
            <a:ext cx="4584909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Hamiltonian simulation</a:t>
            </a:r>
            <a:endParaRPr kumimoji="1" lang="ja-JP" altLang="en-US" sz="32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7777F4B-F770-8B6C-2A0A-A9A20707EDCD}"/>
              </a:ext>
            </a:extLst>
          </p:cNvPr>
          <p:cNvSpPr txBox="1"/>
          <p:nvPr/>
        </p:nvSpPr>
        <p:spPr>
          <a:xfrm>
            <a:off x="669870" y="2651487"/>
            <a:ext cx="7128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Schrodinger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方程式を解く量子アルゴリズム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945936-EB80-7E9A-7B4C-F4BFF1B714C9}"/>
              </a:ext>
            </a:extLst>
          </p:cNvPr>
          <p:cNvSpPr txBox="1"/>
          <p:nvPr/>
        </p:nvSpPr>
        <p:spPr>
          <a:xfrm>
            <a:off x="908927" y="5708605"/>
            <a:ext cx="7981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古典計算機と比較した指数的な計算時間の短縮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20CC3B5-0955-7348-501D-C58D931CD500}"/>
              </a:ext>
            </a:extLst>
          </p:cNvPr>
          <p:cNvSpPr txBox="1"/>
          <p:nvPr/>
        </p:nvSpPr>
        <p:spPr>
          <a:xfrm>
            <a:off x="908927" y="8616892"/>
            <a:ext cx="99792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固有値計算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量子位相推定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などのサブルーチンとしても重要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76F16856-4E3E-7C35-6A0A-BEDBD57B2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072" y="3638605"/>
            <a:ext cx="10479779" cy="1531376"/>
          </a:xfrm>
          <a:prstGeom prst="rect">
            <a:avLst/>
          </a:prstGeom>
        </p:spPr>
      </p:pic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CFEF1D1A-7BDC-2AFD-04FF-880F30FDC09B}"/>
              </a:ext>
            </a:extLst>
          </p:cNvPr>
          <p:cNvSpPr txBox="1"/>
          <p:nvPr/>
        </p:nvSpPr>
        <p:spPr>
          <a:xfrm>
            <a:off x="661607" y="9574481"/>
            <a:ext cx="12166707" cy="11079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量子優位性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&amp;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物質科学への実用性を両立する</a:t>
            </a:r>
            <a:endParaRPr kumimoji="1" lang="en-US" altLang="ja-JP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kumimoji="1" lang="en-US" altLang="ja-JP" sz="10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誤り耐性量子計算機の最も基本的なタスクの一つ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7640B02-BB74-8E11-DECB-5A9C93DD4FED}"/>
              </a:ext>
            </a:extLst>
          </p:cNvPr>
          <p:cNvSpPr/>
          <p:nvPr/>
        </p:nvSpPr>
        <p:spPr>
          <a:xfrm>
            <a:off x="1587677" y="4535747"/>
            <a:ext cx="1682369" cy="5923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6AEC31C-1451-991E-98F6-B49C1F746FEF}"/>
              </a:ext>
            </a:extLst>
          </p:cNvPr>
          <p:cNvSpPr/>
          <p:nvPr/>
        </p:nvSpPr>
        <p:spPr>
          <a:xfrm>
            <a:off x="5223256" y="4480695"/>
            <a:ext cx="2880587" cy="5923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3A0DFAB5-FE8E-C286-E950-5941B07B9F94}"/>
                  </a:ext>
                </a:extLst>
              </p:cNvPr>
              <p:cNvSpPr txBox="1"/>
              <p:nvPr/>
            </p:nvSpPr>
            <p:spPr>
              <a:xfrm>
                <a:off x="1619051" y="4641033"/>
                <a:ext cx="165099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kumimoji="1" lang="en-US" altLang="ja-JP" sz="2000" b="0" dirty="0">
                    <a:latin typeface="Cambria Math" panose="020405030504060302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-</a:t>
                </a:r>
                <a:r>
                  <a:rPr kumimoji="1" lang="en-US" altLang="ja-JP" sz="2000" b="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qubit state</a:t>
                </a:r>
                <a:endParaRPr kumimoji="1" lang="en-US" altLang="ja-JP" sz="2000" b="0" i="1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3A0DFAB5-FE8E-C286-E950-5941B07B9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051" y="4641033"/>
                <a:ext cx="1650995" cy="400110"/>
              </a:xfrm>
              <a:prstGeom prst="rect">
                <a:avLst/>
              </a:prstGeom>
              <a:blipFill>
                <a:blip r:embed="rId3"/>
                <a:stretch>
                  <a:fillRect t="-9375" b="-281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8FF5F459-7AE5-7CB3-632C-321CEFD81C03}"/>
                  </a:ext>
                </a:extLst>
              </p:cNvPr>
              <p:cNvSpPr txBox="1"/>
              <p:nvPr/>
            </p:nvSpPr>
            <p:spPr>
              <a:xfrm>
                <a:off x="5310362" y="4451434"/>
                <a:ext cx="159526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2000" b="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Solution at time </a:t>
                </a:r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endParaRPr kumimoji="1" lang="en-US" altLang="ja-JP" sz="2000" b="0" i="1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8FF5F459-7AE5-7CB3-632C-321CEFD81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0362" y="4451434"/>
                <a:ext cx="1595263" cy="707886"/>
              </a:xfrm>
              <a:prstGeom prst="rect">
                <a:avLst/>
              </a:prstGeom>
              <a:blipFill>
                <a:blip r:embed="rId4"/>
                <a:stretch>
                  <a:fillRect t="-3509" b="-140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C2910CB-6866-90CC-3A7F-2444402F28DD}"/>
              </a:ext>
            </a:extLst>
          </p:cNvPr>
          <p:cNvSpPr txBox="1"/>
          <p:nvPr/>
        </p:nvSpPr>
        <p:spPr>
          <a:xfrm>
            <a:off x="7294789" y="4605322"/>
            <a:ext cx="15952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Small error</a:t>
            </a:r>
            <a:endParaRPr kumimoji="1" lang="en-US" altLang="ja-JP" sz="2000" b="0" i="1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39BA4EF-9EE5-5681-6271-AF681D7C3128}"/>
              </a:ext>
            </a:extLst>
          </p:cNvPr>
          <p:cNvSpPr txBox="1"/>
          <p:nvPr/>
        </p:nvSpPr>
        <p:spPr>
          <a:xfrm>
            <a:off x="908927" y="6802568"/>
            <a:ext cx="7981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-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量子物質の実時間ダイナミクスなどの応用</a:t>
            </a:r>
            <a:endParaRPr kumimoji="1" lang="ja-JP" altLang="en-US" sz="2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01C8B6E6-955D-6C9A-E9DD-D11D2FB18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0585" y="6951075"/>
            <a:ext cx="3946525" cy="150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96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133</TotalTime>
  <Words>84</Words>
  <Application>Microsoft Macintosh PowerPoint</Application>
  <PresentationFormat>ユーザー設定</PresentationFormat>
  <Paragraphs>12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13</cp:revision>
  <dcterms:created xsi:type="dcterms:W3CDTF">2023-12-08T07:40:41Z</dcterms:created>
  <dcterms:modified xsi:type="dcterms:W3CDTF">2026-02-12T04:39:25Z</dcterms:modified>
</cp:coreProperties>
</file>