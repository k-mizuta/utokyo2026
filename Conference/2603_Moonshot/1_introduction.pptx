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3506450" cy="11091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71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19"/>
    <p:restoredTop sz="96327"/>
  </p:normalViewPr>
  <p:slideViewPr>
    <p:cSldViewPr snapToGrid="0" showGuides="1">
      <p:cViewPr varScale="1">
        <p:scale>
          <a:sx n="76" d="100"/>
          <a:sy n="76" d="100"/>
        </p:scale>
        <p:origin x="2568" y="208"/>
      </p:cViewPr>
      <p:guideLst>
        <p:guide orient="horz" pos="3471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984" y="1815266"/>
            <a:ext cx="11480483" cy="3861612"/>
          </a:xfrm>
        </p:spPr>
        <p:txBody>
          <a:bodyPr anchor="b"/>
          <a:lstStyle>
            <a:lvl1pPr algn="ctr"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5825797"/>
            <a:ext cx="10129838" cy="2677965"/>
          </a:xfrm>
        </p:spPr>
        <p:txBody>
          <a:bodyPr/>
          <a:lstStyle>
            <a:lvl1pPr marL="0" indent="0" algn="ctr">
              <a:buNone/>
              <a:defRPr sz="3545"/>
            </a:lvl1pPr>
            <a:lvl2pPr marL="675330" indent="0" algn="ctr">
              <a:buNone/>
              <a:defRPr sz="2954"/>
            </a:lvl2pPr>
            <a:lvl3pPr marL="1350660" indent="0" algn="ctr">
              <a:buNone/>
              <a:defRPr sz="2659"/>
            </a:lvl3pPr>
            <a:lvl4pPr marL="2025990" indent="0" algn="ctr">
              <a:buNone/>
              <a:defRPr sz="2363"/>
            </a:lvl4pPr>
            <a:lvl5pPr marL="2701320" indent="0" algn="ctr">
              <a:buNone/>
              <a:defRPr sz="2363"/>
            </a:lvl5pPr>
            <a:lvl6pPr marL="3376651" indent="0" algn="ctr">
              <a:buNone/>
              <a:defRPr sz="2363"/>
            </a:lvl6pPr>
            <a:lvl7pPr marL="4051981" indent="0" algn="ctr">
              <a:buNone/>
              <a:defRPr sz="2363"/>
            </a:lvl7pPr>
            <a:lvl8pPr marL="4727311" indent="0" algn="ctr">
              <a:buNone/>
              <a:defRPr sz="2363"/>
            </a:lvl8pPr>
            <a:lvl9pPr marL="5402641" indent="0" algn="ctr">
              <a:buNone/>
              <a:defRPr sz="236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44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4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5" y="2765266"/>
            <a:ext cx="11649313" cy="4613906"/>
          </a:xfrm>
        </p:spPr>
        <p:txBody>
          <a:bodyPr anchor="b"/>
          <a:lstStyle>
            <a:lvl1pPr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5" y="7422822"/>
            <a:ext cx="11649313" cy="2426344"/>
          </a:xfrm>
        </p:spPr>
        <p:txBody>
          <a:bodyPr/>
          <a:lstStyle>
            <a:lvl1pPr marL="0" indent="0">
              <a:buNone/>
              <a:defRPr sz="3545">
                <a:solidFill>
                  <a:schemeClr val="tx1"/>
                </a:solidFill>
              </a:defRPr>
            </a:lvl1pPr>
            <a:lvl2pPr marL="675330" indent="0">
              <a:buNone/>
              <a:defRPr sz="2954">
                <a:solidFill>
                  <a:schemeClr val="tx1">
                    <a:tint val="75000"/>
                  </a:schemeClr>
                </a:solidFill>
              </a:defRPr>
            </a:lvl2pPr>
            <a:lvl3pPr marL="1350660" indent="0">
              <a:buNone/>
              <a:defRPr sz="2659">
                <a:solidFill>
                  <a:schemeClr val="tx1">
                    <a:tint val="75000"/>
                  </a:schemeClr>
                </a:solidFill>
              </a:defRPr>
            </a:lvl3pPr>
            <a:lvl4pPr marL="202599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4pPr>
            <a:lvl5pPr marL="270132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5pPr>
            <a:lvl6pPr marL="337665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6pPr>
            <a:lvl7pPr marL="405198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7pPr>
            <a:lvl8pPr marL="472731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8pPr>
            <a:lvl9pPr marL="540264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593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2952695"/>
            <a:ext cx="5740241" cy="703768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2952695"/>
            <a:ext cx="5740241" cy="703768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54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590541"/>
            <a:ext cx="11649313" cy="214391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9" y="2719048"/>
            <a:ext cx="5713861" cy="1332563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9" y="4051611"/>
            <a:ext cx="5713861" cy="595931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2719048"/>
            <a:ext cx="5742000" cy="1332563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4051611"/>
            <a:ext cx="5742000" cy="595931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158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090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50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39458"/>
            <a:ext cx="4356182" cy="2588101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1597025"/>
            <a:ext cx="6837640" cy="7882412"/>
          </a:xfrm>
        </p:spPr>
        <p:txBody>
          <a:bodyPr/>
          <a:lstStyle>
            <a:lvl1pPr>
              <a:defRPr sz="4727"/>
            </a:lvl1pPr>
            <a:lvl2pPr>
              <a:defRPr sz="4136"/>
            </a:lvl2pPr>
            <a:lvl3pPr>
              <a:defRPr sz="3545"/>
            </a:lvl3pPr>
            <a:lvl4pPr>
              <a:defRPr sz="2954"/>
            </a:lvl4pPr>
            <a:lvl5pPr>
              <a:defRPr sz="2954"/>
            </a:lvl5pPr>
            <a:lvl6pPr>
              <a:defRPr sz="2954"/>
            </a:lvl6pPr>
            <a:lvl7pPr>
              <a:defRPr sz="2954"/>
            </a:lvl7pPr>
            <a:lvl8pPr>
              <a:defRPr sz="2954"/>
            </a:lvl8pPr>
            <a:lvl9pPr>
              <a:defRPr sz="29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327559"/>
            <a:ext cx="4356182" cy="6164714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07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39458"/>
            <a:ext cx="4356182" cy="2588101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1597025"/>
            <a:ext cx="6837640" cy="7882412"/>
          </a:xfrm>
        </p:spPr>
        <p:txBody>
          <a:bodyPr anchor="t"/>
          <a:lstStyle>
            <a:lvl1pPr marL="0" indent="0">
              <a:buNone/>
              <a:defRPr sz="4727"/>
            </a:lvl1pPr>
            <a:lvl2pPr marL="675330" indent="0">
              <a:buNone/>
              <a:defRPr sz="4136"/>
            </a:lvl2pPr>
            <a:lvl3pPr marL="1350660" indent="0">
              <a:buNone/>
              <a:defRPr sz="3545"/>
            </a:lvl3pPr>
            <a:lvl4pPr marL="2025990" indent="0">
              <a:buNone/>
              <a:defRPr sz="2954"/>
            </a:lvl4pPr>
            <a:lvl5pPr marL="2701320" indent="0">
              <a:buNone/>
              <a:defRPr sz="2954"/>
            </a:lvl5pPr>
            <a:lvl6pPr marL="3376651" indent="0">
              <a:buNone/>
              <a:defRPr sz="2954"/>
            </a:lvl6pPr>
            <a:lvl7pPr marL="4051981" indent="0">
              <a:buNone/>
              <a:defRPr sz="2954"/>
            </a:lvl7pPr>
            <a:lvl8pPr marL="4727311" indent="0">
              <a:buNone/>
              <a:defRPr sz="2954"/>
            </a:lvl8pPr>
            <a:lvl9pPr marL="5402641" indent="0">
              <a:buNone/>
              <a:defRPr sz="2954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327559"/>
            <a:ext cx="4356182" cy="6164714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4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65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4" y="590539"/>
            <a:ext cx="2912328" cy="939984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590539"/>
            <a:ext cx="8568154" cy="939984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60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590541"/>
            <a:ext cx="11649313" cy="2143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2952695"/>
            <a:ext cx="11649313" cy="7037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10280516"/>
            <a:ext cx="3038951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10280516"/>
            <a:ext cx="4558427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10280516"/>
            <a:ext cx="3038951" cy="5905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04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660" rtl="0" eaLnBrk="1" latinLnBrk="0" hangingPunct="1">
        <a:lnSpc>
          <a:spcPct val="90000"/>
        </a:lnSpc>
        <a:spcBef>
          <a:spcPct val="0"/>
        </a:spcBef>
        <a:buNone/>
        <a:defRPr kumimoji="1" sz="6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65" indent="-337665" algn="l" defTabSz="1350660" rtl="0" eaLnBrk="1" latinLnBrk="0" hangingPunct="1">
        <a:lnSpc>
          <a:spcPct val="90000"/>
        </a:lnSpc>
        <a:spcBef>
          <a:spcPts val="1477"/>
        </a:spcBef>
        <a:buFont typeface="Arial" panose="020B0604020202020204" pitchFamily="34" charset="0"/>
        <a:buChar char="•"/>
        <a:defRPr kumimoji="1" sz="4136" kern="1200">
          <a:solidFill>
            <a:schemeClr val="tx1"/>
          </a:solidFill>
          <a:latin typeface="+mn-lt"/>
          <a:ea typeface="+mn-ea"/>
          <a:cs typeface="+mn-cs"/>
        </a:defRPr>
      </a:lvl1pPr>
      <a:lvl2pPr marL="101299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68832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236365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303898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71431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38964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506497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74030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1pPr>
      <a:lvl2pPr marL="67533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2pPr>
      <a:lvl3pPr marL="135066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3pPr>
      <a:lvl4pPr marL="202599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270132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37665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05198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472731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40264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emf"/><Relationship Id="rId5" Type="http://schemas.openxmlformats.org/officeDocument/2006/relationships/image" Target="../media/image4.png"/><Relationship Id="rId10" Type="http://schemas.openxmlformats.org/officeDocument/2006/relationships/image" Target="../media/image9.emf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114D529-7536-46C5-E9DE-BE33B7A7F1B5}"/>
              </a:ext>
            </a:extLst>
          </p:cNvPr>
          <p:cNvSpPr/>
          <p:nvPr/>
        </p:nvSpPr>
        <p:spPr>
          <a:xfrm>
            <a:off x="0" y="840"/>
            <a:ext cx="13506450" cy="110918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822BFE0-5368-A0E5-CD70-2BF6856F521D}"/>
              </a:ext>
            </a:extLst>
          </p:cNvPr>
          <p:cNvSpPr/>
          <p:nvPr/>
        </p:nvSpPr>
        <p:spPr>
          <a:xfrm>
            <a:off x="0" y="-1"/>
            <a:ext cx="13506449" cy="19267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36CE10B-F58E-E3AC-9505-E5714E0588D4}"/>
              </a:ext>
            </a:extLst>
          </p:cNvPr>
          <p:cNvSpPr txBox="1"/>
          <p:nvPr/>
        </p:nvSpPr>
        <p:spPr>
          <a:xfrm>
            <a:off x="473529" y="409386"/>
            <a:ext cx="111850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600" dirty="0">
                <a:solidFill>
                  <a:schemeClr val="bg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1. Intro: Hamiltonian simulation</a:t>
            </a:r>
            <a:endParaRPr kumimoji="1" lang="ja-JP" altLang="en-US" sz="6600">
              <a:solidFill>
                <a:schemeClr val="bg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57632F1-BC98-F470-4FDD-C38518D811C3}"/>
              </a:ext>
            </a:extLst>
          </p:cNvPr>
          <p:cNvSpPr txBox="1"/>
          <p:nvPr/>
        </p:nvSpPr>
        <p:spPr>
          <a:xfrm>
            <a:off x="310718" y="2163958"/>
            <a:ext cx="4584909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Hamiltonian simulation</a:t>
            </a:r>
            <a:endParaRPr kumimoji="1" lang="ja-JP" altLang="en-US" sz="32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7777F4B-F770-8B6C-2A0A-A9A20707EDCD}"/>
              </a:ext>
            </a:extLst>
          </p:cNvPr>
          <p:cNvSpPr txBox="1"/>
          <p:nvPr/>
        </p:nvSpPr>
        <p:spPr>
          <a:xfrm>
            <a:off x="5029815" y="2198597"/>
            <a:ext cx="8300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Solve Schrodinger equation with quantum computers</a:t>
            </a:r>
            <a:endParaRPr kumimoji="1" lang="ja-JP" altLang="en-US" sz="28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4945936-EB80-7E9A-7B4C-F4BFF1B714C9}"/>
              </a:ext>
            </a:extLst>
          </p:cNvPr>
          <p:cNvSpPr txBox="1"/>
          <p:nvPr/>
        </p:nvSpPr>
        <p:spPr>
          <a:xfrm>
            <a:off x="1154899" y="4895906"/>
            <a:ext cx="4314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- Potential exp. speedup</a:t>
            </a:r>
            <a:endParaRPr kumimoji="1" lang="ja-JP" altLang="en-US" sz="28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20CC3B5-0955-7348-501D-C58D931CD500}"/>
              </a:ext>
            </a:extLst>
          </p:cNvPr>
          <p:cNvSpPr txBox="1"/>
          <p:nvPr/>
        </p:nvSpPr>
        <p:spPr>
          <a:xfrm>
            <a:off x="6735087" y="4895906"/>
            <a:ext cx="5939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- Application to physics &amp; chemistry</a:t>
            </a:r>
            <a:endParaRPr kumimoji="1" lang="ja-JP" altLang="en-US" sz="28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76F16856-4E3E-7C35-6A0A-BEDBD57B2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72" y="3181402"/>
            <a:ext cx="10479779" cy="1531376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C104D4A-A02E-6343-036B-8B6105CF02F5}"/>
              </a:ext>
            </a:extLst>
          </p:cNvPr>
          <p:cNvSpPr txBox="1"/>
          <p:nvPr/>
        </p:nvSpPr>
        <p:spPr>
          <a:xfrm>
            <a:off x="380423" y="6901577"/>
            <a:ext cx="5341527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Various quantum algorithms</a:t>
            </a:r>
            <a:endParaRPr kumimoji="1" lang="ja-JP" altLang="en-US" sz="32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CFEF1D1A-7BDC-2AFD-04FF-880F30FDC09B}"/>
                  </a:ext>
                </a:extLst>
              </p:cNvPr>
              <p:cNvSpPr txBox="1"/>
              <p:nvPr/>
            </p:nvSpPr>
            <p:spPr>
              <a:xfrm>
                <a:off x="669870" y="5663790"/>
                <a:ext cx="12166707" cy="95410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Goal: What is the </a:t>
                </a:r>
                <a:r>
                  <a:rPr kumimoji="1" lang="en-US" altLang="ja-JP" sz="2800" b="1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fastest</a:t>
                </a:r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quantum algorithm </a:t>
                </a:r>
              </a:p>
              <a:p>
                <a:pPr algn="ctr"/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achieving the best scaling in size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, time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, and error </a:t>
                </a:r>
                <a14:m>
                  <m:oMath xmlns:m="http://schemas.openxmlformats.org/officeDocument/2006/math">
                    <m:r>
                      <a:rPr kumimoji="1" lang="en-US" altLang="ja-JP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?</a:t>
                </a:r>
                <a:endParaRPr kumimoji="1" lang="ja-JP" altLang="en-US" sz="28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CFEF1D1A-7BDC-2AFD-04FF-880F30FDC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70" y="5663790"/>
                <a:ext cx="12166707" cy="954107"/>
              </a:xfrm>
              <a:prstGeom prst="rect">
                <a:avLst/>
              </a:prstGeom>
              <a:blipFill>
                <a:blip r:embed="rId3"/>
                <a:stretch>
                  <a:fillRect t="-6494" b="-168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1C07601-6A8C-CECE-12F4-8C5B8C2B2151}"/>
              </a:ext>
            </a:extLst>
          </p:cNvPr>
          <p:cNvSpPr txBox="1"/>
          <p:nvPr/>
        </p:nvSpPr>
        <p:spPr>
          <a:xfrm>
            <a:off x="310718" y="7621539"/>
            <a:ext cx="3790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[Product formula (PF)]</a:t>
            </a:r>
            <a:endParaRPr kumimoji="1" lang="ja-JP" altLang="en-US" sz="28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F7D193F7-43D0-00A9-9A18-57238A23E44A}"/>
              </a:ext>
            </a:extLst>
          </p:cNvPr>
          <p:cNvGrpSpPr/>
          <p:nvPr/>
        </p:nvGrpSpPr>
        <p:grpSpPr>
          <a:xfrm>
            <a:off x="1231454" y="8081114"/>
            <a:ext cx="4314329" cy="1012368"/>
            <a:chOff x="1841818" y="8235723"/>
            <a:chExt cx="4314329" cy="1012368"/>
          </a:xfrm>
        </p:grpSpPr>
        <p:pic>
          <p:nvPicPr>
            <p:cNvPr id="88" name="Picture 10" descr="\begin{align*}&#10;  T_p(\tau) \equiv \prod_{v=1}^{c_p\Gamma} e^{-iH_{\gamma_v} \alpha_v \tau} \\&#10;  = e^{-iH\tau} + \mathcal{O}(\tau^{p+1})&#10;\end{align*}">
              <a:extLst>
                <a:ext uri="{FF2B5EF4-FFF2-40B4-BE49-F238E27FC236}">
                  <a16:creationId xmlns:a16="http://schemas.microsoft.com/office/drawing/2014/main" id="{52FD1043-9DE2-7DF0-7BD9-B121F0562A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523" b="40129"/>
            <a:stretch>
              <a:fillRect/>
            </a:stretch>
          </p:blipFill>
          <p:spPr bwMode="auto">
            <a:xfrm>
              <a:off x="1841818" y="8235723"/>
              <a:ext cx="851363" cy="1012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10" descr="\begin{align*}&#10;  T_p(\tau) \equiv \prod_{v=1}^{c_p\Gamma} e^{-iH_{\gamma_v} \alpha_v \tau} \\&#10;  = e^{-iH\tau} + \mathcal{O}(\tau^{p+1})&#10;\end{align*}">
              <a:extLst>
                <a:ext uri="{FF2B5EF4-FFF2-40B4-BE49-F238E27FC236}">
                  <a16:creationId xmlns:a16="http://schemas.microsoft.com/office/drawing/2014/main" id="{68B9E1CD-2074-8742-918B-37FF5FFC0A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106" b="-8017"/>
            <a:stretch/>
          </p:blipFill>
          <p:spPr bwMode="auto">
            <a:xfrm>
              <a:off x="2365288" y="8493988"/>
              <a:ext cx="3790859" cy="6618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" name="Picture 4" descr="\begin{align*}&#10;  T_1(\tau) = e^{-iH_2\tau}e^{-iH_1\tau}&#10;\end{align*}">
            <a:extLst>
              <a:ext uri="{FF2B5EF4-FFF2-40B4-BE49-F238E27FC236}">
                <a16:creationId xmlns:a16="http://schemas.microsoft.com/office/drawing/2014/main" id="{3B90EA31-BE51-0498-25AE-42A6B9E58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988" y="9236574"/>
            <a:ext cx="2976692" cy="35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6" descr="\begin{align*}&#10;  T_2(\tau) = e^{-iH_1\tau/2}e^{-iH_2\tau}e^{-iH_1\tau/2}&#10;\end{align*}">
            <a:extLst>
              <a:ext uri="{FF2B5EF4-FFF2-40B4-BE49-F238E27FC236}">
                <a16:creationId xmlns:a16="http://schemas.microsoft.com/office/drawing/2014/main" id="{3A44A9F7-EF94-322E-70B3-CEAC28F6F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47" y="9812868"/>
            <a:ext cx="4242622" cy="35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DED85F3C-C630-E8CE-BCC5-B6C95595FCAA}"/>
              </a:ext>
            </a:extLst>
          </p:cNvPr>
          <p:cNvSpPr txBox="1"/>
          <p:nvPr/>
        </p:nvSpPr>
        <p:spPr>
          <a:xfrm>
            <a:off x="6890898" y="7618521"/>
            <a:ext cx="6439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[Linear combination of </a:t>
            </a:r>
            <a:r>
              <a:rPr kumimoji="1" lang="en-US" altLang="ja-JP" sz="2400" b="1" dirty="0" err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unitaries</a:t>
            </a:r>
            <a:r>
              <a:rPr kumimoji="1" lang="en-US" altLang="ja-JP" sz="24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(LCU)]</a:t>
            </a:r>
            <a:endParaRPr kumimoji="1" lang="ja-JP" altLang="en-US" sz="24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7640B02-BB74-8E11-DECB-5A9C93DD4FED}"/>
              </a:ext>
            </a:extLst>
          </p:cNvPr>
          <p:cNvSpPr/>
          <p:nvPr/>
        </p:nvSpPr>
        <p:spPr>
          <a:xfrm>
            <a:off x="1435277" y="4078544"/>
            <a:ext cx="1682369" cy="592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6AEC31C-1451-991E-98F6-B49C1F746FEF}"/>
              </a:ext>
            </a:extLst>
          </p:cNvPr>
          <p:cNvSpPr/>
          <p:nvPr/>
        </p:nvSpPr>
        <p:spPr>
          <a:xfrm>
            <a:off x="5070856" y="4023492"/>
            <a:ext cx="2880587" cy="592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A0DFAB5-FE8E-C286-E950-5941B07B9F94}"/>
                  </a:ext>
                </a:extLst>
              </p:cNvPr>
              <p:cNvSpPr txBox="1"/>
              <p:nvPr/>
            </p:nvSpPr>
            <p:spPr>
              <a:xfrm>
                <a:off x="1466651" y="4183830"/>
                <a:ext cx="165099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000" b="0" dirty="0"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</a:t>
                </a:r>
                <a:r>
                  <a:rPr kumimoji="1" lang="en-US" altLang="ja-JP" sz="2000" b="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qubit state</a:t>
                </a:r>
                <a:endParaRPr kumimoji="1" lang="en-US" altLang="ja-JP" sz="2000" b="0" i="1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A0DFAB5-FE8E-C286-E950-5941B07B9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651" y="4183830"/>
                <a:ext cx="1650995" cy="400110"/>
              </a:xfrm>
              <a:prstGeom prst="rect">
                <a:avLst/>
              </a:prstGeom>
              <a:blipFill>
                <a:blip r:embed="rId7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FF5F459-7AE5-7CB3-632C-321CEFD81C03}"/>
                  </a:ext>
                </a:extLst>
              </p:cNvPr>
              <p:cNvSpPr txBox="1"/>
              <p:nvPr/>
            </p:nvSpPr>
            <p:spPr>
              <a:xfrm>
                <a:off x="5157962" y="3994231"/>
                <a:ext cx="159526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000" b="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Solution at time 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kumimoji="1" lang="en-US" altLang="ja-JP" sz="2000" b="0" i="1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FF5F459-7AE5-7CB3-632C-321CEFD81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962" y="3994231"/>
                <a:ext cx="1595263" cy="707886"/>
              </a:xfrm>
              <a:prstGeom prst="rect">
                <a:avLst/>
              </a:prstGeom>
              <a:blipFill>
                <a:blip r:embed="rId8"/>
                <a:stretch>
                  <a:fillRect t="-3509" b="-140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C2910CB-6866-90CC-3A7F-2444402F28DD}"/>
              </a:ext>
            </a:extLst>
          </p:cNvPr>
          <p:cNvSpPr txBox="1"/>
          <p:nvPr/>
        </p:nvSpPr>
        <p:spPr>
          <a:xfrm>
            <a:off x="7142389" y="4148119"/>
            <a:ext cx="1595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Small error</a:t>
            </a:r>
            <a:endParaRPr kumimoji="1" lang="en-US" altLang="ja-JP" sz="2000" b="0" i="1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0A4B6EB-A719-0ED9-E96B-7FA49CC8CA62}"/>
              </a:ext>
            </a:extLst>
          </p:cNvPr>
          <p:cNvSpPr txBox="1"/>
          <p:nvPr/>
        </p:nvSpPr>
        <p:spPr>
          <a:xfrm>
            <a:off x="4032678" y="7733428"/>
            <a:ext cx="2595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or Trotterization</a:t>
            </a:r>
            <a:endParaRPr kumimoji="1" lang="ja-JP" altLang="en-US" sz="20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F0B0D41-70AA-7B02-7793-A7590277B3CA}"/>
              </a:ext>
            </a:extLst>
          </p:cNvPr>
          <p:cNvSpPr txBox="1"/>
          <p:nvPr/>
        </p:nvSpPr>
        <p:spPr>
          <a:xfrm>
            <a:off x="402938" y="9194276"/>
            <a:ext cx="1200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e.g.</a:t>
            </a:r>
            <a:endParaRPr kumimoji="1" lang="ja-JP" altLang="en-US" sz="20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929B687-1829-63BA-E4D2-657DA853975C}"/>
              </a:ext>
            </a:extLst>
          </p:cNvPr>
          <p:cNvSpPr txBox="1"/>
          <p:nvPr/>
        </p:nvSpPr>
        <p:spPr>
          <a:xfrm>
            <a:off x="7142389" y="8080186"/>
            <a:ext cx="6249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/ [Quantum singular value transform (QSVT)]</a:t>
            </a:r>
            <a:endParaRPr kumimoji="1" lang="ja-JP" altLang="en-US" sz="24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3ACF266-91F9-9C6A-E969-50E07FFB2B11}"/>
              </a:ext>
            </a:extLst>
          </p:cNvPr>
          <p:cNvSpPr txBox="1"/>
          <p:nvPr/>
        </p:nvSpPr>
        <p:spPr>
          <a:xfrm>
            <a:off x="497142" y="10459237"/>
            <a:ext cx="3644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Lloyd, Science 273, 1073 (1996)</a:t>
            </a:r>
            <a:endParaRPr lang="ja-JP" alt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\begin{align*}&#10;  e^{-iHt} = \sum_{n=0}^q \frac{(-iHt)^q}{n!} + \mathcal{O}\left( \frac{(\|H\|t)^n}{n!}\right)&#10;\end{align*}">
            <a:extLst>
              <a:ext uri="{FF2B5EF4-FFF2-40B4-BE49-F238E27FC236}">
                <a16:creationId xmlns:a16="http://schemas.microsoft.com/office/drawing/2014/main" id="{C2867F76-054A-4A5C-D66A-95E321970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015" y="8620065"/>
            <a:ext cx="4948049" cy="83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E03C7DE5-ADEE-15CC-BA13-355B32815C1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454" b="10300"/>
          <a:stretch>
            <a:fillRect/>
          </a:stretch>
        </p:blipFill>
        <p:spPr>
          <a:xfrm>
            <a:off x="11502058" y="9646292"/>
            <a:ext cx="1507267" cy="1176004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167415F0-4669-24A0-B8C1-0D4D1E94495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2011"/>
          <a:stretch>
            <a:fillRect/>
          </a:stretch>
        </p:blipFill>
        <p:spPr>
          <a:xfrm>
            <a:off x="5555597" y="9744804"/>
            <a:ext cx="2822716" cy="1021129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8FA11B1-F6CD-4AC6-4DA1-99D53D28BB6C}"/>
              </a:ext>
            </a:extLst>
          </p:cNvPr>
          <p:cNvSpPr txBox="1"/>
          <p:nvPr/>
        </p:nvSpPr>
        <p:spPr>
          <a:xfrm>
            <a:off x="8391800" y="9657662"/>
            <a:ext cx="2822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W. Berry, </a:t>
            </a:r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</a:p>
          <a:p>
            <a:pPr algn="r"/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PRL</a:t>
            </a:r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114, 090502 (2015).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C87502B-C003-14CF-793C-6259A60A457E}"/>
              </a:ext>
            </a:extLst>
          </p:cNvPr>
          <p:cNvSpPr txBox="1"/>
          <p:nvPr/>
        </p:nvSpPr>
        <p:spPr>
          <a:xfrm>
            <a:off x="8445785" y="10349397"/>
            <a:ext cx="3056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Gilyén, </a:t>
            </a:r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STOC 2019</a:t>
            </a:r>
          </a:p>
        </p:txBody>
      </p:sp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118</TotalTime>
  <Words>130</Words>
  <Application>Microsoft Macintosh PowerPoint</Application>
  <PresentationFormat>ユーザー設定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9</cp:revision>
  <dcterms:created xsi:type="dcterms:W3CDTF">2023-12-08T07:40:41Z</dcterms:created>
  <dcterms:modified xsi:type="dcterms:W3CDTF">2026-01-09T05:51:11Z</dcterms:modified>
</cp:coreProperties>
</file>