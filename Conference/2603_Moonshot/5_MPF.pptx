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157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9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 varScale="1">
        <p:scale>
          <a:sx n="73" d="100"/>
          <a:sy n="73" d="100"/>
        </p:scale>
        <p:origin x="2872" y="192"/>
      </p:cViewPr>
      <p:guideLst>
        <p:guide orient="horz" pos="3669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94767"/>
            <a:ext cx="11480483" cy="4030733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6080941"/>
            <a:ext cx="10129838" cy="2795248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31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886373"/>
            <a:ext cx="11649313" cy="4815975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747909"/>
            <a:ext cx="11649313" cy="2532607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3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5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616405"/>
            <a:ext cx="11649313" cy="2237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838130"/>
            <a:ext cx="5713861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229054"/>
            <a:ext cx="5713861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838130"/>
            <a:ext cx="5742000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229054"/>
            <a:ext cx="5742000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32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1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666968"/>
            <a:ext cx="6837640" cy="8227627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3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666968"/>
            <a:ext cx="6837640" cy="8227627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1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616402"/>
            <a:ext cx="2912328" cy="981151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616402"/>
            <a:ext cx="8568154" cy="981151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31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616405"/>
            <a:ext cx="11649313" cy="2237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3082010"/>
            <a:ext cx="11649313" cy="734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730758"/>
            <a:ext cx="4558427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42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3F07BF-AD41-57A2-DFE3-F8F00D510E2D}"/>
              </a:ext>
            </a:extLst>
          </p:cNvPr>
          <p:cNvSpPr/>
          <p:nvPr/>
        </p:nvSpPr>
        <p:spPr>
          <a:xfrm>
            <a:off x="39565" y="587939"/>
            <a:ext cx="13425820" cy="10956395"/>
          </a:xfrm>
          <a:prstGeom prst="rect">
            <a:avLst/>
          </a:prstGeom>
          <a:solidFill>
            <a:schemeClr val="bg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F9A3EF-35C6-B546-3678-0830B63F7D77}"/>
              </a:ext>
            </a:extLst>
          </p:cNvPr>
          <p:cNvSpPr txBox="1"/>
          <p:nvPr/>
        </p:nvSpPr>
        <p:spPr>
          <a:xfrm>
            <a:off x="270119" y="9292"/>
            <a:ext cx="12003943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5. </a:t>
            </a:r>
            <a:r>
              <a:rPr kumimoji="1" lang="ja-JP" altLang="en-US" sz="4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関連研究</a:t>
            </a:r>
            <a:r>
              <a:rPr kumimoji="1" lang="en-US" altLang="ja-JP" sz="400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2: </a:t>
            </a:r>
            <a:r>
              <a:rPr kumimoji="1" lang="ja-JP" altLang="en-US" sz="600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複数積公式のコスト証明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CEF9D9-2C15-111D-E9A8-B43C65AFEBE0}"/>
              </a:ext>
            </a:extLst>
          </p:cNvPr>
          <p:cNvSpPr txBox="1"/>
          <p:nvPr/>
        </p:nvSpPr>
        <p:spPr>
          <a:xfrm>
            <a:off x="298447" y="1070516"/>
            <a:ext cx="6898042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◾️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複数積公式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(Multi-product formula, MPF)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2328AD-5D85-E781-05D6-35E06634E2DE}"/>
              </a:ext>
            </a:extLst>
          </p:cNvPr>
          <p:cNvSpPr txBox="1"/>
          <p:nvPr/>
        </p:nvSpPr>
        <p:spPr>
          <a:xfrm>
            <a:off x="298447" y="5376956"/>
            <a:ext cx="687880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◾️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Our work: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複数積公式の計算コスト証明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960465-BE31-8360-740B-F479B373B738}"/>
              </a:ext>
            </a:extLst>
          </p:cNvPr>
          <p:cNvSpPr txBox="1"/>
          <p:nvPr/>
        </p:nvSpPr>
        <p:spPr>
          <a:xfrm>
            <a:off x="304206" y="1796970"/>
            <a:ext cx="12428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分解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積公式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)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とユニタリ線型結合を組み合わせた量子アルゴリズム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FE22063-1CCF-83CD-3E94-979B34E8C08D}"/>
              </a:ext>
            </a:extLst>
          </p:cNvPr>
          <p:cNvSpPr/>
          <p:nvPr/>
        </p:nvSpPr>
        <p:spPr>
          <a:xfrm>
            <a:off x="321310" y="10686464"/>
            <a:ext cx="12901248" cy="669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E603AC9-7DE3-1041-0CFE-EE303B4EE91F}"/>
              </a:ext>
            </a:extLst>
          </p:cNvPr>
          <p:cNvSpPr txBox="1"/>
          <p:nvPr/>
        </p:nvSpPr>
        <p:spPr>
          <a:xfrm>
            <a:off x="7330705" y="1259394"/>
            <a:ext cx="4289998" cy="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H. Low, 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arXiv:1907.11679 (2019)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3D4344CC-EB66-DAAC-EC50-8CE80DB8428B}"/>
                  </a:ext>
                </a:extLst>
              </p:cNvPr>
              <p:cNvSpPr txBox="1"/>
              <p:nvPr/>
            </p:nvSpPr>
            <p:spPr>
              <a:xfrm>
                <a:off x="304206" y="3910438"/>
                <a:ext cx="1282084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分解の</a:t>
                </a:r>
                <a:r>
                  <a:rPr kumimoji="1" lang="ja-JP" altLang="en-US" sz="28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良い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8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</a:t>
                </a:r>
                <a:r>
                  <a:rPr kumimoji="1" lang="ja-JP" altLang="en-US" sz="28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と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ユニタリ線型結合の</a:t>
                </a:r>
                <a:r>
                  <a:rPr kumimoji="1" lang="ja-JP" altLang="en-US" sz="28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指数的に良い</a:t>
                </a:r>
                <a14:m>
                  <m:oMath xmlns:m="http://schemas.openxmlformats.org/officeDocument/2006/math">
                    <m:r>
                      <a:rPr kumimoji="1" lang="ja-JP" altLang="en-US" sz="28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ja-JP" altLang="en-US" sz="280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</a:t>
                </a:r>
                <a:endParaRPr kumimoji="1" lang="en-US" altLang="ja-JP" sz="28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endParaRPr kumimoji="1" lang="en-US" altLang="ja-JP" sz="1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r"/>
                <a:r>
                  <a:rPr kumimoji="1" lang="ja-JP" altLang="en-US" sz="28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を両立すると期待されるが、</a:t>
                </a:r>
                <a:r>
                  <a:rPr kumimoji="1" lang="ja-JP" altLang="en-US" sz="2800" b="1" u="sng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完全な計算コストの証明は未解決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3D4344CC-EB66-DAAC-EC50-8CE80DB8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06" y="3910438"/>
                <a:ext cx="12820844" cy="1169551"/>
              </a:xfrm>
              <a:prstGeom prst="rect">
                <a:avLst/>
              </a:prstGeom>
              <a:blipFill>
                <a:blip r:embed="rId2"/>
                <a:stretch>
                  <a:fillRect l="-1089" t="-7527" r="-990" b="-118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7B34259-366A-E3F2-78B3-EDA50BBEDAF1}"/>
              </a:ext>
            </a:extLst>
          </p:cNvPr>
          <p:cNvSpPr/>
          <p:nvPr/>
        </p:nvSpPr>
        <p:spPr>
          <a:xfrm>
            <a:off x="4216162" y="3323628"/>
            <a:ext cx="1001169" cy="311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Picture 4" descr="\begin{align*}&#10;  M(\tau) = \sum_{j=1}^J c_j [T_p(\tau/k_j)]^{k_j} = e^{-iH\tau} + \mathcal{O}(\tau^{m+1}).&#10;\end{align*}">
            <a:extLst>
              <a:ext uri="{FF2B5EF4-FFF2-40B4-BE49-F238E27FC236}">
                <a16:creationId xmlns:a16="http://schemas.microsoft.com/office/drawing/2014/main" id="{3B8A29BF-03EA-F544-1875-AFD54A3F3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860" y="2336672"/>
            <a:ext cx="7603989" cy="112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FDED36-6949-D37B-9EFC-3A1AF06216B6}"/>
              </a:ext>
            </a:extLst>
          </p:cNvPr>
          <p:cNvSpPr txBox="1"/>
          <p:nvPr/>
        </p:nvSpPr>
        <p:spPr>
          <a:xfrm>
            <a:off x="2887085" y="3333635"/>
            <a:ext cx="154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線型結合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17C1B01-3FD0-FBA8-2E75-B4E9C45221E7}"/>
              </a:ext>
            </a:extLst>
          </p:cNvPr>
          <p:cNvSpPr/>
          <p:nvPr/>
        </p:nvSpPr>
        <p:spPr>
          <a:xfrm>
            <a:off x="5250417" y="3323628"/>
            <a:ext cx="1769383" cy="3110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9838C30-8B34-A03E-1879-178140A04E1D}"/>
                  </a:ext>
                </a:extLst>
              </p:cNvPr>
              <p:cNvSpPr txBox="1"/>
              <p:nvPr/>
            </p:nvSpPr>
            <p:spPr>
              <a:xfrm>
                <a:off x="7052886" y="3333634"/>
                <a:ext cx="2516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ja-JP" altLang="en-US" sz="2400" b="0">
                    <a:solidFill>
                      <a:schemeClr val="accent1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次</a:t>
                </a:r>
                <a:r>
                  <a:rPr kumimoji="1" lang="en-US" altLang="ja-JP" sz="2400" b="0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2400" b="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</a:t>
                </a:r>
                <a:r>
                  <a:rPr kumimoji="1" lang="en-US" altLang="ja-JP" sz="2400" b="0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400" b="0">
                    <a:solidFill>
                      <a:schemeClr val="accent1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分解</a:t>
                </a:r>
                <a:endParaRPr kumimoji="1" lang="en-US" altLang="ja-JP" sz="2400" b="0" dirty="0">
                  <a:solidFill>
                    <a:schemeClr val="accent1"/>
                  </a:solidFill>
                  <a:latin typeface="Cambria Math" panose="020405030504060302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9838C30-8B34-A03E-1879-178140A04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886" y="3333634"/>
                <a:ext cx="2516969" cy="461665"/>
              </a:xfrm>
              <a:prstGeom prst="rect">
                <a:avLst/>
              </a:prstGeom>
              <a:blipFill>
                <a:blip r:embed="rId4"/>
                <a:stretch>
                  <a:fillRect l="-503" t="-15789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4D71234D-1FBE-041D-84D7-8CEC3467895A}"/>
                  </a:ext>
                </a:extLst>
              </p:cNvPr>
              <p:cNvSpPr txBox="1"/>
              <p:nvPr/>
            </p:nvSpPr>
            <p:spPr>
              <a:xfrm>
                <a:off x="4799831" y="5922755"/>
                <a:ext cx="40655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𝒪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-qubit 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の量子ゲート数</a:t>
                </a: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4D71234D-1FBE-041D-84D7-8CEC3467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31" y="5922755"/>
                <a:ext cx="4065526" cy="461665"/>
              </a:xfrm>
              <a:prstGeom prst="rect">
                <a:avLst/>
              </a:prstGeom>
              <a:blipFill>
                <a:blip r:embed="rId5"/>
                <a:stretch>
                  <a:fillRect l="-312" t="-13514" b="-32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DDBA09E-0D49-730F-92DC-DC4F490BBD20}"/>
                  </a:ext>
                </a:extLst>
              </p:cNvPr>
              <p:cNvSpPr txBox="1"/>
              <p:nvPr/>
            </p:nvSpPr>
            <p:spPr>
              <a:xfrm>
                <a:off x="408823" y="7099932"/>
                <a:ext cx="22865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次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Trotter 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分解</a:t>
                </a: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DDBA09E-0D49-730F-92DC-DC4F490BB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23" y="7099932"/>
                <a:ext cx="2286580" cy="461665"/>
              </a:xfrm>
              <a:prstGeom prst="rect">
                <a:avLst/>
              </a:prstGeom>
              <a:blipFill>
                <a:blip r:embed="rId6"/>
                <a:stretch>
                  <a:fillRect l="-552" t="-13514" r="-2762" b="-32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089DB79-C740-7A58-0CF8-F0360CF86610}"/>
              </a:ext>
            </a:extLst>
          </p:cNvPr>
          <p:cNvSpPr txBox="1"/>
          <p:nvPr/>
        </p:nvSpPr>
        <p:spPr>
          <a:xfrm>
            <a:off x="688834" y="7999548"/>
            <a:ext cx="1766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LCU/QSVT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BB71B31-CD96-0DB8-2FDC-D604B9F6EDC1}"/>
              </a:ext>
            </a:extLst>
          </p:cNvPr>
          <p:cNvSpPr txBox="1"/>
          <p:nvPr/>
        </p:nvSpPr>
        <p:spPr>
          <a:xfrm>
            <a:off x="1011566" y="8839154"/>
            <a:ext cx="1088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HHKL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2D7218E-491F-C629-0C67-46A837BD28A9}"/>
                  </a:ext>
                </a:extLst>
              </p:cNvPr>
              <p:cNvSpPr txBox="1"/>
              <p:nvPr/>
            </p:nvSpPr>
            <p:spPr>
              <a:xfrm>
                <a:off x="355158" y="9653164"/>
                <a:ext cx="23951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ja-JP" altLang="en-US" sz="2400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次</a:t>
                </a:r>
                <a:r>
                  <a:rPr lang="ja-JP" altLang="en-US" sz="2400" b="1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複数積公式</a:t>
                </a:r>
                <a:endParaRPr lang="en-US" altLang="ja-JP" sz="2400" b="1" dirty="0">
                  <a:solidFill>
                    <a:schemeClr val="accent2"/>
                  </a:solidFill>
                  <a:latin typeface="Cambria Math" panose="020405030504060302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ja-JP" sz="2000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(our work)</a:t>
                </a:r>
              </a:p>
            </p:txBody>
          </p:sp>
        </mc:Choice>
        <mc:Fallback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2D7218E-491F-C629-0C67-46A837BD2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8" y="9653164"/>
                <a:ext cx="2395198" cy="769441"/>
              </a:xfrm>
              <a:prstGeom prst="rect">
                <a:avLst/>
              </a:prstGeom>
              <a:blipFill>
                <a:blip r:embed="rId7"/>
                <a:stretch>
                  <a:fillRect t="-9836" r="-526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A418E51-AA1C-2C76-99CB-C3BD1DAB21AC}"/>
              </a:ext>
            </a:extLst>
          </p:cNvPr>
          <p:cNvCxnSpPr>
            <a:cxnSpLocks/>
          </p:cNvCxnSpPr>
          <p:nvPr/>
        </p:nvCxnSpPr>
        <p:spPr>
          <a:xfrm>
            <a:off x="442631" y="7050434"/>
            <a:ext cx="127799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854556AF-40EB-0994-7876-41E9236F99AB}"/>
              </a:ext>
            </a:extLst>
          </p:cNvPr>
          <p:cNvCxnSpPr>
            <a:cxnSpLocks/>
          </p:cNvCxnSpPr>
          <p:nvPr/>
        </p:nvCxnSpPr>
        <p:spPr>
          <a:xfrm>
            <a:off x="10445492" y="6107087"/>
            <a:ext cx="0" cy="4465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B4A5A4F-1E1D-A7AA-3D12-7959000001F6}"/>
              </a:ext>
            </a:extLst>
          </p:cNvPr>
          <p:cNvCxnSpPr>
            <a:cxnSpLocks/>
          </p:cNvCxnSpPr>
          <p:nvPr/>
        </p:nvCxnSpPr>
        <p:spPr>
          <a:xfrm>
            <a:off x="3045626" y="6142215"/>
            <a:ext cx="0" cy="44305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ACC1E3D-FB89-0727-6398-135BAC4750B8}"/>
              </a:ext>
            </a:extLst>
          </p:cNvPr>
          <p:cNvCxnSpPr>
            <a:cxnSpLocks/>
          </p:cNvCxnSpPr>
          <p:nvPr/>
        </p:nvCxnSpPr>
        <p:spPr>
          <a:xfrm>
            <a:off x="6832594" y="6505712"/>
            <a:ext cx="0" cy="40670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038091E2-0B2D-D3EB-4EF9-B613E546462F}"/>
                  </a:ext>
                </a:extLst>
              </p:cNvPr>
              <p:cNvSpPr txBox="1"/>
              <p:nvPr/>
            </p:nvSpPr>
            <p:spPr>
              <a:xfrm>
                <a:off x="3353253" y="6460627"/>
                <a:ext cx="30970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有限距離相互作用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endParaRPr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038091E2-0B2D-D3EB-4EF9-B613E5464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53" y="6460627"/>
                <a:ext cx="3097036" cy="461665"/>
              </a:xfrm>
              <a:prstGeom prst="rect">
                <a:avLst/>
              </a:prstGeom>
              <a:blipFill>
                <a:blip r:embed="rId8"/>
                <a:stretch>
                  <a:fillRect l="-3279" t="-10526" b="-3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5C7889D5-8212-42FA-43B3-24E278DD0BA5}"/>
                  </a:ext>
                </a:extLst>
              </p:cNvPr>
              <p:cNvSpPr txBox="1"/>
              <p:nvPr/>
            </p:nvSpPr>
            <p:spPr>
              <a:xfrm>
                <a:off x="7040830" y="6460626"/>
                <a:ext cx="33272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長距離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体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相互作用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endParaRPr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5C7889D5-8212-42FA-43B3-24E278DD0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30" y="6460626"/>
                <a:ext cx="3327287" cy="461665"/>
              </a:xfrm>
              <a:prstGeom prst="rect">
                <a:avLst/>
              </a:prstGeom>
              <a:blipFill>
                <a:blip r:embed="rId9"/>
                <a:stretch>
                  <a:fillRect l="-3042" t="-10526" b="-3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16" descr="\begin{align*}&#10;  Ng \left( \frac{Ngt}{\varepsilon}\right)^{\frac1p}&#10;\end{align*}">
            <a:extLst>
              <a:ext uri="{FF2B5EF4-FFF2-40B4-BE49-F238E27FC236}">
                <a16:creationId xmlns:a16="http://schemas.microsoft.com/office/drawing/2014/main" id="{45B6B405-F37E-795B-9922-B3A53DB60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343" y="7150996"/>
            <a:ext cx="1468279" cy="72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\begin{align*}&#10;  N^k g \left( \frac{Ngt}{\varepsilon}\right)^{\frac1p}&#10;\end{align*}">
            <a:extLst>
              <a:ext uri="{FF2B5EF4-FFF2-40B4-BE49-F238E27FC236}">
                <a16:creationId xmlns:a16="http://schemas.microsoft.com/office/drawing/2014/main" id="{F674340A-86A4-22C4-4422-399A85CE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136" y="7150996"/>
            <a:ext cx="1552080" cy="70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0" descr="\begin{align*}&#10;  N(Ngt+\log(1/\varepsilon))&#10;\end{align*}">
            <a:extLst>
              <a:ext uri="{FF2B5EF4-FFF2-40B4-BE49-F238E27FC236}">
                <a16:creationId xmlns:a16="http://schemas.microsoft.com/office/drawing/2014/main" id="{74015E52-040E-F565-A506-F2D1D844F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713" y="8232935"/>
            <a:ext cx="2408270" cy="29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2" descr="\begin{align*}&#10;  N^k(Ngt+\log(1/\varepsilon))&#10;\end{align*}">
            <a:extLst>
              <a:ext uri="{FF2B5EF4-FFF2-40B4-BE49-F238E27FC236}">
                <a16:creationId xmlns:a16="http://schemas.microsoft.com/office/drawing/2014/main" id="{A8038950-762A-3612-8663-BCB3FA65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559" y="8200276"/>
            <a:ext cx="2474625" cy="3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4" descr="\begin{align*}&#10;  Ngt \times \text{polylog}(Ngt/\varepsilon)&#10;\end{align*}">
            <a:extLst>
              <a:ext uri="{FF2B5EF4-FFF2-40B4-BE49-F238E27FC236}">
                <a16:creationId xmlns:a16="http://schemas.microsoft.com/office/drawing/2014/main" id="{CD4F9227-0061-C10A-27E1-42843539D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309" y="9075476"/>
            <a:ext cx="3000980" cy="31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6" descr="\begin{align*}&#10;  N^{1+\frac1{p+1}}gt \times \text{polylog}(Ngt/\varepsilon)&#10;\end{align*}">
            <a:extLst>
              <a:ext uri="{FF2B5EF4-FFF2-40B4-BE49-F238E27FC236}">
                <a16:creationId xmlns:a16="http://schemas.microsoft.com/office/drawing/2014/main" id="{54990B5E-927F-8B90-0C42-3186E7524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29" y="9848019"/>
            <a:ext cx="3549940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8" descr="\begin{align*}&#10;  N^{k+\frac1{p+1}}gt \times \text{polylog}(Ngt/\varepsilon)&#10;\end{align*}">
            <a:extLst>
              <a:ext uri="{FF2B5EF4-FFF2-40B4-BE49-F238E27FC236}">
                <a16:creationId xmlns:a16="http://schemas.microsoft.com/office/drawing/2014/main" id="{86251612-67D5-FF4C-05EC-E17D6E92A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8" y="9848019"/>
            <a:ext cx="3374251" cy="36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3C6735E-0E6C-8908-4B18-B87014933D22}"/>
              </a:ext>
            </a:extLst>
          </p:cNvPr>
          <p:cNvSpPr txBox="1"/>
          <p:nvPr/>
        </p:nvSpPr>
        <p:spPr>
          <a:xfrm>
            <a:off x="10915262" y="6189914"/>
            <a:ext cx="2055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補助</a:t>
            </a:r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qubit </a:t>
            </a:r>
            <a:r>
              <a:rPr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数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1FDCF95-3F87-2531-8039-F5ABB2935750}"/>
              </a:ext>
            </a:extLst>
          </p:cNvPr>
          <p:cNvSpPr txBox="1"/>
          <p:nvPr/>
        </p:nvSpPr>
        <p:spPr>
          <a:xfrm>
            <a:off x="521284" y="9208969"/>
            <a:ext cx="2150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Haah, 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 </a:t>
            </a:r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(2021)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DAFD5A5-305A-6BE9-C2B4-6FD08F51A708}"/>
              </a:ext>
            </a:extLst>
          </p:cNvPr>
          <p:cNvSpPr txBox="1"/>
          <p:nvPr/>
        </p:nvSpPr>
        <p:spPr>
          <a:xfrm>
            <a:off x="377925" y="8390272"/>
            <a:ext cx="239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Gilyén,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(2019)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6EEDA2D0-EDC8-5D65-909A-D031557A571D}"/>
              </a:ext>
            </a:extLst>
          </p:cNvPr>
          <p:cNvSpPr txBox="1"/>
          <p:nvPr/>
        </p:nvSpPr>
        <p:spPr>
          <a:xfrm>
            <a:off x="408823" y="7498027"/>
            <a:ext cx="239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Childs, et al. (2021)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71CC658B-0FAB-8C11-A86E-55B228299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8" t="-26422" r="59956" b="-11238"/>
          <a:stretch>
            <a:fillRect/>
          </a:stretch>
        </p:blipFill>
        <p:spPr bwMode="auto">
          <a:xfrm>
            <a:off x="11563801" y="8127370"/>
            <a:ext cx="923653" cy="44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B6A565BC-D4BC-5033-07CC-8716B46DB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750"/>
          <a:stretch>
            <a:fillRect/>
          </a:stretch>
        </p:blipFill>
        <p:spPr bwMode="auto">
          <a:xfrm>
            <a:off x="11791421" y="7377087"/>
            <a:ext cx="257126" cy="36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870E5D86-3D3F-E3DA-909F-89EF33518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7" t="-43365"/>
          <a:stretch>
            <a:fillRect/>
          </a:stretch>
        </p:blipFill>
        <p:spPr bwMode="auto">
          <a:xfrm>
            <a:off x="10997853" y="8970592"/>
            <a:ext cx="1937011" cy="43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10CF385A-7888-401A-AA68-421A0512A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7" t="-43365"/>
          <a:stretch>
            <a:fillRect/>
          </a:stretch>
        </p:blipFill>
        <p:spPr bwMode="auto">
          <a:xfrm>
            <a:off x="10955247" y="9792378"/>
            <a:ext cx="1937011" cy="43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813A8A0-0B6B-EFA3-2243-5AAEC21B437D}"/>
              </a:ext>
            </a:extLst>
          </p:cNvPr>
          <p:cNvSpPr txBox="1"/>
          <p:nvPr/>
        </p:nvSpPr>
        <p:spPr>
          <a:xfrm>
            <a:off x="6618044" y="9062252"/>
            <a:ext cx="370787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ja-JP" altLang="en-US" sz="2000" b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←</a:t>
            </a:r>
            <a:r>
              <a:rPr kumimoji="1" lang="en-US" altLang="ja-JP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en-US" altLang="ja-JP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Lieb-Robinson</a:t>
            </a:r>
            <a:r>
              <a:rPr kumimoji="1" lang="ja-JP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限界を利用</a:t>
            </a:r>
            <a:endParaRPr lang="ja-JP" altLang="en-US" sz="20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" name="テキスト ボックス 1028">
            <a:extLst>
              <a:ext uri="{FF2B5EF4-FFF2-40B4-BE49-F238E27FC236}">
                <a16:creationId xmlns:a16="http://schemas.microsoft.com/office/drawing/2014/main" id="{8A99C92B-B91E-4A4A-A1E7-B9A6F5D01EB7}"/>
              </a:ext>
            </a:extLst>
          </p:cNvPr>
          <p:cNvSpPr txBox="1"/>
          <p:nvPr/>
        </p:nvSpPr>
        <p:spPr>
          <a:xfrm>
            <a:off x="7293323" y="5465646"/>
            <a:ext cx="385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Mizuta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Quantum 10, 1974 (2026)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テキスト ボックス 1030">
                <a:extLst>
                  <a:ext uri="{FF2B5EF4-FFF2-40B4-BE49-F238E27FC236}">
                    <a16:creationId xmlns:a16="http://schemas.microsoft.com/office/drawing/2014/main" id="{78E3E90F-A1EA-9824-5BE8-7BBC2CAF945B}"/>
                  </a:ext>
                </a:extLst>
              </p:cNvPr>
              <p:cNvSpPr txBox="1"/>
              <p:nvPr/>
            </p:nvSpPr>
            <p:spPr>
              <a:xfrm>
                <a:off x="910565" y="10782395"/>
                <a:ext cx="11783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複数積公式は良い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依存性を有する量子アルゴリズム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/ 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理論下限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にも近い</a:t>
                </a:r>
              </a:p>
            </p:txBody>
          </p:sp>
        </mc:Choice>
        <mc:Fallback xmlns="">
          <p:sp>
            <p:nvSpPr>
              <p:cNvPr id="1031" name="テキスト ボックス 1030">
                <a:extLst>
                  <a:ext uri="{FF2B5EF4-FFF2-40B4-BE49-F238E27FC236}">
                    <a16:creationId xmlns:a16="http://schemas.microsoft.com/office/drawing/2014/main" id="{78E3E90F-A1EA-9824-5BE8-7BBC2CAF9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65" y="10782395"/>
                <a:ext cx="11783322" cy="461665"/>
              </a:xfrm>
              <a:prstGeom prst="rect">
                <a:avLst/>
              </a:prstGeom>
              <a:blipFill>
                <a:blip r:embed="rId18"/>
                <a:stretch>
                  <a:fillRect l="-753" t="-13514" b="-32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640</TotalTime>
  <Words>208</Words>
  <Application>Microsoft Macintosh PowerPoint</Application>
  <PresentationFormat>ユーザー設定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25</cp:revision>
  <dcterms:created xsi:type="dcterms:W3CDTF">2023-12-08T07:40:41Z</dcterms:created>
  <dcterms:modified xsi:type="dcterms:W3CDTF">2026-02-12T04:43:56Z</dcterms:modified>
</cp:coreProperties>
</file>