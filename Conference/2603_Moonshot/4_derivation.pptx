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651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01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>
        <p:scale>
          <a:sx n="124" d="100"/>
          <a:sy n="124" d="100"/>
        </p:scale>
        <p:origin x="688" y="-7376"/>
      </p:cViewPr>
      <p:guideLst>
        <p:guide orient="horz" pos="5201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2701985"/>
            <a:ext cx="11480483" cy="5747926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8671573"/>
            <a:ext cx="10129838" cy="3986094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09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18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4116040"/>
            <a:ext cx="11649313" cy="6867700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11048711"/>
            <a:ext cx="11649313" cy="3611561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9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4395023"/>
            <a:ext cx="5740241" cy="1047544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4395023"/>
            <a:ext cx="5740241" cy="1047544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24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879008"/>
            <a:ext cx="11649313" cy="319117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4047244"/>
            <a:ext cx="5713861" cy="1983492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6030736"/>
            <a:ext cx="5713861" cy="88703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4047244"/>
            <a:ext cx="5742000" cy="1983492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6030736"/>
            <a:ext cx="5742000" cy="88703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72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64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8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1100667"/>
            <a:ext cx="4356182" cy="3852333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2377138"/>
            <a:ext cx="6837640" cy="11732801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4953000"/>
            <a:ext cx="4356182" cy="9176045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03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1100667"/>
            <a:ext cx="4356182" cy="3852333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2377138"/>
            <a:ext cx="6837640" cy="11732801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4953000"/>
            <a:ext cx="4356182" cy="9176045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98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83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879005"/>
            <a:ext cx="2912328" cy="1399146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879005"/>
            <a:ext cx="8568154" cy="1399146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65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879008"/>
            <a:ext cx="11649313" cy="3191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4395023"/>
            <a:ext cx="11649313" cy="104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5302328"/>
            <a:ext cx="3038951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5302328"/>
            <a:ext cx="4558427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5302328"/>
            <a:ext cx="3038951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97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8.emf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9.tiff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F9E6CE-A31D-F522-1A26-958E5921ED7B}"/>
              </a:ext>
            </a:extLst>
          </p:cNvPr>
          <p:cNvSpPr/>
          <p:nvPr/>
        </p:nvSpPr>
        <p:spPr>
          <a:xfrm>
            <a:off x="0" y="4069"/>
            <a:ext cx="13506450" cy="1651000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9F06A8-1BCD-7527-103A-31D67ED50ECC}"/>
              </a:ext>
            </a:extLst>
          </p:cNvPr>
          <p:cNvSpPr/>
          <p:nvPr/>
        </p:nvSpPr>
        <p:spPr>
          <a:xfrm>
            <a:off x="0" y="-1"/>
            <a:ext cx="13506449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869824-09CF-8AFF-2793-2270EAD810E1}"/>
              </a:ext>
            </a:extLst>
          </p:cNvPr>
          <p:cNvSpPr txBox="1"/>
          <p:nvPr/>
        </p:nvSpPr>
        <p:spPr>
          <a:xfrm>
            <a:off x="567454" y="359669"/>
            <a:ext cx="12413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Results &amp; Derivation</a:t>
            </a:r>
            <a:r>
              <a:rPr kumimoji="1" lang="en-US" altLang="ja-JP" sz="6000" dirty="0">
                <a:solidFill>
                  <a:schemeClr val="bg1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endParaRPr kumimoji="1" lang="ja-JP" altLang="en-US" sz="6000">
              <a:solidFill>
                <a:schemeClr val="bg1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760190-CFDA-12E5-5082-7509CD10C44C}"/>
              </a:ext>
            </a:extLst>
          </p:cNvPr>
          <p:cNvSpPr txBox="1"/>
          <p:nvPr/>
        </p:nvSpPr>
        <p:spPr>
          <a:xfrm>
            <a:off x="347084" y="2185494"/>
            <a:ext cx="660148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MPF error with commutator scaling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12156FF-5946-9097-2370-BDFE89E26F70}"/>
              </a:ext>
            </a:extLst>
          </p:cNvPr>
          <p:cNvSpPr txBox="1"/>
          <p:nvPr/>
        </p:nvSpPr>
        <p:spPr>
          <a:xfrm>
            <a:off x="347084" y="8134249"/>
            <a:ext cx="5529078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Derivation of the error bound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95F10A-DBD9-2491-4676-02956BC57078}"/>
              </a:ext>
            </a:extLst>
          </p:cNvPr>
          <p:cNvSpPr txBox="1"/>
          <p:nvPr/>
        </p:nvSpPr>
        <p:spPr>
          <a:xfrm>
            <a:off x="347084" y="12616483"/>
            <a:ext cx="6716903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Derivation of the computational cost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6FEAB9-1595-880A-FD9D-A19FCAD48497}"/>
              </a:ext>
            </a:extLst>
          </p:cNvPr>
          <p:cNvSpPr/>
          <p:nvPr/>
        </p:nvSpPr>
        <p:spPr>
          <a:xfrm>
            <a:off x="656477" y="4047568"/>
            <a:ext cx="12324550" cy="24236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446EA9-AA3C-B301-526A-9EA6611892CA}"/>
              </a:ext>
            </a:extLst>
          </p:cNvPr>
          <p:cNvSpPr txBox="1"/>
          <p:nvPr/>
        </p:nvSpPr>
        <p:spPr>
          <a:xfrm>
            <a:off x="915218" y="3800221"/>
            <a:ext cx="160576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1</a:t>
            </a:r>
            <a:endParaRPr kumimoji="1" lang="ja-JP" altLang="en-US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0F4979-C181-86B2-EE02-37078C176717}"/>
              </a:ext>
            </a:extLst>
          </p:cNvPr>
          <p:cNvSpPr/>
          <p:nvPr/>
        </p:nvSpPr>
        <p:spPr>
          <a:xfrm>
            <a:off x="656477" y="6799193"/>
            <a:ext cx="12324550" cy="10179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4B25DA3-3AA4-1906-2ADC-A39B69564A97}"/>
              </a:ext>
            </a:extLst>
          </p:cNvPr>
          <p:cNvSpPr txBox="1"/>
          <p:nvPr/>
        </p:nvSpPr>
        <p:spPr>
          <a:xfrm>
            <a:off x="915218" y="6568360"/>
            <a:ext cx="160576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2</a:t>
            </a:r>
            <a:endParaRPr kumimoji="1" lang="ja-JP" altLang="en-US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B6649CD-99A5-C7BA-2B0B-63258CF8D1CF}"/>
                  </a:ext>
                </a:extLst>
              </p:cNvPr>
              <p:cNvSpPr txBox="1"/>
              <p:nvPr/>
            </p:nvSpPr>
            <p:spPr>
              <a:xfrm>
                <a:off x="567454" y="13481007"/>
                <a:ext cx="4914166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Trotter number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</a:t>
                </a:r>
                <a:endParaRPr kumimoji="1"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B6649CD-99A5-C7BA-2B0B-63258CF8D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54" y="13481007"/>
                <a:ext cx="4914166" cy="461665"/>
              </a:xfrm>
              <a:prstGeom prst="rect">
                <a:avLst/>
              </a:prstGeom>
              <a:blipFill>
                <a:blip r:embed="rId2"/>
                <a:stretch>
                  <a:fillRect l="-2062" t="-10811" r="-1031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A441CE-016B-E213-830D-CF3C7ED94810}"/>
              </a:ext>
            </a:extLst>
          </p:cNvPr>
          <p:cNvSpPr txBox="1"/>
          <p:nvPr/>
        </p:nvSpPr>
        <p:spPr>
          <a:xfrm>
            <a:off x="474184" y="15821967"/>
            <a:ext cx="185018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[Gate counts]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DF6860-7940-88CD-9CD7-ED14991DC7FB}"/>
              </a:ext>
            </a:extLst>
          </p:cNvPr>
          <p:cNvSpPr txBox="1"/>
          <p:nvPr/>
        </p:nvSpPr>
        <p:spPr>
          <a:xfrm>
            <a:off x="567453" y="15080553"/>
            <a:ext cx="162736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setting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r \times \| e^{-iHt/r} - M(t/r) \| \in \mathcal{O} \left( r \left[\left( N^{\frac1{p+1}}g\frac{t}r \right)^{m+1} +\epsilon\right] \right) \leq \varepsilon&#10;\end{align*}">
            <a:extLst>
              <a:ext uri="{FF2B5EF4-FFF2-40B4-BE49-F238E27FC236}">
                <a16:creationId xmlns:a16="http://schemas.microsoft.com/office/drawing/2014/main" id="{6B7DF347-1B14-C35D-B19C-3F072C4E7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48" b="-14969"/>
          <a:stretch>
            <a:fillRect/>
          </a:stretch>
        </p:blipFill>
        <p:spPr bwMode="auto">
          <a:xfrm>
            <a:off x="656477" y="14130814"/>
            <a:ext cx="3028826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CC38A6D-3F9E-D227-A60B-DD89DE4013C0}"/>
              </a:ext>
            </a:extLst>
          </p:cNvPr>
          <p:cNvCxnSpPr>
            <a:cxnSpLocks/>
          </p:cNvCxnSpPr>
          <p:nvPr/>
        </p:nvCxnSpPr>
        <p:spPr>
          <a:xfrm>
            <a:off x="8243074" y="13995538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DD9E3E5-12EC-0B38-01AA-707E20240650}"/>
              </a:ext>
            </a:extLst>
          </p:cNvPr>
          <p:cNvCxnSpPr>
            <a:cxnSpLocks/>
          </p:cNvCxnSpPr>
          <p:nvPr/>
        </p:nvCxnSpPr>
        <p:spPr>
          <a:xfrm>
            <a:off x="8243074" y="14067471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FE01761-468E-3569-2BA9-94CEF00AAD4E}"/>
              </a:ext>
            </a:extLst>
          </p:cNvPr>
          <p:cNvCxnSpPr>
            <a:cxnSpLocks/>
          </p:cNvCxnSpPr>
          <p:nvPr/>
        </p:nvCxnSpPr>
        <p:spPr>
          <a:xfrm>
            <a:off x="8243074" y="14139164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DBD4773-005F-37B9-0060-344A4DCE611B}"/>
              </a:ext>
            </a:extLst>
          </p:cNvPr>
          <p:cNvCxnSpPr>
            <a:cxnSpLocks/>
          </p:cNvCxnSpPr>
          <p:nvPr/>
        </p:nvCxnSpPr>
        <p:spPr>
          <a:xfrm>
            <a:off x="8243074" y="14926288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DE8B9F1-0539-DEA9-A0ED-36CB1CBF744A}"/>
              </a:ext>
            </a:extLst>
          </p:cNvPr>
          <p:cNvCxnSpPr>
            <a:cxnSpLocks/>
          </p:cNvCxnSpPr>
          <p:nvPr/>
        </p:nvCxnSpPr>
        <p:spPr>
          <a:xfrm>
            <a:off x="8243074" y="14998221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F168BC2-F3EA-AE58-2179-D548BE68C9EE}"/>
              </a:ext>
            </a:extLst>
          </p:cNvPr>
          <p:cNvCxnSpPr>
            <a:cxnSpLocks/>
          </p:cNvCxnSpPr>
          <p:nvPr/>
        </p:nvCxnSpPr>
        <p:spPr>
          <a:xfrm>
            <a:off x="8243074" y="15069914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6930483-FAE1-D8AA-C4EC-D55F1DB92543}"/>
              </a:ext>
            </a:extLst>
          </p:cNvPr>
          <p:cNvCxnSpPr>
            <a:cxnSpLocks/>
          </p:cNvCxnSpPr>
          <p:nvPr/>
        </p:nvCxnSpPr>
        <p:spPr>
          <a:xfrm>
            <a:off x="8243074" y="15145160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D45C65D-852D-839D-9B52-B03A4A11D7BE}"/>
              </a:ext>
            </a:extLst>
          </p:cNvPr>
          <p:cNvCxnSpPr>
            <a:cxnSpLocks/>
          </p:cNvCxnSpPr>
          <p:nvPr/>
        </p:nvCxnSpPr>
        <p:spPr>
          <a:xfrm>
            <a:off x="8243074" y="15217093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A345859-5B15-9098-53EE-1910E0B5F445}"/>
              </a:ext>
            </a:extLst>
          </p:cNvPr>
          <p:cNvCxnSpPr>
            <a:cxnSpLocks/>
          </p:cNvCxnSpPr>
          <p:nvPr/>
        </p:nvCxnSpPr>
        <p:spPr>
          <a:xfrm>
            <a:off x="8243074" y="15288786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05B9F2B-196D-E582-726E-53C9F5C47818}"/>
              </a:ext>
            </a:extLst>
          </p:cNvPr>
          <p:cNvCxnSpPr>
            <a:cxnSpLocks/>
          </p:cNvCxnSpPr>
          <p:nvPr/>
        </p:nvCxnSpPr>
        <p:spPr>
          <a:xfrm>
            <a:off x="8243074" y="15365657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3E078614-5411-DE16-7633-6A76A2B09E2D}"/>
              </a:ext>
            </a:extLst>
          </p:cNvPr>
          <p:cNvCxnSpPr>
            <a:cxnSpLocks/>
          </p:cNvCxnSpPr>
          <p:nvPr/>
        </p:nvCxnSpPr>
        <p:spPr>
          <a:xfrm>
            <a:off x="8243074" y="15437590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A0D79DD-6498-322F-428D-B4D88F7E118F}"/>
              </a:ext>
            </a:extLst>
          </p:cNvPr>
          <p:cNvCxnSpPr>
            <a:cxnSpLocks/>
          </p:cNvCxnSpPr>
          <p:nvPr/>
        </p:nvCxnSpPr>
        <p:spPr>
          <a:xfrm>
            <a:off x="8243074" y="15509283"/>
            <a:ext cx="384048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63B6B40-B20D-00E3-5D72-0F17C3AFAC49}"/>
              </a:ext>
            </a:extLst>
          </p:cNvPr>
          <p:cNvSpPr/>
          <p:nvPr/>
        </p:nvSpPr>
        <p:spPr>
          <a:xfrm>
            <a:off x="8543762" y="14759893"/>
            <a:ext cx="680483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\begin{align*}&#10;  M(t/r)&#10;\end{align*}">
            <a:extLst>
              <a:ext uri="{FF2B5EF4-FFF2-40B4-BE49-F238E27FC236}">
                <a16:creationId xmlns:a16="http://schemas.microsoft.com/office/drawing/2014/main" id="{B5A0A62F-BE7C-F437-F65E-14CC3AC7F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385" y="15162148"/>
            <a:ext cx="523235" cy="17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\begin{align*}&#10;  \ket{0}&#10;\end{align*}">
            <a:extLst>
              <a:ext uri="{FF2B5EF4-FFF2-40B4-BE49-F238E27FC236}">
                <a16:creationId xmlns:a16="http://schemas.microsoft.com/office/drawing/2014/main" id="{147A1A87-ED67-8921-5022-25FA96499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73" y="13962977"/>
            <a:ext cx="196474" cy="2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 descr="\begin{align*}&#10;  \ket{0}&#10;\end{align*}">
            <a:extLst>
              <a:ext uri="{FF2B5EF4-FFF2-40B4-BE49-F238E27FC236}">
                <a16:creationId xmlns:a16="http://schemas.microsoft.com/office/drawing/2014/main" id="{A447F9DF-B266-0B82-2F58-45C57D2B1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1432" y="13962977"/>
            <a:ext cx="196474" cy="2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9D26177-4BAD-E518-B7AB-A881B29A397C}"/>
              </a:ext>
            </a:extLst>
          </p:cNvPr>
          <p:cNvSpPr txBox="1"/>
          <p:nvPr/>
        </p:nvSpPr>
        <p:spPr>
          <a:xfrm>
            <a:off x="8667435" y="15925689"/>
            <a:ext cx="310373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LCU + amplitude amplification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10" descr="\begin{align*}&#10;  \ket{\psi}&#10;\end{align*}">
            <a:extLst>
              <a:ext uri="{FF2B5EF4-FFF2-40B4-BE49-F238E27FC236}">
                <a16:creationId xmlns:a16="http://schemas.microsoft.com/office/drawing/2014/main" id="{819BFAF7-3974-9F10-BCAB-597B938B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279" y="15080553"/>
            <a:ext cx="235268" cy="2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\begin{align*}&#10;  [M(t/r)]^r \ket{\psi}&#10;\end{align*}">
            <a:extLst>
              <a:ext uri="{FF2B5EF4-FFF2-40B4-BE49-F238E27FC236}">
                <a16:creationId xmlns:a16="http://schemas.microsoft.com/office/drawing/2014/main" id="{9BA932C9-2201-BC99-3AC1-523D0B863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9081" y="15112365"/>
            <a:ext cx="1138423" cy="20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57F1AD7-CA6F-3EF2-C70B-19DD52E65BD7}"/>
              </a:ext>
            </a:extLst>
          </p:cNvPr>
          <p:cNvCxnSpPr>
            <a:cxnSpLocks/>
          </p:cNvCxnSpPr>
          <p:nvPr/>
        </p:nvCxnSpPr>
        <p:spPr>
          <a:xfrm>
            <a:off x="8884002" y="13992329"/>
            <a:ext cx="0" cy="7675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F687410-F877-EC6A-6A28-2530C98460BE}"/>
              </a:ext>
            </a:extLst>
          </p:cNvPr>
          <p:cNvSpPr/>
          <p:nvPr/>
        </p:nvSpPr>
        <p:spPr>
          <a:xfrm>
            <a:off x="9374156" y="14759893"/>
            <a:ext cx="680483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Picture 6" descr="\begin{align*}&#10;  M(t/r)&#10;\end{align*}">
            <a:extLst>
              <a:ext uri="{FF2B5EF4-FFF2-40B4-BE49-F238E27FC236}">
                <a16:creationId xmlns:a16="http://schemas.microsoft.com/office/drawing/2014/main" id="{51EB6A1E-7F86-19B5-53FB-79BE09AC5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779" y="15162148"/>
            <a:ext cx="523235" cy="17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A71FB2C6-EB9A-EF45-9032-575DF85B1EF0}"/>
              </a:ext>
            </a:extLst>
          </p:cNvPr>
          <p:cNvCxnSpPr>
            <a:cxnSpLocks/>
          </p:cNvCxnSpPr>
          <p:nvPr/>
        </p:nvCxnSpPr>
        <p:spPr>
          <a:xfrm>
            <a:off x="9714396" y="13992329"/>
            <a:ext cx="0" cy="7675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70B553E-0427-4ED8-1106-2B204E188F39}"/>
              </a:ext>
            </a:extLst>
          </p:cNvPr>
          <p:cNvSpPr/>
          <p:nvPr/>
        </p:nvSpPr>
        <p:spPr>
          <a:xfrm>
            <a:off x="11115480" y="14759893"/>
            <a:ext cx="680483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6" name="Picture 6" descr="\begin{align*}&#10;  M(t/r)&#10;\end{align*}">
            <a:extLst>
              <a:ext uri="{FF2B5EF4-FFF2-40B4-BE49-F238E27FC236}">
                <a16:creationId xmlns:a16="http://schemas.microsoft.com/office/drawing/2014/main" id="{53DB489C-D19C-4306-1040-54C5722CC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103" y="15162148"/>
            <a:ext cx="523235" cy="17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39592017-D3F0-37EB-CD08-BEADD90A971A}"/>
              </a:ext>
            </a:extLst>
          </p:cNvPr>
          <p:cNvCxnSpPr>
            <a:cxnSpLocks/>
          </p:cNvCxnSpPr>
          <p:nvPr/>
        </p:nvCxnSpPr>
        <p:spPr>
          <a:xfrm>
            <a:off x="11455720" y="13992329"/>
            <a:ext cx="0" cy="7675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左中かっこ 57">
            <a:extLst>
              <a:ext uri="{FF2B5EF4-FFF2-40B4-BE49-F238E27FC236}">
                <a16:creationId xmlns:a16="http://schemas.microsoft.com/office/drawing/2014/main" id="{08962EF2-F61F-4589-1341-4100A828B11D}"/>
              </a:ext>
            </a:extLst>
          </p:cNvPr>
          <p:cNvSpPr/>
          <p:nvPr/>
        </p:nvSpPr>
        <p:spPr>
          <a:xfrm rot="5400000">
            <a:off x="10057006" y="12077115"/>
            <a:ext cx="297622" cy="318026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0" name="Picture 14" descr="\begin{align*}&#10;  \| \vec{c} \|_1 \| \vec{k} \|_1 r \times (\text{Number of terms in $H$})&#10;\end{align*}">
            <a:extLst>
              <a:ext uri="{FF2B5EF4-FFF2-40B4-BE49-F238E27FC236}">
                <a16:creationId xmlns:a16="http://schemas.microsoft.com/office/drawing/2014/main" id="{0E82B805-137A-7769-0318-3B927EC62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6" t="3562" b="-1"/>
          <a:stretch>
            <a:fillRect/>
          </a:stretch>
        </p:blipFill>
        <p:spPr bwMode="auto">
          <a:xfrm>
            <a:off x="3534310" y="15886575"/>
            <a:ext cx="3555399" cy="34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89C2F547-7385-FD5A-D1FD-C6BDFF1D1BE4}"/>
                  </a:ext>
                </a:extLst>
              </p:cNvPr>
              <p:cNvSpPr txBox="1"/>
              <p:nvPr/>
            </p:nvSpPr>
            <p:spPr>
              <a:xfrm>
                <a:off x="9777526" y="13059366"/>
                <a:ext cx="85658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times</a:t>
                </a:r>
                <a:endParaRPr kumimoji="1"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89C2F547-7385-FD5A-D1FD-C6BDFF1D1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526" y="13059366"/>
                <a:ext cx="856581" cy="369332"/>
              </a:xfrm>
              <a:prstGeom prst="rect">
                <a:avLst/>
              </a:prstGeom>
              <a:blipFill>
                <a:blip r:embed="rId9"/>
                <a:stretch>
                  <a:fillRect t="-6667" r="-4348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Picture 20" descr="\begin{align*}&#10; \|e^{-iH\tau}-M(\tau)\| \leq \text{Const.} \times \|c\|_1 (\mu_{p,m}[p_0(N,\epsilon)]\tau)^{m+1} + \|c\|_1 \|k\|_1 \epsilon, &#10;\end{align*}">
            <a:extLst>
              <a:ext uri="{FF2B5EF4-FFF2-40B4-BE49-F238E27FC236}">
                <a16:creationId xmlns:a16="http://schemas.microsoft.com/office/drawing/2014/main" id="{1F86225E-E7A8-C491-0267-E85831424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" b="-39498"/>
          <a:stretch>
            <a:fillRect/>
          </a:stretch>
        </p:blipFill>
        <p:spPr bwMode="auto">
          <a:xfrm>
            <a:off x="2283995" y="5831305"/>
            <a:ext cx="9171725" cy="51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\begin{align*}&#10; \mu_{p,m}[p_0(N,\epsilon)] \leq \text{Const.} \times (N^{\frac1{p+1}}g + g \log (N/\epsilon))&#10;\end{align*}">
            <a:extLst>
              <a:ext uri="{FF2B5EF4-FFF2-40B4-BE49-F238E27FC236}">
                <a16:creationId xmlns:a16="http://schemas.microsoft.com/office/drawing/2014/main" id="{0D3B0612-A008-428D-BC22-CBD5B79D9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755" y="7098725"/>
            <a:ext cx="6954559" cy="4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888610D1-5F07-52DC-BC8E-A23D5C1EA69A}"/>
              </a:ext>
            </a:extLst>
          </p:cNvPr>
          <p:cNvSpPr txBox="1"/>
          <p:nvPr/>
        </p:nvSpPr>
        <p:spPr>
          <a:xfrm>
            <a:off x="1677606" y="3075103"/>
            <a:ext cx="374653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Commutator factor for MPF: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24" descr="\begin{align*}&#10; \mu_{p,m}[p_0] = \max_{q: p \leq q \leq p_0} \left( (\alpha_{\text{com},q})^{\frac1{q+1}} \right)&#10;\end{align*}">
            <a:extLst>
              <a:ext uri="{FF2B5EF4-FFF2-40B4-BE49-F238E27FC236}">
                <a16:creationId xmlns:a16="http://schemas.microsoft.com/office/drawing/2014/main" id="{3EF9C5E7-6A78-6C60-D65B-E3928E6DC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797" y="2995049"/>
            <a:ext cx="5000426" cy="66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BAF5607C-E3C1-2FE9-F2F0-A5E6A9599E4F}"/>
              </a:ext>
            </a:extLst>
          </p:cNvPr>
          <p:cNvSpPr txBox="1"/>
          <p:nvPr/>
        </p:nvSpPr>
        <p:spPr>
          <a:xfrm>
            <a:off x="4369268" y="4891067"/>
            <a:ext cx="18473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26" descr="\begin{align*}&#10; \epsilon \in (0,1)&#10;\end{align*}">
            <a:extLst>
              <a:ext uri="{FF2B5EF4-FFF2-40B4-BE49-F238E27FC236}">
                <a16:creationId xmlns:a16="http://schemas.microsoft.com/office/drawing/2014/main" id="{E33DE26A-386C-9EE2-94DD-BE4BB4A49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20" y="4348743"/>
            <a:ext cx="1183972" cy="32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4C4D423A-C1A2-5A31-3DA4-1BE751A74415}"/>
              </a:ext>
            </a:extLst>
          </p:cNvPr>
          <p:cNvSpPr txBox="1"/>
          <p:nvPr/>
        </p:nvSpPr>
        <p:spPr>
          <a:xfrm>
            <a:off x="2324370" y="4264999"/>
            <a:ext cx="293221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arbitrary fixed value,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2" name="Picture 28" descr="\begin{align*}&#10;  p_0(N,\epsilon) = \lceil \log (3N/\epsilon) \rceil&#10;\end{align*}">
            <a:extLst>
              <a:ext uri="{FF2B5EF4-FFF2-40B4-BE49-F238E27FC236}">
                <a16:creationId xmlns:a16="http://schemas.microsoft.com/office/drawing/2014/main" id="{1770E02D-D377-ED4E-EAFA-923E03777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361" y="4330696"/>
            <a:ext cx="3074277" cy="31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テキスト ボックス 1032">
            <a:extLst>
              <a:ext uri="{FF2B5EF4-FFF2-40B4-BE49-F238E27FC236}">
                <a16:creationId xmlns:a16="http://schemas.microsoft.com/office/drawing/2014/main" id="{F2CEE0D6-9EFD-EFFD-25F3-C13F7F556DDF}"/>
              </a:ext>
            </a:extLst>
          </p:cNvPr>
          <p:cNvSpPr txBox="1"/>
          <p:nvPr/>
        </p:nvSpPr>
        <p:spPr>
          <a:xfrm>
            <a:off x="8538960" y="4267107"/>
            <a:ext cx="231826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truncation order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テキスト ボックス 1034">
                <a:extLst>
                  <a:ext uri="{FF2B5EF4-FFF2-40B4-BE49-F238E27FC236}">
                    <a16:creationId xmlns:a16="http://schemas.microsoft.com/office/drawing/2014/main" id="{9FAC8A00-72E8-F2E6-BE20-90E3CA0C600C}"/>
                  </a:ext>
                </a:extLst>
              </p:cNvPr>
              <p:cNvSpPr txBox="1"/>
              <p:nvPr/>
            </p:nvSpPr>
            <p:spPr>
              <a:xfrm>
                <a:off x="938902" y="5014399"/>
                <a:ext cx="5420266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time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small enough to satisfy</a:t>
                </a:r>
                <a:endParaRPr kumimoji="1"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5" name="テキスト ボックス 1034">
                <a:extLst>
                  <a:ext uri="{FF2B5EF4-FFF2-40B4-BE49-F238E27FC236}">
                    <a16:creationId xmlns:a16="http://schemas.microsoft.com/office/drawing/2014/main" id="{9FAC8A00-72E8-F2E6-BE20-90E3CA0C6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02" y="5014399"/>
                <a:ext cx="5420266" cy="461665"/>
              </a:xfrm>
              <a:prstGeom prst="rect">
                <a:avLst/>
              </a:prstGeom>
              <a:blipFill>
                <a:blip r:embed="rId15"/>
                <a:stretch>
                  <a:fillRect l="-1636" t="-13514" r="-935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9CC22A5D-671B-64AD-8F5F-15A4F48E4A6B}"/>
              </a:ext>
            </a:extLst>
          </p:cNvPr>
          <p:cNvSpPr txBox="1"/>
          <p:nvPr/>
        </p:nvSpPr>
        <p:spPr>
          <a:xfrm>
            <a:off x="8862292" y="5008739"/>
            <a:ext cx="388600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MPF error is bounded by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5" name="Picture 30" descr="\begin{align*}&#10;  |\tau| \leq \frac{\text{Const.}}{\mu_{p,m}[p_0(N,\epsilon)]}&#10;\end{align*}">
            <a:extLst>
              <a:ext uri="{FF2B5EF4-FFF2-40B4-BE49-F238E27FC236}">
                <a16:creationId xmlns:a16="http://schemas.microsoft.com/office/drawing/2014/main" id="{3224BA86-BFB9-A1E6-7303-8CCF30C13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443" y="4987625"/>
            <a:ext cx="2208185" cy="61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\begin{align*}&#10;  \mathcal{O} \left( r \left( N^{\frac1{p+1}}g \frac{t}r \right)^{m+1}\right)&#10;\end{align*}">
            <a:extLst>
              <a:ext uri="{FF2B5EF4-FFF2-40B4-BE49-F238E27FC236}">
                <a16:creationId xmlns:a16="http://schemas.microsoft.com/office/drawing/2014/main" id="{A11DC20B-2353-DEAA-4210-070554DF9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002" y="14183835"/>
            <a:ext cx="2255374" cy="68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" descr="\begin{align*}&#10;  r \times \| e^{-iHt/r} - M(t/r) \| \in \mathcal{O} \left( r \left[\left( N^{\frac1{p+1}}g\frac{t}r \right)^{m+1} +\epsilon\right] \right) \leq \varepsilon&#10;\end{align*}">
            <a:extLst>
              <a:ext uri="{FF2B5EF4-FFF2-40B4-BE49-F238E27FC236}">
                <a16:creationId xmlns:a16="http://schemas.microsoft.com/office/drawing/2014/main" id="{95E74968-C709-1DF7-2B14-6B57E5125E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43" t="10458" r="-5006" b="-7857"/>
          <a:stretch>
            <a:fillRect/>
          </a:stretch>
        </p:blipFill>
        <p:spPr bwMode="auto">
          <a:xfrm>
            <a:off x="6267339" y="14200688"/>
            <a:ext cx="762370" cy="77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36" descr="\begin{align*}&#10;  m,J \in \mathcal{O}(\log (Ngt/\varepsilon)), \quad \epsilon \in \tilde{\mathcal{O}}(\varepsilon/r)&#10;\end{align*}">
            <a:extLst>
              <a:ext uri="{FF2B5EF4-FFF2-40B4-BE49-F238E27FC236}">
                <a16:creationId xmlns:a16="http://schemas.microsoft.com/office/drawing/2014/main" id="{A0BEE771-315C-45F8-F266-7A1E6D455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4" y="15145160"/>
            <a:ext cx="4348240" cy="32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3" name="テキスト ボックス 1052">
            <a:extLst>
              <a:ext uri="{FF2B5EF4-FFF2-40B4-BE49-F238E27FC236}">
                <a16:creationId xmlns:a16="http://schemas.microsoft.com/office/drawing/2014/main" id="{4C8AE633-E05A-3A8B-C904-E9B97198900C}"/>
              </a:ext>
            </a:extLst>
          </p:cNvPr>
          <p:cNvSpPr txBox="1"/>
          <p:nvPr/>
        </p:nvSpPr>
        <p:spPr>
          <a:xfrm>
            <a:off x="587833" y="11966842"/>
            <a:ext cx="160576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2</a:t>
            </a:r>
            <a:endParaRPr kumimoji="1" lang="ja-JP" altLang="en-US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5" name="テキスト ボックス 1054">
            <a:extLst>
              <a:ext uri="{FF2B5EF4-FFF2-40B4-BE49-F238E27FC236}">
                <a16:creationId xmlns:a16="http://schemas.microsoft.com/office/drawing/2014/main" id="{E2149110-A016-0F45-BD44-482E50905431}"/>
              </a:ext>
            </a:extLst>
          </p:cNvPr>
          <p:cNvSpPr txBox="1"/>
          <p:nvPr/>
        </p:nvSpPr>
        <p:spPr>
          <a:xfrm>
            <a:off x="656477" y="8939751"/>
            <a:ext cx="160576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1</a:t>
            </a:r>
            <a:endParaRPr kumimoji="1" lang="ja-JP" altLang="en-US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7" name="テキスト ボックス 1056">
                <a:extLst>
                  <a:ext uri="{FF2B5EF4-FFF2-40B4-BE49-F238E27FC236}">
                    <a16:creationId xmlns:a16="http://schemas.microsoft.com/office/drawing/2014/main" id="{5EFB3FC3-A677-B9C6-488A-65585BD6DC9C}"/>
                  </a:ext>
                </a:extLst>
              </p:cNvPr>
              <p:cNvSpPr txBox="1"/>
              <p:nvPr/>
            </p:nvSpPr>
            <p:spPr>
              <a:xfrm>
                <a:off x="2483450" y="11966841"/>
                <a:ext cx="8212826" cy="4901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bound on the nested commutator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com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locality</a:t>
                </a:r>
                <a:endParaRPr kumimoji="1"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7" name="テキスト ボックス 1056">
                <a:extLst>
                  <a:ext uri="{FF2B5EF4-FFF2-40B4-BE49-F238E27FC236}">
                    <a16:creationId xmlns:a16="http://schemas.microsoft.com/office/drawing/2014/main" id="{5EFB3FC3-A677-B9C6-488A-65585BD6D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450" y="11966841"/>
                <a:ext cx="8212826" cy="490199"/>
              </a:xfrm>
              <a:prstGeom prst="rect">
                <a:avLst/>
              </a:prstGeom>
              <a:blipFill>
                <a:blip r:embed="rId19"/>
                <a:stretch>
                  <a:fillRect l="-1080" t="-10256" r="-154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4" name="テキスト ボックス 1063">
            <a:extLst>
              <a:ext uri="{FF2B5EF4-FFF2-40B4-BE49-F238E27FC236}">
                <a16:creationId xmlns:a16="http://schemas.microsoft.com/office/drawing/2014/main" id="{99A40CA0-35B0-B2BF-AAC4-08C50A1A1E64}"/>
              </a:ext>
            </a:extLst>
          </p:cNvPr>
          <p:cNvSpPr txBox="1"/>
          <p:nvPr/>
        </p:nvSpPr>
        <p:spPr>
          <a:xfrm>
            <a:off x="2492013" y="8976177"/>
            <a:ext cx="483658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</a:t>
            </a:r>
            <a:r>
              <a:rPr kumimoji="1"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Floquet</a:t>
            </a:r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prethermalization</a:t>
            </a:r>
            <a:endParaRPr kumimoji="1"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FA425C83-D4A9-5D1A-C620-51229D7D9A0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1732" y="9587927"/>
            <a:ext cx="3758481" cy="19514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D8420AED-4A87-B7E5-301B-F75984E3F39E}"/>
                  </a:ext>
                </a:extLst>
              </p:cNvPr>
              <p:cNvSpPr txBox="1"/>
              <p:nvPr/>
            </p:nvSpPr>
            <p:spPr>
              <a:xfrm>
                <a:off x="693286" y="11376640"/>
                <a:ext cx="87594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ja-JP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US" altLang="ja-JP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Divergent  </a:t>
                </a:r>
                <a:r>
                  <a:rPr lang="en-US" altLang="ja-JP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[Consider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ja-JP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ja-JP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ja-JP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ja-JP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ja-JP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ja-JP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</m:func>
                  </m:oMath>
                </a14:m>
                <a:r>
                  <a:rPr lang="en-US" altLang="ja-JP" sz="2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)] </a:t>
                </a:r>
                <a:r>
                  <a:rPr lang="en-US" altLang="ja-JP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Convergence within error </a:t>
                </a:r>
                <a14:m>
                  <m:oMath xmlns:m="http://schemas.openxmlformats.org/officeDocument/2006/math">
                    <m:r>
                      <a:rPr lang="en-US" altLang="ja-JP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endParaRPr lang="en-US" altLang="ja-JP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D8420AED-4A87-B7E5-301B-F75984E3F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86" y="11376640"/>
                <a:ext cx="8759493" cy="400110"/>
              </a:xfrm>
              <a:prstGeom prst="rect">
                <a:avLst/>
              </a:prstGeom>
              <a:blipFill>
                <a:blip r:embed="rId21"/>
                <a:stretch>
                  <a:fillRect l="-724" t="-6061" b="-242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3" name="テキスト ボックス 1042">
            <a:extLst>
              <a:ext uri="{FF2B5EF4-FFF2-40B4-BE49-F238E27FC236}">
                <a16:creationId xmlns:a16="http://schemas.microsoft.com/office/drawing/2014/main" id="{EDD34D2B-02C8-26DE-BBD7-858C35290AD2}"/>
              </a:ext>
            </a:extLst>
          </p:cNvPr>
          <p:cNvSpPr txBox="1"/>
          <p:nvPr/>
        </p:nvSpPr>
        <p:spPr>
          <a:xfrm>
            <a:off x="7301284" y="9056682"/>
            <a:ext cx="5809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Kuwahara, T. Mori, K. Saito, Ann. Phys. 367, 96 (2016)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4602BB8-362C-2CBE-0617-85BAE3A7268C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t="18222" r="77395" b="20202"/>
          <a:stretch/>
        </p:blipFill>
        <p:spPr>
          <a:xfrm>
            <a:off x="12381858" y="9862438"/>
            <a:ext cx="827904" cy="4829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1E0561C-2EA6-1459-CC46-5B8155AB4B30}"/>
                  </a:ext>
                </a:extLst>
              </p:cNvPr>
              <p:cNvSpPr txBox="1"/>
              <p:nvPr/>
            </p:nvSpPr>
            <p:spPr>
              <a:xfrm>
                <a:off x="11829038" y="9557834"/>
                <a:ext cx="15089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160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1E0561C-2EA6-1459-CC46-5B8155AB4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038" y="9557834"/>
                <a:ext cx="1508900" cy="246221"/>
              </a:xfrm>
              <a:prstGeom prst="rect">
                <a:avLst/>
              </a:prstGeom>
              <a:blipFill>
                <a:blip r:embed="rId23"/>
                <a:stretch>
                  <a:fillRect l="-3333" r="-4167" b="-4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" name="正方形/長方形 1043">
            <a:extLst>
              <a:ext uri="{FF2B5EF4-FFF2-40B4-BE49-F238E27FC236}">
                <a16:creationId xmlns:a16="http://schemas.microsoft.com/office/drawing/2014/main" id="{B2A3DD26-EDE9-D709-44DD-448ECECD7524}"/>
              </a:ext>
            </a:extLst>
          </p:cNvPr>
          <p:cNvSpPr/>
          <p:nvPr/>
        </p:nvSpPr>
        <p:spPr>
          <a:xfrm>
            <a:off x="9776063" y="9868267"/>
            <a:ext cx="1714956" cy="344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9" name="グラフィックス 1048" descr="矢印: 反時計回りの曲線 単色塗りつぶし">
            <a:extLst>
              <a:ext uri="{FF2B5EF4-FFF2-40B4-BE49-F238E27FC236}">
                <a16:creationId xmlns:a16="http://schemas.microsoft.com/office/drawing/2014/main" id="{89FAEB4B-130D-54DE-605C-CF30BE5965F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6724647">
            <a:off x="11596530" y="9793273"/>
            <a:ext cx="859676" cy="859676"/>
          </a:xfrm>
          <a:prstGeom prst="rect">
            <a:avLst/>
          </a:prstGeom>
        </p:spPr>
      </p:pic>
      <p:pic>
        <p:nvPicPr>
          <p:cNvPr id="1050" name="Picture 4" descr="\begin{align*}&#10;  H_\text{FM} = \sum_q H_\text{FM}^{(q)} T^q&#10;\end{align*}">
            <a:extLst>
              <a:ext uri="{FF2B5EF4-FFF2-40B4-BE49-F238E27FC236}">
                <a16:creationId xmlns:a16="http://schemas.microsoft.com/office/drawing/2014/main" id="{E8BE1969-8C93-1B72-FF32-2FF8867E8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369" y="9687630"/>
            <a:ext cx="1623123" cy="45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4" name="テキスト ボックス 1053">
                <a:extLst>
                  <a:ext uri="{FF2B5EF4-FFF2-40B4-BE49-F238E27FC236}">
                    <a16:creationId xmlns:a16="http://schemas.microsoft.com/office/drawing/2014/main" id="{4B5C922C-E5CA-D5A8-D239-CEAB0C9F8D31}"/>
                  </a:ext>
                </a:extLst>
              </p:cNvPr>
              <p:cNvSpPr txBox="1"/>
              <p:nvPr/>
            </p:nvSpPr>
            <p:spPr>
              <a:xfrm>
                <a:off x="10189675" y="10136900"/>
                <a:ext cx="14356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ja-JP" sz="12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ja-JP" sz="12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fold commutator</a:t>
                </a:r>
              </a:p>
            </p:txBody>
          </p:sp>
        </mc:Choice>
        <mc:Fallback xmlns="">
          <p:sp>
            <p:nvSpPr>
              <p:cNvPr id="1054" name="テキスト ボックス 1053">
                <a:extLst>
                  <a:ext uri="{FF2B5EF4-FFF2-40B4-BE49-F238E27FC236}">
                    <a16:creationId xmlns:a16="http://schemas.microsoft.com/office/drawing/2014/main" id="{4B5C922C-E5CA-D5A8-D239-CEAB0C9F8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675" y="10136900"/>
                <a:ext cx="1435679" cy="276999"/>
              </a:xfrm>
              <a:prstGeom prst="rect">
                <a:avLst/>
              </a:prstGeom>
              <a:blipFill>
                <a:blip r:embed="rId27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8" name="Picture 20" descr="\begin{align*}&#10; \|e^{-iH\tau}-M(\tau)\| \leq \text{Const.} \times \|c\|_1 (\mu_{p,m}[p_0(N,\epsilon)]\tau)^{m+1} + \|c\|_1 \|k\|_1 \epsilon, &#10;\end{align*}">
            <a:extLst>
              <a:ext uri="{FF2B5EF4-FFF2-40B4-BE49-F238E27FC236}">
                <a16:creationId xmlns:a16="http://schemas.microsoft.com/office/drawing/2014/main" id="{B18B94F4-D527-0683-6E3C-409F4605B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153" b="-95940"/>
          <a:stretch>
            <a:fillRect/>
          </a:stretch>
        </p:blipFill>
        <p:spPr bwMode="auto">
          <a:xfrm>
            <a:off x="735785" y="9615432"/>
            <a:ext cx="2657724" cy="72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59857C2-53AC-F664-EDED-73F9C01E3276}"/>
              </a:ext>
            </a:extLst>
          </p:cNvPr>
          <p:cNvSpPr/>
          <p:nvPr/>
        </p:nvSpPr>
        <p:spPr>
          <a:xfrm>
            <a:off x="6753225" y="10596872"/>
            <a:ext cx="1590781" cy="16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3ED93241-971D-7E0B-BEF6-F77A3029CBC8}"/>
              </a:ext>
            </a:extLst>
          </p:cNvPr>
          <p:cNvSpPr/>
          <p:nvPr/>
        </p:nvSpPr>
        <p:spPr>
          <a:xfrm>
            <a:off x="3369963" y="10571220"/>
            <a:ext cx="1941397" cy="18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EA4AF15C-5842-A7AF-FF50-24CF810A1E15}"/>
              </a:ext>
            </a:extLst>
          </p:cNvPr>
          <p:cNvSpPr/>
          <p:nvPr/>
        </p:nvSpPr>
        <p:spPr>
          <a:xfrm>
            <a:off x="1144536" y="10773297"/>
            <a:ext cx="1309886" cy="171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9" name="テキスト ボックス 1038">
                <a:extLst>
                  <a:ext uri="{FF2B5EF4-FFF2-40B4-BE49-F238E27FC236}">
                    <a16:creationId xmlns:a16="http://schemas.microsoft.com/office/drawing/2014/main" id="{2CE228B5-F143-6C7D-B4D9-5D7AF8E365B4}"/>
                  </a:ext>
                </a:extLst>
              </p:cNvPr>
              <p:cNvSpPr txBox="1"/>
              <p:nvPr/>
            </p:nvSpPr>
            <p:spPr>
              <a:xfrm>
                <a:off x="3325343" y="10625089"/>
                <a:ext cx="2030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ja-JP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fold commutator</a:t>
                </a:r>
              </a:p>
            </p:txBody>
          </p:sp>
        </mc:Choice>
        <mc:Fallback xmlns="">
          <p:sp>
            <p:nvSpPr>
              <p:cNvPr id="1039" name="テキスト ボックス 1038">
                <a:extLst>
                  <a:ext uri="{FF2B5EF4-FFF2-40B4-BE49-F238E27FC236}">
                    <a16:creationId xmlns:a16="http://schemas.microsoft.com/office/drawing/2014/main" id="{2CE228B5-F143-6C7D-B4D9-5D7AF8E36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343" y="10625089"/>
                <a:ext cx="2030636" cy="369332"/>
              </a:xfrm>
              <a:prstGeom prst="rect">
                <a:avLst/>
              </a:prstGeom>
              <a:blipFill>
                <a:blip r:embed="rId28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0" name="Picture 14" descr="\begin{align*}&#10;  M_{pJ}(t)- e^{-iHt} = \left( \sum_{\{q_i\}}\prod_i \alpha_{\text{com},q_i}\right) t^{p+J} +  E^{(p+J+1)}(\{\alpha_{\text{com},q_i}\})t^{p+J+1} + \cdots +  E^{(q)}(\{\alpha_{\text{com},q_i}\})t^q+ \cdots&#10;\end{split}&#10;\end{align*}">
            <a:extLst>
              <a:ext uri="{FF2B5EF4-FFF2-40B4-BE49-F238E27FC236}">
                <a16:creationId xmlns:a16="http://schemas.microsoft.com/office/drawing/2014/main" id="{CC3A0E93-49D4-52D5-6D21-D4E33F9D2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8"/>
          <a:stretch>
            <a:fillRect/>
          </a:stretch>
        </p:blipFill>
        <p:spPr bwMode="auto">
          <a:xfrm>
            <a:off x="839871" y="10117867"/>
            <a:ext cx="8192796" cy="80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0" descr="\begin{align*}&#10; \|e^{-iH\tau}-M(\tau)\| \leq \text{Const.} \times \|c\|_1 (\mu_{p,m}[p_0(N,\epsilon)]\tau)^{m+1} + \|c\|_1 \|k\|_1 \epsilon, &#10;\end{align*}">
            <a:extLst>
              <a:ext uri="{FF2B5EF4-FFF2-40B4-BE49-F238E27FC236}">
                <a16:creationId xmlns:a16="http://schemas.microsoft.com/office/drawing/2014/main" id="{D9468450-CF1C-24CB-D1CB-5772DAE7B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70" t="-22851" r="2330" b="-37526"/>
          <a:stretch>
            <a:fillRect/>
          </a:stretch>
        </p:blipFill>
        <p:spPr bwMode="auto">
          <a:xfrm>
            <a:off x="2368834" y="15828601"/>
            <a:ext cx="1089447" cy="51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550</TotalTime>
  <Words>149</Words>
  <Application>Microsoft Macintosh PowerPoint</Application>
  <PresentationFormat>ユーザー設定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19</cp:revision>
  <dcterms:created xsi:type="dcterms:W3CDTF">2023-12-08T07:40:41Z</dcterms:created>
  <dcterms:modified xsi:type="dcterms:W3CDTF">2026-01-20T00:46:42Z</dcterms:modified>
</cp:coreProperties>
</file>